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expanded study was finalized on 14 October 2026 Asia/Jakarta. Cohort/run folders retain the 20261013 preparation identifier. All 40 model/cohort/split summaries completed, with 55,156 new predictions. Inputs are protocol evaluations, not independent events: windows share frame endpoints, and person/loitering queries share images. No additional latency experiment was run. MiniCPM has the highest raw unattended frame-test F1, but only 34.7% recall. The new event labels are provisional assistant timeline review, without independent human verification. The other three requested anomalies were attempted as explicitly limited diagnostics. Smoking and supervised offline VadCLIP evidence are reused, not rerun.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AF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30200"/>
            <a:ext cx="355600" cy="508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16000" y="254000"/>
            <a:ext cx="10642600" cy="254000"/>
          </a:xfrm>
          <a:prstGeom prst="rect">
            <a:avLst/>
          </a:prstGeom>
          <a:noFill/>
        </p:spPr>
        <p:txBody>
          <a:bodyPr wrap="none" lIns="0" rIns="0" tIns="0" bIns="0" anchor="t">
            <a:spAutoFit/>
          </a:bodyPr>
          <a:lstStyle/>
          <a:p>
            <a:pPr algn="l">
              <a:lnSpc>
                <a:spcPts val="1353"/>
              </a:lnSpc>
              <a:spcBef>
                <a:spcPts val="0"/>
              </a:spcBef>
              <a:spcAft>
                <a:spcPts val="0"/>
              </a:spcAft>
              <a:defRPr sz="1100" b="1">
                <a:solidFill>
                  <a:srgbClr val="007E80"/>
                </a:solidFill>
                <a:latin typeface="DejaVu Sans"/>
              </a:defRPr>
            </a:pPr>
            <a:r>
              <a:t>EXPANDED FINDINGS / ACCURACY ONLY</a:t>
            </a:r>
          </a:p>
        </p:txBody>
      </p:sp>
      <p:sp>
        <p:nvSpPr>
          <p:cNvPr id="5" name="TextBox 4"/>
          <p:cNvSpPr txBox="1"/>
          <p:nvPr/>
        </p:nvSpPr>
        <p:spPr>
          <a:xfrm>
            <a:off x="533400" y="736600"/>
            <a:ext cx="11125200" cy="1016000"/>
          </a:xfrm>
          <a:prstGeom prst="rect">
            <a:avLst/>
          </a:prstGeom>
          <a:noFill/>
        </p:spPr>
        <p:txBody>
          <a:bodyPr wrap="none" lIns="0" rIns="0" tIns="0" bIns="0" anchor="t">
            <a:spAutoFit/>
          </a:bodyPr>
          <a:lstStyle/>
          <a:p>
            <a:pPr algn="l">
              <a:lnSpc>
                <a:spcPts val="3690"/>
              </a:lnSpc>
              <a:spcBef>
                <a:spcPts val="0"/>
              </a:spcBef>
              <a:spcAft>
                <a:spcPts val="0"/>
              </a:spcAft>
              <a:defRPr sz="3000" b="1">
                <a:solidFill>
                  <a:srgbClr val="142C40"/>
                </a:solidFill>
                <a:latin typeface="DejaVu Sans"/>
              </a:defRPr>
            </a:pPr>
            <a:r>
              <a:t>Broader coverage changes the findings</a:t>
            </a:r>
          </a:p>
        </p:txBody>
      </p:sp>
      <p:sp>
        <p:nvSpPr>
          <p:cNvPr id="6" name="TextBox 5"/>
          <p:cNvSpPr txBox="1"/>
          <p:nvPr/>
        </p:nvSpPr>
        <p:spPr>
          <a:xfrm>
            <a:off x="533400" y="1625600"/>
            <a:ext cx="11125200" cy="279400"/>
          </a:xfrm>
          <a:prstGeom prst="rect">
            <a:avLst/>
          </a:prstGeom>
          <a:noFill/>
        </p:spPr>
        <p:txBody>
          <a:bodyPr wrap="none" lIns="0" rIns="0" tIns="0" bIns="0" anchor="t">
            <a:spAutoFit/>
          </a:bodyPr>
          <a:lstStyle/>
          <a:p>
            <a:pPr algn="l">
              <a:lnSpc>
                <a:spcPts val="1660"/>
              </a:lnSpc>
              <a:spcBef>
                <a:spcPts val="0"/>
              </a:spcBef>
              <a:spcAft>
                <a:spcPts val="0"/>
              </a:spcAft>
              <a:defRPr sz="1350" b="0">
                <a:solidFill>
                  <a:srgbClr val="526471"/>
                </a:solidFill>
                <a:latin typeface="DejaVu Sans"/>
              </a:defRPr>
            </a:pPr>
            <a:r>
              <a:t>Four image models; provisional unattended labels; weak anomaly diagnostics; retained smoking/VadCLIP</a:t>
            </a:r>
          </a:p>
        </p:txBody>
      </p:sp>
      <p:cxnSp>
        <p:nvCxnSpPr>
          <p:cNvPr id="7" name="Connector 6"/>
          <p:cNvCxnSpPr/>
          <p:nvPr/>
        </p:nvCxnSpPr>
        <p:spPr>
          <a:xfrm>
            <a:off x="533400" y="6413500"/>
            <a:ext cx="11125200" cy="0"/>
          </a:xfrm>
          <a:prstGeom prst="line">
            <a:avLst/>
          </a:prstGeom>
          <a:ln w="12700">
            <a:solidFill>
              <a:srgbClr val="DCE3E5"/>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33400" y="6527800"/>
            <a:ext cx="10604500" cy="177800"/>
          </a:xfrm>
          <a:prstGeom prst="rect">
            <a:avLst/>
          </a:prstGeom>
          <a:noFill/>
        </p:spPr>
        <p:txBody>
          <a:bodyPr wrap="none" lIns="0" rIns="0" tIns="0" bIns="0" anchor="t">
            <a:spAutoFit/>
          </a:bodyPr>
          <a:lstStyle/>
          <a:p>
            <a:pPr algn="l">
              <a:lnSpc>
                <a:spcPts val="1045"/>
              </a:lnSpc>
              <a:spcBef>
                <a:spcPts val="0"/>
              </a:spcBef>
              <a:spcAft>
                <a:spcPts val="0"/>
              </a:spcAft>
              <a:defRPr sz="850" b="0">
                <a:solidFill>
                  <a:srgbClr val="526471"/>
                </a:solidFill>
                <a:latin typeface="DejaVu Sans"/>
              </a:defRPr>
            </a:pPr>
            <a:r>
              <a:t>CAPSTONE S25 / EXPANDED EVALUATION 14 OCT 2026 • quality_summary.json + raw GPU predictions</a:t>
            </a:r>
          </a:p>
        </p:txBody>
      </p:sp>
      <p:sp>
        <p:nvSpPr>
          <p:cNvPr id="9" name="TextBox 8"/>
          <p:cNvSpPr txBox="1"/>
          <p:nvPr/>
        </p:nvSpPr>
        <p:spPr>
          <a:xfrm>
            <a:off x="11201400" y="6502400"/>
            <a:ext cx="457200" cy="215900"/>
          </a:xfrm>
          <a:prstGeom prst="rect">
            <a:avLst/>
          </a:prstGeom>
          <a:noFill/>
        </p:spPr>
        <p:txBody>
          <a:bodyPr wrap="none" lIns="0" rIns="0" tIns="0" bIns="0" anchor="t">
            <a:spAutoFit/>
          </a:bodyPr>
          <a:lstStyle/>
          <a:p>
            <a:pPr algn="r">
              <a:lnSpc>
                <a:spcPts val="1353"/>
              </a:lnSpc>
              <a:spcBef>
                <a:spcPts val="0"/>
              </a:spcBef>
              <a:spcAft>
                <a:spcPts val="0"/>
              </a:spcAft>
              <a:defRPr sz="1100" b="1">
                <a:solidFill>
                  <a:srgbClr val="007E80"/>
                </a:solidFill>
                <a:latin typeface="DejaVu Sans"/>
              </a:defRPr>
            </a:pPr>
            <a:r>
              <a:t>01</a:t>
            </a:r>
          </a:p>
        </p:txBody>
      </p:sp>
      <p:sp>
        <p:nvSpPr>
          <p:cNvPr id="10" name="Rectangle 9"/>
          <p:cNvSpPr/>
          <p:nvPr/>
        </p:nvSpPr>
        <p:spPr>
          <a:xfrm>
            <a:off x="533400" y="2133600"/>
            <a:ext cx="3556000" cy="182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260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55,156</a:t>
            </a:r>
          </a:p>
        </p:txBody>
      </p:sp>
      <p:sp>
        <p:nvSpPr>
          <p:cNvPr id="12" name="TextBox 11"/>
          <p:cNvSpPr txBox="1"/>
          <p:nvPr/>
        </p:nvSpPr>
        <p:spPr>
          <a:xfrm>
            <a:off x="736600" y="2959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New GPU predictions</a:t>
            </a:r>
          </a:p>
        </p:txBody>
      </p:sp>
      <p:sp>
        <p:nvSpPr>
          <p:cNvPr id="13" name="TextBox 12"/>
          <p:cNvSpPr txBox="1"/>
          <p:nvPr/>
        </p:nvSpPr>
        <p:spPr>
          <a:xfrm>
            <a:off x="736600" y="3352800"/>
            <a:ext cx="3149600" cy="5207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40 completed model/split runs</a:t>
            </a:r>
          </a:p>
        </p:txBody>
      </p:sp>
      <p:sp>
        <p:nvSpPr>
          <p:cNvPr id="14" name="Rectangle 13"/>
          <p:cNvSpPr/>
          <p:nvPr/>
        </p:nvSpPr>
        <p:spPr>
          <a:xfrm>
            <a:off x="4318000" y="2133600"/>
            <a:ext cx="3556000" cy="182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1200" y="2260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1,770</a:t>
            </a:r>
          </a:p>
        </p:txBody>
      </p:sp>
      <p:sp>
        <p:nvSpPr>
          <p:cNvPr id="16" name="TextBox 15"/>
          <p:cNvSpPr txBox="1"/>
          <p:nvPr/>
        </p:nvSpPr>
        <p:spPr>
          <a:xfrm>
            <a:off x="4521200" y="2959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Unattended endpoints</a:t>
            </a:r>
          </a:p>
        </p:txBody>
      </p:sp>
      <p:sp>
        <p:nvSpPr>
          <p:cNvPr id="17" name="TextBox 16"/>
          <p:cNvSpPr txBox="1"/>
          <p:nvPr/>
        </p:nvSpPr>
        <p:spPr>
          <a:xfrm>
            <a:off x="4521200" y="3352800"/>
            <a:ext cx="3149600" cy="5207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36 previously; 49.2× increase</a:t>
            </a:r>
          </a:p>
        </p:txBody>
      </p:sp>
      <p:sp>
        <p:nvSpPr>
          <p:cNvPr id="18" name="Rectangle 17"/>
          <p:cNvSpPr/>
          <p:nvPr/>
        </p:nvSpPr>
        <p:spPr>
          <a:xfrm>
            <a:off x="8102600" y="2133600"/>
            <a:ext cx="3556000" cy="18288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05800" y="2260600"/>
            <a:ext cx="3149600" cy="698500"/>
          </a:xfrm>
          <a:prstGeom prst="rect">
            <a:avLst/>
          </a:prstGeom>
          <a:noFill/>
        </p:spPr>
        <p:txBody>
          <a:bodyPr wrap="none" lIns="0" rIns="0" tIns="0" bIns="0" anchor="t">
            <a:spAutoFit/>
          </a:bodyPr>
          <a:lstStyle/>
          <a:p>
            <a:pPr algn="l">
              <a:lnSpc>
                <a:spcPts val="4428"/>
              </a:lnSpc>
              <a:spcBef>
                <a:spcPts val="0"/>
              </a:spcBef>
              <a:spcAft>
                <a:spcPts val="0"/>
              </a:spcAft>
              <a:defRPr sz="3600" b="1">
                <a:solidFill>
                  <a:srgbClr val="007E80"/>
                </a:solidFill>
                <a:latin typeface="DejaVu Sans"/>
              </a:defRPr>
            </a:pPr>
            <a:r>
              <a:t>962</a:t>
            </a:r>
          </a:p>
        </p:txBody>
      </p:sp>
      <p:sp>
        <p:nvSpPr>
          <p:cNvPr id="20" name="TextBox 19"/>
          <p:cNvSpPr txBox="1"/>
          <p:nvPr/>
        </p:nvSpPr>
        <p:spPr>
          <a:xfrm>
            <a:off x="8305800" y="2959100"/>
            <a:ext cx="3149600" cy="355600"/>
          </a:xfrm>
          <a:prstGeom prst="rect">
            <a:avLst/>
          </a:prstGeom>
          <a:noFill/>
        </p:spPr>
        <p:txBody>
          <a:bodyPr wrap="none" lIns="0" rIns="0" tIns="0" bIns="0" anchor="t">
            <a:spAutoFit/>
          </a:bodyPr>
          <a:lstStyle/>
          <a:p>
            <a:pPr algn="l">
              <a:lnSpc>
                <a:spcPts val="1968"/>
              </a:lnSpc>
              <a:spcBef>
                <a:spcPts val="0"/>
              </a:spcBef>
              <a:spcAft>
                <a:spcPts val="0"/>
              </a:spcAft>
              <a:defRPr sz="1600" b="1">
                <a:solidFill>
                  <a:srgbClr val="142C40"/>
                </a:solidFill>
                <a:latin typeface="DejaVu Sans"/>
              </a:defRPr>
            </a:pPr>
            <a:r>
              <a:t>Held-out inputs / protocol</a:t>
            </a:r>
          </a:p>
        </p:txBody>
      </p:sp>
      <p:sp>
        <p:nvSpPr>
          <p:cNvPr id="21" name="TextBox 20"/>
          <p:cNvSpPr txBox="1"/>
          <p:nvPr/>
        </p:nvSpPr>
        <p:spPr>
          <a:xfrm>
            <a:off x="8305800" y="3352800"/>
            <a:ext cx="3149600" cy="520700"/>
          </a:xfrm>
          <a:prstGeom prst="rect">
            <a:avLst/>
          </a:prstGeom>
          <a:noFill/>
        </p:spPr>
        <p:txBody>
          <a:bodyPr wrap="none" lIns="0" rIns="0" tIns="0" bIns="0" anchor="t">
            <a:spAutoFit/>
          </a:bodyPr>
          <a:lstStyle/>
          <a:p>
            <a:pPr algn="l">
              <a:lnSpc>
                <a:spcPts val="1599"/>
              </a:lnSpc>
              <a:spcBef>
                <a:spcPts val="0"/>
              </a:spcBef>
              <a:spcAft>
                <a:spcPts val="0"/>
              </a:spcAft>
              <a:defRPr sz="1300" b="0">
                <a:solidFill>
                  <a:srgbClr val="526471"/>
                </a:solidFill>
                <a:latin typeface="DejaVu Sans"/>
              </a:defRPr>
            </a:pPr>
            <a:r>
              <a:t>242 positive + 720 normal</a:t>
            </a:r>
          </a:p>
        </p:txBody>
      </p:sp>
      <p:sp>
        <p:nvSpPr>
          <p:cNvPr id="22" name="Rectangle 21"/>
          <p:cNvSpPr/>
          <p:nvPr/>
        </p:nvSpPr>
        <p:spPr>
          <a:xfrm>
            <a:off x="533400" y="4203700"/>
            <a:ext cx="5422900" cy="1981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 y="4203700"/>
            <a:ext cx="50800" cy="1981200"/>
          </a:xfrm>
          <a:prstGeom prst="rect">
            <a:avLst/>
          </a:prstGeom>
          <a:solidFill>
            <a:srgbClr val="007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2000" y="43815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007E80"/>
                </a:solidFill>
                <a:latin typeface="DejaVu Sans"/>
              </a:defRPr>
            </a:pPr>
            <a:r>
              <a:t>MiniCPM: strongest raw frame F1</a:t>
            </a:r>
          </a:p>
        </p:txBody>
      </p:sp>
      <p:sp>
        <p:nvSpPr>
          <p:cNvPr id="25" name="TextBox 24"/>
          <p:cNvSpPr txBox="1"/>
          <p:nvPr/>
        </p:nvSpPr>
        <p:spPr>
          <a:xfrm>
            <a:off x="762000" y="5092700"/>
            <a:ext cx="4991100" cy="965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F1 0.479 • recall 34.7% • FPR 3.47%</a:t>
            </a:r>
          </a:p>
          <a:p>
            <a:pPr algn="l">
              <a:lnSpc>
                <a:spcPts val="1968"/>
              </a:lnSpc>
              <a:spcBef>
                <a:spcPts val="0"/>
              </a:spcBef>
              <a:spcAft>
                <a:spcPts val="0"/>
              </a:spcAft>
              <a:defRPr sz="1600" b="0">
                <a:solidFill>
                  <a:srgbClr val="142C40"/>
                </a:solidFill>
                <a:latin typeface="DejaVu Sans"/>
              </a:defRPr>
            </a:pPr>
            <a:r>
              <a:t>Many positive endpoints are still missed.</a:t>
            </a:r>
          </a:p>
        </p:txBody>
      </p:sp>
      <p:sp>
        <p:nvSpPr>
          <p:cNvPr id="26" name="Rectangle 25"/>
          <p:cNvSpPr/>
          <p:nvPr/>
        </p:nvSpPr>
        <p:spPr>
          <a:xfrm>
            <a:off x="6235700" y="4203700"/>
            <a:ext cx="5422900" cy="1981200"/>
          </a:xfrm>
          <a:prstGeom prst="rect">
            <a:avLst/>
          </a:prstGeom>
          <a:solidFill>
            <a:srgbClr val="FFFFFF"/>
          </a:solidFill>
          <a:ln w="8890">
            <a:solidFill>
              <a:srgbClr val="DCE3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235700" y="4203700"/>
            <a:ext cx="50800" cy="1981200"/>
          </a:xfrm>
          <a:prstGeom prst="rect">
            <a:avLst/>
          </a:prstGeom>
          <a:solidFill>
            <a:srgbClr val="C865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64300" y="4381500"/>
            <a:ext cx="4991100" cy="635000"/>
          </a:xfrm>
          <a:prstGeom prst="rect">
            <a:avLst/>
          </a:prstGeom>
          <a:noFill/>
        </p:spPr>
        <p:txBody>
          <a:bodyPr wrap="none" lIns="0" rIns="0" tIns="0" bIns="0" anchor="t">
            <a:spAutoFit/>
          </a:bodyPr>
          <a:lstStyle/>
          <a:p>
            <a:pPr algn="l">
              <a:lnSpc>
                <a:spcPts val="2460"/>
              </a:lnSpc>
              <a:spcBef>
                <a:spcPts val="0"/>
              </a:spcBef>
              <a:spcAft>
                <a:spcPts val="0"/>
              </a:spcAft>
              <a:defRPr sz="2000" b="1">
                <a:solidFill>
                  <a:srgbClr val="C86535"/>
                </a:solidFill>
                <a:latin typeface="DejaVu Sans"/>
              </a:defRPr>
            </a:pPr>
            <a:r>
              <a:t>Three anomalies now attempted</a:t>
            </a:r>
          </a:p>
        </p:txBody>
      </p:sp>
      <p:sp>
        <p:nvSpPr>
          <p:cNvPr id="29" name="TextBox 28"/>
          <p:cNvSpPr txBox="1"/>
          <p:nvPr/>
        </p:nvSpPr>
        <p:spPr>
          <a:xfrm>
            <a:off x="6464300" y="5092700"/>
            <a:ext cx="4991100" cy="965200"/>
          </a:xfrm>
          <a:prstGeom prst="rect">
            <a:avLst/>
          </a:prstGeom>
          <a:noFill/>
        </p:spPr>
        <p:txBody>
          <a:bodyPr wrap="none" lIns="0" rIns="0" tIns="0" bIns="0" anchor="t">
            <a:spAutoFit/>
          </a:bodyPr>
          <a:lstStyle/>
          <a:p>
            <a:pPr algn="l">
              <a:lnSpc>
                <a:spcPts val="1968"/>
              </a:lnSpc>
              <a:spcBef>
                <a:spcPts val="0"/>
              </a:spcBef>
              <a:spcAft>
                <a:spcPts val="0"/>
              </a:spcAft>
              <a:defRPr sz="1600" b="0">
                <a:solidFill>
                  <a:srgbClr val="142C40"/>
                </a:solidFill>
                <a:latin typeface="DejaVu Sans"/>
              </a:defRPr>
            </a:pPr>
            <a:r>
              <a:t>6,667 littering; 1,675 loitering; 111 pose scenes.</a:t>
            </a:r>
          </a:p>
          <a:p>
            <a:pPr algn="l">
              <a:lnSpc>
                <a:spcPts val="1968"/>
              </a:lnSpc>
              <a:spcBef>
                <a:spcPts val="0"/>
              </a:spcBef>
              <a:spcAft>
                <a:spcPts val="0"/>
              </a:spcAft>
              <a:defRPr sz="1600" b="0">
                <a:solidFill>
                  <a:srgbClr val="142C40"/>
                </a:solidFill>
                <a:latin typeface="DejaVu Sans"/>
              </a:defRPr>
            </a:pPr>
            <a:r>
              <a:t>Weak labels limit accuracy claims.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Expanded CLIP &amp; VLM accuracy evaluation</dc:title>
  <dc:subject>Findings, methodology and accuracy evaluation; 14 October 2026</dc:subject>
  <dc:creator>Capstone S25</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