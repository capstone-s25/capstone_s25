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history remains visible. Six CLIP visual fine-tunes and three actual SmolVLM language-layer LoRA runs changed model weights. The 330 strategy configurations, 50 temporal heads and 38 smoking policies are separate studies, repeatedly using some sources. SmolVLM has 3,792 unique held-out examples across ten cohorts, not 3,792 independent events. Four historical target rankings improve with primary per-task routing, but loitering regresses and unattended FPR is 70.8% at the development-budget cutoff. No five-event deployment winner is established; no new latency benchmark is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330200"/>
            <a:ext cx="355600" cy="50800"/>
          </a:xfrm>
          <a:prstGeom prst="rect">
            <a:avLst/>
          </a:prstGeom>
          <a:solidFill>
            <a:srgbClr val="007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254000"/>
            <a:ext cx="106426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DejaVu Sans"/>
              </a:defRPr>
            </a:pPr>
            <a:r>
              <a:t>FINDINGS / UPDATED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736600"/>
            <a:ext cx="11125200" cy="10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9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42C40"/>
                </a:solidFill>
                <a:latin typeface="DejaVu Sans"/>
              </a:defRPr>
            </a:pPr>
            <a:r>
              <a:t>Five-anomaly model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625600"/>
            <a:ext cx="11125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6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526471"/>
                </a:solidFill>
                <a:latin typeface="DejaVu Sans"/>
              </a:defRPr>
            </a:pPr>
            <a:r>
              <a:t>Data, testing and iterative improvement • completed studies through 19 October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" y="6413500"/>
            <a:ext cx="11125200" cy="0"/>
          </a:xfrm>
          <a:prstGeom prst="line">
            <a:avLst/>
          </a:prstGeom>
          <a:ln w="12700">
            <a:solidFill>
              <a:srgbClr val="DC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3400" y="6527800"/>
            <a:ext cx="106045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45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526471"/>
                </a:solidFill>
                <a:latin typeface="DejaVu Sans"/>
              </a:defRPr>
            </a:pPr>
            <a:r>
              <a:t>CAPSTONE S25 / PROGRESS 19 OCT 2026 • Preserved results + SmolVLM matched-control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02400"/>
            <a:ext cx="457200" cy="215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353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108200"/>
            <a:ext cx="11125200" cy="1282700"/>
          </a:xfrm>
          <a:prstGeom prst="rect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700" y="2298700"/>
            <a:ext cx="10591800" cy="965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98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"/>
              </a:defRPr>
            </a:pPr>
            <a:r>
              <a:t>SmolVLM learns useful task rankings.</a:t>
            </a:r>
          </a:p>
          <a:p>
            <a:pPr algn="l">
              <a:lnSpc>
                <a:spcPts val="3198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"/>
              </a:defRPr>
            </a:pPr>
            <a:r>
              <a:t>Camera transfer and false alarms remain unresolved.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581400"/>
            <a:ext cx="3556000" cy="180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600" y="3708400"/>
            <a:ext cx="31496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2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E80"/>
                </a:solidFill>
                <a:latin typeface="DejaVu Sans"/>
              </a:defRPr>
            </a:pPr>
            <a:r>
              <a:t>6 + 3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406900"/>
            <a:ext cx="314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2C40"/>
                </a:solidFill>
                <a:latin typeface="DejaVu Sans"/>
              </a:defRPr>
            </a:pPr>
            <a:r>
              <a:t>Changed-weight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600" y="4800600"/>
            <a:ext cx="31496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471"/>
                </a:solidFill>
                <a:latin typeface="DejaVu Sans"/>
              </a:defRPr>
            </a:pPr>
            <a:r>
              <a:t>6 CLIP visual + 3 SmolVLM LoRA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8000" y="3581400"/>
            <a:ext cx="3556000" cy="180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1200" y="3708400"/>
            <a:ext cx="31496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2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E80"/>
                </a:solidFill>
                <a:latin typeface="DejaVu Sans"/>
              </a:defRPr>
            </a:pPr>
            <a:r>
              <a:t>3,792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200" y="4406900"/>
            <a:ext cx="314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2C40"/>
                </a:solidFill>
                <a:latin typeface="DejaVu Sans"/>
              </a:defRPr>
            </a:pPr>
            <a:r>
              <a:t>SmolVLM held-out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200" y="4800600"/>
            <a:ext cx="31496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471"/>
                </a:solidFill>
                <a:latin typeface="DejaVu Sans"/>
              </a:defRPr>
            </a:pPr>
            <a:r>
              <a:t>10 source/task cohorts; retrospective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2600" y="3581400"/>
            <a:ext cx="3556000" cy="1803400"/>
          </a:xfrm>
          <a:prstGeom prst="rect">
            <a:avLst/>
          </a:prstGeom>
          <a:solidFill>
            <a:srgbClr val="FFFFFF"/>
          </a:solidFill>
          <a:ln w="8890">
            <a:solidFill>
              <a:srgbClr val="DC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5800" y="3708400"/>
            <a:ext cx="31496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28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E80"/>
                </a:solidFill>
                <a:latin typeface="DejaVu Sans"/>
              </a:defRPr>
            </a:pPr>
            <a:r>
              <a:t>70.8%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4406900"/>
            <a:ext cx="314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42C40"/>
                </a:solidFill>
                <a:latin typeface="DejaVu Sans"/>
              </a:defRPr>
            </a:pPr>
            <a:r>
              <a:t>Unattended endpoint FPR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4800600"/>
            <a:ext cx="3149600" cy="495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9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471"/>
                </a:solidFill>
                <a:latin typeface="DejaVu Sans"/>
              </a:defRPr>
            </a:pPr>
            <a:r>
              <a:t>94.6% recall at dev-budget cutoff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5473700"/>
            <a:ext cx="11125200" cy="774700"/>
          </a:xfrm>
          <a:prstGeom prst="rect">
            <a:avLst/>
          </a:prstGeom>
          <a:solidFill>
            <a:srgbClr val="F8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5473700"/>
            <a:ext cx="50800" cy="774700"/>
          </a:xfrm>
          <a:prstGeom prst="rect">
            <a:avLst/>
          </a:prstGeom>
          <a:solidFill>
            <a:srgbClr val="C86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" y="5588000"/>
            <a:ext cx="10706100" cy="62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6535"/>
                </a:solidFill>
                <a:latin typeface="DejaVu Sans"/>
              </a:defRPr>
            </a:pPr>
            <a:r>
              <a:t>Next decisive evidence: independently reviewed event histories and long normal streams on new</a:t>
            </a:r>
          </a:p>
          <a:p>
            <a:pPr algn="l">
              <a:lnSpc>
                <a:spcPts val="1722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86535"/>
                </a:solidFill>
                <a:latin typeface="DejaVu Sans"/>
              </a:defRPr>
            </a:pPr>
            <a:r>
              <a:t>cameras.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Five-anomaly evaluation and adaptation progress</dc:title>
  <dc:subject>Data, methods, results and improvements through 19 October 2026</dc:subject>
  <dc:creator>Capstone S25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