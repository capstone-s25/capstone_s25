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history remains visible. Six CLIP visual fine-tunes and three actual SmolVLM language-layer LoRA runs changed model weights. The 330 strategy configurations, 50 temporal heads and 38 smoking policies are separate studies, repeatedly using some sources. SmolVLM has 3,792 unique held-out examples across ten cohorts, not 3,792 independent events. Four historical target rankings improve with primary per-task routing, but loitering regresses and unattended FPR is 70.8% at the development-budget cutoff. No five-event deployment winner is established; no new latency benchmark is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accepted existing definitions and annotations. There is no newly invented universal loitering threshold. Public-sleep labels describe visible sleep/bedding/context, never housing status. AVSS specifies stationary for 30 seconds and an absent owner; historical provisional windows and MEVA abandonment actions do not uniformly implement this criterion. Grounding boxes and source annotations are separate from inferred ownership.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SmolVLM-500M-Instruct is adapted through q/k/v/o and gate/up/down language projections. No new MiniCPM or VadCLIP training is claimed. The older four-model common-image comparison remains historical. New SmolVLM AP uses first-token binary margins, not hard JSON categories; its original matched baseline is essential. VadCLIP remains a separately supervised 1,056-frame smoking protocol.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SmolVLM round reuses collected and previously inspected source data. Its three runs are seed42 at learning rates 3e-5 and 1e-4, plus seed43 at the primary winning rate 1e-4. All choose epoch one after three completed epochs. More configurations, crops, overlapping windows or seeds are not more independent cameras/events.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collections were evaluated as target-prediction rates, not mislabeled as event accuracy. Littering exports name dropping/dumping/placing/throwing, which are not uniformly rubbish disposal. Person boxes lack duration; synthetic fallen/lying people lack verified public-sleep context. Independent human validation of historical assistant-reviewed unattended and sleeping labels remains missing. These sources are useful; their supported measurement differs from event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totals 3,258, development 1,633, test 1,801, plus 806 Stanford40 test photographs (666 normal / 140 smoking). Classes are target-specific, with unknown labels for other objectives masked. CCTV camera c4 trains, c2 develops, c1 tests; original photos are included in training/development where partitions permit. Public sleep is provisional. Unattended endpoint counts represent only two held-out camera families, not 962 events. Later strategies expand train to 3,973 and dev to 1,812 with additional photos.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 new smoking photos were downloaded and 1,118 retained; 715 train,179 dev,224 test. HMDB: 109 smoking and 797 confusable action clips before grouped splits. Thermal: 19,737 track IDs, 17,878 eligible complete trajectories, 19/6/6 chronological dates. MEVA: 15 action windows plus12 pre-event controls,10 synchronization groups across7 cameras, not persistent unattended truth. Public sleep:40 downloaded,29 usable,28 author-screened cases(17+/11normal;25 author groups). AVSS HARD is censored and excluded from the primary two-event result. New author clips show highway debris, not owner histories; three other entries explicitly reference ABODA and are not new 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fine-tuning primary is seed42;43/44 show optimization variability. The later video pilot retains all seeds and uses worst dev-source AP then meanAP; final selections precede scoring new AVSS. Its source guard removes10 known film-alias training clips and no test clips. Exact pixels are verified for25,452 pilot inputs; hashes and source-name grouping do not prove all near-duplicate/actor identities are known. On17Oct, AVSS and historical scores are already inspected, so all policy comparisons there are retrospective even though choices still use development scores.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Expanded image comparisons use shared letterbox preprocessing capped at768pixels, CLIP float32 and unquantized VLM automatic BF16,64-token deterministic generation, MiniCPM one-slice baseline. Those are explicit baseline settings, not a search of optimal native video methods. The fine-tuning audit found AMP inference sensitivity to batch shape; weights and routes were fixed, final evaluation rerunF32 and thresholds refitted usingF32dev only. Model bundles and feature/checkpoint replays record numerical tolerances. The isolated CUDA runtime was validated with actual computation and used for the new detector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global rule:2s persistence,1s release,10s cooldown, reset for score gaps&gt;1.1s. Thresholds maximize dev event recall within the stated normal false-alert budget. Strict matching counts only alert starts within positive intervals and separately reports repeated event alarms. Historical onset windows are provisional, so some unknown-time alarms may be useful early detections; do not portray those as proven normal false alarms. Overlapping windows do not create independent event observations. Confidence from a few cameras is limited.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14 October results preceding CLIP adaptation. MiniCPM has 84 TP, 25 FP, 158 FN and 695 TN (frame F1 .479). With 20-second contact sheets recall falls to 10.74%, FPR .14% and F1 .193. SmolVLM has 1,457 abstentions over 13,789 evaluations; MiniCPM has 45; both have zero runtime errors. Hard categorical responses have no real continuous ranking scores. At the 14 October cutoff these are original prompted models. A separate 19 October study later adapts SmolVLM language weights under a new matched binary protocol. A contact-sheet comparison is not native temporal-video inference.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has 7,498 target-specific examples and 12,478 distinct views. Temporal features use last/mean/max/delta pooling, preserving source groups. Probe C values 1/10/100 and fine-tuning settings are selected on dev. Seed 42 was primary before held-out results. Six checkpoints contain finite changed visual tensors, checked by delta norms and hashes. Verification replays 46,926 held-out and 29,394 dev predictions. Models classify scenes/clips and do not themselves output object boxes or ownership.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source holdouts that were historically inspected. Gains combine supervision and temporal representations; some routes retain a probe or pretrained score based on dev. On 806 photo tests SigLIP AP rises .499 to .954 and MobileCLIP .220 to .901. Loitering has 11 positives among 75 windows (prevalence .147), with both selected APs below prevalence. Sleep has six positive photos and provisional labels. Unattended labels are provisional and cover only two held-out camera families. All seeds and alternatives remain preserved.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adapted weights are reused; this is not a new visual fine-tune per configuration. Seed 42 is primary. Automatic crops and sparse geometry do not supply full MOT or ownership. Verification replays 117,612 predictions and checks 20,980 image identities and actual inference for all five tasks on both encoders.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development-selected routes concern already inspected historical holdouts. Crops help smoking and geometry helps loitering, while dumping/public-sleep regressions remain. Dev-F1 FPR is still 75.9% / 84.6% on CCTV smoking and 99.7% / 100% on unattended items. SigLIP unattended zero-logit F1 falls from .749 to .131. Preserve threshold failures alongside AP gains.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224-photo holdout shares its collection with new training photos. HMDB was an unseen source here; both routes regress on 906 clips. Later HMDB adaptation uses 530 training and 205 test clips, a different protocol. Public sleep has 28 provisional new-author cases, 17 positive and 11 normal. MEVA has 15 action windows and 12 controls, not verified persistent unattended state.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Thermal data supplies 874,936 observations and 19,737 track IDs; 17,878 eligible trajectories remain. A selected 400-tree depth-eight forest has test AP .577, F1 .664 and FPR .187 versus duration-only AP .283. Development AP .863 exposes date transfer loss. These are supplied tracks from one thermal camera. RGB Street Scene is separate and has only 11 positive test windows. Photos cannot establish sleep duration.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224 input, the median largest smoker is 11.2 pixels tall; all targets are below 12 pixels in 71.8% of positive CCTV frames. Automatic multiple-person/upper-body crops reduce losing half every target from 40.2% to 1/393. Detector resolution also changes; coverage is not recognition. CAVIAR partial item-reference recall rises from 0/136 to 66/136. Unmatched tracks are not proven false positives and ownership has no independent truth.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pilot freezes pretrained encoders, separate from earlier visual fine-tuning. Dense 2 Hz video and 16 HMDB views provide scene, person, upper-body and item contexts. Eighteen geometry values come from causal Hungarian IoU/velocity tracking, not ByteTrack or ReID. GRUs use 128 projection and 64 hidden dimensions with past-only histories and gap timing. The cached-feature replay CLI is not a new-video streaming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HMDB contributes 530 train, 161 dev and 205 test clips after ten known shared-film training aliases are purged. No test clip is removed. Person supervision uses 1,460 matched automatic training-camera regions with 277 positives. Training-only hard-negative mining starts at epoch four; checkpoints selected earlier do not demonstrate its benefit. Heads use float32 AdamW, learning rate .0005, at most 60 epochs and patience eight. Most of 936 prepared recordings are action clips, not cameras.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bundle is recomputed on the exact same 205 HMDB cases, using eight views and no HMDB training versus 16 views and 530 training clips now. Gains combine data and methods. At the old pooled dev-budget point, CCTV recall/FPR are 16.5%/7.9% for MobileCLIP and 2.3%/1.6% for SigLIP. HMDB values are 86.7%/2.9% and 66.7%/1.7%. Movie/web recognition does not establish CCTV transfer.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encoder compares 14 previous heads, four seed ensembles and one all-head ensemble: 19 policies. Equal sigmoid averages are not calibrated probabilities. Both selections freeze before held-out scores load. Every dev source must meet the FPR budget under one cutoff. SigLIP HMDB AP improves .7779 to .9645 with recall 66.7% to 76.7% at observed FPR 1.71%; CCTV recall remains 1.78%. MobileCLIP retains its head with a stricter cutoff. These are retrospective cohorts and reused development 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alerts use two-second persistence, one-second release and ten-second cooldown. The one-false-alert/hour development target has only 28 seconds of dev normal footage and cannot certify that rate. Observed global normal rates are 21.7/hour and 130.3/hour. The separate AVSS source rule requires the same item stationary for 30 seconds and its associated owner absent. State-only results are independent of CLIP. The three videos appear to share one platform view; HARD remains a censored diagnostic.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Entire ABODA classroom video7 and walkway video2 provide disjoint normal calibration and are excluded from both evaluation arms. Four events and 137 normal seconds remain. MobileCLIP detects 0/4 in both arms; SigLIP changes 0/4 to 1/4, with four normal false alerts reduced to one, still 26.3/hour. AVSS lacks disjoint normal calibration. Zero alarms over 165.74 normal seconds gives a one-sided 95% Poisson upper rate of 65.07/hour, assuming a homogeneous process. It is not a camera-transfer guarantee.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rule uses three trailing centers and one second of sustained .015-frame displacement; pending motion blocks alerts. Item memory uses spatial one-to-one association and rearms on five seconds of owner return, three seconds of motion or 30 seconds absent. Synthetic tests cover simultaneous items and ID gaps without proving field benefits. AVSS stays 2/2 with zero false/repeated alerts; smoothing raises delay from 34.818 to 35.068 seconds. Memory raises HARD repeats from one to two. Historical intervals use different provisional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https://github.com/hangsuuuu/video-of-abandoned-object-detection at revision 966439fcac1103b392c49d4135f128860a39d1f8. The receipt records content hashes. Three bundled clips show highway debris; three entries explicitly alias ABODA. Actual FPS is 30, about 14.966 and 19.912, with 357, 219 and 151 decoded frames. Beyond-stream timestamps are exposed, not rescaled. Thirty annotated frames form a component stress test with no owner or complete event labels. Visual review is provisional assistant review.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DINO tiny uses the same pinned weights, generic query and thresholds, float32 GPU inference and TF32 off. Four fixed 60%-size tiles overlap by 20%; detections merge with full-image output using NMS .5. Source boxes never choose tiles. There are 136 CAVIAR training-source item references and 30 highway-debris references. Partial annotations support recall, not precision. Tiling does not overwrite pilot event tracks or heads.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VadCLIP dual_mean gives AUROC .5874, AP .63323, F1 .56475, recall .51786 and FPR .35685 with a development-frozen threshold. Training uses 1,910 frames in nine clips; validation uses 312 frames in four clips and a 12.642M-parameter adapter. This offline supervised smoking protocol has different source groups and supervision from image models. The constant visual branch remains a recorded failure. No new VadCLIP training was done this round.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 = logit(Yes) minus logit(No). This is a genuine continuous ranking score and is not calibrated event probability. Yes+No probability mass is already high before training: minimum98.4%, median99.9% on development. The original and all adapted paths share the frozen image encoder and connector. No other task is fabricated as negative. The new interface differs from the earlier free-generated JSON protocol.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normal/positive counts, unlike the total/positive header in the Markdown summary. Smoking test comprises646 CCTV frames and224 Kaggle photos; Stanford40 adds806 external photos with140 positives. Training uses exactly the existing3973 strategy examples, not additional new downloads. Loitering has one physical camera despite multiple recording groups. Sleep labels are provisional. Unattended endpoints are correlated, with two test source families.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HMDB other-primary-action controls are non-exhaustive negatives. Eight-view clip smoking differs from single-image smoking training. Twenty-eight public-sleep cases have25 author groups. MEVA has15 action windows and12 pre-event controls and cannot establish persistent ownership. Existing historical tests have been inspected before. No new dataset is downloaded for this LoRA round.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LoRA also freezes the vocabulary output head. Every epoch visits3973 unique training examples once, then3973 balanced resamples;7946 visits total. The resampled half balances task/class/source/group, while the combined epoch retains original imbalance. AdamW weight decay.01,5%warmup,linear decay,gradient clip1,microbatch8×accumulation4. CUDA accuracy is unpaced; there is no new latency benchmark.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Seed42 compares two rates. Seed43 repeats only the winning high rate; it is not a full repeated grid. Planned maximum6epochs,patience2; each completes3epochs and selects1. Routes and thresholds precede their held-out predictions. Joint means one high-rate adapter for all tasks. Routed means per-task original/adapter choices using development AP. Do not substitute a better test seed.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runs select epoch one. The primary high-rate training loss is .4789,.2895,.2235, while development macro AP is .7026,.6485,.6276. More epochs fit the training corpus but worsen this source-transfer diagnostic. Nine actual epochs total across candidates yield71514visits, not71514newexamples. Frozen visual extraction avoids repeating unchanged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of five historical target rankings improve under per-task routing, counting CCTV as the smoking target. Loitering falls .4250→.1822. Historical sleep has six positives: joint falls .7437→.6327 while routed lowLR reaches .7885. Unattended ranking rises .4762→.6933 but decisions remain problematic. Photo smoking has different prevalence and domain from CCTV. The constant-score CCTV AP is393/646=.6084.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Stanford40 is a historical external photograph holdout. HMDB includes906clips with109smoking positives and797other primary actions; controls are not exhaustive negatives. New-author sleep has28cases and25author groups. MEVA27windows do not prove persistent unattended state. These sources were inspected in earlier experiments, so transfer is retrospective. No continuous event false-alert rate is measured here.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development-budget point unattended recall94.6%andFPR70.8%; original20.2%and1.9%. This is not a uniformly superior decision tradeoff. Litter recall30%FPR8%;loiter9.1%/6.2%;historical sleep33.3%/8.3%. MEVA elsewhere is66.7%/58.3%. Endpoint FPR is not hourly alert rate. Cutoffs are fitted per target on pooled development normals, not every source separately.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Seed43 is a limited stability check and is never selected using test outcomes. Sleep joint AP.6327versus.9167is sensitive on18cases. The primary per-task sleep route is a different low-LR adapter,AP.7885. HMDB joint AP.7837versus.7862andunattended.6933versus.7052repeat broadly. Loitering worsens .1822→.1314. Existing source/annotation limits remain.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compares complete pipelines, not an architecture-only ablation. Same learning/development splits are3973/1812. The matched original SmolVLM is the clean weight-adaptation control. Later SigLIP ensemble AP.9645 uses530HMDBtrainingclips,205testclipsand16views; comparing that directly to Smol906case8viewtransfer would confound supervision and examples. Historical VadCLIP also has a different split.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Exploratory rule specified after primary held-out results were inspected and after the first independent-seed development epoch. Retrospective safeguard, not fresh prospective evidence. Independent optimization seeds do not provide independent cameras or annotation review. The function reads only development scores, but the decision to invent it was made after primary held-out inspection and the first secondary development epoch. Restored targets reuse original development thresholds; others retain primary routes. Seed43 repeats the high LR, so this is not exact replication of the low-LR sleep route. CLI option: --repeated-gains.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Largest native-versus-saved error7.2479e-5isbelow.002tolerance. Four actual native CLI scoring cases and two missing-timestamp temporal guards pass. Some chosen positive inputs are classified absent under strict cutoffs, consistent with low recall. PEFT export changes machine-local base config to public pinned identity, leaving weight bytes unchanged. Source hashes, response mass and exact cutoffs are preserved. No new latency test is performed.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SmolVLM provides a useful language-adaptation experiment but does not supersede all CLIP strategies. Keep the loiter regression, joint-sleep regression and unattended FPR failure visible. Tiling improves component recall, not verified event performance. AVSS still has only two clean primary events and2.76normalminutes. MiniCPM and VadCLIP are historical baselines, with different scope.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makes failure mechanisms more concrete: few source families, tiny positive cohorts, small person/object detail, incomplete ownership/duration labels and threshold domain shift. More epochs, generic language explanations or extra correlated frames alone do not address those evidence gaps. Neither current research routes nor the optional safeguard are validated deployment choices.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Acquire smoking controls(drinking,eating,coughing);disposal versus placing/pickup;legitimate waiting and complete dwell tracks;persistent sleep versus awake rest;owner-associated items with retrieval/occlusion. Use unseen camera/day blocks and review uncertainty. Evaluate controlled low-LR/regularized adapters or vision adaptation only after adding compatible evidence. Do not claim normal alert safety from a few zero-alert minutes.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Updated paper: reports/technical_runthrough_20261019/model_evaluation_runthrough_20261019.pdf. SmolVLM findings: reports/smolvlm_finetuning_findings_20261019.md; guide:docs/smolvlm_finetuning.md. Rebuild using scripts/build_technical_runthrough_20261019.py and reports/slides/build_progress_presentation_20261019.py. The paper and slides cite stage-specific sources and preserve failed interventions.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UPDATED EXECUTIVE SUMMARY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Five-anomaly model evaluation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Data, testing and iterative improvement • completed studies through 19 October 2026</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Preserved results + SmolVLM matched-control evaluation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08200"/>
            <a:ext cx="11125200" cy="12827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 y="2298700"/>
            <a:ext cx="10591800" cy="965200"/>
          </a:xfrm>
          <a:prstGeom prst="rect">
            <a:avLst/>
          </a:prstGeom>
          <a:noFill/>
        </p:spPr>
        <p:txBody>
          <a:bodyPr wrap="none" lIns="0" rIns="0" tIns="0" bIns="0" anchor="t">
            <a:spAutoFit/>
          </a:bodyPr>
          <a:lstStyle/>
          <a:p>
            <a:pPr algn="l">
              <a:lnSpc>
                <a:spcPts val="3198"/>
              </a:lnSpc>
              <a:spcBef>
                <a:spcPts val="0"/>
              </a:spcBef>
              <a:spcAft>
                <a:spcPts val="0"/>
              </a:spcAft>
              <a:defRPr sz="2600" b="1">
                <a:solidFill>
                  <a:srgbClr val="FFFFFF"/>
                </a:solidFill>
                <a:latin typeface="DejaVu Sans"/>
              </a:defRPr>
            </a:pPr>
            <a:r>
              <a:t>SmolVLM learns useful task rankings.</a:t>
            </a:r>
          </a:p>
          <a:p>
            <a:pPr algn="l">
              <a:lnSpc>
                <a:spcPts val="3198"/>
              </a:lnSpc>
              <a:spcBef>
                <a:spcPts val="0"/>
              </a:spcBef>
              <a:spcAft>
                <a:spcPts val="0"/>
              </a:spcAft>
              <a:defRPr sz="2600" b="1">
                <a:solidFill>
                  <a:srgbClr val="FFFFFF"/>
                </a:solidFill>
                <a:latin typeface="DejaVu Sans"/>
              </a:defRPr>
            </a:pPr>
            <a:r>
              <a:t>Camera transfer and false alarms remain unresolved.</a:t>
            </a:r>
          </a:p>
        </p:txBody>
      </p:sp>
      <p:sp>
        <p:nvSpPr>
          <p:cNvPr id="12" name="Rectangle 11"/>
          <p:cNvSpPr/>
          <p:nvPr/>
        </p:nvSpPr>
        <p:spPr>
          <a:xfrm>
            <a:off x="5334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6 + 3</a:t>
            </a:r>
          </a:p>
        </p:txBody>
      </p:sp>
      <p:sp>
        <p:nvSpPr>
          <p:cNvPr id="14" name="TextBox 13"/>
          <p:cNvSpPr txBox="1"/>
          <p:nvPr/>
        </p:nvSpPr>
        <p:spPr>
          <a:xfrm>
            <a:off x="7366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Changed-weight runs</a:t>
            </a:r>
          </a:p>
        </p:txBody>
      </p:sp>
      <p:sp>
        <p:nvSpPr>
          <p:cNvPr id="15" name="TextBox 14"/>
          <p:cNvSpPr txBox="1"/>
          <p:nvPr/>
        </p:nvSpPr>
        <p:spPr>
          <a:xfrm>
            <a:off x="7366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6 CLIP visual + 3 SmolVLM LoRA</a:t>
            </a:r>
          </a:p>
        </p:txBody>
      </p:sp>
      <p:sp>
        <p:nvSpPr>
          <p:cNvPr id="16" name="Rectangle 15"/>
          <p:cNvSpPr/>
          <p:nvPr/>
        </p:nvSpPr>
        <p:spPr>
          <a:xfrm>
            <a:off x="43180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12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3,792</a:t>
            </a:r>
          </a:p>
        </p:txBody>
      </p:sp>
      <p:sp>
        <p:nvSpPr>
          <p:cNvPr id="18" name="TextBox 17"/>
          <p:cNvSpPr txBox="1"/>
          <p:nvPr/>
        </p:nvSpPr>
        <p:spPr>
          <a:xfrm>
            <a:off x="45212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SmolVLM held-out cases</a:t>
            </a:r>
          </a:p>
        </p:txBody>
      </p:sp>
      <p:sp>
        <p:nvSpPr>
          <p:cNvPr id="19" name="TextBox 18"/>
          <p:cNvSpPr txBox="1"/>
          <p:nvPr/>
        </p:nvSpPr>
        <p:spPr>
          <a:xfrm>
            <a:off x="45212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10 source/task cohorts; retrospective</a:t>
            </a:r>
          </a:p>
        </p:txBody>
      </p:sp>
      <p:sp>
        <p:nvSpPr>
          <p:cNvPr id="20" name="Rectangle 19"/>
          <p:cNvSpPr/>
          <p:nvPr/>
        </p:nvSpPr>
        <p:spPr>
          <a:xfrm>
            <a:off x="8102600" y="3581400"/>
            <a:ext cx="3556000" cy="1803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5800" y="37084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70.8%</a:t>
            </a:r>
          </a:p>
        </p:txBody>
      </p:sp>
      <p:sp>
        <p:nvSpPr>
          <p:cNvPr id="22" name="TextBox 21"/>
          <p:cNvSpPr txBox="1"/>
          <p:nvPr/>
        </p:nvSpPr>
        <p:spPr>
          <a:xfrm>
            <a:off x="8305800" y="44069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Unattended endpoint FPR</a:t>
            </a:r>
          </a:p>
        </p:txBody>
      </p:sp>
      <p:sp>
        <p:nvSpPr>
          <p:cNvPr id="23" name="TextBox 22"/>
          <p:cNvSpPr txBox="1"/>
          <p:nvPr/>
        </p:nvSpPr>
        <p:spPr>
          <a:xfrm>
            <a:off x="8305800" y="4800600"/>
            <a:ext cx="3149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94.6% recall at dev-budget cutoff</a:t>
            </a:r>
          </a:p>
        </p:txBody>
      </p:sp>
      <p:sp>
        <p:nvSpPr>
          <p:cNvPr id="24" name="Rectangle 2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Next decisive evidence: independently reviewed event histories and long normal streams on new</a:t>
            </a:r>
          </a:p>
          <a:p>
            <a:pPr algn="l">
              <a:lnSpc>
                <a:spcPts val="1722"/>
              </a:lnSpc>
              <a:spcBef>
                <a:spcPts val="0"/>
              </a:spcBef>
              <a:spcAft>
                <a:spcPts val="0"/>
              </a:spcAft>
              <a:defRPr sz="1400" b="1">
                <a:solidFill>
                  <a:srgbClr val="C86535"/>
                </a:solidFill>
                <a:latin typeface="DejaVu Sans"/>
              </a:defRPr>
            </a:pPr>
            <a:r>
              <a:t>cameras.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OBJECTIVE / DEFINITIONS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Five objectives require different 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Existing dataset annotations and definitions remain the source of truth</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Training protocol + source annotation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917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806700" y="2273300"/>
            <a:ext cx="4292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required</a:t>
            </a:r>
          </a:p>
        </p:txBody>
      </p:sp>
      <p:sp>
        <p:nvSpPr>
          <p:cNvPr id="13" name="TextBox 12"/>
          <p:cNvSpPr txBox="1"/>
          <p:nvPr/>
        </p:nvSpPr>
        <p:spPr>
          <a:xfrm>
            <a:off x="7327900" y="2273300"/>
            <a:ext cx="4229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Current qualification</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a:t>
            </a:r>
          </a:p>
        </p:txBody>
      </p:sp>
      <p:sp>
        <p:nvSpPr>
          <p:cNvPr id="16" name="TextBox 15"/>
          <p:cNvSpPr txBox="1"/>
          <p:nvPr/>
        </p:nvSpPr>
        <p:spPr>
          <a:xfrm>
            <a:off x="2806700" y="27813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Person + hand/object/action evidence</a:t>
            </a:r>
          </a:p>
        </p:txBody>
      </p:sp>
      <p:sp>
        <p:nvSpPr>
          <p:cNvPr id="17" name="TextBox 16"/>
          <p:cNvSpPr txBox="1"/>
          <p:nvPr/>
        </p:nvSpPr>
        <p:spPr>
          <a:xfrm>
            <a:off x="7327900" y="27813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Low-resolution CCTV differs from photos</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a:t>
            </a:r>
          </a:p>
        </p:txBody>
      </p:sp>
      <p:sp>
        <p:nvSpPr>
          <p:cNvPr id="21" name="TextBox 20"/>
          <p:cNvSpPr txBox="1"/>
          <p:nvPr/>
        </p:nvSpPr>
        <p:spPr>
          <a:xfrm>
            <a:off x="2806700" y="33274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Disposal action and scene context</a:t>
            </a:r>
          </a:p>
        </p:txBody>
      </p:sp>
      <p:sp>
        <p:nvSpPr>
          <p:cNvPr id="22" name="TextBox 21"/>
          <p:cNvSpPr txBox="1"/>
          <p:nvPr/>
        </p:nvSpPr>
        <p:spPr>
          <a:xfrm>
            <a:off x="7327900" y="33274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IWDD includes larger waste dumping</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6" name="TextBox 25"/>
          <p:cNvSpPr txBox="1"/>
          <p:nvPr/>
        </p:nvSpPr>
        <p:spPr>
          <a:xfrm>
            <a:off x="2806700" y="38735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Identified person and timed history</a:t>
            </a:r>
          </a:p>
        </p:txBody>
      </p:sp>
      <p:sp>
        <p:nvSpPr>
          <p:cNvPr id="27" name="TextBox 26"/>
          <p:cNvSpPr txBox="1"/>
          <p:nvPr/>
        </p:nvSpPr>
        <p:spPr>
          <a:xfrm>
            <a:off x="7327900" y="38735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 visible person alone is insufficient</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Rough sleeping</a:t>
            </a:r>
          </a:p>
        </p:txBody>
      </p:sp>
      <p:sp>
        <p:nvSpPr>
          <p:cNvPr id="31" name="TextBox 30"/>
          <p:cNvSpPr txBox="1"/>
          <p:nvPr/>
        </p:nvSpPr>
        <p:spPr>
          <a:xfrm>
            <a:off x="2806700" y="44196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Persistent apparent public sleep</a:t>
            </a:r>
          </a:p>
        </p:txBody>
      </p:sp>
      <p:sp>
        <p:nvSpPr>
          <p:cNvPr id="32" name="TextBox 31"/>
          <p:cNvSpPr txBox="1"/>
          <p:nvPr/>
        </p:nvSpPr>
        <p:spPr>
          <a:xfrm>
            <a:off x="7327900" y="44196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Posture photos are provisional proxies</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19177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items</a:t>
            </a:r>
          </a:p>
        </p:txBody>
      </p:sp>
      <p:sp>
        <p:nvSpPr>
          <p:cNvPr id="36" name="TextBox 35"/>
          <p:cNvSpPr txBox="1"/>
          <p:nvPr/>
        </p:nvSpPr>
        <p:spPr>
          <a:xfrm>
            <a:off x="2806700" y="4965700"/>
            <a:ext cx="42926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Item persistence + owner separation</a:t>
            </a:r>
          </a:p>
        </p:txBody>
      </p:sp>
      <p:sp>
        <p:nvSpPr>
          <p:cNvPr id="37" name="TextBox 36"/>
          <p:cNvSpPr txBox="1"/>
          <p:nvPr/>
        </p:nvSpPr>
        <p:spPr>
          <a:xfrm>
            <a:off x="7327900" y="4965700"/>
            <a:ext cx="4229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30 s criterion belongs to AVSS source</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Unknown history or missing labels stay unknown; other objectives are never automatically labelled</a:t>
            </a:r>
          </a:p>
          <a:p>
            <a:pPr algn="l">
              <a:lnSpc>
                <a:spcPts val="1722"/>
              </a:lnSpc>
              <a:spcBef>
                <a:spcPts val="0"/>
              </a:spcBef>
              <a:spcAft>
                <a:spcPts val="0"/>
              </a:spcAft>
              <a:defRPr sz="1400" b="1">
                <a:solidFill>
                  <a:srgbClr val="007E80"/>
                </a:solidFill>
                <a:latin typeface="DejaVu Sans"/>
              </a:defRPr>
            </a:pPr>
            <a:r>
              <a:t>normal.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MODELS / CURRENT COMPARISON SCOPE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Adaptation now includes SmolVLM language</a:t>
            </a:r>
          </a:p>
          <a:p>
            <a:pPr algn="l">
              <a:lnSpc>
                <a:spcPts val="3690"/>
              </a:lnSpc>
              <a:spcBef>
                <a:spcPts val="0"/>
              </a:spcBef>
              <a:spcAft>
                <a:spcPts val="0"/>
              </a:spcAft>
              <a:defRPr sz="3000" b="1">
                <a:solidFill>
                  <a:srgbClr val="142C40"/>
                </a:solidFill>
                <a:latin typeface="DejaVu Sans"/>
              </a:defRPr>
            </a:pPr>
            <a:r>
              <a:t>weights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Five requested model families • protocols and trainable components remain explicit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Completed CLIP, SmolVLM and separate VadCLIP artifacts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336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3225800" y="2273300"/>
            <a:ext cx="4470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Completed adaptation / evaluation</a:t>
            </a:r>
          </a:p>
        </p:txBody>
      </p:sp>
      <p:sp>
        <p:nvSpPr>
          <p:cNvPr id="13" name="TextBox 12"/>
          <p:cNvSpPr txBox="1"/>
          <p:nvPr/>
        </p:nvSpPr>
        <p:spPr>
          <a:xfrm>
            <a:off x="7924800" y="2273300"/>
            <a:ext cx="3632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Current comparison scope</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23368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MobileCLIP2-S2</a:t>
            </a:r>
          </a:p>
        </p:txBody>
      </p:sp>
      <p:sp>
        <p:nvSpPr>
          <p:cNvPr id="16" name="TextBox 15"/>
          <p:cNvSpPr txBox="1"/>
          <p:nvPr/>
        </p:nvSpPr>
        <p:spPr>
          <a:xfrm>
            <a:off x="3225800" y="2781300"/>
            <a:ext cx="44704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fine-tuning; region / temporal heads</a:t>
            </a:r>
          </a:p>
        </p:txBody>
      </p:sp>
      <p:sp>
        <p:nvSpPr>
          <p:cNvPr id="17" name="TextBox 16"/>
          <p:cNvSpPr txBox="1"/>
          <p:nvPr/>
        </p:nvSpPr>
        <p:spPr>
          <a:xfrm>
            <a:off x="7924800" y="2781300"/>
            <a:ext cx="36322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Five targets; actual visual updates</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23368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SigLIP2-B/16-224</a:t>
            </a:r>
          </a:p>
        </p:txBody>
      </p:sp>
      <p:sp>
        <p:nvSpPr>
          <p:cNvPr id="21" name="TextBox 20"/>
          <p:cNvSpPr txBox="1"/>
          <p:nvPr/>
        </p:nvSpPr>
        <p:spPr>
          <a:xfrm>
            <a:off x="3225800" y="3327400"/>
            <a:ext cx="44704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Visual fine-tuning; region / temporal heads</a:t>
            </a:r>
          </a:p>
        </p:txBody>
      </p:sp>
      <p:sp>
        <p:nvSpPr>
          <p:cNvPr id="22" name="TextBox 21"/>
          <p:cNvSpPr txBox="1"/>
          <p:nvPr/>
        </p:nvSpPr>
        <p:spPr>
          <a:xfrm>
            <a:off x="7924800" y="3327400"/>
            <a:ext cx="36322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Five targets; actual visual updates</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23368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SmolVLM-500M</a:t>
            </a:r>
          </a:p>
        </p:txBody>
      </p:sp>
      <p:sp>
        <p:nvSpPr>
          <p:cNvPr id="26" name="TextBox 25"/>
          <p:cNvSpPr txBox="1"/>
          <p:nvPr/>
        </p:nvSpPr>
        <p:spPr>
          <a:xfrm>
            <a:off x="3225800" y="3873500"/>
            <a:ext cx="44704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NEW: language-layer LoRA; binary margins</a:t>
            </a:r>
          </a:p>
        </p:txBody>
      </p:sp>
      <p:sp>
        <p:nvSpPr>
          <p:cNvPr id="27" name="TextBox 26"/>
          <p:cNvSpPr txBox="1"/>
          <p:nvPr/>
        </p:nvSpPr>
        <p:spPr>
          <a:xfrm>
            <a:off x="7924800" y="3873500"/>
            <a:ext cx="36322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Five targets; matched original control</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23368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MiniCPM-V 4.0</a:t>
            </a:r>
          </a:p>
        </p:txBody>
      </p:sp>
      <p:sp>
        <p:nvSpPr>
          <p:cNvPr id="31" name="TextBox 30"/>
          <p:cNvSpPr txBox="1"/>
          <p:nvPr/>
        </p:nvSpPr>
        <p:spPr>
          <a:xfrm>
            <a:off x="3225800" y="4419600"/>
            <a:ext cx="44704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Deterministic prompted image responses</a:t>
            </a:r>
          </a:p>
        </p:txBody>
      </p:sp>
      <p:sp>
        <p:nvSpPr>
          <p:cNvPr id="32" name="TextBox 31"/>
          <p:cNvSpPr txBox="1"/>
          <p:nvPr/>
        </p:nvSpPr>
        <p:spPr>
          <a:xfrm>
            <a:off x="7924800" y="4419600"/>
            <a:ext cx="36322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Historical expanded image comparison</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23368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VadCLIP</a:t>
            </a:r>
          </a:p>
        </p:txBody>
      </p:sp>
      <p:sp>
        <p:nvSpPr>
          <p:cNvPr id="36" name="TextBox 35"/>
          <p:cNvSpPr txBox="1"/>
          <p:nvPr/>
        </p:nvSpPr>
        <p:spPr>
          <a:xfrm>
            <a:off x="3225800" y="4965700"/>
            <a:ext cx="44704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Separate supervised offline smoking adapter</a:t>
            </a:r>
          </a:p>
        </p:txBody>
      </p:sp>
      <p:sp>
        <p:nvSpPr>
          <p:cNvPr id="37" name="TextBox 36"/>
          <p:cNvSpPr txBox="1"/>
          <p:nvPr/>
        </p:nvSpPr>
        <p:spPr>
          <a:xfrm>
            <a:off x="7924800" y="4965700"/>
            <a:ext cx="36322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Different split / supervision; unchanged</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Three SmolVLM adapters were trained. Its frozen vision tower differs from the earlier CLIP visual</a:t>
            </a:r>
          </a:p>
          <a:p>
            <a:pPr algn="l">
              <a:lnSpc>
                <a:spcPts val="1722"/>
              </a:lnSpc>
              <a:spcBef>
                <a:spcPts val="0"/>
              </a:spcBef>
              <a:spcAft>
                <a:spcPts val="0"/>
              </a:spcAft>
              <a:defRPr sz="1400" b="1">
                <a:solidFill>
                  <a:srgbClr val="007E80"/>
                </a:solidFill>
                <a:latin typeface="DejaVu Sans"/>
              </a:defRPr>
            </a:pPr>
            <a:r>
              <a:t>updates.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WORK COMPLETED / DATED PROGRESSION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From common prompts to controlled model</a:t>
            </a:r>
          </a:p>
          <a:p>
            <a:pPr algn="l">
              <a:lnSpc>
                <a:spcPts val="3690"/>
              </a:lnSpc>
              <a:spcBef>
                <a:spcPts val="0"/>
              </a:spcBef>
              <a:spcAft>
                <a:spcPts val="0"/>
              </a:spcAft>
              <a:defRPr sz="3000" b="1">
                <a:solidFill>
                  <a:srgbClr val="142C40"/>
                </a:solidFill>
                <a:latin typeface="DejaVu Sans"/>
              </a:defRPr>
            </a:pPr>
            <a:r>
              <a:t>adaptation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Counts describe separate studies and reuse some sources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Run, selection and verification artifacts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Stage</a:t>
            </a:r>
          </a:p>
        </p:txBody>
      </p:sp>
      <p:sp>
        <p:nvSpPr>
          <p:cNvPr id="12" name="TextBox 11"/>
          <p:cNvSpPr txBox="1"/>
          <p:nvPr/>
        </p:nvSpPr>
        <p:spPr>
          <a:xfrm>
            <a:off x="2057400" y="2273300"/>
            <a:ext cx="440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Completed work</a:t>
            </a:r>
          </a:p>
        </p:txBody>
      </p:sp>
      <p:sp>
        <p:nvSpPr>
          <p:cNvPr id="13" name="TextBox 12"/>
          <p:cNvSpPr txBox="1"/>
          <p:nvPr/>
        </p:nvSpPr>
        <p:spPr>
          <a:xfrm>
            <a:off x="6692900" y="2273300"/>
            <a:ext cx="4864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 qualification</a:t>
            </a:r>
          </a:p>
        </p:txBody>
      </p:sp>
      <p:sp>
        <p:nvSpPr>
          <p:cNvPr id="14" name="Rectangle 13"/>
          <p:cNvSpPr/>
          <p:nvPr/>
        </p:nvSpPr>
        <p:spPr>
          <a:xfrm>
            <a:off x="533400" y="26670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13–14 Oct</a:t>
            </a:r>
          </a:p>
        </p:txBody>
      </p:sp>
      <p:sp>
        <p:nvSpPr>
          <p:cNvPr id="16" name="TextBox 15"/>
          <p:cNvSpPr txBox="1"/>
          <p:nvPr/>
        </p:nvSpPr>
        <p:spPr>
          <a:xfrm>
            <a:off x="2057400" y="27813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13,400 then 55,156 predictions</a:t>
            </a:r>
          </a:p>
        </p:txBody>
      </p:sp>
      <p:sp>
        <p:nvSpPr>
          <p:cNvPr id="17" name="TextBox 16"/>
          <p:cNvSpPr txBox="1"/>
          <p:nvPr/>
        </p:nvSpPr>
        <p:spPr>
          <a:xfrm>
            <a:off x="6692900" y="27813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Four-model comparison; qualified labels</a:t>
            </a:r>
          </a:p>
        </p:txBody>
      </p:sp>
      <p:cxnSp>
        <p:nvCxnSpPr>
          <p:cNvPr id="18" name="Connector 17"/>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0988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2131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15–16 Oct</a:t>
            </a:r>
          </a:p>
        </p:txBody>
      </p:sp>
      <p:sp>
        <p:nvSpPr>
          <p:cNvPr id="21" name="TextBox 20"/>
          <p:cNvSpPr txBox="1"/>
          <p:nvPr/>
        </p:nvSpPr>
        <p:spPr>
          <a:xfrm>
            <a:off x="2057400" y="32131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 actual CLIP visual fine-tunes</a:t>
            </a:r>
          </a:p>
        </p:txBody>
      </p:sp>
      <p:sp>
        <p:nvSpPr>
          <p:cNvPr id="22" name="TextBox 21"/>
          <p:cNvSpPr txBox="1"/>
          <p:nvPr/>
        </p:nvSpPr>
        <p:spPr>
          <a:xfrm>
            <a:off x="6692900" y="32131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2 encoders × 3 seeds; changed weights</a:t>
            </a:r>
          </a:p>
        </p:txBody>
      </p:sp>
      <p:cxnSp>
        <p:nvCxnSpPr>
          <p:cNvPr id="23" name="Connector 22"/>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5306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6449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16 Oct</a:t>
            </a:r>
          </a:p>
        </p:txBody>
      </p:sp>
      <p:sp>
        <p:nvSpPr>
          <p:cNvPr id="26" name="TextBox 25"/>
          <p:cNvSpPr txBox="1"/>
          <p:nvPr/>
        </p:nvSpPr>
        <p:spPr>
          <a:xfrm>
            <a:off x="2057400" y="36449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330 configurations; 50 video heads</a:t>
            </a:r>
          </a:p>
        </p:txBody>
      </p:sp>
      <p:sp>
        <p:nvSpPr>
          <p:cNvPr id="27" name="TextBox 26"/>
          <p:cNvSpPr txBox="1"/>
          <p:nvPr/>
        </p:nvSpPr>
        <p:spPr>
          <a:xfrm>
            <a:off x="6692900" y="36449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Crops, source transfer, tracks and events</a:t>
            </a:r>
          </a:p>
        </p:txBody>
      </p:sp>
      <p:cxnSp>
        <p:nvCxnSpPr>
          <p:cNvPr id="28" name="Connector 27"/>
          <p:cNvCxnSpPr/>
          <p:nvPr/>
        </p:nvCxnSpPr>
        <p:spPr>
          <a:xfrm>
            <a:off x="533400" y="396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39624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0767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17 Oct</a:t>
            </a:r>
          </a:p>
        </p:txBody>
      </p:sp>
      <p:sp>
        <p:nvSpPr>
          <p:cNvPr id="31" name="TextBox 30"/>
          <p:cNvSpPr txBox="1"/>
          <p:nvPr/>
        </p:nvSpPr>
        <p:spPr>
          <a:xfrm>
            <a:off x="2057400" y="40767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38 policies; state replay; 830 views</a:t>
            </a:r>
          </a:p>
        </p:txBody>
      </p:sp>
      <p:sp>
        <p:nvSpPr>
          <p:cNvPr id="32" name="TextBox 31"/>
          <p:cNvSpPr txBox="1"/>
          <p:nvPr/>
        </p:nvSpPr>
        <p:spPr>
          <a:xfrm>
            <a:off x="6692900" y="40767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Ensembles, memory and fixed tiling</a:t>
            </a:r>
          </a:p>
        </p:txBody>
      </p:sp>
      <p:cxnSp>
        <p:nvCxnSpPr>
          <p:cNvPr id="33" name="Connector 32"/>
          <p:cNvCxnSpPr/>
          <p:nvPr/>
        </p:nvCxnSpPr>
        <p:spPr>
          <a:xfrm>
            <a:off x="533400" y="439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3942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5085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18 Oct</a:t>
            </a:r>
          </a:p>
        </p:txBody>
      </p:sp>
      <p:sp>
        <p:nvSpPr>
          <p:cNvPr id="36" name="TextBox 35"/>
          <p:cNvSpPr txBox="1"/>
          <p:nvPr/>
        </p:nvSpPr>
        <p:spPr>
          <a:xfrm>
            <a:off x="2057400" y="45085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83-page full technical report</a:t>
            </a:r>
          </a:p>
        </p:txBody>
      </p:sp>
      <p:sp>
        <p:nvSpPr>
          <p:cNvPr id="37" name="TextBox 36"/>
          <p:cNvSpPr txBox="1"/>
          <p:nvPr/>
        </p:nvSpPr>
        <p:spPr>
          <a:xfrm>
            <a:off x="6692900" y="45085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Documentation; no new training that day</a:t>
            </a:r>
          </a:p>
        </p:txBody>
      </p:sp>
      <p:cxnSp>
        <p:nvCxnSpPr>
          <p:cNvPr id="38" name="Connector 37"/>
          <p:cNvCxnSpPr/>
          <p:nvPr/>
        </p:nvCxnSpPr>
        <p:spPr>
          <a:xfrm>
            <a:off x="533400" y="4826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260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40300"/>
            <a:ext cx="1168400" cy="2921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19 Oct</a:t>
            </a:r>
          </a:p>
        </p:txBody>
      </p:sp>
      <p:sp>
        <p:nvSpPr>
          <p:cNvPr id="41" name="TextBox 40"/>
          <p:cNvSpPr txBox="1"/>
          <p:nvPr/>
        </p:nvSpPr>
        <p:spPr>
          <a:xfrm>
            <a:off x="2057400" y="4940300"/>
            <a:ext cx="44069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3 SmolVLM LoRA runs; 10 cohorts</a:t>
            </a:r>
          </a:p>
        </p:txBody>
      </p:sp>
      <p:sp>
        <p:nvSpPr>
          <p:cNvPr id="42" name="TextBox 41"/>
          <p:cNvSpPr txBox="1"/>
          <p:nvPr/>
        </p:nvSpPr>
        <p:spPr>
          <a:xfrm>
            <a:off x="6692900" y="4940300"/>
            <a:ext cx="4864100" cy="292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Seed replication; threshold failures retained</a:t>
            </a:r>
          </a:p>
        </p:txBody>
      </p:sp>
      <p:cxnSp>
        <p:nvCxnSpPr>
          <p:cNvPr id="43" name="Connector 42"/>
          <p:cNvCxnSpPr/>
          <p:nvPr/>
        </p:nvCxnSpPr>
        <p:spPr>
          <a:xfrm>
            <a:off x="533400" y="525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 updated report and deck preserve earlier versions. No new inference-speed or latency test was</a:t>
            </a:r>
          </a:p>
          <a:p>
            <a:pPr algn="l">
              <a:lnSpc>
                <a:spcPts val="1722"/>
              </a:lnSpc>
              <a:spcBef>
                <a:spcPts val="0"/>
              </a:spcBef>
              <a:spcAft>
                <a:spcPts val="0"/>
              </a:spcAft>
              <a:defRPr sz="1400" b="1">
                <a:solidFill>
                  <a:srgbClr val="007E80"/>
                </a:solidFill>
                <a:latin typeface="DejaVu Sans"/>
              </a:defRPr>
            </a:pPr>
            <a:r>
              <a:t>added.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READINESS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Many files did not provide complete event labels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 dataset audit changed what could be evaluated honestly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Workflow review + expanded cohort definitions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Usable supervised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Smoking: CCTV person/action labels</a:t>
            </a:r>
          </a:p>
          <a:p>
            <a:pPr algn="l">
              <a:lnSpc>
                <a:spcPts val="1968"/>
              </a:lnSpc>
              <a:spcBef>
                <a:spcPts val="0"/>
              </a:spcBef>
              <a:spcAft>
                <a:spcPts val="0"/>
              </a:spcAft>
              <a:defRPr sz="1600" b="0">
                <a:solidFill>
                  <a:srgbClr val="142C40"/>
                </a:solidFill>
                <a:latin typeface="DejaVu Sans"/>
              </a:defRPr>
            </a:pPr>
            <a:r>
              <a:t>IWDD: dumping action clips + controls</a:t>
            </a:r>
          </a:p>
          <a:p>
            <a:pPr algn="l">
              <a:lnSpc>
                <a:spcPts val="1968"/>
              </a:lnSpc>
              <a:spcBef>
                <a:spcPts val="0"/>
              </a:spcBef>
              <a:spcAft>
                <a:spcPts val="0"/>
              </a:spcAft>
              <a:defRPr sz="1600" b="0">
                <a:solidFill>
                  <a:srgbClr val="142C40"/>
                </a:solidFill>
                <a:latin typeface="DejaVu Sans"/>
              </a:defRPr>
            </a:pPr>
            <a:r>
              <a:t>Street Scene: person track/type labels</a:t>
            </a:r>
          </a:p>
          <a:p>
            <a:pPr algn="l">
              <a:lnSpc>
                <a:spcPts val="1968"/>
              </a:lnSpc>
              <a:spcBef>
                <a:spcPts val="0"/>
              </a:spcBef>
              <a:spcAft>
                <a:spcPts val="0"/>
              </a:spcAft>
              <a:defRPr sz="1600" b="0">
                <a:solidFill>
                  <a:srgbClr val="142C40"/>
                </a:solidFill>
                <a:latin typeface="DejaVu Sans"/>
              </a:defRPr>
            </a:pPr>
            <a:r>
              <a:t>CAVIAR: item/person source boxes</a:t>
            </a:r>
          </a:p>
          <a:p>
            <a:pPr algn="l">
              <a:lnSpc>
                <a:spcPts val="1968"/>
              </a:lnSpc>
              <a:spcBef>
                <a:spcPts val="0"/>
              </a:spcBef>
              <a:spcAft>
                <a:spcPts val="0"/>
              </a:spcAft>
              <a:defRPr sz="1600" b="0">
                <a:solidFill>
                  <a:srgbClr val="142C40"/>
                </a:solidFill>
                <a:latin typeface="DejaVu Sans"/>
              </a:defRPr>
            </a:pPr>
            <a:r>
              <a:t>ABODA: reviewed time intervals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Useful diagnostics, weaker event</a:t>
            </a:r>
          </a:p>
          <a:p>
            <a:pPr algn="l">
              <a:lnSpc>
                <a:spcPts val="2460"/>
              </a:lnSpc>
              <a:spcBef>
                <a:spcPts val="0"/>
              </a:spcBef>
              <a:spcAft>
                <a:spcPts val="0"/>
              </a:spcAft>
              <a:defRPr sz="2000" b="1">
                <a:solidFill>
                  <a:srgbClr val="C86535"/>
                </a:solidFill>
                <a:latin typeface="DejaVu Sans"/>
              </a:defRPr>
            </a:pPr>
            <a:r>
              <a:t>truth</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6,667 littering candidate images</a:t>
            </a:r>
          </a:p>
          <a:p>
            <a:pPr algn="l">
              <a:lnSpc>
                <a:spcPts val="1968"/>
              </a:lnSpc>
              <a:spcBef>
                <a:spcPts val="0"/>
              </a:spcBef>
              <a:spcAft>
                <a:spcPts val="0"/>
              </a:spcAft>
              <a:defRPr sz="1600" b="0">
                <a:solidFill>
                  <a:srgbClr val="142C40"/>
                </a:solidFill>
                <a:latin typeface="DejaVu Sans"/>
              </a:defRPr>
            </a:pPr>
            <a:r>
              <a:t>1,675 person/loitering candidates</a:t>
            </a:r>
          </a:p>
          <a:p>
            <a:pPr algn="l">
              <a:lnSpc>
                <a:spcPts val="1968"/>
              </a:lnSpc>
              <a:spcBef>
                <a:spcPts val="0"/>
              </a:spcBef>
              <a:spcAft>
                <a:spcPts val="0"/>
              </a:spcAft>
              <a:defRPr sz="1600" b="0">
                <a:solidFill>
                  <a:srgbClr val="142C40"/>
                </a:solidFill>
                <a:latin typeface="DejaVu Sans"/>
              </a:defRPr>
            </a:pPr>
            <a:r>
              <a:t>Synthetic lying / falling postures</a:t>
            </a:r>
          </a:p>
          <a:p>
            <a:pPr algn="l">
              <a:lnSpc>
                <a:spcPts val="1968"/>
              </a:lnSpc>
              <a:spcBef>
                <a:spcPts val="0"/>
              </a:spcBef>
              <a:spcAft>
                <a:spcPts val="0"/>
              </a:spcAft>
              <a:defRPr sz="1600" b="0">
                <a:solidFill>
                  <a:srgbClr val="142C40"/>
                </a:solidFill>
                <a:latin typeface="DejaVu Sans"/>
              </a:defRPr>
            </a:pPr>
            <a:r>
              <a:t>Static public-sleep photographs</a:t>
            </a:r>
          </a:p>
          <a:p>
            <a:pPr algn="l">
              <a:lnSpc>
                <a:spcPts val="1968"/>
              </a:lnSpc>
              <a:spcBef>
                <a:spcPts val="0"/>
              </a:spcBef>
              <a:spcAft>
                <a:spcPts val="0"/>
              </a:spcAft>
              <a:defRPr sz="1600" b="0">
                <a:solidFill>
                  <a:srgbClr val="142C40"/>
                </a:solidFill>
                <a:latin typeface="DejaVu Sans"/>
              </a:defRPr>
            </a:pPr>
            <a:r>
              <a:t>MEVA abandonment-action windows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Positive-only images, augmented copies and pose labels cannot establish five-event precision or</a:t>
            </a:r>
          </a:p>
          <a:p>
            <a:pPr algn="l">
              <a:lnSpc>
                <a:spcPts val="1722"/>
              </a:lnSpc>
              <a:spcBef>
                <a:spcPts val="0"/>
              </a:spcBef>
              <a:spcAft>
                <a:spcPts val="0"/>
              </a:spcAft>
              <a:defRPr sz="1400" b="1">
                <a:solidFill>
                  <a:srgbClr val="C86535"/>
                </a:solidFill>
                <a:latin typeface="DejaVu Sans"/>
              </a:defRPr>
            </a:pPr>
            <a:r>
              <a:t>false-alarm rates.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SUPERVISED PARTITIONS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Training covered all five targets with uneven</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First supervised study: 7,498 examples • 12,478 distinct view images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data/clip_training_20261015/samples.jsonl + training findings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390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42799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 (normal / +)</a:t>
            </a:r>
          </a:p>
        </p:txBody>
      </p:sp>
      <p:sp>
        <p:nvSpPr>
          <p:cNvPr id="13" name="TextBox 12"/>
          <p:cNvSpPr txBox="1"/>
          <p:nvPr/>
        </p:nvSpPr>
        <p:spPr>
          <a:xfrm>
            <a:off x="67818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(normal / +)</a:t>
            </a:r>
          </a:p>
        </p:txBody>
      </p:sp>
      <p:sp>
        <p:nvSpPr>
          <p:cNvPr id="14" name="TextBox 13"/>
          <p:cNvSpPr txBox="1"/>
          <p:nvPr/>
        </p:nvSpPr>
        <p:spPr>
          <a:xfrm>
            <a:off x="9283700" y="2273300"/>
            <a:ext cx="2273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Test (normal / +)</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CCTV + train photos</a:t>
            </a:r>
          </a:p>
        </p:txBody>
      </p:sp>
      <p:sp>
        <p:nvSpPr>
          <p:cNvPr id="17" name="TextBox 16"/>
          <p:cNvSpPr txBox="1"/>
          <p:nvPr/>
        </p:nvSpPr>
        <p:spPr>
          <a:xfrm>
            <a:off x="42799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1,381 / 716</a:t>
            </a:r>
          </a:p>
        </p:txBody>
      </p:sp>
      <p:sp>
        <p:nvSpPr>
          <p:cNvPr id="18" name="TextBox 17"/>
          <p:cNvSpPr txBox="1"/>
          <p:nvPr/>
        </p:nvSpPr>
        <p:spPr>
          <a:xfrm>
            <a:off x="67818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722 / 413</a:t>
            </a:r>
          </a:p>
        </p:txBody>
      </p:sp>
      <p:sp>
        <p:nvSpPr>
          <p:cNvPr id="19" name="TextBox 18"/>
          <p:cNvSpPr txBox="1"/>
          <p:nvPr/>
        </p:nvSpPr>
        <p:spPr>
          <a:xfrm>
            <a:off x="9283700" y="27813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253 / 393</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dumping</a:t>
            </a:r>
          </a:p>
        </p:txBody>
      </p:sp>
      <p:sp>
        <p:nvSpPr>
          <p:cNvPr id="23" name="TextBox 22"/>
          <p:cNvSpPr txBox="1"/>
          <p:nvPr/>
        </p:nvSpPr>
        <p:spPr>
          <a:xfrm>
            <a:off x="42799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130 / 144</a:t>
            </a:r>
          </a:p>
        </p:txBody>
      </p:sp>
      <p:sp>
        <p:nvSpPr>
          <p:cNvPr id="24" name="TextBox 23"/>
          <p:cNvSpPr txBox="1"/>
          <p:nvPr/>
        </p:nvSpPr>
        <p:spPr>
          <a:xfrm>
            <a:off x="67818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29 / 32</a:t>
            </a:r>
          </a:p>
        </p:txBody>
      </p:sp>
      <p:sp>
        <p:nvSpPr>
          <p:cNvPr id="25" name="TextBox 24"/>
          <p:cNvSpPr txBox="1"/>
          <p:nvPr/>
        </p:nvSpPr>
        <p:spPr>
          <a:xfrm>
            <a:off x="9283700" y="33274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50 / 50</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9" name="TextBox 28"/>
          <p:cNvSpPr txBox="1"/>
          <p:nvPr/>
        </p:nvSpPr>
        <p:spPr>
          <a:xfrm>
            <a:off x="42799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282 / 41</a:t>
            </a:r>
          </a:p>
        </p:txBody>
      </p:sp>
      <p:sp>
        <p:nvSpPr>
          <p:cNvPr id="30" name="TextBox 29"/>
          <p:cNvSpPr txBox="1"/>
          <p:nvPr/>
        </p:nvSpPr>
        <p:spPr>
          <a:xfrm>
            <a:off x="67818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85 / 13</a:t>
            </a:r>
          </a:p>
        </p:txBody>
      </p:sp>
      <p:sp>
        <p:nvSpPr>
          <p:cNvPr id="31" name="TextBox 30"/>
          <p:cNvSpPr txBox="1"/>
          <p:nvPr/>
        </p:nvSpPr>
        <p:spPr>
          <a:xfrm>
            <a:off x="9283700" y="38735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64 / 11</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5" name="TextBox 34"/>
          <p:cNvSpPr txBox="1"/>
          <p:nvPr/>
        </p:nvSpPr>
        <p:spPr>
          <a:xfrm>
            <a:off x="42799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49 / 25</a:t>
            </a:r>
          </a:p>
        </p:txBody>
      </p:sp>
      <p:sp>
        <p:nvSpPr>
          <p:cNvPr id="36" name="TextBox 35"/>
          <p:cNvSpPr txBox="1"/>
          <p:nvPr/>
        </p:nvSpPr>
        <p:spPr>
          <a:xfrm>
            <a:off x="67818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14 / 7</a:t>
            </a:r>
          </a:p>
        </p:txBody>
      </p:sp>
      <p:sp>
        <p:nvSpPr>
          <p:cNvPr id="37" name="TextBox 36"/>
          <p:cNvSpPr txBox="1"/>
          <p:nvPr/>
        </p:nvSpPr>
        <p:spPr>
          <a:xfrm>
            <a:off x="9283700" y="44196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12 / 6</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3390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items</a:t>
            </a:r>
          </a:p>
        </p:txBody>
      </p:sp>
      <p:sp>
        <p:nvSpPr>
          <p:cNvPr id="41" name="TextBox 40"/>
          <p:cNvSpPr txBox="1"/>
          <p:nvPr/>
        </p:nvSpPr>
        <p:spPr>
          <a:xfrm>
            <a:off x="42799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416 / 74</a:t>
            </a:r>
          </a:p>
        </p:txBody>
      </p:sp>
      <p:sp>
        <p:nvSpPr>
          <p:cNvPr id="42" name="TextBox 41"/>
          <p:cNvSpPr txBox="1"/>
          <p:nvPr/>
        </p:nvSpPr>
        <p:spPr>
          <a:xfrm>
            <a:off x="67818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137 / 181</a:t>
            </a:r>
          </a:p>
        </p:txBody>
      </p:sp>
      <p:sp>
        <p:nvSpPr>
          <p:cNvPr id="43" name="TextBox 42"/>
          <p:cNvSpPr txBox="1"/>
          <p:nvPr/>
        </p:nvSpPr>
        <p:spPr>
          <a:xfrm>
            <a:off x="9283700" y="4965700"/>
            <a:ext cx="2273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720 / 242</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 separate 806-photo smoking holdout is reported separately. Endpoints and adjacent frames remain</a:t>
            </a:r>
          </a:p>
          <a:p>
            <a:pPr algn="l">
              <a:lnSpc>
                <a:spcPts val="1722"/>
              </a:lnSpc>
              <a:spcBef>
                <a:spcPts val="0"/>
              </a:spcBef>
              <a:spcAft>
                <a:spcPts val="0"/>
              </a:spcAft>
              <a:defRPr sz="1400" b="1">
                <a:solidFill>
                  <a:srgbClr val="007E80"/>
                </a:solidFill>
                <a:latin typeface="DejaVu Sans"/>
              </a:defRPr>
            </a:pPr>
            <a:r>
              <a:t>correlated.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 / ACQUISITION EXPANSION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More data was acquired and screened for</a:t>
            </a:r>
          </a:p>
          <a:p>
            <a:pPr algn="l">
              <a:lnSpc>
                <a:spcPts val="3690"/>
              </a:lnSpc>
              <a:spcBef>
                <a:spcPts val="0"/>
              </a:spcBef>
              <a:spcAft>
                <a:spcPts val="0"/>
              </a:spcAft>
              <a:defRPr sz="3000" b="1">
                <a:solidFill>
                  <a:srgbClr val="142C40"/>
                </a:solidFill>
                <a:latin typeface="DejaVu Sans"/>
              </a:defRPr>
            </a:pPr>
            <a:r>
              <a:t>compatibility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Source diversity, duplicate control and label meaning matter more than download size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Strategy acquisition receipts + pilot manifests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43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Source</a:t>
            </a:r>
          </a:p>
        </p:txBody>
      </p:sp>
      <p:sp>
        <p:nvSpPr>
          <p:cNvPr id="12" name="TextBox 11"/>
          <p:cNvSpPr txBox="1"/>
          <p:nvPr/>
        </p:nvSpPr>
        <p:spPr>
          <a:xfrm>
            <a:off x="3327400" y="2273300"/>
            <a:ext cx="3860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Acquired / retained</a:t>
            </a:r>
          </a:p>
        </p:txBody>
      </p:sp>
      <p:sp>
        <p:nvSpPr>
          <p:cNvPr id="13" name="TextBox 12"/>
          <p:cNvSpPr txBox="1"/>
          <p:nvPr/>
        </p:nvSpPr>
        <p:spPr>
          <a:xfrm>
            <a:off x="7416800" y="2273300"/>
            <a:ext cx="414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Role and limit</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photos + HMDB</a:t>
            </a:r>
          </a:p>
        </p:txBody>
      </p:sp>
      <p:sp>
        <p:nvSpPr>
          <p:cNvPr id="16" name="TextBox 15"/>
          <p:cNvSpPr txBox="1"/>
          <p:nvPr/>
        </p:nvSpPr>
        <p:spPr>
          <a:xfrm>
            <a:off x="3327400" y="27813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1,118 photos; 906 clips</a:t>
            </a:r>
          </a:p>
        </p:txBody>
      </p:sp>
      <p:sp>
        <p:nvSpPr>
          <p:cNvPr id="17" name="TextBox 16"/>
          <p:cNvSpPr txBox="1"/>
          <p:nvPr/>
        </p:nvSpPr>
        <p:spPr>
          <a:xfrm>
            <a:off x="7416800" y="27813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Photo learning; action-source transfer</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Thermal loitering</a:t>
            </a:r>
          </a:p>
        </p:txBody>
      </p:sp>
      <p:sp>
        <p:nvSpPr>
          <p:cNvPr id="21" name="TextBox 20"/>
          <p:cNvSpPr txBox="1"/>
          <p:nvPr/>
        </p:nvSpPr>
        <p:spPr>
          <a:xfrm>
            <a:off x="3327400" y="33274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874,936 observations; 31 dates</a:t>
            </a:r>
          </a:p>
        </p:txBody>
      </p:sp>
      <p:sp>
        <p:nvSpPr>
          <p:cNvPr id="22" name="TextBox 21"/>
          <p:cNvSpPr txBox="1"/>
          <p:nvPr/>
        </p:nvSpPr>
        <p:spPr>
          <a:xfrm>
            <a:off x="7416800" y="33274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Provided tracks; one thermal camera</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MEVA + public sleep</a:t>
            </a:r>
          </a:p>
        </p:txBody>
      </p:sp>
      <p:sp>
        <p:nvSpPr>
          <p:cNvPr id="26" name="TextBox 25"/>
          <p:cNvSpPr txBox="1"/>
          <p:nvPr/>
        </p:nvSpPr>
        <p:spPr>
          <a:xfrm>
            <a:off x="3327400" y="38735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 videos; 28 new-author photos</a:t>
            </a:r>
          </a:p>
        </p:txBody>
      </p:sp>
      <p:sp>
        <p:nvSpPr>
          <p:cNvPr id="27" name="TextBox 26"/>
          <p:cNvSpPr txBox="1"/>
          <p:nvPr/>
        </p:nvSpPr>
        <p:spPr>
          <a:xfrm>
            <a:off x="7416800" y="38735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Action proxy; provisional photo labels</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AVSS2007</a:t>
            </a:r>
          </a:p>
        </p:txBody>
      </p:sp>
      <p:sp>
        <p:nvSpPr>
          <p:cNvPr id="31" name="TextBox 30"/>
          <p:cNvSpPr txBox="1"/>
          <p:nvPr/>
        </p:nvSpPr>
        <p:spPr>
          <a:xfrm>
            <a:off x="3327400" y="44196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 videos; 2 clean primary events</a:t>
            </a:r>
          </a:p>
        </p:txBody>
      </p:sp>
      <p:sp>
        <p:nvSpPr>
          <p:cNvPr id="32" name="TextBox 31"/>
          <p:cNvSpPr txBox="1"/>
          <p:nvPr/>
        </p:nvSpPr>
        <p:spPr>
          <a:xfrm>
            <a:off x="7416800" y="44196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conservative source block</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2438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17 Oct author release</a:t>
            </a:r>
          </a:p>
        </p:txBody>
      </p:sp>
      <p:sp>
        <p:nvSpPr>
          <p:cNvPr id="36" name="TextBox 35"/>
          <p:cNvSpPr txBox="1"/>
          <p:nvPr/>
        </p:nvSpPr>
        <p:spPr>
          <a:xfrm>
            <a:off x="3327400" y="4965700"/>
            <a:ext cx="3860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 new clips + 3 ABODA aliases</a:t>
            </a:r>
          </a:p>
        </p:txBody>
      </p:sp>
      <p:sp>
        <p:nvSpPr>
          <p:cNvPr id="37" name="TextBox 36"/>
          <p:cNvSpPr txBox="1"/>
          <p:nvPr/>
        </p:nvSpPr>
        <p:spPr>
          <a:xfrm>
            <a:off x="7416800" y="4965700"/>
            <a:ext cx="41402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30 highway-debris component frames</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 latest release adds small-object stress cases, but adds no verified owner-associated unattended</a:t>
            </a:r>
          </a:p>
          <a:p>
            <a:pPr algn="l">
              <a:lnSpc>
                <a:spcPts val="1722"/>
              </a:lnSpc>
              <a:spcBef>
                <a:spcPts val="0"/>
              </a:spcBef>
              <a:spcAft>
                <a:spcPts val="0"/>
              </a:spcAft>
              <a:defRPr sz="1400" b="1">
                <a:solidFill>
                  <a:srgbClr val="007E80"/>
                </a:solidFill>
                <a:latin typeface="DejaVu Sans"/>
              </a:defRPr>
            </a:pPr>
            <a:r>
              <a:t>events.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METHODOLOGY / GENERALIZATION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Keep related sources together and freeze decisions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source holdout is more informative than a random split of adjacent frames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Input hashes; source guard; saved development selections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Before evaluation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Preserve source / camera / author groups</a:t>
            </a:r>
          </a:p>
          <a:p>
            <a:pPr algn="l">
              <a:lnSpc>
                <a:spcPts val="1968"/>
              </a:lnSpc>
              <a:spcBef>
                <a:spcPts val="0"/>
              </a:spcBef>
              <a:spcAft>
                <a:spcPts val="0"/>
              </a:spcAft>
              <a:defRPr sz="1600" b="0">
                <a:solidFill>
                  <a:srgbClr val="142C40"/>
                </a:solidFill>
                <a:latin typeface="DejaVu Sans"/>
              </a:defRPr>
            </a:pPr>
            <a:r>
              <a:t>Respect official video/photo partitions</a:t>
            </a:r>
          </a:p>
          <a:p>
            <a:pPr algn="l">
              <a:lnSpc>
                <a:spcPts val="1968"/>
              </a:lnSpc>
              <a:spcBef>
                <a:spcPts val="0"/>
              </a:spcBef>
              <a:spcAft>
                <a:spcPts val="0"/>
              </a:spcAft>
              <a:defRPr sz="1600" b="0">
                <a:solidFill>
                  <a:srgbClr val="142C40"/>
                </a:solidFill>
                <a:latin typeface="DejaVu Sans"/>
              </a:defRPr>
            </a:pPr>
            <a:r>
              <a:t>Remove exact-pixel aliases</a:t>
            </a:r>
          </a:p>
          <a:p>
            <a:pPr algn="l">
              <a:lnSpc>
                <a:spcPts val="1968"/>
              </a:lnSpc>
              <a:spcBef>
                <a:spcPts val="0"/>
              </a:spcBef>
              <a:spcAft>
                <a:spcPts val="0"/>
              </a:spcAft>
              <a:defRPr sz="1600" b="0">
                <a:solidFill>
                  <a:srgbClr val="142C40"/>
                </a:solidFill>
                <a:latin typeface="DejaVu Sans"/>
              </a:defRPr>
            </a:pPr>
            <a:r>
              <a:t>Purge known shared-film part aliases</a:t>
            </a:r>
          </a:p>
          <a:p>
            <a:pPr algn="l">
              <a:lnSpc>
                <a:spcPts val="1968"/>
              </a:lnSpc>
              <a:spcBef>
                <a:spcPts val="0"/>
              </a:spcBef>
              <a:spcAft>
                <a:spcPts val="0"/>
              </a:spcAft>
              <a:defRPr sz="1600" b="0">
                <a:solidFill>
                  <a:srgbClr val="142C40"/>
                </a:solidFill>
                <a:latin typeface="DejaVu Sans"/>
              </a:defRPr>
            </a:pPr>
            <a:r>
              <a:t>Fit routes and thresholds on dev only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Limits that remain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Previously inspected tests are retrospective</a:t>
            </a:r>
          </a:p>
          <a:p>
            <a:pPr algn="l">
              <a:lnSpc>
                <a:spcPts val="1968"/>
              </a:lnSpc>
              <a:spcBef>
                <a:spcPts val="0"/>
              </a:spcBef>
              <a:spcAft>
                <a:spcPts val="0"/>
              </a:spcAft>
              <a:defRPr sz="1600" b="0">
                <a:solidFill>
                  <a:srgbClr val="142C40"/>
                </a:solidFill>
                <a:latin typeface="DejaVu Sans"/>
              </a:defRPr>
            </a:pPr>
            <a:r>
              <a:t>Movie / actor identities are incomplete</a:t>
            </a:r>
          </a:p>
          <a:p>
            <a:pPr algn="l">
              <a:lnSpc>
                <a:spcPts val="1968"/>
              </a:lnSpc>
              <a:spcBef>
                <a:spcPts val="0"/>
              </a:spcBef>
              <a:spcAft>
                <a:spcPts val="0"/>
              </a:spcAft>
              <a:defRPr sz="1600" b="0">
                <a:solidFill>
                  <a:srgbClr val="142C40"/>
                </a:solidFill>
                <a:latin typeface="DejaVu Sans"/>
              </a:defRPr>
            </a:pPr>
            <a:r>
              <a:t>Only a few physical cameras / events</a:t>
            </a:r>
          </a:p>
          <a:p>
            <a:pPr algn="l">
              <a:lnSpc>
                <a:spcPts val="1968"/>
              </a:lnSpc>
              <a:spcBef>
                <a:spcPts val="0"/>
              </a:spcBef>
              <a:spcAft>
                <a:spcPts val="0"/>
              </a:spcAft>
              <a:defRPr sz="1600" b="0">
                <a:solidFill>
                  <a:srgbClr val="142C40"/>
                </a:solidFill>
                <a:latin typeface="DejaVu Sans"/>
              </a:defRPr>
            </a:pPr>
            <a:r>
              <a:t>Provisional interval / sleep labels</a:t>
            </a:r>
          </a:p>
          <a:p>
            <a:pPr algn="l">
              <a:lnSpc>
                <a:spcPts val="1968"/>
              </a:lnSpc>
              <a:spcBef>
                <a:spcPts val="0"/>
              </a:spcBef>
              <a:spcAft>
                <a:spcPts val="0"/>
              </a:spcAft>
              <a:defRPr sz="1600" b="0">
                <a:solidFill>
                  <a:srgbClr val="142C40"/>
                </a:solidFill>
                <a:latin typeface="DejaVu Sans"/>
              </a:defRPr>
            </a:pPr>
            <a:r>
              <a:t>Repeated seeds add no new domains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No test-optimal threshold or lucky seed is substituted after seeing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TESTING / COMPUTE AND NUMERICAL CONTROLS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Accuracy runs used available GPU compute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pacing, CPU emulation or new latency benchmarks in the later studies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GPU state files + numerical / live-checkpoint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Quality execution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RTX 5000 Ada GPU</a:t>
            </a:r>
          </a:p>
          <a:p>
            <a:pPr algn="l">
              <a:lnSpc>
                <a:spcPts val="1968"/>
              </a:lnSpc>
              <a:spcBef>
                <a:spcPts val="0"/>
              </a:spcBef>
              <a:spcAft>
                <a:spcPts val="0"/>
              </a:spcAft>
              <a:defRPr sz="1600" b="0">
                <a:solidFill>
                  <a:srgbClr val="142C40"/>
                </a:solidFill>
                <a:latin typeface="DejaVu Sans"/>
              </a:defRPr>
            </a:pPr>
            <a:r>
              <a:t>Batched CLIP extraction / head fitting</a:t>
            </a:r>
          </a:p>
          <a:p>
            <a:pPr algn="l">
              <a:lnSpc>
                <a:spcPts val="1968"/>
              </a:lnSpc>
              <a:spcBef>
                <a:spcPts val="0"/>
              </a:spcBef>
              <a:spcAft>
                <a:spcPts val="0"/>
              </a:spcAft>
              <a:defRPr sz="1600" b="0">
                <a:solidFill>
                  <a:srgbClr val="142C40"/>
                </a:solidFill>
                <a:latin typeface="DejaVu Sans"/>
              </a:defRPr>
            </a:pPr>
            <a:r>
              <a:t>Deterministic VLM generation</a:t>
            </a:r>
          </a:p>
          <a:p>
            <a:pPr algn="l">
              <a:lnSpc>
                <a:spcPts val="1968"/>
              </a:lnSpc>
              <a:spcBef>
                <a:spcPts val="0"/>
              </a:spcBef>
              <a:spcAft>
                <a:spcPts val="0"/>
              </a:spcAft>
              <a:defRPr sz="1600" b="0">
                <a:solidFill>
                  <a:srgbClr val="142C40"/>
                </a:solidFill>
                <a:latin typeface="DejaVu Sans"/>
              </a:defRPr>
            </a:pPr>
            <a:r>
              <a:t>Failures and abstentions stay counted</a:t>
            </a:r>
          </a:p>
          <a:p>
            <a:pPr algn="l">
              <a:lnSpc>
                <a:spcPts val="1968"/>
              </a:lnSpc>
              <a:spcBef>
                <a:spcPts val="0"/>
              </a:spcBef>
              <a:spcAft>
                <a:spcPts val="0"/>
              </a:spcAft>
              <a:defRPr sz="1600" b="0">
                <a:solidFill>
                  <a:srgbClr val="142C40"/>
                </a:solidFill>
                <a:latin typeface="DejaVu Sans"/>
              </a:defRPr>
            </a:pPr>
            <a:r>
              <a:t>Pinned weights, inputs and raw scores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Numerical consistency</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Fine-tuning: BF16 autocast, F32 weights</a:t>
            </a:r>
          </a:p>
          <a:p>
            <a:pPr algn="l">
              <a:lnSpc>
                <a:spcPts val="1968"/>
              </a:lnSpc>
              <a:spcBef>
                <a:spcPts val="0"/>
              </a:spcBef>
              <a:spcAft>
                <a:spcPts val="0"/>
              </a:spcAft>
              <a:defRPr sz="1600" b="0">
                <a:solidFill>
                  <a:srgbClr val="142C40"/>
                </a:solidFill>
                <a:latin typeface="DejaVu Sans"/>
              </a:defRPr>
            </a:pPr>
            <a:r>
              <a:t>Final CLIP scoring: F32, TF32 off</a:t>
            </a:r>
          </a:p>
          <a:p>
            <a:pPr algn="l">
              <a:lnSpc>
                <a:spcPts val="1968"/>
              </a:lnSpc>
              <a:spcBef>
                <a:spcPts val="0"/>
              </a:spcBef>
              <a:spcAft>
                <a:spcPts val="0"/>
              </a:spcAft>
              <a:defRPr sz="1600" b="0">
                <a:solidFill>
                  <a:srgbClr val="142C40"/>
                </a:solidFill>
                <a:latin typeface="DejaVu Sans"/>
              </a:defRPr>
            </a:pPr>
            <a:r>
              <a:t>Batch-shape sensitivity was audited</a:t>
            </a:r>
          </a:p>
          <a:p>
            <a:pPr algn="l">
              <a:lnSpc>
                <a:spcPts val="1968"/>
              </a:lnSpc>
              <a:spcBef>
                <a:spcPts val="0"/>
              </a:spcBef>
              <a:spcAft>
                <a:spcPts val="0"/>
              </a:spcAft>
              <a:defRPr sz="1600" b="0">
                <a:solidFill>
                  <a:srgbClr val="142C40"/>
                </a:solidFill>
                <a:latin typeface="DejaVu Sans"/>
              </a:defRPr>
            </a:pPr>
            <a:r>
              <a:t>New detector: 830 F32 GPU views</a:t>
            </a:r>
          </a:p>
          <a:p>
            <a:pPr algn="l">
              <a:lnSpc>
                <a:spcPts val="1968"/>
              </a:lnSpc>
              <a:spcBef>
                <a:spcPts val="0"/>
              </a:spcBef>
              <a:spcAft>
                <a:spcPts val="0"/>
              </a:spcAft>
              <a:defRPr sz="1600" b="0">
                <a:solidFill>
                  <a:srgbClr val="142C40"/>
                </a:solidFill>
                <a:latin typeface="DejaVu Sans"/>
              </a:defRPr>
            </a:pPr>
            <a:r>
              <a:t>Event delay measures task detection</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Event onset delay is a quality metric; it is separate from computation latency.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 / WHAT EACH METRIC ANSWERS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Ranking, frame decisions and alerts are different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All three are needed to judge practical detection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Binary metrics + strict causal event accounting</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Image / clip discrimination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AP and AUROC: score ranking</a:t>
            </a:r>
          </a:p>
          <a:p>
            <a:pPr algn="l">
              <a:lnSpc>
                <a:spcPts val="1968"/>
              </a:lnSpc>
              <a:spcBef>
                <a:spcPts val="0"/>
              </a:spcBef>
              <a:spcAft>
                <a:spcPts val="0"/>
              </a:spcAft>
              <a:defRPr sz="1600" b="0">
                <a:solidFill>
                  <a:srgbClr val="142C40"/>
                </a:solidFill>
                <a:latin typeface="DejaVu Sans"/>
              </a:defRPr>
            </a:pPr>
            <a:r>
              <a:t>Recall + FPR: a fixed operating point</a:t>
            </a:r>
          </a:p>
          <a:p>
            <a:pPr algn="l">
              <a:lnSpc>
                <a:spcPts val="1968"/>
              </a:lnSpc>
              <a:spcBef>
                <a:spcPts val="0"/>
              </a:spcBef>
              <a:spcAft>
                <a:spcPts val="0"/>
              </a:spcAft>
              <a:defRPr sz="1600" b="0">
                <a:solidFill>
                  <a:srgbClr val="142C40"/>
                </a:solidFill>
                <a:latin typeface="DejaVu Sans"/>
              </a:defRPr>
            </a:pPr>
            <a:r>
              <a:t>F1 + confusion counts: class balance</a:t>
            </a:r>
          </a:p>
          <a:p>
            <a:pPr algn="l">
              <a:lnSpc>
                <a:spcPts val="1968"/>
              </a:lnSpc>
              <a:spcBef>
                <a:spcPts val="0"/>
              </a:spcBef>
              <a:spcAft>
                <a:spcPts val="0"/>
              </a:spcAft>
              <a:defRPr sz="1600" b="0">
                <a:solidFill>
                  <a:srgbClr val="142C40"/>
                </a:solidFill>
                <a:latin typeface="DejaVu Sans"/>
              </a:defRPr>
            </a:pPr>
            <a:r>
              <a:t>VLM hard labels: no invented AP</a:t>
            </a:r>
          </a:p>
          <a:p>
            <a:pPr algn="l">
              <a:lnSpc>
                <a:spcPts val="1968"/>
              </a:lnSpc>
              <a:spcBef>
                <a:spcPts val="0"/>
              </a:spcBef>
              <a:spcAft>
                <a:spcPts val="0"/>
              </a:spcAft>
              <a:defRPr sz="1600" b="0">
                <a:solidFill>
                  <a:srgbClr val="142C40"/>
                </a:solidFill>
                <a:latin typeface="DejaVu Sans"/>
              </a:defRPr>
            </a:pPr>
            <a:r>
              <a:t>Weak candidates: prediction rate only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Continuous event detection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Past-only 20-second histories</a:t>
            </a:r>
          </a:p>
          <a:p>
            <a:pPr algn="l">
              <a:lnSpc>
                <a:spcPts val="1968"/>
              </a:lnSpc>
              <a:spcBef>
                <a:spcPts val="0"/>
              </a:spcBef>
              <a:spcAft>
                <a:spcPts val="0"/>
              </a:spcAft>
              <a:defRPr sz="1600" b="0">
                <a:solidFill>
                  <a:srgbClr val="142C40"/>
                </a:solidFill>
                <a:latin typeface="DejaVu Sans"/>
              </a:defRPr>
            </a:pPr>
            <a:r>
              <a:t>Actual alert emission times</a:t>
            </a:r>
          </a:p>
          <a:p>
            <a:pPr algn="l">
              <a:lnSpc>
                <a:spcPts val="1968"/>
              </a:lnSpc>
              <a:spcBef>
                <a:spcPts val="0"/>
              </a:spcBef>
              <a:spcAft>
                <a:spcPts val="0"/>
              </a:spcAft>
              <a:defRPr sz="1600" b="0">
                <a:solidFill>
                  <a:srgbClr val="142C40"/>
                </a:solidFill>
                <a:latin typeface="DejaVu Sans"/>
              </a:defRPr>
            </a:pPr>
            <a:r>
              <a:t>One matched alarm per labelled event</a:t>
            </a:r>
          </a:p>
          <a:p>
            <a:pPr algn="l">
              <a:lnSpc>
                <a:spcPts val="1968"/>
              </a:lnSpc>
              <a:spcBef>
                <a:spcPts val="0"/>
              </a:spcBef>
              <a:spcAft>
                <a:spcPts val="0"/>
              </a:spcAft>
              <a:defRPr sz="1600" b="0">
                <a:solidFill>
                  <a:srgbClr val="142C40"/>
                </a:solidFill>
                <a:latin typeface="DejaVu Sans"/>
              </a:defRPr>
            </a:pPr>
            <a:r>
              <a:t>Normal false, repeated, unknown alerts</a:t>
            </a:r>
          </a:p>
          <a:p>
            <a:pPr algn="l">
              <a:lnSpc>
                <a:spcPts val="1968"/>
              </a:lnSpc>
              <a:spcBef>
                <a:spcPts val="0"/>
              </a:spcBef>
              <a:spcAft>
                <a:spcPts val="0"/>
              </a:spcAft>
              <a:defRPr sz="1600" b="0">
                <a:solidFill>
                  <a:srgbClr val="142C40"/>
                </a:solidFill>
                <a:latin typeface="DejaVu Sans"/>
              </a:defRPr>
            </a:pPr>
            <a:r>
              <a:t>Onset delay + reviewed normal hours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An alert in an unreviewed transition is unknown; an early continuing alarm is not silently rematched to a</a:t>
            </a:r>
          </a:p>
          <a:p>
            <a:pPr algn="l">
              <a:lnSpc>
                <a:spcPts val="1722"/>
              </a:lnSpc>
              <a:spcBef>
                <a:spcPts val="0"/>
              </a:spcBef>
              <a:spcAft>
                <a:spcPts val="0"/>
              </a:spcAft>
              <a:defRPr sz="1400" b="1">
                <a:solidFill>
                  <a:srgbClr val="007E80"/>
                </a:solidFill>
                <a:latin typeface="DejaVu Sans"/>
              </a:defRPr>
            </a:pPr>
            <a:r>
              <a:t>later onset.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BASELINE / FOUR-MODEL IMAGE COMPARISON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Expanded unattended images did not yield a clear</a:t>
            </a:r>
          </a:p>
          <a:p>
            <a:pPr algn="l">
              <a:lnSpc>
                <a:spcPts val="3690"/>
              </a:lnSpc>
              <a:spcBef>
                <a:spcPts val="0"/>
              </a:spcBef>
              <a:spcAft>
                <a:spcPts val="0"/>
              </a:spcAft>
              <a:defRPr sz="3000" b="1">
                <a:solidFill>
                  <a:srgbClr val="142C40"/>
                </a:solidFill>
                <a:latin typeface="DejaVu Sans"/>
              </a:defRPr>
            </a:pPr>
            <a:r>
              <a:t>winner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962 test endpoints • 242 positive / 720 normal • two camera families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Expanded accuracy quality_summary.json / raw frame decisions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11</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479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43688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62230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80772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9931400" y="2273300"/>
            <a:ext cx="162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Rectangle 15"/>
          <p:cNvSpPr/>
          <p:nvPr/>
        </p:nvSpPr>
        <p:spPr>
          <a:xfrm>
            <a:off x="533400" y="26670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MobileCLIP2-S2</a:t>
            </a:r>
          </a:p>
        </p:txBody>
      </p:sp>
      <p:sp>
        <p:nvSpPr>
          <p:cNvPr id="18" name="TextBox 17"/>
          <p:cNvSpPr txBox="1"/>
          <p:nvPr/>
        </p:nvSpPr>
        <p:spPr>
          <a:xfrm>
            <a:off x="43688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25.3%</a:t>
            </a:r>
          </a:p>
        </p:txBody>
      </p:sp>
      <p:sp>
        <p:nvSpPr>
          <p:cNvPr id="19" name="TextBox 18"/>
          <p:cNvSpPr txBox="1"/>
          <p:nvPr/>
        </p:nvSpPr>
        <p:spPr>
          <a:xfrm>
            <a:off x="62230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75.2%</a:t>
            </a:r>
          </a:p>
        </p:txBody>
      </p:sp>
      <p:sp>
        <p:nvSpPr>
          <p:cNvPr id="20" name="TextBox 19"/>
          <p:cNvSpPr txBox="1"/>
          <p:nvPr/>
        </p:nvSpPr>
        <p:spPr>
          <a:xfrm>
            <a:off x="80772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0.379</a:t>
            </a:r>
          </a:p>
        </p:txBody>
      </p:sp>
      <p:sp>
        <p:nvSpPr>
          <p:cNvPr id="21" name="TextBox 20"/>
          <p:cNvSpPr txBox="1"/>
          <p:nvPr/>
        </p:nvSpPr>
        <p:spPr>
          <a:xfrm>
            <a:off x="9931400" y="27813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74.6%</a:t>
            </a:r>
          </a:p>
        </p:txBody>
      </p:sp>
      <p:cxnSp>
        <p:nvCxnSpPr>
          <p:cNvPr id="22" name="Connector 21"/>
          <p:cNvCxnSpPr/>
          <p:nvPr/>
        </p:nvCxnSpPr>
        <p:spPr>
          <a:xfrm>
            <a:off x="533400" y="3327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327400"/>
            <a:ext cx="11125200" cy="660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4417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SigLIP2-B/16-224</a:t>
            </a:r>
          </a:p>
        </p:txBody>
      </p:sp>
      <p:sp>
        <p:nvSpPr>
          <p:cNvPr id="25" name="TextBox 24"/>
          <p:cNvSpPr txBox="1"/>
          <p:nvPr/>
        </p:nvSpPr>
        <p:spPr>
          <a:xfrm>
            <a:off x="43688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a:t>
            </a:r>
          </a:p>
        </p:txBody>
      </p:sp>
      <p:sp>
        <p:nvSpPr>
          <p:cNvPr id="26" name="TextBox 25"/>
          <p:cNvSpPr txBox="1"/>
          <p:nvPr/>
        </p:nvSpPr>
        <p:spPr>
          <a:xfrm>
            <a:off x="62230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a:t>
            </a:r>
          </a:p>
        </p:txBody>
      </p:sp>
      <p:sp>
        <p:nvSpPr>
          <p:cNvPr id="27" name="TextBox 26"/>
          <p:cNvSpPr txBox="1"/>
          <p:nvPr/>
        </p:nvSpPr>
        <p:spPr>
          <a:xfrm>
            <a:off x="80772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0.000</a:t>
            </a:r>
          </a:p>
        </p:txBody>
      </p:sp>
      <p:sp>
        <p:nvSpPr>
          <p:cNvPr id="28" name="TextBox 27"/>
          <p:cNvSpPr txBox="1"/>
          <p:nvPr/>
        </p:nvSpPr>
        <p:spPr>
          <a:xfrm>
            <a:off x="9931400" y="34417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2.6%</a:t>
            </a:r>
          </a:p>
        </p:txBody>
      </p:sp>
      <p:cxnSp>
        <p:nvCxnSpPr>
          <p:cNvPr id="29" name="Connector 28"/>
          <p:cNvCxnSpPr/>
          <p:nvPr/>
        </p:nvCxnSpPr>
        <p:spPr>
          <a:xfrm>
            <a:off x="533400" y="398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9878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1021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SmolVLM-500M</a:t>
            </a:r>
          </a:p>
        </p:txBody>
      </p:sp>
      <p:sp>
        <p:nvSpPr>
          <p:cNvPr id="32" name="TextBox 31"/>
          <p:cNvSpPr txBox="1"/>
          <p:nvPr/>
        </p:nvSpPr>
        <p:spPr>
          <a:xfrm>
            <a:off x="43688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18.6%</a:t>
            </a:r>
          </a:p>
        </p:txBody>
      </p:sp>
      <p:sp>
        <p:nvSpPr>
          <p:cNvPr id="33" name="TextBox 32"/>
          <p:cNvSpPr txBox="1"/>
          <p:nvPr/>
        </p:nvSpPr>
        <p:spPr>
          <a:xfrm>
            <a:off x="62230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63.6%</a:t>
            </a:r>
          </a:p>
        </p:txBody>
      </p:sp>
      <p:sp>
        <p:nvSpPr>
          <p:cNvPr id="34" name="TextBox 33"/>
          <p:cNvSpPr txBox="1"/>
          <p:nvPr/>
        </p:nvSpPr>
        <p:spPr>
          <a:xfrm>
            <a:off x="80772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0.288</a:t>
            </a:r>
          </a:p>
        </p:txBody>
      </p:sp>
      <p:sp>
        <p:nvSpPr>
          <p:cNvPr id="35" name="TextBox 34"/>
          <p:cNvSpPr txBox="1"/>
          <p:nvPr/>
        </p:nvSpPr>
        <p:spPr>
          <a:xfrm>
            <a:off x="9931400" y="41021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93.8%</a:t>
            </a:r>
          </a:p>
        </p:txBody>
      </p:sp>
      <p:cxnSp>
        <p:nvCxnSpPr>
          <p:cNvPr id="36" name="Connector 35"/>
          <p:cNvCxnSpPr/>
          <p:nvPr/>
        </p:nvCxnSpPr>
        <p:spPr>
          <a:xfrm>
            <a:off x="533400" y="4648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648200"/>
            <a:ext cx="11125200" cy="660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762500"/>
            <a:ext cx="3479800" cy="5207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MiniCPM-V 4.0</a:t>
            </a:r>
          </a:p>
        </p:txBody>
      </p:sp>
      <p:sp>
        <p:nvSpPr>
          <p:cNvPr id="39" name="TextBox 38"/>
          <p:cNvSpPr txBox="1"/>
          <p:nvPr/>
        </p:nvSpPr>
        <p:spPr>
          <a:xfrm>
            <a:off x="43688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77.1%</a:t>
            </a:r>
          </a:p>
        </p:txBody>
      </p:sp>
      <p:sp>
        <p:nvSpPr>
          <p:cNvPr id="40" name="TextBox 39"/>
          <p:cNvSpPr txBox="1"/>
          <p:nvPr/>
        </p:nvSpPr>
        <p:spPr>
          <a:xfrm>
            <a:off x="62230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34.7%</a:t>
            </a:r>
          </a:p>
        </p:txBody>
      </p:sp>
      <p:sp>
        <p:nvSpPr>
          <p:cNvPr id="41" name="TextBox 40"/>
          <p:cNvSpPr txBox="1"/>
          <p:nvPr/>
        </p:nvSpPr>
        <p:spPr>
          <a:xfrm>
            <a:off x="80772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0.479</a:t>
            </a:r>
          </a:p>
        </p:txBody>
      </p:sp>
      <p:sp>
        <p:nvSpPr>
          <p:cNvPr id="42" name="TextBox 41"/>
          <p:cNvSpPr txBox="1"/>
          <p:nvPr/>
        </p:nvSpPr>
        <p:spPr>
          <a:xfrm>
            <a:off x="9931400" y="4762500"/>
            <a:ext cx="1625600" cy="5207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3.5%</a:t>
            </a:r>
          </a:p>
        </p:txBody>
      </p:sp>
      <p:cxnSp>
        <p:nvCxnSpPr>
          <p:cNvPr id="43" name="Connector 42"/>
          <p:cNvCxnSpPr/>
          <p:nvPr/>
        </p:nvCxnSpPr>
        <p:spPr>
          <a:xfrm>
            <a:off x="533400" y="5308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MiniCPM has the best raw frame F1 here, while missing 65% of positive endpoints. Labels remain</a:t>
            </a:r>
          </a:p>
          <a:p>
            <a:pPr algn="l">
              <a:lnSpc>
                <a:spcPts val="1722"/>
              </a:lnSpc>
              <a:spcBef>
                <a:spcPts val="0"/>
              </a:spcBef>
              <a:spcAft>
                <a:spcPts val="0"/>
              </a:spcAft>
              <a:defRPr sz="1400" b="1">
                <a:solidFill>
                  <a:srgbClr val="C86535"/>
                </a:solidFill>
                <a:latin typeface="DejaVu Sans"/>
              </a:defRPr>
            </a:pPr>
            <a:r>
              <a:t>provisional.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ACTUAL TRAINING / SIX VISUAL FINE-TUNES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Both CLIP visual backbones were updated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Two encoders × seeds 42 / 43 / 44 • frozen early layers and text towers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Fine-tuning changed-tensor audit + training protocol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12</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What learned</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MobileCLIP: 18.1M visual parameters</a:t>
            </a:r>
          </a:p>
          <a:p>
            <a:pPr algn="l">
              <a:lnSpc>
                <a:spcPts val="1968"/>
              </a:lnSpc>
              <a:spcBef>
                <a:spcPts val="0"/>
              </a:spcBef>
              <a:spcAft>
                <a:spcPts val="0"/>
              </a:spcAft>
              <a:defRPr sz="1600" b="0">
                <a:solidFill>
                  <a:srgbClr val="142C40"/>
                </a:solidFill>
                <a:latin typeface="DejaVu Sans"/>
              </a:defRPr>
            </a:pPr>
            <a:r>
              <a:t>SigLIP: 14.2M visual parameters</a:t>
            </a:r>
          </a:p>
          <a:p>
            <a:pPr algn="l">
              <a:lnSpc>
                <a:spcPts val="1968"/>
              </a:lnSpc>
              <a:spcBef>
                <a:spcPts val="0"/>
              </a:spcBef>
              <a:spcAft>
                <a:spcPts val="0"/>
              </a:spcAft>
              <a:defRPr sz="1600" b="0">
                <a:solidFill>
                  <a:srgbClr val="142C40"/>
                </a:solidFill>
                <a:latin typeface="DejaVu Sans"/>
              </a:defRPr>
            </a:pPr>
            <a:r>
              <a:t>Last vision stage + five binary heads</a:t>
            </a:r>
          </a:p>
          <a:p>
            <a:pPr algn="l">
              <a:lnSpc>
                <a:spcPts val="1968"/>
              </a:lnSpc>
              <a:spcBef>
                <a:spcPts val="0"/>
              </a:spcBef>
              <a:spcAft>
                <a:spcPts val="0"/>
              </a:spcAft>
              <a:defRPr sz="1600" b="0">
                <a:solidFill>
                  <a:srgbClr val="142C40"/>
                </a:solidFill>
                <a:latin typeface="DejaVu Sans"/>
              </a:defRPr>
            </a:pPr>
            <a:r>
              <a:t>Masked target losses and balancing</a:t>
            </a:r>
          </a:p>
          <a:p>
            <a:pPr algn="l">
              <a:lnSpc>
                <a:spcPts val="1968"/>
              </a:lnSpc>
              <a:spcBef>
                <a:spcPts val="0"/>
              </a:spcBef>
              <a:spcAft>
                <a:spcPts val="0"/>
              </a:spcAft>
              <a:defRPr sz="1600" b="0">
                <a:solidFill>
                  <a:srgbClr val="142C40"/>
                </a:solidFill>
                <a:latin typeface="DejaVu Sans"/>
              </a:defRPr>
            </a:pPr>
            <a:r>
              <a:t>Scene-preserving augmentation</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How overfitting was constrained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Pretrained feature / weight penalties</a:t>
            </a:r>
          </a:p>
          <a:p>
            <a:pPr algn="l">
              <a:lnSpc>
                <a:spcPts val="1968"/>
              </a:lnSpc>
              <a:spcBef>
                <a:spcPts val="0"/>
              </a:spcBef>
              <a:spcAft>
                <a:spcPts val="0"/>
              </a:spcAft>
              <a:defRPr sz="1600" b="0">
                <a:solidFill>
                  <a:srgbClr val="142C40"/>
                </a:solidFill>
                <a:latin typeface="DejaVu Sans"/>
              </a:defRPr>
            </a:pPr>
            <a:r>
              <a:t>Frozen early layers and batch norms</a:t>
            </a:r>
          </a:p>
          <a:p>
            <a:pPr algn="l">
              <a:lnSpc>
                <a:spcPts val="1968"/>
              </a:lnSpc>
              <a:spcBef>
                <a:spcPts val="0"/>
              </a:spcBef>
              <a:spcAft>
                <a:spcPts val="0"/>
              </a:spcAft>
              <a:defRPr sz="1600" b="0">
                <a:solidFill>
                  <a:srgbClr val="142C40"/>
                </a:solidFill>
                <a:latin typeface="DejaVu Sans"/>
              </a:defRPr>
            </a:pPr>
            <a:r>
              <a:t>Probe and pretrained-score controls</a:t>
            </a:r>
          </a:p>
          <a:p>
            <a:pPr algn="l">
              <a:lnSpc>
                <a:spcPts val="1968"/>
              </a:lnSpc>
              <a:spcBef>
                <a:spcPts val="0"/>
              </a:spcBef>
              <a:spcAft>
                <a:spcPts val="0"/>
              </a:spcAft>
              <a:defRPr sz="1600" b="0">
                <a:solidFill>
                  <a:srgbClr val="142C40"/>
                </a:solidFill>
                <a:latin typeface="DejaVu Sans"/>
              </a:defRPr>
            </a:pPr>
            <a:r>
              <a:t>Development-selected routes / epochs</a:t>
            </a:r>
          </a:p>
          <a:p>
            <a:pPr algn="l">
              <a:lnSpc>
                <a:spcPts val="1968"/>
              </a:lnSpc>
              <a:spcBef>
                <a:spcPts val="0"/>
              </a:spcBef>
              <a:spcAft>
                <a:spcPts val="0"/>
              </a:spcAft>
              <a:defRPr sz="1600" b="0">
                <a:solidFill>
                  <a:srgbClr val="142C40"/>
                </a:solidFill>
                <a:latin typeface="DejaVu Sans"/>
              </a:defRPr>
            </a:pPr>
            <a:r>
              <a:t>Three-seed variation retained</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These six visual fine-tunes are distinct from later frozen-feature classifiers, GRUs and ensembles.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ACTUAL TRAINING / HELD-OUT RANKING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Fine-tuning helped some tasks and hurt others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Same-study pretrained score → development-selected primary route (AP)</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CLIP fine-tuning findings / seed 42</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632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a:t>
            </a:r>
          </a:p>
        </p:txBody>
      </p:sp>
      <p:sp>
        <p:nvSpPr>
          <p:cNvPr id="12" name="TextBox 11"/>
          <p:cNvSpPr txBox="1"/>
          <p:nvPr/>
        </p:nvSpPr>
        <p:spPr>
          <a:xfrm>
            <a:off x="4521200" y="2273300"/>
            <a:ext cx="167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Cases</a:t>
            </a:r>
          </a:p>
        </p:txBody>
      </p:sp>
      <p:sp>
        <p:nvSpPr>
          <p:cNvPr id="13" name="TextBox 12"/>
          <p:cNvSpPr txBox="1"/>
          <p:nvPr/>
        </p:nvSpPr>
        <p:spPr>
          <a:xfrm>
            <a:off x="64262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4" name="TextBox 13"/>
          <p:cNvSpPr txBox="1"/>
          <p:nvPr/>
        </p:nvSpPr>
        <p:spPr>
          <a:xfrm>
            <a:off x="91059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Smoking CCTV camera c1</a:t>
            </a:r>
          </a:p>
        </p:txBody>
      </p:sp>
      <p:sp>
        <p:nvSpPr>
          <p:cNvPr id="17" name="TextBox 16"/>
          <p:cNvSpPr txBox="1"/>
          <p:nvPr/>
        </p:nvSpPr>
        <p:spPr>
          <a:xfrm>
            <a:off x="4521200" y="27813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646</a:t>
            </a:r>
          </a:p>
        </p:txBody>
      </p:sp>
      <p:sp>
        <p:nvSpPr>
          <p:cNvPr id="18" name="TextBox 17"/>
          <p:cNvSpPr txBox="1"/>
          <p:nvPr/>
        </p:nvSpPr>
        <p:spPr>
          <a:xfrm>
            <a:off x="6426200" y="27813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.642 → .564</a:t>
            </a:r>
          </a:p>
        </p:txBody>
      </p:sp>
      <p:sp>
        <p:nvSpPr>
          <p:cNvPr id="19" name="TextBox 18"/>
          <p:cNvSpPr txBox="1"/>
          <p:nvPr/>
        </p:nvSpPr>
        <p:spPr>
          <a:xfrm>
            <a:off x="9105900" y="27813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.669 → .650</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Waste dumping clips</a:t>
            </a:r>
          </a:p>
        </p:txBody>
      </p:sp>
      <p:sp>
        <p:nvSpPr>
          <p:cNvPr id="23" name="TextBox 22"/>
          <p:cNvSpPr txBox="1"/>
          <p:nvPr/>
        </p:nvSpPr>
        <p:spPr>
          <a:xfrm>
            <a:off x="4521200" y="33274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100</a:t>
            </a:r>
          </a:p>
        </p:txBody>
      </p:sp>
      <p:sp>
        <p:nvSpPr>
          <p:cNvPr id="24" name="TextBox 23"/>
          <p:cNvSpPr txBox="1"/>
          <p:nvPr/>
        </p:nvSpPr>
        <p:spPr>
          <a:xfrm>
            <a:off x="6426200" y="33274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.424 → .858</a:t>
            </a:r>
          </a:p>
        </p:txBody>
      </p:sp>
      <p:sp>
        <p:nvSpPr>
          <p:cNvPr id="25" name="TextBox 24"/>
          <p:cNvSpPr txBox="1"/>
          <p:nvPr/>
        </p:nvSpPr>
        <p:spPr>
          <a:xfrm>
            <a:off x="9105900" y="33274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.499 → .885</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Loitering windows</a:t>
            </a:r>
          </a:p>
        </p:txBody>
      </p:sp>
      <p:sp>
        <p:nvSpPr>
          <p:cNvPr id="29" name="TextBox 28"/>
          <p:cNvSpPr txBox="1"/>
          <p:nvPr/>
        </p:nvSpPr>
        <p:spPr>
          <a:xfrm>
            <a:off x="4521200" y="38735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75 (11 +)</a:t>
            </a:r>
          </a:p>
        </p:txBody>
      </p:sp>
      <p:sp>
        <p:nvSpPr>
          <p:cNvPr id="30" name="TextBox 29"/>
          <p:cNvSpPr txBox="1"/>
          <p:nvPr/>
        </p:nvSpPr>
        <p:spPr>
          <a:xfrm>
            <a:off x="6426200" y="38735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.320 → .093</a:t>
            </a:r>
          </a:p>
        </p:txBody>
      </p:sp>
      <p:sp>
        <p:nvSpPr>
          <p:cNvPr id="31" name="TextBox 30"/>
          <p:cNvSpPr txBox="1"/>
          <p:nvPr/>
        </p:nvSpPr>
        <p:spPr>
          <a:xfrm>
            <a:off x="9105900" y="38735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.097 → .097</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Public-sleep photos</a:t>
            </a:r>
          </a:p>
        </p:txBody>
      </p:sp>
      <p:sp>
        <p:nvSpPr>
          <p:cNvPr id="35" name="TextBox 34"/>
          <p:cNvSpPr txBox="1"/>
          <p:nvPr/>
        </p:nvSpPr>
        <p:spPr>
          <a:xfrm>
            <a:off x="4521200" y="44196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18 (6 +)</a:t>
            </a:r>
          </a:p>
        </p:txBody>
      </p:sp>
      <p:sp>
        <p:nvSpPr>
          <p:cNvPr id="36" name="TextBox 35"/>
          <p:cNvSpPr txBox="1"/>
          <p:nvPr/>
        </p:nvSpPr>
        <p:spPr>
          <a:xfrm>
            <a:off x="6426200" y="44196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.502 → .976</a:t>
            </a:r>
          </a:p>
        </p:txBody>
      </p:sp>
      <p:sp>
        <p:nvSpPr>
          <p:cNvPr id="37" name="TextBox 36"/>
          <p:cNvSpPr txBox="1"/>
          <p:nvPr/>
        </p:nvSpPr>
        <p:spPr>
          <a:xfrm>
            <a:off x="9105900" y="44196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.733 → .915</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36322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Unattended endpoints</a:t>
            </a:r>
          </a:p>
        </p:txBody>
      </p:sp>
      <p:sp>
        <p:nvSpPr>
          <p:cNvPr id="41" name="TextBox 40"/>
          <p:cNvSpPr txBox="1"/>
          <p:nvPr/>
        </p:nvSpPr>
        <p:spPr>
          <a:xfrm>
            <a:off x="4521200" y="4965700"/>
            <a:ext cx="16764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962</a:t>
            </a:r>
          </a:p>
        </p:txBody>
      </p:sp>
      <p:sp>
        <p:nvSpPr>
          <p:cNvPr id="42" name="TextBox 41"/>
          <p:cNvSpPr txBox="1"/>
          <p:nvPr/>
        </p:nvSpPr>
        <p:spPr>
          <a:xfrm>
            <a:off x="6426200" y="49657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.209 → .652</a:t>
            </a:r>
          </a:p>
        </p:txBody>
      </p:sp>
      <p:sp>
        <p:nvSpPr>
          <p:cNvPr id="43" name="TextBox 42"/>
          <p:cNvSpPr txBox="1"/>
          <p:nvPr/>
        </p:nvSpPr>
        <p:spPr>
          <a:xfrm>
            <a:off x="9105900" y="4965700"/>
            <a:ext cx="24511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.309 → .896</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Photo smoking improves strongly (.901 / .954 AP), but photo success did not transfer to CCTV.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STRATEGY EXPLORATION / 330 CONFIGURATIONS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next screen combined data, crops and</a:t>
            </a:r>
          </a:p>
          <a:p>
            <a:pPr algn="l">
              <a:lnSpc>
                <a:spcPts val="3690"/>
              </a:lnSpc>
              <a:spcBef>
                <a:spcPts val="0"/>
              </a:spcBef>
              <a:spcAft>
                <a:spcPts val="0"/>
              </a:spcAft>
              <a:defRPr sz="3000" b="1">
                <a:solidFill>
                  <a:srgbClr val="142C40"/>
                </a:solidFill>
                <a:latin typeface="DejaVu Sans"/>
              </a:defRPr>
            </a:pPr>
            <a:r>
              <a:t>adaptation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33 configurations per target / backbone • five objectives • two CLIP encoders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strategy_study_20261016 / frozen development selections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14</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Inputs and representations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Train: 3,258 → 3,973 examples</a:t>
            </a:r>
          </a:p>
          <a:p>
            <a:pPr algn="l">
              <a:lnSpc>
                <a:spcPts val="1968"/>
              </a:lnSpc>
              <a:spcBef>
                <a:spcPts val="0"/>
              </a:spcBef>
              <a:spcAft>
                <a:spcPts val="0"/>
              </a:spcAft>
              <a:defRPr sz="1600" b="0">
                <a:solidFill>
                  <a:srgbClr val="142C40"/>
                </a:solidFill>
                <a:latin typeface="DejaVu Sans"/>
              </a:defRPr>
            </a:pPr>
            <a:r>
              <a:t>Automatic contextual person/item crops</a:t>
            </a:r>
          </a:p>
          <a:p>
            <a:pPr algn="l">
              <a:lnSpc>
                <a:spcPts val="1968"/>
              </a:lnSpc>
              <a:spcBef>
                <a:spcPts val="0"/>
              </a:spcBef>
              <a:spcAft>
                <a:spcPts val="0"/>
              </a:spcAft>
              <a:defRPr sz="1600" b="0">
                <a:solidFill>
                  <a:srgbClr val="142C40"/>
                </a:solidFill>
                <a:latin typeface="DejaVu Sans"/>
              </a:defRPr>
            </a:pPr>
            <a:r>
              <a:t>Full / region visual representations</a:t>
            </a:r>
          </a:p>
          <a:p>
            <a:pPr algn="l">
              <a:lnSpc>
                <a:spcPts val="1968"/>
              </a:lnSpc>
              <a:spcBef>
                <a:spcPts val="0"/>
              </a:spcBef>
              <a:spcAft>
                <a:spcPts val="0"/>
              </a:spcAft>
              <a:defRPr sz="1600" b="0">
                <a:solidFill>
                  <a:srgbClr val="142C40"/>
                </a:solidFill>
                <a:latin typeface="DejaVu Sans"/>
              </a:defRPr>
            </a:pPr>
            <a:r>
              <a:t>Temporal pooling vs ordered views</a:t>
            </a:r>
          </a:p>
          <a:p>
            <a:pPr algn="l">
              <a:lnSpc>
                <a:spcPts val="1968"/>
              </a:lnSpc>
              <a:spcBef>
                <a:spcPts val="0"/>
              </a:spcBef>
              <a:spcAft>
                <a:spcPts val="0"/>
              </a:spcAft>
              <a:defRPr sz="1600" b="0">
                <a:solidFill>
                  <a:srgbClr val="142C40"/>
                </a:solidFill>
                <a:latin typeface="DejaVu Sans"/>
              </a:defRPr>
            </a:pPr>
            <a:r>
              <a:t>Sparse detection geometry</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Candidate routes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Linear and nonlinear classifiers</a:t>
            </a:r>
          </a:p>
          <a:p>
            <a:pPr algn="l">
              <a:lnSpc>
                <a:spcPts val="1968"/>
              </a:lnSpc>
              <a:spcBef>
                <a:spcPts val="0"/>
              </a:spcBef>
              <a:spcAft>
                <a:spcPts val="0"/>
              </a:spcAft>
              <a:defRPr sz="1600" b="0">
                <a:solidFill>
                  <a:srgbClr val="142C40"/>
                </a:solidFill>
                <a:latin typeface="DejaVu Sans"/>
              </a:defRPr>
            </a:pPr>
            <a:r>
              <a:t>Pretrained / adapted weight blends</a:t>
            </a:r>
          </a:p>
          <a:p>
            <a:pPr algn="l">
              <a:lnSpc>
                <a:spcPts val="1968"/>
              </a:lnSpc>
              <a:spcBef>
                <a:spcPts val="0"/>
              </a:spcBef>
              <a:spcAft>
                <a:spcPts val="0"/>
              </a:spcAft>
              <a:defRPr sz="1600" b="0">
                <a:solidFill>
                  <a:srgbClr val="142C40"/>
                </a:solidFill>
                <a:latin typeface="DejaVu Sans"/>
              </a:defRPr>
            </a:pPr>
            <a:r>
              <a:t>Alpha: 0, .25, .5 and 1</a:t>
            </a:r>
          </a:p>
          <a:p>
            <a:pPr algn="l">
              <a:lnSpc>
                <a:spcPts val="1968"/>
              </a:lnSpc>
              <a:spcBef>
                <a:spcPts val="0"/>
              </a:spcBef>
              <a:spcAft>
                <a:spcPts val="0"/>
              </a:spcAft>
              <a:defRPr sz="1600" b="0">
                <a:solidFill>
                  <a:srgbClr val="142C40"/>
                </a:solidFill>
                <a:latin typeface="DejaVu Sans"/>
              </a:defRPr>
            </a:pPr>
            <a:r>
              <a:t>Dev-source AP route selection</a:t>
            </a:r>
          </a:p>
          <a:p>
            <a:pPr algn="l">
              <a:lnSpc>
                <a:spcPts val="1968"/>
              </a:lnSpc>
              <a:spcBef>
                <a:spcPts val="0"/>
              </a:spcBef>
              <a:spcAft>
                <a:spcPts val="0"/>
              </a:spcAft>
              <a:defRPr sz="1600" b="0">
                <a:solidFill>
                  <a:srgbClr val="142C40"/>
                </a:solidFill>
                <a:latin typeface="DejaVu Sans"/>
              </a:defRPr>
            </a:pPr>
            <a:r>
              <a:t>Raw, dev-F1 and FPR-budget cutoffs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330 configurations include references and 320 classifier fits; they are not 330 separate backbone</a:t>
            </a:r>
          </a:p>
          <a:p>
            <a:pPr algn="l">
              <a:lnSpc>
                <a:spcPts val="1722"/>
              </a:lnSpc>
              <a:spcBef>
                <a:spcPts val="0"/>
              </a:spcBef>
              <a:spcAft>
                <a:spcPts val="0"/>
              </a:spcAft>
              <a:defRPr sz="1400" b="1">
                <a:solidFill>
                  <a:srgbClr val="007E80"/>
                </a:solidFill>
                <a:latin typeface="DejaVu Sans"/>
              </a:defRPr>
            </a:pPr>
            <a:r>
              <a:t>fine-tunes.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STRATEGY EXPLORATION / HISTORICAL SOURCE DIAGNOSTICS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Historical AP rose unevenly after the strategy</a:t>
            </a:r>
          </a:p>
          <a:p>
            <a:pPr algn="l">
              <a:lnSpc>
                <a:spcPts val="3690"/>
              </a:lnSpc>
              <a:spcBef>
                <a:spcPts val="0"/>
              </a:spcBef>
              <a:spcAft>
                <a:spcPts val="0"/>
              </a:spcAft>
              <a:defRPr sz="3000" b="1">
                <a:solidFill>
                  <a:srgbClr val="142C40"/>
                </a:solidFill>
                <a:latin typeface="DejaVu Sans"/>
              </a:defRPr>
            </a:pPr>
            <a:r>
              <a:t>screen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Previous selected bundle → new selected strategy • same previously inspected cases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Strategy findings / primary seed 42</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070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959100" y="2273300"/>
            <a:ext cx="2324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3" name="TextBox 12"/>
          <p:cNvSpPr txBox="1"/>
          <p:nvPr/>
        </p:nvSpPr>
        <p:spPr>
          <a:xfrm>
            <a:off x="5511800" y="2273300"/>
            <a:ext cx="2324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4" name="TextBox 13"/>
          <p:cNvSpPr txBox="1"/>
          <p:nvPr/>
        </p:nvSpPr>
        <p:spPr>
          <a:xfrm>
            <a:off x="8064500" y="2273300"/>
            <a:ext cx="3492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Evidence limitation</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CCTV</a:t>
            </a:r>
          </a:p>
        </p:txBody>
      </p:sp>
      <p:sp>
        <p:nvSpPr>
          <p:cNvPr id="17" name="TextBox 16"/>
          <p:cNvSpPr txBox="1"/>
          <p:nvPr/>
        </p:nvSpPr>
        <p:spPr>
          <a:xfrm>
            <a:off x="2959100" y="27813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.564 → .690</a:t>
            </a:r>
          </a:p>
        </p:txBody>
      </p:sp>
      <p:sp>
        <p:nvSpPr>
          <p:cNvPr id="18" name="TextBox 17"/>
          <p:cNvSpPr txBox="1"/>
          <p:nvPr/>
        </p:nvSpPr>
        <p:spPr>
          <a:xfrm>
            <a:off x="5511800" y="27813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.650 → .722</a:t>
            </a:r>
          </a:p>
        </p:txBody>
      </p:sp>
      <p:sp>
        <p:nvSpPr>
          <p:cNvPr id="19" name="TextBox 18"/>
          <p:cNvSpPr txBox="1"/>
          <p:nvPr/>
        </p:nvSpPr>
        <p:spPr>
          <a:xfrm>
            <a:off x="8064500" y="27813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held-out camera</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Waste dumping</a:t>
            </a:r>
          </a:p>
        </p:txBody>
      </p:sp>
      <p:sp>
        <p:nvSpPr>
          <p:cNvPr id="23" name="TextBox 22"/>
          <p:cNvSpPr txBox="1"/>
          <p:nvPr/>
        </p:nvSpPr>
        <p:spPr>
          <a:xfrm>
            <a:off x="2959100" y="33274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.858 → .806</a:t>
            </a:r>
          </a:p>
        </p:txBody>
      </p:sp>
      <p:sp>
        <p:nvSpPr>
          <p:cNvPr id="24" name="TextBox 23"/>
          <p:cNvSpPr txBox="1"/>
          <p:nvPr/>
        </p:nvSpPr>
        <p:spPr>
          <a:xfrm>
            <a:off x="5511800" y="33274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.885 → .893</a:t>
            </a:r>
          </a:p>
        </p:txBody>
      </p:sp>
      <p:sp>
        <p:nvSpPr>
          <p:cNvPr id="25" name="TextBox 24"/>
          <p:cNvSpPr txBox="1"/>
          <p:nvPr/>
        </p:nvSpPr>
        <p:spPr>
          <a:xfrm>
            <a:off x="8064500" y="33274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Full-clip action classification</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9" name="TextBox 28"/>
          <p:cNvSpPr txBox="1"/>
          <p:nvPr/>
        </p:nvSpPr>
        <p:spPr>
          <a:xfrm>
            <a:off x="2959100" y="38735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.093 → .489</a:t>
            </a:r>
          </a:p>
        </p:txBody>
      </p:sp>
      <p:sp>
        <p:nvSpPr>
          <p:cNvPr id="30" name="TextBox 29"/>
          <p:cNvSpPr txBox="1"/>
          <p:nvPr/>
        </p:nvSpPr>
        <p:spPr>
          <a:xfrm>
            <a:off x="5511800" y="38735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.097 → .550</a:t>
            </a:r>
          </a:p>
        </p:txBody>
      </p:sp>
      <p:sp>
        <p:nvSpPr>
          <p:cNvPr id="31" name="TextBox 30"/>
          <p:cNvSpPr txBox="1"/>
          <p:nvPr/>
        </p:nvSpPr>
        <p:spPr>
          <a:xfrm>
            <a:off x="8064500" y="38735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One Street Scene camera</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5" name="TextBox 34"/>
          <p:cNvSpPr txBox="1"/>
          <p:nvPr/>
        </p:nvSpPr>
        <p:spPr>
          <a:xfrm>
            <a:off x="2959100" y="44196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.976 → .931</a:t>
            </a:r>
          </a:p>
        </p:txBody>
      </p:sp>
      <p:sp>
        <p:nvSpPr>
          <p:cNvPr id="36" name="TextBox 35"/>
          <p:cNvSpPr txBox="1"/>
          <p:nvPr/>
        </p:nvSpPr>
        <p:spPr>
          <a:xfrm>
            <a:off x="5511800" y="44196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.915 → .883</a:t>
            </a:r>
          </a:p>
        </p:txBody>
      </p:sp>
      <p:sp>
        <p:nvSpPr>
          <p:cNvPr id="37" name="TextBox 36"/>
          <p:cNvSpPr txBox="1"/>
          <p:nvPr/>
        </p:nvSpPr>
        <p:spPr>
          <a:xfrm>
            <a:off x="8064500" y="44196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Small provisional photo set</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20701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41" name="TextBox 40"/>
          <p:cNvSpPr txBox="1"/>
          <p:nvPr/>
        </p:nvSpPr>
        <p:spPr>
          <a:xfrm>
            <a:off x="2959100" y="49657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.652 → .980</a:t>
            </a:r>
          </a:p>
        </p:txBody>
      </p:sp>
      <p:sp>
        <p:nvSpPr>
          <p:cNvPr id="42" name="TextBox 41"/>
          <p:cNvSpPr txBox="1"/>
          <p:nvPr/>
        </p:nvSpPr>
        <p:spPr>
          <a:xfrm>
            <a:off x="5511800" y="4965700"/>
            <a:ext cx="23241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.896 → .925</a:t>
            </a:r>
          </a:p>
        </p:txBody>
      </p:sp>
      <p:sp>
        <p:nvSpPr>
          <p:cNvPr id="43" name="TextBox 42"/>
          <p:cNvSpPr txBox="1"/>
          <p:nvPr/>
        </p:nvSpPr>
        <p:spPr>
          <a:xfrm>
            <a:off x="8064500" y="4965700"/>
            <a:ext cx="34925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Provisional overlapping endpoints</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MobileCLIP dumping and both public-sleep photo routes regress. Higher AP still does not solve alert</a:t>
            </a:r>
          </a:p>
          <a:p>
            <a:pPr algn="l">
              <a:lnSpc>
                <a:spcPts val="1722"/>
              </a:lnSpc>
              <a:spcBef>
                <a:spcPts val="0"/>
              </a:spcBef>
              <a:spcAft>
                <a:spcPts val="0"/>
              </a:spcAft>
              <a:defRPr sz="1400" b="1">
                <a:solidFill>
                  <a:srgbClr val="C86535"/>
                </a:solidFill>
                <a:latin typeface="DejaVu Sans"/>
              </a:defRPr>
            </a:pPr>
            <a:r>
              <a:t>thresholds.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GENERALIZATION / NEW-SOURCE TRANSFER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broader transfer tests exposed remaining</a:t>
            </a:r>
          </a:p>
          <a:p>
            <a:pPr algn="l">
              <a:lnSpc>
                <a:spcPts val="3690"/>
              </a:lnSpc>
              <a:spcBef>
                <a:spcPts val="0"/>
              </a:spcBef>
              <a:spcAft>
                <a:spcPts val="0"/>
              </a:spcAft>
              <a:defRPr sz="3000" b="1">
                <a:solidFill>
                  <a:srgbClr val="142C40"/>
                </a:solidFill>
                <a:latin typeface="DejaVu Sans"/>
              </a:defRPr>
            </a:pPr>
            <a:r>
              <a:t>failures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Previous bundle → selected strategy AP • before later HMDB adaptation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Strategy transfer report + source-screening artifacts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14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Transfer evidence</a:t>
            </a:r>
          </a:p>
        </p:txBody>
      </p:sp>
      <p:sp>
        <p:nvSpPr>
          <p:cNvPr id="12" name="TextBox 11"/>
          <p:cNvSpPr txBox="1"/>
          <p:nvPr/>
        </p:nvSpPr>
        <p:spPr>
          <a:xfrm>
            <a:off x="50292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Cases</a:t>
            </a:r>
          </a:p>
        </p:txBody>
      </p:sp>
      <p:sp>
        <p:nvSpPr>
          <p:cNvPr id="13" name="TextBox 12"/>
          <p:cNvSpPr txBox="1"/>
          <p:nvPr/>
        </p:nvSpPr>
        <p:spPr>
          <a:xfrm>
            <a:off x="64262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4" name="TextBox 13"/>
          <p:cNvSpPr txBox="1"/>
          <p:nvPr/>
        </p:nvSpPr>
        <p:spPr>
          <a:xfrm>
            <a:off x="9105900" y="2273300"/>
            <a:ext cx="2451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New smoking-photo holdout</a:t>
            </a:r>
          </a:p>
        </p:txBody>
      </p:sp>
      <p:sp>
        <p:nvSpPr>
          <p:cNvPr id="17" name="TextBox 16"/>
          <p:cNvSpPr txBox="1"/>
          <p:nvPr/>
        </p:nvSpPr>
        <p:spPr>
          <a:xfrm>
            <a:off x="5029200" y="2781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224</a:t>
            </a:r>
          </a:p>
        </p:txBody>
      </p:sp>
      <p:sp>
        <p:nvSpPr>
          <p:cNvPr id="18" name="TextBox 17"/>
          <p:cNvSpPr txBox="1"/>
          <p:nvPr/>
        </p:nvSpPr>
        <p:spPr>
          <a:xfrm>
            <a:off x="6426200" y="278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.953 → .997</a:t>
            </a:r>
          </a:p>
        </p:txBody>
      </p:sp>
      <p:sp>
        <p:nvSpPr>
          <p:cNvPr id="19" name="TextBox 18"/>
          <p:cNvSpPr txBox="1"/>
          <p:nvPr/>
        </p:nvSpPr>
        <p:spPr>
          <a:xfrm>
            <a:off x="9105900" y="278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.995 → 1.000</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HMDB movie/web action clips</a:t>
            </a:r>
          </a:p>
        </p:txBody>
      </p:sp>
      <p:sp>
        <p:nvSpPr>
          <p:cNvPr id="23" name="TextBox 22"/>
          <p:cNvSpPr txBox="1"/>
          <p:nvPr/>
        </p:nvSpPr>
        <p:spPr>
          <a:xfrm>
            <a:off x="5029200" y="3416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906</a:t>
            </a:r>
          </a:p>
        </p:txBody>
      </p:sp>
      <p:sp>
        <p:nvSpPr>
          <p:cNvPr id="24" name="TextBox 23"/>
          <p:cNvSpPr txBox="1"/>
          <p:nvPr/>
        </p:nvSpPr>
        <p:spPr>
          <a:xfrm>
            <a:off x="6426200" y="341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.605 → .576</a:t>
            </a:r>
          </a:p>
        </p:txBody>
      </p:sp>
      <p:sp>
        <p:nvSpPr>
          <p:cNvPr id="25" name="TextBox 24"/>
          <p:cNvSpPr txBox="1"/>
          <p:nvPr/>
        </p:nvSpPr>
        <p:spPr>
          <a:xfrm>
            <a:off x="9105900" y="341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.685 → .664</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New-author public-sleep photos</a:t>
            </a:r>
          </a:p>
        </p:txBody>
      </p:sp>
      <p:sp>
        <p:nvSpPr>
          <p:cNvPr id="29" name="TextBox 28"/>
          <p:cNvSpPr txBox="1"/>
          <p:nvPr/>
        </p:nvSpPr>
        <p:spPr>
          <a:xfrm>
            <a:off x="5029200" y="4051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28</a:t>
            </a:r>
          </a:p>
        </p:txBody>
      </p:sp>
      <p:sp>
        <p:nvSpPr>
          <p:cNvPr id="30" name="TextBox 29"/>
          <p:cNvSpPr txBox="1"/>
          <p:nvPr/>
        </p:nvSpPr>
        <p:spPr>
          <a:xfrm>
            <a:off x="6426200" y="405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.925 → .952</a:t>
            </a:r>
          </a:p>
        </p:txBody>
      </p:sp>
      <p:sp>
        <p:nvSpPr>
          <p:cNvPr id="31" name="TextBox 30"/>
          <p:cNvSpPr txBox="1"/>
          <p:nvPr/>
        </p:nvSpPr>
        <p:spPr>
          <a:xfrm>
            <a:off x="9105900" y="4051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.943 → .933</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140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MEVA abandonment-action proxy</a:t>
            </a:r>
          </a:p>
        </p:txBody>
      </p:sp>
      <p:sp>
        <p:nvSpPr>
          <p:cNvPr id="35" name="TextBox 34"/>
          <p:cNvSpPr txBox="1"/>
          <p:nvPr/>
        </p:nvSpPr>
        <p:spPr>
          <a:xfrm>
            <a:off x="5029200" y="4686300"/>
            <a:ext cx="11684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27</a:t>
            </a:r>
          </a:p>
        </p:txBody>
      </p:sp>
      <p:sp>
        <p:nvSpPr>
          <p:cNvPr id="36" name="TextBox 35"/>
          <p:cNvSpPr txBox="1"/>
          <p:nvPr/>
        </p:nvSpPr>
        <p:spPr>
          <a:xfrm>
            <a:off x="6426200" y="468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.569 → .545</a:t>
            </a:r>
          </a:p>
        </p:txBody>
      </p:sp>
      <p:sp>
        <p:nvSpPr>
          <p:cNvPr id="37" name="TextBox 36"/>
          <p:cNvSpPr txBox="1"/>
          <p:nvPr/>
        </p:nvSpPr>
        <p:spPr>
          <a:xfrm>
            <a:off x="9105900" y="4686300"/>
            <a:ext cx="24511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.637 → .621</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Photo-domain gains coexist with movie/web and MEVA regressions. These sources are not</a:t>
            </a:r>
          </a:p>
          <a:p>
            <a:pPr algn="l">
              <a:lnSpc>
                <a:spcPts val="1722"/>
              </a:lnSpc>
              <a:spcBef>
                <a:spcPts val="0"/>
              </a:spcBef>
              <a:spcAft>
                <a:spcPts val="0"/>
              </a:spcAft>
              <a:defRPr sz="1400" b="1">
                <a:solidFill>
                  <a:srgbClr val="C86535"/>
                </a:solidFill>
                <a:latin typeface="DejaVu Sans"/>
              </a:defRPr>
            </a:pPr>
            <a:r>
              <a:t>interchangeable.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ALL FIVE OBJECTIVES / TEMPORAL EVIDENCE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Loitering and public sleep remain data-limited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Their useful component results do not yet validate robust event detection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Thermal trajectory benchmark + public-sleep source audit</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17</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Loitering component</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17,878 eligible supplied trajectories</a:t>
            </a:r>
          </a:p>
          <a:p>
            <a:pPr algn="l">
              <a:lnSpc>
                <a:spcPts val="1968"/>
              </a:lnSpc>
              <a:spcBef>
                <a:spcPts val="0"/>
              </a:spcBef>
              <a:spcAft>
                <a:spcPts val="0"/>
              </a:spcAft>
              <a:defRPr sz="1600" b="0">
                <a:solidFill>
                  <a:srgbClr val="142C40"/>
                </a:solidFill>
                <a:latin typeface="DejaVu Sans"/>
              </a:defRPr>
            </a:pPr>
            <a:r>
              <a:t>Chronological 19 / 6 / 6-date split</a:t>
            </a:r>
          </a:p>
          <a:p>
            <a:pPr algn="l">
              <a:lnSpc>
                <a:spcPts val="1968"/>
              </a:lnSpc>
              <a:spcBef>
                <a:spcPts val="0"/>
              </a:spcBef>
              <a:spcAft>
                <a:spcPts val="0"/>
              </a:spcAft>
              <a:defRPr sz="1600" b="0">
                <a:solidFill>
                  <a:srgbClr val="142C40"/>
                </a:solidFill>
                <a:latin typeface="DejaVu Sans"/>
              </a:defRPr>
            </a:pPr>
            <a:r>
              <a:t>Forest test AP .577 vs duration .283</a:t>
            </a:r>
          </a:p>
          <a:p>
            <a:pPr algn="l">
              <a:lnSpc>
                <a:spcPts val="1968"/>
              </a:lnSpc>
              <a:spcBef>
                <a:spcPts val="0"/>
              </a:spcBef>
              <a:spcAft>
                <a:spcPts val="0"/>
              </a:spcAft>
              <a:defRPr sz="1600" b="0">
                <a:solidFill>
                  <a:srgbClr val="142C40"/>
                </a:solidFill>
                <a:latin typeface="DejaVu Sans"/>
              </a:defRPr>
            </a:pPr>
            <a:r>
              <a:t>Development AP .863</a:t>
            </a:r>
          </a:p>
          <a:p>
            <a:pPr algn="l">
              <a:lnSpc>
                <a:spcPts val="1968"/>
              </a:lnSpc>
              <a:spcBef>
                <a:spcPts val="0"/>
              </a:spcBef>
              <a:spcAft>
                <a:spcPts val="0"/>
              </a:spcAft>
              <a:defRPr sz="1600" b="0">
                <a:solidFill>
                  <a:srgbClr val="142C40"/>
                </a:solidFill>
                <a:latin typeface="DejaVu Sans"/>
              </a:defRPr>
            </a:pPr>
            <a:r>
              <a:t>One thermal camera; no RGB tracking</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Public-sleep component</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28 new-author photo cases</a:t>
            </a:r>
          </a:p>
          <a:p>
            <a:pPr algn="l">
              <a:lnSpc>
                <a:spcPts val="1968"/>
              </a:lnSpc>
              <a:spcBef>
                <a:spcPts val="0"/>
              </a:spcBef>
              <a:spcAft>
                <a:spcPts val="0"/>
              </a:spcAft>
              <a:defRPr sz="1600" b="0">
                <a:solidFill>
                  <a:srgbClr val="142C40"/>
                </a:solidFill>
                <a:latin typeface="DejaVu Sans"/>
              </a:defRPr>
            </a:pPr>
            <a:r>
              <a:t>MobileCLIP AP .952; SigLIP .933</a:t>
            </a:r>
          </a:p>
          <a:p>
            <a:pPr algn="l">
              <a:lnSpc>
                <a:spcPts val="1968"/>
              </a:lnSpc>
              <a:spcBef>
                <a:spcPts val="0"/>
              </a:spcBef>
              <a:spcAft>
                <a:spcPts val="0"/>
              </a:spcAft>
              <a:defRPr sz="1600" b="0">
                <a:solidFill>
                  <a:srgbClr val="142C40"/>
                </a:solidFill>
                <a:latin typeface="DejaVu Sans"/>
              </a:defRPr>
            </a:pPr>
            <a:r>
              <a:t>Provisional visible-sleep labels</a:t>
            </a:r>
          </a:p>
          <a:p>
            <a:pPr algn="l">
              <a:lnSpc>
                <a:spcPts val="1968"/>
              </a:lnSpc>
              <a:spcBef>
                <a:spcPts val="0"/>
              </a:spcBef>
              <a:spcAft>
                <a:spcPts val="0"/>
              </a:spcAft>
              <a:defRPr sz="1600" b="0">
                <a:solidFill>
                  <a:srgbClr val="142C40"/>
                </a:solidFill>
                <a:latin typeface="DejaVu Sans"/>
              </a:defRPr>
            </a:pPr>
            <a:r>
              <a:t>No confirmed persistence / duration</a:t>
            </a:r>
          </a:p>
          <a:p>
            <a:pPr algn="l">
              <a:lnSpc>
                <a:spcPts val="1968"/>
              </a:lnSpc>
              <a:spcBef>
                <a:spcPts val="0"/>
              </a:spcBef>
              <a:spcAft>
                <a:spcPts val="0"/>
              </a:spcAft>
              <a:defRPr sz="1600" b="0">
                <a:solidFill>
                  <a:srgbClr val="142C40"/>
                </a:solidFill>
                <a:latin typeface="DejaVu Sans"/>
              </a:defRPr>
            </a:pPr>
            <a:r>
              <a:t>Rest, lying and bedding need controls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next model must see the evidence the target requires: complete tracks or persistent state, with</a:t>
            </a:r>
          </a:p>
          <a:p>
            <a:pPr algn="l">
              <a:lnSpc>
                <a:spcPts val="1722"/>
              </a:lnSpc>
              <a:spcBef>
                <a:spcPts val="0"/>
              </a:spcBef>
              <a:spcAft>
                <a:spcPts val="0"/>
              </a:spcAft>
              <a:defRPr sz="1400" b="1">
                <a:solidFill>
                  <a:srgbClr val="C86535"/>
                </a:solidFill>
                <a:latin typeface="DejaVu Sans"/>
              </a:defRPr>
            </a:pPr>
            <a:r>
              <a:t>matched negatives.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ERROR AUDIT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Small people and missing items were concrete</a:t>
            </a:r>
          </a:p>
          <a:p>
            <a:pPr algn="l">
              <a:lnSpc>
                <a:spcPts val="3690"/>
              </a:lnSpc>
              <a:spcBef>
                <a:spcPts val="0"/>
              </a:spcBef>
              <a:spcAft>
                <a:spcPts val="0"/>
              </a:spcAft>
              <a:defRPr sz="3000" b="1">
                <a:solidFill>
                  <a:srgbClr val="142C40"/>
                </a:solidFill>
                <a:latin typeface="DejaVu Sans"/>
              </a:defRPr>
            </a:pPr>
            <a:r>
              <a:t>bottlenecks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117 deliberately selected errors were provisionally reviewed across the five targets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Pilot crop-coverage and CAVIAR component audits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Smoking spatial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Median smoker height: 11.2 px at 224</a:t>
            </a:r>
          </a:p>
          <a:p>
            <a:pPr algn="l">
              <a:lnSpc>
                <a:spcPts val="1968"/>
              </a:lnSpc>
              <a:spcBef>
                <a:spcPts val="0"/>
              </a:spcBef>
              <a:spcAft>
                <a:spcPts val="0"/>
              </a:spcAft>
              <a:defRPr sz="1600" b="0">
                <a:solidFill>
                  <a:srgbClr val="142C40"/>
                </a:solidFill>
                <a:latin typeface="DejaVu Sans"/>
              </a:defRPr>
            </a:pPr>
            <a:r>
              <a:t>71.8% of positive frames below 12 px</a:t>
            </a:r>
          </a:p>
          <a:p>
            <a:pPr algn="l">
              <a:lnSpc>
                <a:spcPts val="1968"/>
              </a:lnSpc>
              <a:spcBef>
                <a:spcPts val="0"/>
              </a:spcBef>
              <a:spcAft>
                <a:spcPts val="0"/>
              </a:spcAft>
              <a:defRPr sz="1600" b="0">
                <a:solidFill>
                  <a:srgbClr val="142C40"/>
                </a:solidFill>
                <a:latin typeface="DejaVu Sans"/>
              </a:defRPr>
            </a:pPr>
            <a:r>
              <a:t>Old crop misses half every target: 40.2%</a:t>
            </a:r>
          </a:p>
          <a:p>
            <a:pPr algn="l">
              <a:lnSpc>
                <a:spcPts val="1968"/>
              </a:lnSpc>
              <a:spcBef>
                <a:spcPts val="0"/>
              </a:spcBef>
              <a:spcAft>
                <a:spcPts val="0"/>
              </a:spcAft>
              <a:defRPr sz="1600" b="0">
                <a:solidFill>
                  <a:srgbClr val="142C40"/>
                </a:solidFill>
                <a:latin typeface="DejaVu Sans"/>
              </a:defRPr>
            </a:pPr>
            <a:r>
              <a:t>Multi-person / upper crops: 0.3%</a:t>
            </a:r>
          </a:p>
          <a:p>
            <a:pPr algn="l">
              <a:lnSpc>
                <a:spcPts val="1968"/>
              </a:lnSpc>
              <a:spcBef>
                <a:spcPts val="0"/>
              </a:spcBef>
              <a:spcAft>
                <a:spcPts val="0"/>
              </a:spcAft>
              <a:defRPr sz="1600" b="0">
                <a:solidFill>
                  <a:srgbClr val="142C40"/>
                </a:solidFill>
                <a:latin typeface="DejaVu Sans"/>
              </a:defRPr>
            </a:pPr>
            <a:r>
              <a:t>Coverage is separate from recognition</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Item and ownership evidence</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CAVIAR item recall at IoU .5:</a:t>
            </a:r>
          </a:p>
          <a:p>
            <a:pPr algn="l">
              <a:lnSpc>
                <a:spcPts val="1968"/>
              </a:lnSpc>
              <a:spcBef>
                <a:spcPts val="0"/>
              </a:spcBef>
              <a:spcAft>
                <a:spcPts val="0"/>
              </a:spcAft>
              <a:defRPr sz="1600" b="0">
                <a:solidFill>
                  <a:srgbClr val="142C40"/>
                </a:solidFill>
                <a:latin typeface="DejaVu Sans"/>
              </a:defRPr>
            </a:pPr>
            <a:r>
              <a:t>Faster R-CNN tracks: 0 / 136</a:t>
            </a:r>
          </a:p>
          <a:p>
            <a:pPr algn="l">
              <a:lnSpc>
                <a:spcPts val="1968"/>
              </a:lnSpc>
              <a:spcBef>
                <a:spcPts val="0"/>
              </a:spcBef>
              <a:spcAft>
                <a:spcPts val="0"/>
              </a:spcAft>
              <a:defRPr sz="1600" b="0">
                <a:solidFill>
                  <a:srgbClr val="142C40"/>
                </a:solidFill>
                <a:latin typeface="DejaVu Sans"/>
              </a:defRPr>
            </a:pPr>
            <a:r>
              <a:t>Grounding DINO tracks: 66 / 136</a:t>
            </a:r>
          </a:p>
          <a:p>
            <a:pPr algn="l">
              <a:lnSpc>
                <a:spcPts val="1968"/>
              </a:lnSpc>
              <a:spcBef>
                <a:spcPts val="0"/>
              </a:spcBef>
              <a:spcAft>
                <a:spcPts val="0"/>
              </a:spcAft>
              <a:defRPr sz="1600" b="0">
                <a:solidFill>
                  <a:srgbClr val="142C40"/>
                </a:solidFill>
                <a:latin typeface="DejaVu Sans"/>
              </a:defRPr>
            </a:pPr>
            <a:r>
              <a:t>Proximity can confuse passers-by</a:t>
            </a:r>
          </a:p>
          <a:p>
            <a:pPr algn="l">
              <a:lnSpc>
                <a:spcPts val="1968"/>
              </a:lnSpc>
              <a:spcBef>
                <a:spcPts val="0"/>
              </a:spcBef>
              <a:spcAft>
                <a:spcPts val="0"/>
              </a:spcAft>
              <a:defRPr sz="1600" b="0">
                <a:solidFill>
                  <a:srgbClr val="142C40"/>
                </a:solidFill>
                <a:latin typeface="DejaVu Sans"/>
              </a:defRPr>
            </a:pPr>
            <a:r>
              <a:t>Jitter can reset stationarity</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Error-board findings are triage, not an independently reviewed estimate of failure causes.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CAUSAL ARCHITECTURE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Separate appearance from tracked event state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Automatic proposals → frozen CLIP features → causal heads → explicit alerts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video.py + temporal.py + training / inference scripts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19</a:t>
            </a:r>
          </a:p>
        </p:txBody>
      </p:sp>
      <p:sp>
        <p:nvSpPr>
          <p:cNvPr id="10" name="Rectangle 9"/>
          <p:cNvSpPr/>
          <p:nvPr/>
        </p:nvSpPr>
        <p:spPr>
          <a:xfrm>
            <a:off x="5334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1. Detect</a:t>
            </a:r>
          </a:p>
        </p:txBody>
      </p:sp>
      <p:sp>
        <p:nvSpPr>
          <p:cNvPr id="13" name="TextBox 12"/>
          <p:cNvSpPr txBox="1"/>
          <p:nvPr/>
        </p:nvSpPr>
        <p:spPr>
          <a:xfrm>
            <a:off x="7620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Full scene + up to four persons</a:t>
            </a:r>
          </a:p>
          <a:p>
            <a:pPr algn="l">
              <a:lnSpc>
                <a:spcPts val="1845"/>
              </a:lnSpc>
              <a:spcBef>
                <a:spcPts val="0"/>
              </a:spcBef>
              <a:spcAft>
                <a:spcPts val="0"/>
              </a:spcAft>
              <a:defRPr sz="1500" b="0">
                <a:solidFill>
                  <a:srgbClr val="142C40"/>
                </a:solidFill>
                <a:latin typeface="DejaVu Sans"/>
              </a:defRPr>
            </a:pPr>
            <a:r>
              <a:t>Whole / upper-body crops</a:t>
            </a:r>
          </a:p>
          <a:p>
            <a:pPr algn="l">
              <a:lnSpc>
                <a:spcPts val="1845"/>
              </a:lnSpc>
              <a:spcBef>
                <a:spcPts val="0"/>
              </a:spcBef>
              <a:spcAft>
                <a:spcPts val="0"/>
              </a:spcAft>
              <a:defRPr sz="1500" b="0">
                <a:solidFill>
                  <a:srgbClr val="142C40"/>
                </a:solidFill>
                <a:latin typeface="DejaVu Sans"/>
              </a:defRPr>
            </a:pPr>
            <a:r>
              <a:t>Two item / owner contexts</a:t>
            </a:r>
          </a:p>
        </p:txBody>
      </p:sp>
      <p:sp>
        <p:nvSpPr>
          <p:cNvPr id="14" name="Rectangle 13"/>
          <p:cNvSpPr/>
          <p:nvPr/>
        </p:nvSpPr>
        <p:spPr>
          <a:xfrm>
            <a:off x="43180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2. Represent</a:t>
            </a:r>
          </a:p>
        </p:txBody>
      </p:sp>
      <p:sp>
        <p:nvSpPr>
          <p:cNvPr id="17" name="TextBox 16"/>
          <p:cNvSpPr txBox="1"/>
          <p:nvPr/>
        </p:nvSpPr>
        <p:spPr>
          <a:xfrm>
            <a:off x="45466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Frozen CLIP visual features</a:t>
            </a:r>
          </a:p>
          <a:p>
            <a:pPr algn="l">
              <a:lnSpc>
                <a:spcPts val="1845"/>
              </a:lnSpc>
              <a:spcBef>
                <a:spcPts val="0"/>
              </a:spcBef>
              <a:spcAft>
                <a:spcPts val="0"/>
              </a:spcAft>
              <a:defRPr sz="1500" b="0">
                <a:solidFill>
                  <a:srgbClr val="142C40"/>
                </a:solidFill>
                <a:latin typeface="DejaVu Sans"/>
              </a:defRPr>
            </a:pPr>
            <a:r>
              <a:t>Causal geometry and</a:t>
            </a:r>
          </a:p>
          <a:p>
            <a:pPr algn="l">
              <a:lnSpc>
                <a:spcPts val="1845"/>
              </a:lnSpc>
              <a:spcBef>
                <a:spcPts val="0"/>
              </a:spcBef>
              <a:spcAft>
                <a:spcPts val="0"/>
              </a:spcAft>
              <a:defRPr sz="1500" b="0">
                <a:solidFill>
                  <a:srgbClr val="142C40"/>
                </a:solidFill>
                <a:latin typeface="DejaVu Sans"/>
              </a:defRPr>
            </a:pPr>
            <a:r>
              <a:t>timestamps</a:t>
            </a:r>
          </a:p>
          <a:p>
            <a:pPr algn="l">
              <a:lnSpc>
                <a:spcPts val="1845"/>
              </a:lnSpc>
              <a:spcBef>
                <a:spcPts val="0"/>
              </a:spcBef>
              <a:spcAft>
                <a:spcPts val="0"/>
              </a:spcAft>
              <a:defRPr sz="1500" b="0">
                <a:solidFill>
                  <a:srgbClr val="142C40"/>
                </a:solidFill>
                <a:latin typeface="DejaVu Sans"/>
              </a:defRPr>
            </a:pPr>
            <a:r>
              <a:t>Linear / GRU / instance heads</a:t>
            </a:r>
          </a:p>
        </p:txBody>
      </p:sp>
      <p:sp>
        <p:nvSpPr>
          <p:cNvPr id="18" name="Rectangle 17"/>
          <p:cNvSpPr/>
          <p:nvPr/>
        </p:nvSpPr>
        <p:spPr>
          <a:xfrm>
            <a:off x="8102600" y="2311400"/>
            <a:ext cx="3556000" cy="2844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311400"/>
            <a:ext cx="50800" cy="2844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4892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3. Decide</a:t>
            </a:r>
          </a:p>
        </p:txBody>
      </p:sp>
      <p:sp>
        <p:nvSpPr>
          <p:cNvPr id="21" name="TextBox 20"/>
          <p:cNvSpPr txBox="1"/>
          <p:nvPr/>
        </p:nvSpPr>
        <p:spPr>
          <a:xfrm>
            <a:off x="8331200" y="3200400"/>
            <a:ext cx="3124200" cy="18288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Past-only scores / same-item</a:t>
            </a:r>
          </a:p>
          <a:p>
            <a:pPr algn="l">
              <a:lnSpc>
                <a:spcPts val="1845"/>
              </a:lnSpc>
              <a:spcBef>
                <a:spcPts val="0"/>
              </a:spcBef>
              <a:spcAft>
                <a:spcPts val="0"/>
              </a:spcAft>
              <a:defRPr sz="1500" b="0">
                <a:solidFill>
                  <a:srgbClr val="142C40"/>
                </a:solidFill>
                <a:latin typeface="DejaVu Sans"/>
              </a:defRPr>
            </a:pPr>
            <a:r>
              <a:t>state</a:t>
            </a:r>
          </a:p>
          <a:p>
            <a:pPr algn="l">
              <a:lnSpc>
                <a:spcPts val="1845"/>
              </a:lnSpc>
              <a:spcBef>
                <a:spcPts val="0"/>
              </a:spcBef>
              <a:spcAft>
                <a:spcPts val="0"/>
              </a:spcAft>
              <a:defRPr sz="1500" b="0">
                <a:solidFill>
                  <a:srgbClr val="142C40"/>
                </a:solidFill>
                <a:latin typeface="DejaVu Sans"/>
              </a:defRPr>
            </a:pPr>
            <a:r>
              <a:t>Persistence and alert emission</a:t>
            </a:r>
          </a:p>
          <a:p>
            <a:pPr algn="l">
              <a:lnSpc>
                <a:spcPts val="1845"/>
              </a:lnSpc>
              <a:spcBef>
                <a:spcPts val="0"/>
              </a:spcBef>
              <a:spcAft>
                <a:spcPts val="0"/>
              </a:spcAft>
              <a:defRPr sz="1500" b="0">
                <a:solidFill>
                  <a:srgbClr val="142C40"/>
                </a:solidFill>
                <a:latin typeface="DejaVu Sans"/>
              </a:defRPr>
            </a:pPr>
            <a:r>
              <a:t>Event / normal / unknown</a:t>
            </a:r>
          </a:p>
          <a:p>
            <a:pPr algn="l">
              <a:lnSpc>
                <a:spcPts val="1845"/>
              </a:lnSpc>
              <a:spcBef>
                <a:spcPts val="0"/>
              </a:spcBef>
              <a:spcAft>
                <a:spcPts val="0"/>
              </a:spcAft>
              <a:defRPr sz="1500" b="0">
                <a:solidFill>
                  <a:srgbClr val="142C40"/>
                </a:solidFill>
                <a:latin typeface="DejaVu Sans"/>
              </a:defRPr>
            </a:pPr>
            <a:r>
              <a:t>counts</a:t>
            </a:r>
          </a:p>
        </p:txBody>
      </p:sp>
      <p:sp>
        <p:nvSpPr>
          <p:cNvPr id="22" name="Rectangle 21"/>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No annotation boxes choose inference crops. Missing owner history never becomes an invented</a:t>
            </a:r>
          </a:p>
          <a:p>
            <a:pPr algn="l">
              <a:lnSpc>
                <a:spcPts val="1722"/>
              </a:lnSpc>
              <a:spcBef>
                <a:spcPts val="0"/>
              </a:spcBef>
              <a:spcAft>
                <a:spcPts val="0"/>
              </a:spcAft>
              <a:defRPr sz="1400" b="1">
                <a:solidFill>
                  <a:srgbClr val="007E80"/>
                </a:solidFill>
                <a:latin typeface="DejaVu Sans"/>
              </a:defRPr>
            </a:pPr>
            <a:r>
              <a:t>ownership relation.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CONTROLLED LEARNING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Fifty heads tested region, sequence and person</a:t>
            </a:r>
          </a:p>
          <a:p>
            <a:pPr algn="l">
              <a:lnSpc>
                <a:spcPts val="3690"/>
              </a:lnSpc>
              <a:spcBef>
                <a:spcPts val="0"/>
              </a:spcBef>
              <a:spcAft>
                <a:spcPts val="0"/>
              </a:spcAft>
              <a:defRPr sz="3000" b="1">
                <a:solidFill>
                  <a:srgbClr val="142C40"/>
                </a:solidFill>
                <a:latin typeface="DejaVu Sans"/>
              </a:defRPr>
            </a:pPr>
            <a:r>
              <a:t>evidence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8,931 modeling examples after the known-film source guard</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Final joint_selection.json + saved training histories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20</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Smoking: 14 heads / encoder</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Scene and region linear baselines</a:t>
            </a:r>
          </a:p>
          <a:p>
            <a:pPr algn="l">
              <a:lnSpc>
                <a:spcPts val="1968"/>
              </a:lnSpc>
              <a:spcBef>
                <a:spcPts val="0"/>
              </a:spcBef>
              <a:spcAft>
                <a:spcPts val="0"/>
              </a:spcAft>
              <a:defRPr sz="1600" b="0">
                <a:solidFill>
                  <a:srgbClr val="142C40"/>
                </a:solidFill>
                <a:latin typeface="DejaVu Sans"/>
              </a:defRPr>
            </a:pPr>
            <a:r>
              <a:t>Region GRU, three seeds</a:t>
            </a:r>
          </a:p>
          <a:p>
            <a:pPr algn="l">
              <a:lnSpc>
                <a:spcPts val="1968"/>
              </a:lnSpc>
              <a:spcBef>
                <a:spcPts val="0"/>
              </a:spcBef>
              <a:spcAft>
                <a:spcPts val="0"/>
              </a:spcAft>
              <a:defRPr sz="1600" b="0">
                <a:solidFill>
                  <a:srgbClr val="142C40"/>
                </a:solidFill>
                <a:latin typeface="DejaVu Sans"/>
              </a:defRPr>
            </a:pPr>
            <a:r>
              <a:t>Region + geometry GRU, three seeds</a:t>
            </a:r>
          </a:p>
          <a:p>
            <a:pPr algn="l">
              <a:lnSpc>
                <a:spcPts val="1968"/>
              </a:lnSpc>
              <a:spcBef>
                <a:spcPts val="0"/>
              </a:spcBef>
              <a:spcAft>
                <a:spcPts val="0"/>
              </a:spcAft>
              <a:defRPr sz="1600" b="0">
                <a:solidFill>
                  <a:srgbClr val="142C40"/>
                </a:solidFill>
                <a:latin typeface="DejaVu Sans"/>
              </a:defRPr>
            </a:pPr>
            <a:r>
              <a:t>Person-supervised MIL, three seeds</a:t>
            </a:r>
          </a:p>
          <a:p>
            <a:pPr algn="l">
              <a:lnSpc>
                <a:spcPts val="1968"/>
              </a:lnSpc>
              <a:spcBef>
                <a:spcPts val="0"/>
              </a:spcBef>
              <a:spcAft>
                <a:spcPts val="0"/>
              </a:spcAft>
              <a:defRPr sz="1600" b="0">
                <a:solidFill>
                  <a:srgbClr val="142C40"/>
                </a:solidFill>
                <a:latin typeface="DejaVu Sans"/>
              </a:defRPr>
            </a:pPr>
            <a:r>
              <a:t>Hard-negative variant, three seeds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Unattended: 11 heads / encoder</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Scene and region linear baselines</a:t>
            </a:r>
          </a:p>
          <a:p>
            <a:pPr algn="l">
              <a:lnSpc>
                <a:spcPts val="1968"/>
              </a:lnSpc>
              <a:spcBef>
                <a:spcPts val="0"/>
              </a:spcBef>
              <a:spcAft>
                <a:spcPts val="0"/>
              </a:spcAft>
              <a:defRPr sz="1600" b="0">
                <a:solidFill>
                  <a:srgbClr val="142C40"/>
                </a:solidFill>
                <a:latin typeface="DejaVu Sans"/>
              </a:defRPr>
            </a:pPr>
            <a:r>
              <a:t>Region GRU, three seeds</a:t>
            </a:r>
          </a:p>
          <a:p>
            <a:pPr algn="l">
              <a:lnSpc>
                <a:spcPts val="1968"/>
              </a:lnSpc>
              <a:spcBef>
                <a:spcPts val="0"/>
              </a:spcBef>
              <a:spcAft>
                <a:spcPts val="0"/>
              </a:spcAft>
              <a:defRPr sz="1600" b="0">
                <a:solidFill>
                  <a:srgbClr val="142C40"/>
                </a:solidFill>
                <a:latin typeface="DejaVu Sans"/>
              </a:defRPr>
            </a:pPr>
            <a:r>
              <a:t>COCO-geometry GRU, three seeds</a:t>
            </a:r>
          </a:p>
          <a:p>
            <a:pPr algn="l">
              <a:lnSpc>
                <a:spcPts val="1968"/>
              </a:lnSpc>
              <a:spcBef>
                <a:spcPts val="0"/>
              </a:spcBef>
              <a:spcAft>
                <a:spcPts val="0"/>
              </a:spcAft>
              <a:defRPr sz="1600" b="0">
                <a:solidFill>
                  <a:srgbClr val="142C40"/>
                </a:solidFill>
                <a:latin typeface="DejaVu Sans"/>
              </a:defRPr>
            </a:pPr>
            <a:r>
              <a:t>Grounding-geometry GRU, three seeds</a:t>
            </a:r>
          </a:p>
          <a:p>
            <a:pPr algn="l">
              <a:lnSpc>
                <a:spcPts val="1968"/>
              </a:lnSpc>
              <a:spcBef>
                <a:spcPts val="0"/>
              </a:spcBef>
              <a:spcAft>
                <a:spcPts val="0"/>
              </a:spcAft>
              <a:defRPr sz="1600" b="0">
                <a:solidFill>
                  <a:srgbClr val="142C40"/>
                </a:solidFill>
                <a:latin typeface="DejaVu Sans"/>
              </a:defRPr>
            </a:pPr>
            <a:r>
              <a:t>Unchanged visual CLIP features</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Route and epoch selection maximize worst development-source AP, then mean AP. All seeds and</a:t>
            </a:r>
          </a:p>
          <a:p>
            <a:pPr algn="l">
              <a:lnSpc>
                <a:spcPts val="1722"/>
              </a:lnSpc>
              <a:spcBef>
                <a:spcPts val="0"/>
              </a:spcBef>
              <a:spcAft>
                <a:spcPts val="0"/>
              </a:spcAft>
              <a:defRPr sz="1400" b="1">
                <a:solidFill>
                  <a:srgbClr val="007E80"/>
                </a:solidFill>
                <a:latin typeface="DejaVu Sans"/>
              </a:defRPr>
            </a:pPr>
            <a:r>
              <a:t>regressions remain visible.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SMOKING RANKING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CCTV gains did not repeat consistently across</a:t>
            </a:r>
          </a:p>
          <a:p>
            <a:pPr algn="l">
              <a:lnSpc>
                <a:spcPts val="3690"/>
              </a:lnSpc>
              <a:spcBef>
                <a:spcPts val="0"/>
              </a:spcBef>
              <a:spcAft>
                <a:spcPts val="0"/>
              </a:spcAft>
              <a:defRPr sz="3000" b="1">
                <a:solidFill>
                  <a:srgbClr val="142C40"/>
                </a:solidFill>
                <a:latin typeface="DejaVu Sans"/>
              </a:defRPr>
            </a:pPr>
            <a:r>
              <a:t>backbones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205 HMDB evaluation clips now follow 530 grouped training clips; CCTV remains static</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Pilot report: same-case AP comparisons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21</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267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 / source</a:t>
            </a:r>
          </a:p>
        </p:txBody>
      </p:sp>
      <p:sp>
        <p:nvSpPr>
          <p:cNvPr id="12" name="TextBox 11"/>
          <p:cNvSpPr txBox="1"/>
          <p:nvPr/>
        </p:nvSpPr>
        <p:spPr>
          <a:xfrm>
            <a:off x="51562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Previous bundle</a:t>
            </a:r>
          </a:p>
        </p:txBody>
      </p:sp>
      <p:sp>
        <p:nvSpPr>
          <p:cNvPr id="13" name="TextBox 12"/>
          <p:cNvSpPr txBox="1"/>
          <p:nvPr/>
        </p:nvSpPr>
        <p:spPr>
          <a:xfrm>
            <a:off x="73660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Pilot scene</a:t>
            </a:r>
          </a:p>
        </p:txBody>
      </p:sp>
      <p:sp>
        <p:nvSpPr>
          <p:cNvPr id="14" name="TextBox 13"/>
          <p:cNvSpPr txBox="1"/>
          <p:nvPr/>
        </p:nvSpPr>
        <p:spPr>
          <a:xfrm>
            <a:off x="9575800" y="2273300"/>
            <a:ext cx="1981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Selected pilot</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 / CCTV 646</a:t>
            </a:r>
          </a:p>
        </p:txBody>
      </p:sp>
      <p:sp>
        <p:nvSpPr>
          <p:cNvPr id="17" name="TextBox 16"/>
          <p:cNvSpPr txBox="1"/>
          <p:nvPr/>
        </p:nvSpPr>
        <p:spPr>
          <a:xfrm>
            <a:off x="51562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.690</a:t>
            </a:r>
          </a:p>
        </p:txBody>
      </p:sp>
      <p:sp>
        <p:nvSpPr>
          <p:cNvPr id="18" name="TextBox 17"/>
          <p:cNvSpPr txBox="1"/>
          <p:nvPr/>
        </p:nvSpPr>
        <p:spPr>
          <a:xfrm>
            <a:off x="73660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.626</a:t>
            </a:r>
          </a:p>
        </p:txBody>
      </p:sp>
      <p:sp>
        <p:nvSpPr>
          <p:cNvPr id="19" name="TextBox 18"/>
          <p:cNvSpPr txBox="1"/>
          <p:nvPr/>
        </p:nvSpPr>
        <p:spPr>
          <a:xfrm>
            <a:off x="9575800" y="278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.725</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 / CCTV 646</a:t>
            </a:r>
          </a:p>
        </p:txBody>
      </p:sp>
      <p:sp>
        <p:nvSpPr>
          <p:cNvPr id="23" name="TextBox 22"/>
          <p:cNvSpPr txBox="1"/>
          <p:nvPr/>
        </p:nvSpPr>
        <p:spPr>
          <a:xfrm>
            <a:off x="51562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.722</a:t>
            </a:r>
          </a:p>
        </p:txBody>
      </p:sp>
      <p:sp>
        <p:nvSpPr>
          <p:cNvPr id="24" name="TextBox 23"/>
          <p:cNvSpPr txBox="1"/>
          <p:nvPr/>
        </p:nvSpPr>
        <p:spPr>
          <a:xfrm>
            <a:off x="73660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.717</a:t>
            </a:r>
          </a:p>
        </p:txBody>
      </p:sp>
      <p:sp>
        <p:nvSpPr>
          <p:cNvPr id="25" name="TextBox 24"/>
          <p:cNvSpPr txBox="1"/>
          <p:nvPr/>
        </p:nvSpPr>
        <p:spPr>
          <a:xfrm>
            <a:off x="9575800" y="341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.688</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MobileCLIP / HMDB 205</a:t>
            </a:r>
          </a:p>
        </p:txBody>
      </p:sp>
      <p:sp>
        <p:nvSpPr>
          <p:cNvPr id="29" name="TextBox 28"/>
          <p:cNvSpPr txBox="1"/>
          <p:nvPr/>
        </p:nvSpPr>
        <p:spPr>
          <a:xfrm>
            <a:off x="51562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.697</a:t>
            </a:r>
          </a:p>
        </p:txBody>
      </p:sp>
      <p:sp>
        <p:nvSpPr>
          <p:cNvPr id="30" name="TextBox 29"/>
          <p:cNvSpPr txBox="1"/>
          <p:nvPr/>
        </p:nvSpPr>
        <p:spPr>
          <a:xfrm>
            <a:off x="73660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.842</a:t>
            </a:r>
          </a:p>
        </p:txBody>
      </p:sp>
      <p:sp>
        <p:nvSpPr>
          <p:cNvPr id="31" name="TextBox 30"/>
          <p:cNvSpPr txBox="1"/>
          <p:nvPr/>
        </p:nvSpPr>
        <p:spPr>
          <a:xfrm>
            <a:off x="9575800" y="4051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.908</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267200" cy="495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SigLIP / HMDB 205</a:t>
            </a:r>
          </a:p>
        </p:txBody>
      </p:sp>
      <p:sp>
        <p:nvSpPr>
          <p:cNvPr id="35" name="TextBox 34"/>
          <p:cNvSpPr txBox="1"/>
          <p:nvPr/>
        </p:nvSpPr>
        <p:spPr>
          <a:xfrm>
            <a:off x="51562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.762</a:t>
            </a:r>
          </a:p>
        </p:txBody>
      </p:sp>
      <p:sp>
        <p:nvSpPr>
          <p:cNvPr id="36" name="TextBox 35"/>
          <p:cNvSpPr txBox="1"/>
          <p:nvPr/>
        </p:nvSpPr>
        <p:spPr>
          <a:xfrm>
            <a:off x="73660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.888</a:t>
            </a:r>
          </a:p>
        </p:txBody>
      </p:sp>
      <p:sp>
        <p:nvSpPr>
          <p:cNvPr id="37" name="TextBox 36"/>
          <p:cNvSpPr txBox="1"/>
          <p:nvPr/>
        </p:nvSpPr>
        <p:spPr>
          <a:xfrm>
            <a:off x="9575800" y="4686300"/>
            <a:ext cx="1981200" cy="4953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.778</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SigLIP’s development-selected pilot route regresses on CCTV and trails its own scene baseline on HMDB.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SMOKING ENSEMBLES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Ensembling improves HMDB; low-FPR CCTV</a:t>
            </a:r>
          </a:p>
          <a:p>
            <a:pPr algn="l">
              <a:lnSpc>
                <a:spcPts val="3690"/>
              </a:lnSpc>
              <a:spcBef>
                <a:spcPts val="0"/>
              </a:spcBef>
              <a:spcAft>
                <a:spcPts val="0"/>
              </a:spcAft>
              <a:defRPr sz="3000" b="1">
                <a:solidFill>
                  <a:srgbClr val="142C40"/>
                </a:solidFill>
                <a:latin typeface="DejaVu Sans"/>
              </a:defRPr>
            </a:pPr>
            <a:r>
              <a:t>remains hard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38 dev-only policies • every dev source must meet the 5% empirical FPR constraint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smoking_selection.json + smoking_results.json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7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Policy</a:t>
            </a:r>
          </a:p>
        </p:txBody>
      </p:sp>
      <p:sp>
        <p:nvSpPr>
          <p:cNvPr id="12" name="TextBox 11"/>
          <p:cNvSpPr txBox="1"/>
          <p:nvPr/>
        </p:nvSpPr>
        <p:spPr>
          <a:xfrm>
            <a:off x="3759200" y="2273300"/>
            <a:ext cx="1244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CCTV AP</a:t>
            </a:r>
          </a:p>
        </p:txBody>
      </p:sp>
      <p:sp>
        <p:nvSpPr>
          <p:cNvPr id="13" name="TextBox 12"/>
          <p:cNvSpPr txBox="1"/>
          <p:nvPr/>
        </p:nvSpPr>
        <p:spPr>
          <a:xfrm>
            <a:off x="5232400" y="2273300"/>
            <a:ext cx="2311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 / FPR</a:t>
            </a:r>
          </a:p>
        </p:txBody>
      </p:sp>
      <p:sp>
        <p:nvSpPr>
          <p:cNvPr id="14" name="TextBox 13"/>
          <p:cNvSpPr txBox="1"/>
          <p:nvPr/>
        </p:nvSpPr>
        <p:spPr>
          <a:xfrm>
            <a:off x="7772400" y="2273300"/>
            <a:ext cx="1244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HMDB AP</a:t>
            </a:r>
          </a:p>
        </p:txBody>
      </p:sp>
      <p:sp>
        <p:nvSpPr>
          <p:cNvPr id="15" name="TextBox 14"/>
          <p:cNvSpPr txBox="1"/>
          <p:nvPr/>
        </p:nvSpPr>
        <p:spPr>
          <a:xfrm>
            <a:off x="9245600" y="2273300"/>
            <a:ext cx="2311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 / FPR</a:t>
            </a:r>
          </a:p>
        </p:txBody>
      </p:sp>
      <p:sp>
        <p:nvSpPr>
          <p:cNvPr id="16" name="Rectangle 15"/>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previous</a:t>
            </a:r>
          </a:p>
        </p:txBody>
      </p:sp>
      <p:sp>
        <p:nvSpPr>
          <p:cNvPr id="18" name="TextBox 17"/>
          <p:cNvSpPr txBox="1"/>
          <p:nvPr/>
        </p:nvSpPr>
        <p:spPr>
          <a:xfrm>
            <a:off x="3759200" y="278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0.725</a:t>
            </a:r>
          </a:p>
        </p:txBody>
      </p:sp>
      <p:sp>
        <p:nvSpPr>
          <p:cNvPr id="19" name="TextBox 18"/>
          <p:cNvSpPr txBox="1"/>
          <p:nvPr/>
        </p:nvSpPr>
        <p:spPr>
          <a:xfrm>
            <a:off x="5232400" y="278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16.5% / 7.9%</a:t>
            </a:r>
          </a:p>
        </p:txBody>
      </p:sp>
      <p:sp>
        <p:nvSpPr>
          <p:cNvPr id="20" name="TextBox 19"/>
          <p:cNvSpPr txBox="1"/>
          <p:nvPr/>
        </p:nvSpPr>
        <p:spPr>
          <a:xfrm>
            <a:off x="7772400" y="278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0.908</a:t>
            </a:r>
          </a:p>
        </p:txBody>
      </p:sp>
      <p:sp>
        <p:nvSpPr>
          <p:cNvPr id="21" name="TextBox 20"/>
          <p:cNvSpPr txBox="1"/>
          <p:nvPr/>
        </p:nvSpPr>
        <p:spPr>
          <a:xfrm>
            <a:off x="9245600" y="278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86.7% / 2.9%</a:t>
            </a:r>
          </a:p>
        </p:txBody>
      </p:sp>
      <p:cxnSp>
        <p:nvCxnSpPr>
          <p:cNvPr id="22" name="Connector 21"/>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416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17 Oct</a:t>
            </a:r>
          </a:p>
        </p:txBody>
      </p:sp>
      <p:sp>
        <p:nvSpPr>
          <p:cNvPr id="25" name="TextBox 24"/>
          <p:cNvSpPr txBox="1"/>
          <p:nvPr/>
        </p:nvSpPr>
        <p:spPr>
          <a:xfrm>
            <a:off x="3759200" y="341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0.725</a:t>
            </a:r>
          </a:p>
        </p:txBody>
      </p:sp>
      <p:sp>
        <p:nvSpPr>
          <p:cNvPr id="26" name="TextBox 25"/>
          <p:cNvSpPr txBox="1"/>
          <p:nvPr/>
        </p:nvSpPr>
        <p:spPr>
          <a:xfrm>
            <a:off x="5232400" y="341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10.9% / 5.5%</a:t>
            </a:r>
          </a:p>
        </p:txBody>
      </p:sp>
      <p:sp>
        <p:nvSpPr>
          <p:cNvPr id="27" name="TextBox 26"/>
          <p:cNvSpPr txBox="1"/>
          <p:nvPr/>
        </p:nvSpPr>
        <p:spPr>
          <a:xfrm>
            <a:off x="7772400" y="341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0.908</a:t>
            </a:r>
          </a:p>
        </p:txBody>
      </p:sp>
      <p:sp>
        <p:nvSpPr>
          <p:cNvPr id="28" name="TextBox 27"/>
          <p:cNvSpPr txBox="1"/>
          <p:nvPr/>
        </p:nvSpPr>
        <p:spPr>
          <a:xfrm>
            <a:off x="9245600" y="341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86.7% / 2.3%</a:t>
            </a:r>
          </a:p>
        </p:txBody>
      </p:sp>
      <p:cxnSp>
        <p:nvCxnSpPr>
          <p:cNvPr id="29" name="Connector 28"/>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051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previous</a:t>
            </a:r>
          </a:p>
        </p:txBody>
      </p:sp>
      <p:sp>
        <p:nvSpPr>
          <p:cNvPr id="32" name="TextBox 31"/>
          <p:cNvSpPr txBox="1"/>
          <p:nvPr/>
        </p:nvSpPr>
        <p:spPr>
          <a:xfrm>
            <a:off x="3759200" y="405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0.688</a:t>
            </a:r>
          </a:p>
        </p:txBody>
      </p:sp>
      <p:sp>
        <p:nvSpPr>
          <p:cNvPr id="33" name="TextBox 32"/>
          <p:cNvSpPr txBox="1"/>
          <p:nvPr/>
        </p:nvSpPr>
        <p:spPr>
          <a:xfrm>
            <a:off x="5232400" y="405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2.3% / 1.6%</a:t>
            </a:r>
          </a:p>
        </p:txBody>
      </p:sp>
      <p:sp>
        <p:nvSpPr>
          <p:cNvPr id="34" name="TextBox 33"/>
          <p:cNvSpPr txBox="1"/>
          <p:nvPr/>
        </p:nvSpPr>
        <p:spPr>
          <a:xfrm>
            <a:off x="7772400" y="4051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0.778</a:t>
            </a:r>
          </a:p>
        </p:txBody>
      </p:sp>
      <p:sp>
        <p:nvSpPr>
          <p:cNvPr id="35" name="TextBox 34"/>
          <p:cNvSpPr txBox="1"/>
          <p:nvPr/>
        </p:nvSpPr>
        <p:spPr>
          <a:xfrm>
            <a:off x="9245600" y="4051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66.7% / 1.7%</a:t>
            </a:r>
          </a:p>
        </p:txBody>
      </p:sp>
      <p:cxnSp>
        <p:nvCxnSpPr>
          <p:cNvPr id="36" name="Connector 35"/>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686300"/>
            <a:ext cx="28702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17 Oct</a:t>
            </a:r>
          </a:p>
        </p:txBody>
      </p:sp>
      <p:sp>
        <p:nvSpPr>
          <p:cNvPr id="39" name="TextBox 38"/>
          <p:cNvSpPr txBox="1"/>
          <p:nvPr/>
        </p:nvSpPr>
        <p:spPr>
          <a:xfrm>
            <a:off x="3759200" y="468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0.720</a:t>
            </a:r>
          </a:p>
        </p:txBody>
      </p:sp>
      <p:sp>
        <p:nvSpPr>
          <p:cNvPr id="40" name="TextBox 39"/>
          <p:cNvSpPr txBox="1"/>
          <p:nvPr/>
        </p:nvSpPr>
        <p:spPr>
          <a:xfrm>
            <a:off x="5232400" y="468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1.8% / 1.6%</a:t>
            </a:r>
          </a:p>
        </p:txBody>
      </p:sp>
      <p:sp>
        <p:nvSpPr>
          <p:cNvPr id="41" name="TextBox 40"/>
          <p:cNvSpPr txBox="1"/>
          <p:nvPr/>
        </p:nvSpPr>
        <p:spPr>
          <a:xfrm>
            <a:off x="7772400" y="4686300"/>
            <a:ext cx="12446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0.964</a:t>
            </a:r>
          </a:p>
        </p:txBody>
      </p:sp>
      <p:sp>
        <p:nvSpPr>
          <p:cNvPr id="42" name="TextBox 41"/>
          <p:cNvSpPr txBox="1"/>
          <p:nvPr/>
        </p:nvSpPr>
        <p:spPr>
          <a:xfrm>
            <a:off x="9245600" y="4686300"/>
            <a:ext cx="23114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76.7% / 1.7%</a:t>
            </a:r>
          </a:p>
        </p:txBody>
      </p:sp>
      <p:cxnSp>
        <p:nvCxnSpPr>
          <p:cNvPr id="43" name="Connector 42"/>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SigLIP selects the all-head ensemble. MobileCLIP retains the same person head with a stricter cutoff.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VIDEO PILOT / UNATTENDED EVENTS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Explicit item state was more useful than a global</a:t>
            </a:r>
          </a:p>
          <a:p>
            <a:pPr algn="l">
              <a:lnSpc>
                <a:spcPts val="3690"/>
              </a:lnSpc>
              <a:spcBef>
                <a:spcPts val="0"/>
              </a:spcBef>
              <a:spcAft>
                <a:spcPts val="0"/>
              </a:spcAft>
              <a:defRPr sz="3000" b="1">
                <a:solidFill>
                  <a:srgbClr val="142C40"/>
                </a:solidFill>
                <a:latin typeface="DejaVu Sans"/>
              </a:defRPr>
            </a:pPr>
            <a:r>
              <a:t>score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Two clean AVSS events • 2.76 normal minutes • first used 16 Oct, now retrospective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Pilot events.csv / clean primary source subset</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40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Route / policy</a:t>
            </a:r>
          </a:p>
        </p:txBody>
      </p:sp>
      <p:sp>
        <p:nvSpPr>
          <p:cNvPr id="12" name="TextBox 11"/>
          <p:cNvSpPr txBox="1"/>
          <p:nvPr/>
        </p:nvSpPr>
        <p:spPr>
          <a:xfrm>
            <a:off x="5295900" y="2273300"/>
            <a:ext cx="977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Events</a:t>
            </a:r>
          </a:p>
        </p:txBody>
      </p:sp>
      <p:sp>
        <p:nvSpPr>
          <p:cNvPr id="13" name="TextBox 12"/>
          <p:cNvSpPr txBox="1"/>
          <p:nvPr/>
        </p:nvSpPr>
        <p:spPr>
          <a:xfrm>
            <a:off x="6502400" y="2273300"/>
            <a:ext cx="2679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false / repeats</a:t>
            </a:r>
          </a:p>
        </p:txBody>
      </p:sp>
      <p:sp>
        <p:nvSpPr>
          <p:cNvPr id="14" name="TextBox 13"/>
          <p:cNvSpPr txBox="1"/>
          <p:nvPr/>
        </p:nvSpPr>
        <p:spPr>
          <a:xfrm>
            <a:off x="9410700" y="2273300"/>
            <a:ext cx="2146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Median onset delay</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global score</a:t>
            </a:r>
          </a:p>
        </p:txBody>
      </p:sp>
      <p:sp>
        <p:nvSpPr>
          <p:cNvPr id="17" name="TextBox 16"/>
          <p:cNvSpPr txBox="1"/>
          <p:nvPr/>
        </p:nvSpPr>
        <p:spPr>
          <a:xfrm>
            <a:off x="5295900" y="27813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18" name="TextBox 17"/>
          <p:cNvSpPr txBox="1"/>
          <p:nvPr/>
        </p:nvSpPr>
        <p:spPr>
          <a:xfrm>
            <a:off x="6502400" y="27813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 / 3</a:t>
            </a:r>
          </a:p>
        </p:txBody>
      </p:sp>
      <p:sp>
        <p:nvSpPr>
          <p:cNvPr id="19" name="TextBox 18"/>
          <p:cNvSpPr txBox="1"/>
          <p:nvPr/>
        </p:nvSpPr>
        <p:spPr>
          <a:xfrm>
            <a:off x="9410700" y="27813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25.8 s</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global score</a:t>
            </a:r>
          </a:p>
        </p:txBody>
      </p:sp>
      <p:sp>
        <p:nvSpPr>
          <p:cNvPr id="23" name="TextBox 22"/>
          <p:cNvSpPr txBox="1"/>
          <p:nvPr/>
        </p:nvSpPr>
        <p:spPr>
          <a:xfrm>
            <a:off x="5295900" y="33274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24" name="TextBox 23"/>
          <p:cNvSpPr txBox="1"/>
          <p:nvPr/>
        </p:nvSpPr>
        <p:spPr>
          <a:xfrm>
            <a:off x="6502400" y="33274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 / 3</a:t>
            </a:r>
          </a:p>
        </p:txBody>
      </p:sp>
      <p:sp>
        <p:nvSpPr>
          <p:cNvPr id="25" name="TextBox 24"/>
          <p:cNvSpPr txBox="1"/>
          <p:nvPr/>
        </p:nvSpPr>
        <p:spPr>
          <a:xfrm>
            <a:off x="9410700" y="33274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12.1 s</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MobileCLIP + known state gate</a:t>
            </a:r>
          </a:p>
        </p:txBody>
      </p:sp>
      <p:sp>
        <p:nvSpPr>
          <p:cNvPr id="29" name="TextBox 28"/>
          <p:cNvSpPr txBox="1"/>
          <p:nvPr/>
        </p:nvSpPr>
        <p:spPr>
          <a:xfrm>
            <a:off x="5295900" y="38735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30" name="TextBox 29"/>
          <p:cNvSpPr txBox="1"/>
          <p:nvPr/>
        </p:nvSpPr>
        <p:spPr>
          <a:xfrm>
            <a:off x="6502400" y="38735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1" name="TextBox 30"/>
          <p:cNvSpPr txBox="1"/>
          <p:nvPr/>
        </p:nvSpPr>
        <p:spPr>
          <a:xfrm>
            <a:off x="9410700" y="38735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36.3 s</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SigLIP + known state gate</a:t>
            </a:r>
          </a:p>
        </p:txBody>
      </p:sp>
      <p:sp>
        <p:nvSpPr>
          <p:cNvPr id="35" name="TextBox 34"/>
          <p:cNvSpPr txBox="1"/>
          <p:nvPr/>
        </p:nvSpPr>
        <p:spPr>
          <a:xfrm>
            <a:off x="5295900" y="44196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36" name="TextBox 35"/>
          <p:cNvSpPr txBox="1"/>
          <p:nvPr/>
        </p:nvSpPr>
        <p:spPr>
          <a:xfrm>
            <a:off x="6502400" y="44196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1</a:t>
            </a:r>
          </a:p>
        </p:txBody>
      </p:sp>
      <p:sp>
        <p:nvSpPr>
          <p:cNvPr id="37" name="TextBox 36"/>
          <p:cNvSpPr txBox="1"/>
          <p:nvPr/>
        </p:nvSpPr>
        <p:spPr>
          <a:xfrm>
            <a:off x="9410700" y="44196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 s</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44069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Known source state rule alone</a:t>
            </a:r>
          </a:p>
        </p:txBody>
      </p:sp>
      <p:sp>
        <p:nvSpPr>
          <p:cNvPr id="41" name="TextBox 40"/>
          <p:cNvSpPr txBox="1"/>
          <p:nvPr/>
        </p:nvSpPr>
        <p:spPr>
          <a:xfrm>
            <a:off x="5295900" y="4965700"/>
            <a:ext cx="9779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 / 2</a:t>
            </a:r>
          </a:p>
        </p:txBody>
      </p:sp>
      <p:sp>
        <p:nvSpPr>
          <p:cNvPr id="42" name="TextBox 41"/>
          <p:cNvSpPr txBox="1"/>
          <p:nvPr/>
        </p:nvSpPr>
        <p:spPr>
          <a:xfrm>
            <a:off x="6502400" y="4965700"/>
            <a:ext cx="26797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43" name="TextBox 42"/>
          <p:cNvSpPr txBox="1"/>
          <p:nvPr/>
        </p:nvSpPr>
        <p:spPr>
          <a:xfrm>
            <a:off x="9410700" y="4965700"/>
            <a:ext cx="21463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 s</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rule requires the same stationary item for 30 s and its previously associated owner absent for ≥0.5 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THRESHOLDS / CALIBRATION AND UNCERTAINTY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 good AP or zero observed alarms is not a</a:t>
            </a:r>
          </a:p>
          <a:p>
            <a:pPr algn="l">
              <a:lnSpc>
                <a:spcPts val="3690"/>
              </a:lnSpc>
              <a:spcBef>
                <a:spcPts val="0"/>
              </a:spcBef>
              <a:spcAft>
                <a:spcPts val="0"/>
              </a:spcAft>
              <a:defRPr sz="3000" b="1">
                <a:solidFill>
                  <a:srgbClr val="142C40"/>
                </a:solidFill>
                <a:latin typeface="DejaVu Sans"/>
              </a:defRPr>
            </a:pPr>
            <a:r>
              <a:t>guarantee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Insufficient normal footage is a measurable limitation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Disjoint-recording calibration + event rate bounds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24</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Historical calibration diagnostic</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Entire normal recordings held aside</a:t>
            </a:r>
          </a:p>
          <a:p>
            <a:pPr algn="l">
              <a:lnSpc>
                <a:spcPts val="1968"/>
              </a:lnSpc>
              <a:spcBef>
                <a:spcPts val="0"/>
              </a:spcBef>
              <a:spcAft>
                <a:spcPts val="0"/>
              </a:spcAft>
              <a:defRPr sz="1600" b="0">
                <a:solidFill>
                  <a:srgbClr val="142C40"/>
                </a:solidFill>
                <a:latin typeface="DejaVu Sans"/>
              </a:defRPr>
            </a:pPr>
            <a:r>
              <a:t>Both arms exclude those recordings</a:t>
            </a:r>
          </a:p>
          <a:p>
            <a:pPr algn="l">
              <a:lnSpc>
                <a:spcPts val="1968"/>
              </a:lnSpc>
              <a:spcBef>
                <a:spcPts val="0"/>
              </a:spcBef>
              <a:spcAft>
                <a:spcPts val="0"/>
              </a:spcAft>
              <a:defRPr sz="1600" b="0">
                <a:solidFill>
                  <a:srgbClr val="142C40"/>
                </a:solidFill>
                <a:latin typeface="DejaVu Sans"/>
              </a:defRPr>
            </a:pPr>
            <a:r>
              <a:t>SigLIP: 0/4 → 1/4 events</a:t>
            </a:r>
          </a:p>
          <a:p>
            <a:pPr algn="l">
              <a:lnSpc>
                <a:spcPts val="1968"/>
              </a:lnSpc>
              <a:spcBef>
                <a:spcPts val="0"/>
              </a:spcBef>
              <a:spcAft>
                <a:spcPts val="0"/>
              </a:spcAft>
              <a:defRPr sz="1600" b="0">
                <a:solidFill>
                  <a:srgbClr val="142C40"/>
                </a:solidFill>
                <a:latin typeface="DejaVu Sans"/>
              </a:defRPr>
            </a:pPr>
            <a:r>
              <a:t>Normal false alerts: 4 → 1</a:t>
            </a:r>
          </a:p>
          <a:p>
            <a:pPr algn="l">
              <a:lnSpc>
                <a:spcPts val="1968"/>
              </a:lnSpc>
              <a:spcBef>
                <a:spcPts val="0"/>
              </a:spcBef>
              <a:spcAft>
                <a:spcPts val="0"/>
              </a:spcAft>
              <a:defRPr sz="1600" b="0">
                <a:solidFill>
                  <a:srgbClr val="142C40"/>
                </a:solidFill>
                <a:latin typeface="DejaVu Sans"/>
              </a:defRPr>
            </a:pPr>
            <a:r>
              <a:t>Still 26.3 false alerts / normal hour</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Uncertainty in the AVSS result</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 events and 165.74 normal seconds</a:t>
            </a:r>
          </a:p>
          <a:p>
            <a:pPr algn="l">
              <a:lnSpc>
                <a:spcPts val="1968"/>
              </a:lnSpc>
              <a:spcBef>
                <a:spcPts val="0"/>
              </a:spcBef>
              <a:spcAft>
                <a:spcPts val="0"/>
              </a:spcAft>
              <a:defRPr sz="1600" b="0">
                <a:solidFill>
                  <a:srgbClr val="142C40"/>
                </a:solidFill>
                <a:latin typeface="DejaVu Sans"/>
              </a:defRPr>
            </a:pPr>
            <a:r>
              <a:t>0 observed state-rule false alerts</a:t>
            </a:r>
          </a:p>
          <a:p>
            <a:pPr algn="l">
              <a:lnSpc>
                <a:spcPts val="1968"/>
              </a:lnSpc>
              <a:spcBef>
                <a:spcPts val="0"/>
              </a:spcBef>
              <a:spcAft>
                <a:spcPts val="0"/>
              </a:spcAft>
              <a:defRPr sz="1600" b="0">
                <a:solidFill>
                  <a:srgbClr val="142C40"/>
                </a:solidFill>
                <a:latin typeface="DejaVu Sans"/>
              </a:defRPr>
            </a:pPr>
            <a:r>
              <a:t>95% one-sided Poisson upper bound:</a:t>
            </a:r>
          </a:p>
          <a:p>
            <a:pPr algn="l">
              <a:lnSpc>
                <a:spcPts val="1968"/>
              </a:lnSpc>
              <a:spcBef>
                <a:spcPts val="0"/>
              </a:spcBef>
              <a:spcAft>
                <a:spcPts val="0"/>
              </a:spcAft>
              <a:defRPr sz="1600" b="0">
                <a:solidFill>
                  <a:srgbClr val="142C40"/>
                </a:solidFill>
                <a:latin typeface="DejaVu Sans"/>
              </a:defRPr>
            </a:pPr>
            <a:r>
              <a:t>65.1 false alerts / normal hour</a:t>
            </a:r>
          </a:p>
          <a:p>
            <a:pPr algn="l">
              <a:lnSpc>
                <a:spcPts val="1968"/>
              </a:lnSpc>
              <a:spcBef>
                <a:spcPts val="0"/>
              </a:spcBef>
              <a:spcAft>
                <a:spcPts val="0"/>
              </a:spcAft>
              <a:defRPr sz="1600" b="0">
                <a:solidFill>
                  <a:srgbClr val="142C40"/>
                </a:solidFill>
                <a:latin typeface="DejaVu Sans"/>
              </a:defRPr>
            </a:pPr>
            <a:r>
              <a:t>Camera transfer remains untested</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Even under a homogeneous Poisson assumption, about 3 zero-alert normal hours are needed for an upper</a:t>
            </a:r>
          </a:p>
          <a:p>
            <a:pPr algn="l">
              <a:lnSpc>
                <a:spcPts val="1722"/>
              </a:lnSpc>
              <a:spcBef>
                <a:spcPts val="0"/>
              </a:spcBef>
              <a:spcAft>
                <a:spcPts val="0"/>
              </a:spcAft>
              <a:defRPr sz="1400" b="1">
                <a:solidFill>
                  <a:srgbClr val="C86535"/>
                </a:solidFill>
                <a:latin typeface="DejaVu Sans"/>
              </a:defRPr>
            </a:pPr>
            <a:r>
              <a:t>bound below 1/hour.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PERSISTENT ITEM STATE</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More state machinery did not improve the AVSS</a:t>
            </a:r>
          </a:p>
          <a:p>
            <a:pPr algn="l">
              <a:lnSpc>
                <a:spcPts val="3690"/>
              </a:lnSpc>
              <a:spcBef>
                <a:spcPts val="0"/>
              </a:spcBef>
              <a:spcAft>
                <a:spcPts val="0"/>
              </a:spcAft>
              <a:defRPr sz="3000" b="1">
                <a:solidFill>
                  <a:srgbClr val="142C40"/>
                </a:solidFill>
                <a:latin typeface="DejaVu Sans"/>
              </a:defRPr>
            </a:pPr>
            <a:r>
              <a:t>result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Original detections and 30-second source rule are held fixed</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event_results.json + replayed event_traces.jsonl</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279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Ablation</a:t>
            </a:r>
          </a:p>
        </p:txBody>
      </p:sp>
      <p:sp>
        <p:nvSpPr>
          <p:cNvPr id="12" name="TextBox 11"/>
          <p:cNvSpPr txBox="1"/>
          <p:nvPr/>
        </p:nvSpPr>
        <p:spPr>
          <a:xfrm>
            <a:off x="5168900" y="2273300"/>
            <a:ext cx="977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Events</a:t>
            </a:r>
          </a:p>
        </p:txBody>
      </p:sp>
      <p:sp>
        <p:nvSpPr>
          <p:cNvPr id="13" name="TextBox 12"/>
          <p:cNvSpPr txBox="1"/>
          <p:nvPr/>
        </p:nvSpPr>
        <p:spPr>
          <a:xfrm>
            <a:off x="6375400" y="2273300"/>
            <a:ext cx="28067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Normal false / repeats</a:t>
            </a:r>
          </a:p>
        </p:txBody>
      </p:sp>
      <p:sp>
        <p:nvSpPr>
          <p:cNvPr id="14" name="TextBox 13"/>
          <p:cNvSpPr txBox="1"/>
          <p:nvPr/>
        </p:nvSpPr>
        <p:spPr>
          <a:xfrm>
            <a:off x="9410700" y="2273300"/>
            <a:ext cx="21463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Median onset delay</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Original global state debounce</a:t>
            </a:r>
          </a:p>
        </p:txBody>
      </p:sp>
      <p:sp>
        <p:nvSpPr>
          <p:cNvPr id="17" name="TextBox 16"/>
          <p:cNvSpPr txBox="1"/>
          <p:nvPr/>
        </p:nvSpPr>
        <p:spPr>
          <a:xfrm>
            <a:off x="5168900" y="2781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18" name="TextBox 17"/>
          <p:cNvSpPr txBox="1"/>
          <p:nvPr/>
        </p:nvSpPr>
        <p:spPr>
          <a:xfrm>
            <a:off x="6375400" y="2781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19" name="TextBox 18"/>
          <p:cNvSpPr txBox="1"/>
          <p:nvPr/>
        </p:nvSpPr>
        <p:spPr>
          <a:xfrm>
            <a:off x="9410700" y="2781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34.82 s</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Original tracks + item memory</a:t>
            </a:r>
          </a:p>
        </p:txBody>
      </p:sp>
      <p:sp>
        <p:nvSpPr>
          <p:cNvPr id="23" name="TextBox 22"/>
          <p:cNvSpPr txBox="1"/>
          <p:nvPr/>
        </p:nvSpPr>
        <p:spPr>
          <a:xfrm>
            <a:off x="5168900" y="3416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24" name="TextBox 23"/>
          <p:cNvSpPr txBox="1"/>
          <p:nvPr/>
        </p:nvSpPr>
        <p:spPr>
          <a:xfrm>
            <a:off x="6375400" y="3416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25" name="TextBox 24"/>
          <p:cNvSpPr txBox="1"/>
          <p:nvPr/>
        </p:nvSpPr>
        <p:spPr>
          <a:xfrm>
            <a:off x="9410700" y="3416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34.82 s</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Median stationarity + global</a:t>
            </a:r>
          </a:p>
        </p:txBody>
      </p:sp>
      <p:sp>
        <p:nvSpPr>
          <p:cNvPr id="29" name="TextBox 28"/>
          <p:cNvSpPr txBox="1"/>
          <p:nvPr/>
        </p:nvSpPr>
        <p:spPr>
          <a:xfrm>
            <a:off x="5168900" y="4051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30" name="TextBox 29"/>
          <p:cNvSpPr txBox="1"/>
          <p:nvPr/>
        </p:nvSpPr>
        <p:spPr>
          <a:xfrm>
            <a:off x="6375400" y="4051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1" name="TextBox 30"/>
          <p:cNvSpPr txBox="1"/>
          <p:nvPr/>
        </p:nvSpPr>
        <p:spPr>
          <a:xfrm>
            <a:off x="9410700" y="4051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35.07 s</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2799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Median stationarity + memory</a:t>
            </a:r>
          </a:p>
        </p:txBody>
      </p:sp>
      <p:sp>
        <p:nvSpPr>
          <p:cNvPr id="35" name="TextBox 34"/>
          <p:cNvSpPr txBox="1"/>
          <p:nvPr/>
        </p:nvSpPr>
        <p:spPr>
          <a:xfrm>
            <a:off x="5168900" y="4686300"/>
            <a:ext cx="9779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a:t>
            </a:r>
          </a:p>
        </p:txBody>
      </p:sp>
      <p:sp>
        <p:nvSpPr>
          <p:cNvPr id="36" name="TextBox 35"/>
          <p:cNvSpPr txBox="1"/>
          <p:nvPr/>
        </p:nvSpPr>
        <p:spPr>
          <a:xfrm>
            <a:off x="6375400" y="4686300"/>
            <a:ext cx="28067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 / 0</a:t>
            </a:r>
          </a:p>
        </p:txBody>
      </p:sp>
      <p:sp>
        <p:nvSpPr>
          <p:cNvPr id="37" name="TextBox 36"/>
          <p:cNvSpPr txBox="1"/>
          <p:nvPr/>
        </p:nvSpPr>
        <p:spPr>
          <a:xfrm>
            <a:off x="9410700" y="4686300"/>
            <a:ext cx="21463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35.07 s</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Keep the simpler state baseline: smoothing adds 0.25 s; item memory increases repeats on the censored</a:t>
            </a:r>
          </a:p>
          <a:p>
            <a:pPr algn="l">
              <a:lnSpc>
                <a:spcPts val="1722"/>
              </a:lnSpc>
              <a:spcBef>
                <a:spcPts val="0"/>
              </a:spcBef>
              <a:spcAft>
                <a:spcPts val="0"/>
              </a:spcAft>
              <a:defRPr sz="1400" b="1">
                <a:solidFill>
                  <a:srgbClr val="C86535"/>
                </a:solidFill>
                <a:latin typeface="DejaVu Sans"/>
              </a:defRPr>
            </a:pPr>
            <a:r>
              <a:t>HARD diagnostic.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DATA / COMPATIBILITY REVIEW</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new highway clips are component stress tests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Pinned author release: three bundled clips, three explicit ABODA aliases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Author acquisition receipt + component_protocol.json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26</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Acquisition and preparation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28.6 MB author archive</a:t>
            </a:r>
          </a:p>
          <a:p>
            <a:pPr algn="l">
              <a:lnSpc>
                <a:spcPts val="1968"/>
              </a:lnSpc>
              <a:spcBef>
                <a:spcPts val="0"/>
              </a:spcBef>
              <a:spcAft>
                <a:spcPts val="0"/>
              </a:spcAft>
              <a:defRPr sz="1600" b="0">
                <a:solidFill>
                  <a:srgbClr val="142C40"/>
                </a:solidFill>
                <a:latin typeface="DejaVu Sans"/>
              </a:defRPr>
            </a:pPr>
            <a:r>
              <a:t>Three bundled highway videos</a:t>
            </a:r>
          </a:p>
          <a:p>
            <a:pPr algn="l">
              <a:lnSpc>
                <a:spcPts val="1968"/>
              </a:lnSpc>
              <a:spcBef>
                <a:spcPts val="0"/>
              </a:spcBef>
              <a:spcAft>
                <a:spcPts val="0"/>
              </a:spcAft>
              <a:defRPr sz="1600" b="0">
                <a:solidFill>
                  <a:srgbClr val="142C40"/>
                </a:solidFill>
                <a:latin typeface="DejaVu Sans"/>
              </a:defRPr>
            </a:pPr>
            <a:r>
              <a:t>7.6–14.6 seconds each</a:t>
            </a:r>
          </a:p>
          <a:p>
            <a:pPr algn="l">
              <a:lnSpc>
                <a:spcPts val="1968"/>
              </a:lnSpc>
              <a:spcBef>
                <a:spcPts val="0"/>
              </a:spcBef>
              <a:spcAft>
                <a:spcPts val="0"/>
              </a:spcAft>
              <a:defRPr sz="1600" b="0">
                <a:solidFill>
                  <a:srgbClr val="142C40"/>
                </a:solidFill>
                <a:latin typeface="DejaVu Sans"/>
              </a:defRPr>
            </a:pPr>
            <a:r>
              <a:t>Ten annotated positive frames / video</a:t>
            </a:r>
          </a:p>
          <a:p>
            <a:pPr algn="l">
              <a:lnSpc>
                <a:spcPts val="1968"/>
              </a:lnSpc>
              <a:spcBef>
                <a:spcPts val="0"/>
              </a:spcBef>
              <a:spcAft>
                <a:spcPts val="0"/>
              </a:spcAft>
              <a:defRPr sz="1600" b="0">
                <a:solidFill>
                  <a:srgbClr val="142C40"/>
                </a:solidFill>
                <a:latin typeface="DejaVu Sans"/>
              </a:defRPr>
            </a:pPr>
            <a:r>
              <a:t>Actual FPS and timestamps checked</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What cannot be inferred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Debris boxes do not establish an owner</a:t>
            </a:r>
          </a:p>
          <a:p>
            <a:pPr algn="l">
              <a:lnSpc>
                <a:spcPts val="1968"/>
              </a:lnSpc>
              <a:spcBef>
                <a:spcPts val="0"/>
              </a:spcBef>
              <a:spcAft>
                <a:spcPts val="0"/>
              </a:spcAft>
              <a:defRPr sz="1600" b="0">
                <a:solidFill>
                  <a:srgbClr val="142C40"/>
                </a:solidFill>
                <a:latin typeface="DejaVu Sans"/>
              </a:defRPr>
            </a:pPr>
            <a:r>
              <a:t>No 30-second stationary evidence</a:t>
            </a:r>
          </a:p>
          <a:p>
            <a:pPr algn="l">
              <a:lnSpc>
                <a:spcPts val="1968"/>
              </a:lnSpc>
              <a:spcBef>
                <a:spcPts val="0"/>
              </a:spcBef>
              <a:spcAft>
                <a:spcPts val="0"/>
              </a:spcAft>
              <a:defRPr sz="1600" b="0">
                <a:solidFill>
                  <a:srgbClr val="142C40"/>
                </a:solidFill>
                <a:latin typeface="DejaVu Sans"/>
              </a:defRPr>
            </a:pPr>
            <a:r>
              <a:t>No complete reviewed normal intervals</a:t>
            </a:r>
          </a:p>
          <a:p>
            <a:pPr algn="l">
              <a:lnSpc>
                <a:spcPts val="1968"/>
              </a:lnSpc>
              <a:spcBef>
                <a:spcPts val="0"/>
              </a:spcBef>
              <a:spcAft>
                <a:spcPts val="0"/>
              </a:spcAft>
              <a:defRPr sz="1600" b="0">
                <a:solidFill>
                  <a:srgbClr val="142C40"/>
                </a:solidFill>
                <a:latin typeface="DejaVu Sans"/>
              </a:defRPr>
            </a:pPr>
            <a:r>
              <a:t>ABODA links add no independent data</a:t>
            </a:r>
          </a:p>
          <a:p>
            <a:pPr algn="l">
              <a:lnSpc>
                <a:spcPts val="1968"/>
              </a:lnSpc>
              <a:spcBef>
                <a:spcPts val="0"/>
              </a:spcBef>
              <a:spcAft>
                <a:spcPts val="0"/>
              </a:spcAft>
              <a:defRPr sz="1600" b="0">
                <a:solidFill>
                  <a:srgbClr val="142C40"/>
                </a:solidFill>
                <a:latin typeface="DejaVu Sans"/>
              </a:defRPr>
            </a:pPr>
            <a:r>
              <a:t>No new unattended-event accuracy</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additional frames test detection of very small objects; they are not newly verified unattended events.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17 OCT IMPROVEMENT / SMALL-ITEM DETECTOR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Fixed overlapping tiles test the small-object</a:t>
            </a:r>
          </a:p>
          <a:p>
            <a:pPr algn="l">
              <a:lnSpc>
                <a:spcPts val="3690"/>
              </a:lnSpc>
              <a:spcBef>
                <a:spcPts val="0"/>
              </a:spcBef>
              <a:spcAft>
                <a:spcPts val="0"/>
              </a:spcAft>
              <a:defRPr sz="3000" b="1">
                <a:solidFill>
                  <a:srgbClr val="142C40"/>
                </a:solidFill>
                <a:latin typeface="DejaVu Sans"/>
              </a:defRPr>
            </a:pPr>
            <a:r>
              <a:t>bottleneck</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166 source-annotated frames × five views = 830 new GPU image views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component_results.json + raw / merged detector predictions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08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Reference source</a:t>
            </a:r>
          </a:p>
        </p:txBody>
      </p:sp>
      <p:sp>
        <p:nvSpPr>
          <p:cNvPr id="12" name="TextBox 11"/>
          <p:cNvSpPr txBox="1"/>
          <p:nvPr/>
        </p:nvSpPr>
        <p:spPr>
          <a:xfrm>
            <a:off x="4978400" y="2273300"/>
            <a:ext cx="685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IoU</a:t>
            </a:r>
          </a:p>
        </p:txBody>
      </p:sp>
      <p:sp>
        <p:nvSpPr>
          <p:cNvPr id="13" name="TextBox 12"/>
          <p:cNvSpPr txBox="1"/>
          <p:nvPr/>
        </p:nvSpPr>
        <p:spPr>
          <a:xfrm>
            <a:off x="5892800" y="2273300"/>
            <a:ext cx="2717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Full image recall</a:t>
            </a:r>
          </a:p>
        </p:txBody>
      </p:sp>
      <p:sp>
        <p:nvSpPr>
          <p:cNvPr id="14" name="TextBox 13"/>
          <p:cNvSpPr txBox="1"/>
          <p:nvPr/>
        </p:nvSpPr>
        <p:spPr>
          <a:xfrm>
            <a:off x="8839200" y="2273300"/>
            <a:ext cx="2717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Full + four tiles recall</a:t>
            </a:r>
          </a:p>
        </p:txBody>
      </p:sp>
      <p:sp>
        <p:nvSpPr>
          <p:cNvPr id="15" name="Rectangle 14"/>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CAVIAR item source boxes</a:t>
            </a:r>
          </a:p>
        </p:txBody>
      </p:sp>
      <p:sp>
        <p:nvSpPr>
          <p:cNvPr id="17" name="TextBox 16"/>
          <p:cNvSpPr txBox="1"/>
          <p:nvPr/>
        </p:nvSpPr>
        <p:spPr>
          <a:xfrm>
            <a:off x="4978400" y="2781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a:t>
            </a:r>
          </a:p>
        </p:txBody>
      </p:sp>
      <p:sp>
        <p:nvSpPr>
          <p:cNvPr id="18" name="TextBox 17"/>
          <p:cNvSpPr txBox="1"/>
          <p:nvPr/>
        </p:nvSpPr>
        <p:spPr>
          <a:xfrm>
            <a:off x="5892800" y="278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69/136 (50.7%)</a:t>
            </a:r>
          </a:p>
        </p:txBody>
      </p:sp>
      <p:sp>
        <p:nvSpPr>
          <p:cNvPr id="19" name="TextBox 18"/>
          <p:cNvSpPr txBox="1"/>
          <p:nvPr/>
        </p:nvSpPr>
        <p:spPr>
          <a:xfrm>
            <a:off x="8839200" y="278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117/136 (86.0%)</a:t>
            </a:r>
          </a:p>
        </p:txBody>
      </p:sp>
      <p:cxnSp>
        <p:nvCxnSpPr>
          <p:cNvPr id="20" name="Connector 19"/>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16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CAVIAR item source boxes</a:t>
            </a:r>
          </a:p>
        </p:txBody>
      </p:sp>
      <p:sp>
        <p:nvSpPr>
          <p:cNvPr id="23" name="TextBox 22"/>
          <p:cNvSpPr txBox="1"/>
          <p:nvPr/>
        </p:nvSpPr>
        <p:spPr>
          <a:xfrm>
            <a:off x="4978400" y="3416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a:t>
            </a:r>
          </a:p>
        </p:txBody>
      </p:sp>
      <p:sp>
        <p:nvSpPr>
          <p:cNvPr id="24" name="TextBox 23"/>
          <p:cNvSpPr txBox="1"/>
          <p:nvPr/>
        </p:nvSpPr>
        <p:spPr>
          <a:xfrm>
            <a:off x="5892800" y="341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66/136 (48.5%)</a:t>
            </a:r>
          </a:p>
        </p:txBody>
      </p:sp>
      <p:sp>
        <p:nvSpPr>
          <p:cNvPr id="25" name="TextBox 24"/>
          <p:cNvSpPr txBox="1"/>
          <p:nvPr/>
        </p:nvSpPr>
        <p:spPr>
          <a:xfrm>
            <a:off x="8839200" y="341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116/136 (85.3%)</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Highway-debris stress cases</a:t>
            </a:r>
          </a:p>
        </p:txBody>
      </p:sp>
      <p:sp>
        <p:nvSpPr>
          <p:cNvPr id="29" name="TextBox 28"/>
          <p:cNvSpPr txBox="1"/>
          <p:nvPr/>
        </p:nvSpPr>
        <p:spPr>
          <a:xfrm>
            <a:off x="4978400" y="4051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a:t>
            </a:r>
          </a:p>
        </p:txBody>
      </p:sp>
      <p:sp>
        <p:nvSpPr>
          <p:cNvPr id="30" name="TextBox 29"/>
          <p:cNvSpPr txBox="1"/>
          <p:nvPr/>
        </p:nvSpPr>
        <p:spPr>
          <a:xfrm>
            <a:off x="5892800" y="405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0/30 (0.0%)</a:t>
            </a:r>
          </a:p>
        </p:txBody>
      </p:sp>
      <p:sp>
        <p:nvSpPr>
          <p:cNvPr id="31" name="TextBox 30"/>
          <p:cNvSpPr txBox="1"/>
          <p:nvPr/>
        </p:nvSpPr>
        <p:spPr>
          <a:xfrm>
            <a:off x="8839200" y="4051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7/30 (23.3%)</a:t>
            </a:r>
          </a:p>
        </p:txBody>
      </p:sp>
      <p:cxnSp>
        <p:nvCxnSpPr>
          <p:cNvPr id="32" name="Connector 31"/>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686300"/>
            <a:ext cx="4089400" cy="4953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Highway-debris stress cases</a:t>
            </a:r>
          </a:p>
        </p:txBody>
      </p:sp>
      <p:sp>
        <p:nvSpPr>
          <p:cNvPr id="35" name="TextBox 34"/>
          <p:cNvSpPr txBox="1"/>
          <p:nvPr/>
        </p:nvSpPr>
        <p:spPr>
          <a:xfrm>
            <a:off x="4978400" y="4686300"/>
            <a:ext cx="685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a:t>
            </a:r>
          </a:p>
        </p:txBody>
      </p:sp>
      <p:sp>
        <p:nvSpPr>
          <p:cNvPr id="36" name="TextBox 35"/>
          <p:cNvSpPr txBox="1"/>
          <p:nvPr/>
        </p:nvSpPr>
        <p:spPr>
          <a:xfrm>
            <a:off x="5892800" y="468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0/30 (0.0%)</a:t>
            </a:r>
          </a:p>
        </p:txBody>
      </p:sp>
      <p:sp>
        <p:nvSpPr>
          <p:cNvPr id="37" name="TextBox 36"/>
          <p:cNvSpPr txBox="1"/>
          <p:nvPr/>
        </p:nvSpPr>
        <p:spPr>
          <a:xfrm>
            <a:off x="8839200" y="4686300"/>
            <a:ext cx="2717800" cy="4953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7/30 (23.3%)</a:t>
            </a:r>
          </a:p>
        </p:txBody>
      </p:sp>
      <p:cxnSp>
        <p:nvCxnSpPr>
          <p:cNvPr id="38" name="Connector 37"/>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Same weights, query and score thresholds. Partial reference boxes support recall, not object precision or</a:t>
            </a:r>
          </a:p>
          <a:p>
            <a:pPr algn="l">
              <a:lnSpc>
                <a:spcPts val="1722"/>
              </a:lnSpc>
              <a:spcBef>
                <a:spcPts val="0"/>
              </a:spcBef>
              <a:spcAft>
                <a:spcPts val="0"/>
              </a:spcAft>
              <a:defRPr sz="1400" b="1">
                <a:solidFill>
                  <a:srgbClr val="007E80"/>
                </a:solidFill>
                <a:latin typeface="DejaVu Sans"/>
              </a:defRPr>
            </a:pPr>
            <a:r>
              <a:t>event accuracy.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VADCLIP / SEPARATE SUPERVISED STUDY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remains a qualified smoking baseline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Offline supervised adaptation • different source groups and supervision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gpu_all_models_20261013/vadclip/adapter/eval.json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28</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Measured test evidence</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1,056 test frames</a:t>
            </a:r>
          </a:p>
          <a:p>
            <a:pPr algn="l">
              <a:lnSpc>
                <a:spcPts val="1968"/>
              </a:lnSpc>
              <a:spcBef>
                <a:spcPts val="0"/>
              </a:spcBef>
              <a:spcAft>
                <a:spcPts val="0"/>
              </a:spcAft>
              <a:defRPr sz="1600" b="0">
                <a:solidFill>
                  <a:srgbClr val="142C40"/>
                </a:solidFill>
                <a:latin typeface="DejaVu Sans"/>
              </a:defRPr>
            </a:pPr>
            <a:r>
              <a:t>560 positive / 496 normal</a:t>
            </a:r>
          </a:p>
          <a:p>
            <a:pPr algn="l">
              <a:lnSpc>
                <a:spcPts val="1968"/>
              </a:lnSpc>
              <a:spcBef>
                <a:spcPts val="0"/>
              </a:spcBef>
              <a:spcAft>
                <a:spcPts val="0"/>
              </a:spcAft>
              <a:defRPr sz="1600" b="0">
                <a:solidFill>
                  <a:srgbClr val="142C40"/>
                </a:solidFill>
                <a:latin typeface="DejaVu Sans"/>
              </a:defRPr>
            </a:pPr>
            <a:r>
              <a:t>AP 0.633; AUROC 0.587</a:t>
            </a:r>
          </a:p>
          <a:p>
            <a:pPr algn="l">
              <a:lnSpc>
                <a:spcPts val="1968"/>
              </a:lnSpc>
              <a:spcBef>
                <a:spcPts val="0"/>
              </a:spcBef>
              <a:spcAft>
                <a:spcPts val="0"/>
              </a:spcAft>
              <a:defRPr sz="1600" b="0">
                <a:solidFill>
                  <a:srgbClr val="142C40"/>
                </a:solidFill>
                <a:latin typeface="DejaVu Sans"/>
              </a:defRPr>
            </a:pPr>
            <a:r>
              <a:t>Recall 51.8%; FPR 35.7%</a:t>
            </a:r>
          </a:p>
          <a:p>
            <a:pPr algn="l">
              <a:lnSpc>
                <a:spcPts val="1968"/>
              </a:lnSpc>
              <a:spcBef>
                <a:spcPts val="0"/>
              </a:spcBef>
              <a:spcAft>
                <a:spcPts val="0"/>
              </a:spcAft>
              <a:defRPr sz="1600" b="0">
                <a:solidFill>
                  <a:srgbClr val="142C40"/>
                </a:solidFill>
                <a:latin typeface="DejaVu Sans"/>
              </a:defRPr>
            </a:pPr>
            <a:r>
              <a:t>F1 0.565, dev-frozen cutoff</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Comparison boundaries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9 training clips / 4 validation clips</a:t>
            </a:r>
          </a:p>
          <a:p>
            <a:pPr algn="l">
              <a:lnSpc>
                <a:spcPts val="1968"/>
              </a:lnSpc>
              <a:spcBef>
                <a:spcPts val="0"/>
              </a:spcBef>
              <a:spcAft>
                <a:spcPts val="0"/>
              </a:spcAft>
              <a:defRPr sz="1600" b="0">
                <a:solidFill>
                  <a:srgbClr val="142C40"/>
                </a:solidFill>
                <a:latin typeface="DejaVu Sans"/>
              </a:defRPr>
            </a:pPr>
            <a:r>
              <a:t>Adapter receives smoking supervision</a:t>
            </a:r>
          </a:p>
          <a:p>
            <a:pPr algn="l">
              <a:lnSpc>
                <a:spcPts val="1968"/>
              </a:lnSpc>
              <a:spcBef>
                <a:spcPts val="0"/>
              </a:spcBef>
              <a:spcAft>
                <a:spcPts val="0"/>
              </a:spcAft>
              <a:defRPr sz="1600" b="0">
                <a:solidFill>
                  <a:srgbClr val="142C40"/>
                </a:solidFill>
                <a:latin typeface="DejaVu Sans"/>
              </a:defRPr>
            </a:pPr>
            <a:r>
              <a:t>Not an unsupervised five-task model</a:t>
            </a:r>
          </a:p>
          <a:p>
            <a:pPr algn="l">
              <a:lnSpc>
                <a:spcPts val="1968"/>
              </a:lnSpc>
              <a:spcBef>
                <a:spcPts val="0"/>
              </a:spcBef>
              <a:spcAft>
                <a:spcPts val="0"/>
              </a:spcAft>
              <a:defRPr sz="1600" b="0">
                <a:solidFill>
                  <a:srgbClr val="142C40"/>
                </a:solidFill>
                <a:latin typeface="DejaVu Sans"/>
              </a:defRPr>
            </a:pPr>
            <a:r>
              <a:t>No new VadCLIP fine-tune this round</a:t>
            </a:r>
          </a:p>
          <a:p>
            <a:pPr algn="l">
              <a:lnSpc>
                <a:spcPts val="1968"/>
              </a:lnSpc>
              <a:spcBef>
                <a:spcPts val="0"/>
              </a:spcBef>
              <a:spcAft>
                <a:spcPts val="0"/>
              </a:spcAft>
              <a:defRPr sz="1600" b="0">
                <a:solidFill>
                  <a:srgbClr val="142C40"/>
                </a:solidFill>
                <a:latin typeface="DejaVu Sans"/>
              </a:defRPr>
            </a:pPr>
            <a:r>
              <a:t>Not the same split as CLIP camera c1</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Avoid a single leaderboard that mixes this offline supervised protocol with image-model zero-shot or</a:t>
            </a:r>
          </a:p>
          <a:p>
            <a:pPr algn="l">
              <a:lnSpc>
                <a:spcPts val="1722"/>
              </a:lnSpc>
              <a:spcBef>
                <a:spcPts val="0"/>
              </a:spcBef>
              <a:spcAft>
                <a:spcPts val="0"/>
              </a:spcAft>
              <a:defRPr sz="1400" b="1">
                <a:solidFill>
                  <a:srgbClr val="007E80"/>
                </a:solidFill>
                <a:latin typeface="DejaVu Sans"/>
              </a:defRPr>
            </a:pPr>
            <a:r>
              <a:t>event-stream tests.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CONTROLLED SMOLVLM EXPERIMENT</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Use the original model as a matched weight control</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One task query per example • real first-answer scores • same inputs before / after adaptation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SmolVLM protocol + original / adapter predictions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29</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Matched within this study</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Same accepted target definitions</a:t>
            </a:r>
          </a:p>
          <a:p>
            <a:pPr algn="l">
              <a:lnSpc>
                <a:spcPts val="1968"/>
              </a:lnSpc>
              <a:spcBef>
                <a:spcPts val="0"/>
              </a:spcBef>
              <a:spcAft>
                <a:spcPts val="0"/>
              </a:spcAft>
              <a:defRPr sz="1600" b="0">
                <a:solidFill>
                  <a:srgbClr val="142C40"/>
                </a:solidFill>
                <a:latin typeface="DejaVu Sans"/>
              </a:defRPr>
            </a:pPr>
            <a:r>
              <a:t>Same 512-pixel letterbox images</a:t>
            </a:r>
          </a:p>
          <a:p>
            <a:pPr algn="l">
              <a:lnSpc>
                <a:spcPts val="1968"/>
              </a:lnSpc>
              <a:spcBef>
                <a:spcPts val="0"/>
              </a:spcBef>
              <a:spcAft>
                <a:spcPts val="0"/>
              </a:spcAft>
              <a:defRPr sz="1600" b="0">
                <a:solidFill>
                  <a:srgbClr val="142C40"/>
                </a:solidFill>
                <a:latin typeface="DejaVu Sans"/>
              </a:defRPr>
            </a:pPr>
            <a:r>
              <a:t>Same ordered views and visual tokens</a:t>
            </a:r>
          </a:p>
          <a:p>
            <a:pPr algn="l">
              <a:lnSpc>
                <a:spcPts val="1968"/>
              </a:lnSpc>
              <a:spcBef>
                <a:spcPts val="0"/>
              </a:spcBef>
              <a:spcAft>
                <a:spcPts val="0"/>
              </a:spcAft>
              <a:defRPr sz="1600" b="0">
                <a:solidFill>
                  <a:srgbClr val="142C40"/>
                </a:solidFill>
                <a:latin typeface="DejaVu Sans"/>
              </a:defRPr>
            </a:pPr>
            <a:r>
              <a:t>Same binary Yes / No task query</a:t>
            </a:r>
          </a:p>
          <a:p>
            <a:pPr algn="l">
              <a:lnSpc>
                <a:spcPts val="1968"/>
              </a:lnSpc>
              <a:spcBef>
                <a:spcPts val="0"/>
              </a:spcBef>
              <a:spcAft>
                <a:spcPts val="0"/>
              </a:spcAft>
              <a:defRPr sz="1600" b="0">
                <a:solidFill>
                  <a:srgbClr val="142C40"/>
                </a:solidFill>
                <a:latin typeface="DejaVu Sans"/>
              </a:defRPr>
            </a:pPr>
            <a:r>
              <a:t>Same first-token logit margin</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Comparison limits</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Earlier study generated six-label JSON</a:t>
            </a:r>
          </a:p>
          <a:p>
            <a:pPr algn="l">
              <a:lnSpc>
                <a:spcPts val="1968"/>
              </a:lnSpc>
              <a:spcBef>
                <a:spcPts val="0"/>
              </a:spcBef>
              <a:spcAft>
                <a:spcPts val="0"/>
              </a:spcAft>
              <a:defRPr sz="1600" b="0">
                <a:solidFill>
                  <a:srgbClr val="142C40"/>
                </a:solidFill>
                <a:latin typeface="DejaVu Sans"/>
              </a:defRPr>
            </a:pPr>
            <a:r>
              <a:t>Prompt / preprocessing also changed</a:t>
            </a:r>
          </a:p>
          <a:p>
            <a:pPr algn="l">
              <a:lnSpc>
                <a:spcPts val="1968"/>
              </a:lnSpc>
              <a:spcBef>
                <a:spcPts val="0"/>
              </a:spcBef>
              <a:spcAft>
                <a:spcPts val="0"/>
              </a:spcAft>
              <a:defRPr sz="1600" b="0">
                <a:solidFill>
                  <a:srgbClr val="142C40"/>
                </a:solidFill>
                <a:latin typeface="DejaVu Sans"/>
              </a:defRPr>
            </a:pPr>
            <a:r>
              <a:t>No learned unknown or explanations</a:t>
            </a:r>
          </a:p>
          <a:p>
            <a:pPr algn="l">
              <a:lnSpc>
                <a:spcPts val="1968"/>
              </a:lnSpc>
              <a:spcBef>
                <a:spcPts val="0"/>
              </a:spcBef>
              <a:spcAft>
                <a:spcPts val="0"/>
              </a:spcAft>
              <a:defRPr sz="1600" b="0">
                <a:solidFill>
                  <a:srgbClr val="142C40"/>
                </a:solidFill>
                <a:latin typeface="DejaVu Sans"/>
              </a:defRPr>
            </a:pPr>
            <a:r>
              <a:t>No boxes or tracked identities added</a:t>
            </a:r>
          </a:p>
          <a:p>
            <a:pPr algn="l">
              <a:lnSpc>
                <a:spcPts val="1968"/>
              </a:lnSpc>
              <a:spcBef>
                <a:spcPts val="0"/>
              </a:spcBef>
              <a:spcAft>
                <a:spcPts val="0"/>
              </a:spcAft>
              <a:defRPr sz="1600" b="0">
                <a:solidFill>
                  <a:srgbClr val="142C40"/>
                </a:solidFill>
                <a:latin typeface="DejaVu Sans"/>
              </a:defRPr>
            </a:pPr>
            <a:r>
              <a:t>Retrospective source holdouts</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Attribute adaptation gains to the matched original-to-LoRA comparison; preserve the old generation</a:t>
            </a:r>
          </a:p>
          <a:p>
            <a:pPr algn="l">
              <a:lnSpc>
                <a:spcPts val="1722"/>
              </a:lnSpc>
              <a:spcBef>
                <a:spcPts val="0"/>
              </a:spcBef>
              <a:spcAft>
                <a:spcPts val="0"/>
              </a:spcAft>
              <a:defRPr sz="1400" b="1">
                <a:solidFill>
                  <a:srgbClr val="C86535"/>
                </a:solidFill>
                <a:latin typeface="DejaVu Sans"/>
              </a:defRPr>
            </a:pPr>
            <a:r>
              <a:t>results.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SUPERVISED DATA</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All five tasks are trained; evidence is uneven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3,973 train • 1,812 development • 2,025 test • 806 historical external photos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Frozen SmolVLM protocol / counts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30</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1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3708400" y="2273300"/>
            <a:ext cx="2463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 normal / +</a:t>
            </a:r>
          </a:p>
        </p:txBody>
      </p:sp>
      <p:sp>
        <p:nvSpPr>
          <p:cNvPr id="13" name="TextBox 12"/>
          <p:cNvSpPr txBox="1"/>
          <p:nvPr/>
        </p:nvSpPr>
        <p:spPr>
          <a:xfrm>
            <a:off x="6400800" y="2273300"/>
            <a:ext cx="2463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normal / +</a:t>
            </a:r>
          </a:p>
        </p:txBody>
      </p:sp>
      <p:sp>
        <p:nvSpPr>
          <p:cNvPr id="14" name="TextBox 13"/>
          <p:cNvSpPr txBox="1"/>
          <p:nvPr/>
        </p:nvSpPr>
        <p:spPr>
          <a:xfrm>
            <a:off x="9093200" y="2273300"/>
            <a:ext cx="2463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Test normal / +</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2819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a:t>
            </a:r>
          </a:p>
        </p:txBody>
      </p:sp>
      <p:sp>
        <p:nvSpPr>
          <p:cNvPr id="17" name="TextBox 16"/>
          <p:cNvSpPr txBox="1"/>
          <p:nvPr/>
        </p:nvSpPr>
        <p:spPr>
          <a:xfrm>
            <a:off x="3708400" y="27813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1739 / 1073</a:t>
            </a:r>
          </a:p>
        </p:txBody>
      </p:sp>
      <p:sp>
        <p:nvSpPr>
          <p:cNvPr id="18" name="TextBox 17"/>
          <p:cNvSpPr txBox="1"/>
          <p:nvPr/>
        </p:nvSpPr>
        <p:spPr>
          <a:xfrm>
            <a:off x="6400800" y="27813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812 / 502</a:t>
            </a:r>
          </a:p>
        </p:txBody>
      </p:sp>
      <p:sp>
        <p:nvSpPr>
          <p:cNvPr id="19" name="TextBox 18"/>
          <p:cNvSpPr txBox="1"/>
          <p:nvPr/>
        </p:nvSpPr>
        <p:spPr>
          <a:xfrm>
            <a:off x="9093200" y="27813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365 / 505</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2819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a:t>
            </a:r>
          </a:p>
        </p:txBody>
      </p:sp>
      <p:sp>
        <p:nvSpPr>
          <p:cNvPr id="23" name="TextBox 22"/>
          <p:cNvSpPr txBox="1"/>
          <p:nvPr/>
        </p:nvSpPr>
        <p:spPr>
          <a:xfrm>
            <a:off x="3708400" y="33274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130 / 144</a:t>
            </a:r>
          </a:p>
        </p:txBody>
      </p:sp>
      <p:sp>
        <p:nvSpPr>
          <p:cNvPr id="24" name="TextBox 23"/>
          <p:cNvSpPr txBox="1"/>
          <p:nvPr/>
        </p:nvSpPr>
        <p:spPr>
          <a:xfrm>
            <a:off x="6400800" y="33274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29 / 32</a:t>
            </a:r>
          </a:p>
        </p:txBody>
      </p:sp>
      <p:sp>
        <p:nvSpPr>
          <p:cNvPr id="25" name="TextBox 24"/>
          <p:cNvSpPr txBox="1"/>
          <p:nvPr/>
        </p:nvSpPr>
        <p:spPr>
          <a:xfrm>
            <a:off x="9093200" y="33274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50 / 50</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2819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a:t>
            </a:r>
          </a:p>
        </p:txBody>
      </p:sp>
      <p:sp>
        <p:nvSpPr>
          <p:cNvPr id="29" name="TextBox 28"/>
          <p:cNvSpPr txBox="1"/>
          <p:nvPr/>
        </p:nvSpPr>
        <p:spPr>
          <a:xfrm>
            <a:off x="3708400" y="38735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282 / 41</a:t>
            </a:r>
          </a:p>
        </p:txBody>
      </p:sp>
      <p:sp>
        <p:nvSpPr>
          <p:cNvPr id="30" name="TextBox 29"/>
          <p:cNvSpPr txBox="1"/>
          <p:nvPr/>
        </p:nvSpPr>
        <p:spPr>
          <a:xfrm>
            <a:off x="6400800" y="38735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85 / 13</a:t>
            </a:r>
          </a:p>
        </p:txBody>
      </p:sp>
      <p:sp>
        <p:nvSpPr>
          <p:cNvPr id="31" name="TextBox 30"/>
          <p:cNvSpPr txBox="1"/>
          <p:nvPr/>
        </p:nvSpPr>
        <p:spPr>
          <a:xfrm>
            <a:off x="9093200" y="38735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64 / 11</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2819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a:t>
            </a:r>
          </a:p>
        </p:txBody>
      </p:sp>
      <p:sp>
        <p:nvSpPr>
          <p:cNvPr id="35" name="TextBox 34"/>
          <p:cNvSpPr txBox="1"/>
          <p:nvPr/>
        </p:nvSpPr>
        <p:spPr>
          <a:xfrm>
            <a:off x="3708400" y="44196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49 / 25</a:t>
            </a:r>
          </a:p>
        </p:txBody>
      </p:sp>
      <p:sp>
        <p:nvSpPr>
          <p:cNvPr id="36" name="TextBox 35"/>
          <p:cNvSpPr txBox="1"/>
          <p:nvPr/>
        </p:nvSpPr>
        <p:spPr>
          <a:xfrm>
            <a:off x="6400800" y="44196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14 / 7</a:t>
            </a:r>
          </a:p>
        </p:txBody>
      </p:sp>
      <p:sp>
        <p:nvSpPr>
          <p:cNvPr id="37" name="TextBox 36"/>
          <p:cNvSpPr txBox="1"/>
          <p:nvPr/>
        </p:nvSpPr>
        <p:spPr>
          <a:xfrm>
            <a:off x="9093200" y="44196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12 / 6</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2819400" cy="4064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a:t>
            </a:r>
          </a:p>
        </p:txBody>
      </p:sp>
      <p:sp>
        <p:nvSpPr>
          <p:cNvPr id="41" name="TextBox 40"/>
          <p:cNvSpPr txBox="1"/>
          <p:nvPr/>
        </p:nvSpPr>
        <p:spPr>
          <a:xfrm>
            <a:off x="3708400" y="49657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416 / 74</a:t>
            </a:r>
          </a:p>
        </p:txBody>
      </p:sp>
      <p:sp>
        <p:nvSpPr>
          <p:cNvPr id="42" name="TextBox 41"/>
          <p:cNvSpPr txBox="1"/>
          <p:nvPr/>
        </p:nvSpPr>
        <p:spPr>
          <a:xfrm>
            <a:off x="6400800" y="49657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137 / 181</a:t>
            </a:r>
          </a:p>
        </p:txBody>
      </p:sp>
      <p:sp>
        <p:nvSpPr>
          <p:cNvPr id="43" name="TextBox 42"/>
          <p:cNvSpPr txBox="1"/>
          <p:nvPr/>
        </p:nvSpPr>
        <p:spPr>
          <a:xfrm>
            <a:off x="9093200" y="4965700"/>
            <a:ext cx="2463800" cy="4064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720 / 242</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8,616 main examples use 13,596 distinct images. Unknown objectives are masked; source groups stay</a:t>
            </a:r>
          </a:p>
          <a:p>
            <a:pPr algn="l">
              <a:lnSpc>
                <a:spcPts val="1722"/>
              </a:lnSpc>
              <a:spcBef>
                <a:spcPts val="0"/>
              </a:spcBef>
              <a:spcAft>
                <a:spcPts val="0"/>
              </a:spcAft>
              <a:defRPr sz="1400" b="1">
                <a:solidFill>
                  <a:srgbClr val="007E80"/>
                </a:solidFill>
                <a:latin typeface="DejaVu Sans"/>
              </a:defRPr>
            </a:pPr>
            <a:r>
              <a:t>together.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TRANSFER AND SOURCE GUARDS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Ten cohorts cover 3,792 unique held-out examples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Main holdouts plus 961 additional transfer cases • no transfer labels enter training or selection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Additional-transfer protocol + identity verification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31</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Additional transfer</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HMDB: 906 clips, 109 smoking</a:t>
            </a:r>
          </a:p>
          <a:p>
            <a:pPr algn="l">
              <a:lnSpc>
                <a:spcPts val="1968"/>
              </a:lnSpc>
              <a:spcBef>
                <a:spcPts val="0"/>
              </a:spcBef>
              <a:spcAft>
                <a:spcPts val="0"/>
              </a:spcAft>
              <a:defRPr sz="1600" b="0">
                <a:solidFill>
                  <a:srgbClr val="142C40"/>
                </a:solidFill>
                <a:latin typeface="DejaVu Sans"/>
              </a:defRPr>
            </a:pPr>
            <a:r>
              <a:t>New-author sleep: 28 photos, 17 +</a:t>
            </a:r>
          </a:p>
          <a:p>
            <a:pPr algn="l">
              <a:lnSpc>
                <a:spcPts val="1968"/>
              </a:lnSpc>
              <a:spcBef>
                <a:spcPts val="0"/>
              </a:spcBef>
              <a:spcAft>
                <a:spcPts val="0"/>
              </a:spcAft>
              <a:defRPr sz="1600" b="0">
                <a:solidFill>
                  <a:srgbClr val="142C40"/>
                </a:solidFill>
                <a:latin typeface="DejaVu Sans"/>
              </a:defRPr>
            </a:pPr>
            <a:r>
              <a:t>MEVA: 27 windows, 15 actions</a:t>
            </a:r>
          </a:p>
          <a:p>
            <a:pPr algn="l">
              <a:lnSpc>
                <a:spcPts val="1968"/>
              </a:lnSpc>
              <a:spcBef>
                <a:spcPts val="0"/>
              </a:spcBef>
              <a:spcAft>
                <a:spcPts val="0"/>
              </a:spcAft>
              <a:defRPr sz="1600" b="0">
                <a:solidFill>
                  <a:srgbClr val="142C40"/>
                </a:solidFill>
                <a:latin typeface="DejaVu Sans"/>
              </a:defRPr>
            </a:pPr>
            <a:r>
              <a:t>7,375 extra distinct decoded images</a:t>
            </a:r>
          </a:p>
          <a:p>
            <a:pPr algn="l">
              <a:lnSpc>
                <a:spcPts val="1968"/>
              </a:lnSpc>
              <a:spcBef>
                <a:spcPts val="0"/>
              </a:spcBef>
              <a:spcAft>
                <a:spcPts val="0"/>
              </a:spcAft>
              <a:defRPr sz="1600" b="0">
                <a:solidFill>
                  <a:srgbClr val="142C40"/>
                </a:solidFill>
                <a:latin typeface="DejaVu Sans"/>
              </a:defRPr>
            </a:pPr>
            <a:r>
              <a:t>20,971 total decoded images checked</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What the data can establish</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HMDB: movie / web action transfer</a:t>
            </a:r>
          </a:p>
          <a:p>
            <a:pPr algn="l">
              <a:lnSpc>
                <a:spcPts val="1968"/>
              </a:lnSpc>
              <a:spcBef>
                <a:spcPts val="0"/>
              </a:spcBef>
              <a:spcAft>
                <a:spcPts val="0"/>
              </a:spcAft>
              <a:defRPr sz="1600" b="0">
                <a:solidFill>
                  <a:srgbClr val="142C40"/>
                </a:solidFill>
                <a:latin typeface="DejaVu Sans"/>
              </a:defRPr>
            </a:pPr>
            <a:r>
              <a:t>Sleep: provisional visible context</a:t>
            </a:r>
          </a:p>
          <a:p>
            <a:pPr algn="l">
              <a:lnSpc>
                <a:spcPts val="1968"/>
              </a:lnSpc>
              <a:spcBef>
                <a:spcPts val="0"/>
              </a:spcBef>
              <a:spcAft>
                <a:spcPts val="0"/>
              </a:spcAft>
              <a:defRPr sz="1600" b="0">
                <a:solidFill>
                  <a:srgbClr val="142C40"/>
                </a:solidFill>
                <a:latin typeface="DejaVu Sans"/>
              </a:defRPr>
            </a:pPr>
            <a:r>
              <a:t>MEVA: action, not persistent state</a:t>
            </a:r>
          </a:p>
          <a:p>
            <a:pPr algn="l">
              <a:lnSpc>
                <a:spcPts val="1968"/>
              </a:lnSpc>
              <a:spcBef>
                <a:spcPts val="0"/>
              </a:spcBef>
              <a:spcAft>
                <a:spcPts val="0"/>
              </a:spcAft>
              <a:defRPr sz="1600" b="0">
                <a:solidFill>
                  <a:srgbClr val="142C40"/>
                </a:solidFill>
                <a:latin typeface="DejaVu Sans"/>
              </a:defRPr>
            </a:pPr>
            <a:r>
              <a:t>Exact pixels / groups checked</a:t>
            </a:r>
          </a:p>
          <a:p>
            <a:pPr algn="l">
              <a:lnSpc>
                <a:spcPts val="1968"/>
              </a:lnSpc>
              <a:spcBef>
                <a:spcPts val="0"/>
              </a:spcBef>
              <a:spcAft>
                <a:spcPts val="0"/>
              </a:spcAft>
              <a:defRPr sz="1600" b="0">
                <a:solidFill>
                  <a:srgbClr val="142C40"/>
                </a:solidFill>
                <a:latin typeface="DejaVu Sans"/>
              </a:defRPr>
            </a:pPr>
            <a:r>
              <a:t>Old holdouts remain retrospective</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More frames and seeds do not add independent cameras. This round reuses previously collected 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ACTUAL LORA TRAINING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Adapt 4.34 million language parameters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32 language layers × 7 projections • rank 8 • alpha 16 • dropout 0.05</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Training implementation + finite changed-adapter checks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32</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What changes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q/k/v/o + gate/up/down projections</a:t>
            </a:r>
          </a:p>
          <a:p>
            <a:pPr algn="l">
              <a:lnSpc>
                <a:spcPts val="1968"/>
              </a:lnSpc>
              <a:spcBef>
                <a:spcPts val="0"/>
              </a:spcBef>
              <a:spcAft>
                <a:spcPts val="0"/>
              </a:spcAft>
              <a:defRPr sz="1600" b="0">
                <a:solidFill>
                  <a:srgbClr val="142C40"/>
                </a:solidFill>
                <a:latin typeface="DejaVu Sans"/>
              </a:defRPr>
            </a:pPr>
            <a:r>
              <a:t>224 adapted language modules</a:t>
            </a:r>
          </a:p>
          <a:p>
            <a:pPr algn="l">
              <a:lnSpc>
                <a:spcPts val="1968"/>
              </a:lnSpc>
              <a:spcBef>
                <a:spcPts val="0"/>
              </a:spcBef>
              <a:spcAft>
                <a:spcPts val="0"/>
              </a:spcAft>
              <a:defRPr sz="1600" b="0">
                <a:solidFill>
                  <a:srgbClr val="142C40"/>
                </a:solidFill>
                <a:latin typeface="DejaVu Sans"/>
              </a:defRPr>
            </a:pPr>
            <a:r>
              <a:t>4,341,760 trainable parameters</a:t>
            </a:r>
          </a:p>
          <a:p>
            <a:pPr algn="l">
              <a:lnSpc>
                <a:spcPts val="1968"/>
              </a:lnSpc>
              <a:spcBef>
                <a:spcPts val="0"/>
              </a:spcBef>
              <a:spcAft>
                <a:spcPts val="0"/>
              </a:spcAft>
              <a:defRPr sz="1600" b="0">
                <a:solidFill>
                  <a:srgbClr val="142C40"/>
                </a:solidFill>
                <a:latin typeface="DejaVu Sans"/>
              </a:defRPr>
            </a:pPr>
            <a:r>
              <a:t>Answer-only full-vocabulary loss</a:t>
            </a:r>
          </a:p>
          <a:p>
            <a:pPr algn="l">
              <a:lnSpc>
                <a:spcPts val="1968"/>
              </a:lnSpc>
              <a:spcBef>
                <a:spcPts val="0"/>
              </a:spcBef>
              <a:spcAft>
                <a:spcPts val="0"/>
              </a:spcAft>
              <a:defRPr sz="1600" b="0">
                <a:solidFill>
                  <a:srgbClr val="142C40"/>
                </a:solidFill>
                <a:latin typeface="DejaVu Sans"/>
              </a:defRPr>
            </a:pPr>
            <a:r>
              <a:t>~17 MB saved weights per adapter</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Frozen inputs and optimization</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Vision + connector + embeddings frozen</a:t>
            </a:r>
          </a:p>
          <a:p>
            <a:pPr algn="l">
              <a:lnSpc>
                <a:spcPts val="1968"/>
              </a:lnSpc>
              <a:spcBef>
                <a:spcPts val="0"/>
              </a:spcBef>
              <a:spcAft>
                <a:spcPts val="0"/>
              </a:spcAft>
              <a:defRPr sz="1600" b="0">
                <a:solidFill>
                  <a:srgbClr val="142C40"/>
                </a:solidFill>
                <a:latin typeface="DejaVu Sans"/>
              </a:defRPr>
            </a:pPr>
            <a:r>
              <a:t>64 cached visual tokens / image</a:t>
            </a:r>
          </a:p>
          <a:p>
            <a:pPr algn="l">
              <a:lnSpc>
                <a:spcPts val="1968"/>
              </a:lnSpc>
              <a:spcBef>
                <a:spcPts val="0"/>
              </a:spcBef>
              <a:spcAft>
                <a:spcPts val="0"/>
              </a:spcAft>
              <a:defRPr sz="1600" b="0">
                <a:solidFill>
                  <a:srgbClr val="142C40"/>
                </a:solidFill>
                <a:latin typeface="DejaVu Sans"/>
              </a:defRPr>
            </a:pPr>
            <a:r>
              <a:t>1 static / 4 temporal / 8 clip views</a:t>
            </a:r>
          </a:p>
          <a:p>
            <a:pPr algn="l">
              <a:lnSpc>
                <a:spcPts val="1968"/>
              </a:lnSpc>
              <a:spcBef>
                <a:spcPts val="0"/>
              </a:spcBef>
              <a:spcAft>
                <a:spcPts val="0"/>
              </a:spcAft>
              <a:defRPr sz="1600" b="0">
                <a:solidFill>
                  <a:srgbClr val="142C40"/>
                </a:solidFill>
                <a:latin typeface="DejaVu Sans"/>
              </a:defRPr>
            </a:pPr>
            <a:r>
              <a:t>BF16 training; F32 final scoring</a:t>
            </a:r>
          </a:p>
          <a:p>
            <a:pPr algn="l">
              <a:lnSpc>
                <a:spcPts val="1968"/>
              </a:lnSpc>
              <a:spcBef>
                <a:spcPts val="0"/>
              </a:spcBef>
              <a:spcAft>
                <a:spcPts val="0"/>
              </a:spcAft>
              <a:defRPr sz="1600" b="0">
                <a:solidFill>
                  <a:srgbClr val="142C40"/>
                </a:solidFill>
                <a:latin typeface="DejaVu Sans"/>
              </a:defRPr>
            </a:pPr>
            <a:r>
              <a:t>AdamW; effective batch 32</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This is model-weight adaptation. It does not update the image encoder or learn tracking and ownership.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CHECKPOINT SELECTION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Three trained candidates all select epoch one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Selection: mean source AP within each task, then equal macro average over five tasks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Three state files + primary frozen selection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33</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16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Seed</a:t>
            </a:r>
          </a:p>
        </p:txBody>
      </p:sp>
      <p:sp>
        <p:nvSpPr>
          <p:cNvPr id="12" name="TextBox 11"/>
          <p:cNvSpPr txBox="1"/>
          <p:nvPr/>
        </p:nvSpPr>
        <p:spPr>
          <a:xfrm>
            <a:off x="2057400" y="2273300"/>
            <a:ext cx="243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Learning rate</a:t>
            </a:r>
          </a:p>
        </p:txBody>
      </p:sp>
      <p:sp>
        <p:nvSpPr>
          <p:cNvPr id="13" name="TextBox 12"/>
          <p:cNvSpPr txBox="1"/>
          <p:nvPr/>
        </p:nvSpPr>
        <p:spPr>
          <a:xfrm>
            <a:off x="4724400" y="2273300"/>
            <a:ext cx="186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Best epoch</a:t>
            </a:r>
          </a:p>
        </p:txBody>
      </p:sp>
      <p:sp>
        <p:nvSpPr>
          <p:cNvPr id="14" name="TextBox 13"/>
          <p:cNvSpPr txBox="1"/>
          <p:nvPr/>
        </p:nvSpPr>
        <p:spPr>
          <a:xfrm>
            <a:off x="6819900" y="2273300"/>
            <a:ext cx="186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Epochs run</a:t>
            </a:r>
          </a:p>
        </p:txBody>
      </p:sp>
      <p:sp>
        <p:nvSpPr>
          <p:cNvPr id="15" name="TextBox 14"/>
          <p:cNvSpPr txBox="1"/>
          <p:nvPr/>
        </p:nvSpPr>
        <p:spPr>
          <a:xfrm>
            <a:off x="8915400" y="2273300"/>
            <a:ext cx="2641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macro AP</a:t>
            </a:r>
          </a:p>
        </p:txBody>
      </p:sp>
      <p:sp>
        <p:nvSpPr>
          <p:cNvPr id="16" name="Rectangle 15"/>
          <p:cNvSpPr/>
          <p:nvPr/>
        </p:nvSpPr>
        <p:spPr>
          <a:xfrm>
            <a:off x="533400" y="2667000"/>
            <a:ext cx="11125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1168400" cy="546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42</a:t>
            </a:r>
          </a:p>
        </p:txBody>
      </p:sp>
      <p:sp>
        <p:nvSpPr>
          <p:cNvPr id="18" name="TextBox 17"/>
          <p:cNvSpPr txBox="1"/>
          <p:nvPr/>
        </p:nvSpPr>
        <p:spPr>
          <a:xfrm>
            <a:off x="2057400" y="2781300"/>
            <a:ext cx="24384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3e-05</a:t>
            </a:r>
          </a:p>
        </p:txBody>
      </p:sp>
      <p:sp>
        <p:nvSpPr>
          <p:cNvPr id="19" name="TextBox 18"/>
          <p:cNvSpPr txBox="1"/>
          <p:nvPr/>
        </p:nvSpPr>
        <p:spPr>
          <a:xfrm>
            <a:off x="4724400" y="27813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a:t>
            </a:r>
          </a:p>
        </p:txBody>
      </p:sp>
      <p:sp>
        <p:nvSpPr>
          <p:cNvPr id="20" name="TextBox 19"/>
          <p:cNvSpPr txBox="1"/>
          <p:nvPr/>
        </p:nvSpPr>
        <p:spPr>
          <a:xfrm>
            <a:off x="6819900" y="27813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a:t>
            </a:r>
          </a:p>
        </p:txBody>
      </p:sp>
      <p:sp>
        <p:nvSpPr>
          <p:cNvPr id="21" name="TextBox 20"/>
          <p:cNvSpPr txBox="1"/>
          <p:nvPr/>
        </p:nvSpPr>
        <p:spPr>
          <a:xfrm>
            <a:off x="8915400" y="2781300"/>
            <a:ext cx="26416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0.6584</a:t>
            </a:r>
          </a:p>
        </p:txBody>
      </p:sp>
      <p:cxnSp>
        <p:nvCxnSpPr>
          <p:cNvPr id="22" name="Connector 21"/>
          <p:cNvCxnSpPr/>
          <p:nvPr/>
        </p:nvCxnSpPr>
        <p:spPr>
          <a:xfrm>
            <a:off x="533400" y="3352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352800"/>
            <a:ext cx="11125200" cy="685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467100"/>
            <a:ext cx="1168400" cy="546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42</a:t>
            </a:r>
          </a:p>
        </p:txBody>
      </p:sp>
      <p:sp>
        <p:nvSpPr>
          <p:cNvPr id="25" name="TextBox 24"/>
          <p:cNvSpPr txBox="1"/>
          <p:nvPr/>
        </p:nvSpPr>
        <p:spPr>
          <a:xfrm>
            <a:off x="2057400" y="3467100"/>
            <a:ext cx="24384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0.0001</a:t>
            </a:r>
          </a:p>
        </p:txBody>
      </p:sp>
      <p:sp>
        <p:nvSpPr>
          <p:cNvPr id="26" name="TextBox 25"/>
          <p:cNvSpPr txBox="1"/>
          <p:nvPr/>
        </p:nvSpPr>
        <p:spPr>
          <a:xfrm>
            <a:off x="4724400" y="34671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a:t>
            </a:r>
          </a:p>
        </p:txBody>
      </p:sp>
      <p:sp>
        <p:nvSpPr>
          <p:cNvPr id="27" name="TextBox 26"/>
          <p:cNvSpPr txBox="1"/>
          <p:nvPr/>
        </p:nvSpPr>
        <p:spPr>
          <a:xfrm>
            <a:off x="6819900" y="34671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a:t>
            </a:r>
          </a:p>
        </p:txBody>
      </p:sp>
      <p:sp>
        <p:nvSpPr>
          <p:cNvPr id="28" name="TextBox 27"/>
          <p:cNvSpPr txBox="1"/>
          <p:nvPr/>
        </p:nvSpPr>
        <p:spPr>
          <a:xfrm>
            <a:off x="8915400" y="3467100"/>
            <a:ext cx="26416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0.7026</a:t>
            </a:r>
          </a:p>
        </p:txBody>
      </p:sp>
      <p:cxnSp>
        <p:nvCxnSpPr>
          <p:cNvPr id="29" name="Connector 28"/>
          <p:cNvCxnSpPr/>
          <p:nvPr/>
        </p:nvCxnSpPr>
        <p:spPr>
          <a:xfrm>
            <a:off x="533400" y="4038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4038600"/>
            <a:ext cx="11125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152900"/>
            <a:ext cx="1168400" cy="546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43</a:t>
            </a:r>
          </a:p>
        </p:txBody>
      </p:sp>
      <p:sp>
        <p:nvSpPr>
          <p:cNvPr id="32" name="TextBox 31"/>
          <p:cNvSpPr txBox="1"/>
          <p:nvPr/>
        </p:nvSpPr>
        <p:spPr>
          <a:xfrm>
            <a:off x="2057400" y="4152900"/>
            <a:ext cx="24384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0.0001</a:t>
            </a:r>
          </a:p>
        </p:txBody>
      </p:sp>
      <p:sp>
        <p:nvSpPr>
          <p:cNvPr id="33" name="TextBox 32"/>
          <p:cNvSpPr txBox="1"/>
          <p:nvPr/>
        </p:nvSpPr>
        <p:spPr>
          <a:xfrm>
            <a:off x="4724400" y="41529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1</a:t>
            </a:r>
          </a:p>
        </p:txBody>
      </p:sp>
      <p:sp>
        <p:nvSpPr>
          <p:cNvPr id="34" name="TextBox 33"/>
          <p:cNvSpPr txBox="1"/>
          <p:nvPr/>
        </p:nvSpPr>
        <p:spPr>
          <a:xfrm>
            <a:off x="6819900" y="4152900"/>
            <a:ext cx="18669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3</a:t>
            </a:r>
          </a:p>
        </p:txBody>
      </p:sp>
      <p:sp>
        <p:nvSpPr>
          <p:cNvPr id="35" name="TextBox 34"/>
          <p:cNvSpPr txBox="1"/>
          <p:nvPr/>
        </p:nvSpPr>
        <p:spPr>
          <a:xfrm>
            <a:off x="8915400" y="4152900"/>
            <a:ext cx="2641600" cy="5461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0.6548</a:t>
            </a:r>
          </a:p>
        </p:txBody>
      </p:sp>
      <p:cxnSp>
        <p:nvCxnSpPr>
          <p:cNvPr id="36" name="Connector 35"/>
          <p:cNvCxnSpPr/>
          <p:nvPr/>
        </p:nvCxnSpPr>
        <p:spPr>
          <a:xfrm>
            <a:off x="533400" y="4724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Original dev AP 0.5657 → primary joint 0.7026. Task routing uses the low LR only for public sleep.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OPTIMIZATION BEHAVIOR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Training loss falls while development AP declines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high learning rate: 7,946 example visits per epoch • selected checkpoint = epoch 1</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seed_42/lr_0.0001/history.json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34</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67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Epoch</a:t>
            </a:r>
          </a:p>
        </p:txBody>
      </p:sp>
      <p:sp>
        <p:nvSpPr>
          <p:cNvPr id="12" name="TextBox 11"/>
          <p:cNvSpPr txBox="1"/>
          <p:nvPr/>
        </p:nvSpPr>
        <p:spPr>
          <a:xfrm>
            <a:off x="2565400" y="2273300"/>
            <a:ext cx="269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Train loss</a:t>
            </a:r>
          </a:p>
        </p:txBody>
      </p:sp>
      <p:sp>
        <p:nvSpPr>
          <p:cNvPr id="13" name="TextBox 12"/>
          <p:cNvSpPr txBox="1"/>
          <p:nvPr/>
        </p:nvSpPr>
        <p:spPr>
          <a:xfrm>
            <a:off x="5486400" y="2273300"/>
            <a:ext cx="2946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macro AP</a:t>
            </a:r>
          </a:p>
        </p:txBody>
      </p:sp>
      <p:sp>
        <p:nvSpPr>
          <p:cNvPr id="14" name="TextBox 13"/>
          <p:cNvSpPr txBox="1"/>
          <p:nvPr/>
        </p:nvSpPr>
        <p:spPr>
          <a:xfrm>
            <a:off x="8661400" y="2273300"/>
            <a:ext cx="289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Checkpoint status</a:t>
            </a:r>
          </a:p>
        </p:txBody>
      </p:sp>
      <p:sp>
        <p:nvSpPr>
          <p:cNvPr id="15" name="Rectangle 14"/>
          <p:cNvSpPr/>
          <p:nvPr/>
        </p:nvSpPr>
        <p:spPr>
          <a:xfrm>
            <a:off x="533400" y="26670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1676400" cy="5207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1</a:t>
            </a:r>
          </a:p>
        </p:txBody>
      </p:sp>
      <p:sp>
        <p:nvSpPr>
          <p:cNvPr id="17" name="TextBox 16"/>
          <p:cNvSpPr txBox="1"/>
          <p:nvPr/>
        </p:nvSpPr>
        <p:spPr>
          <a:xfrm>
            <a:off x="2565400" y="2781300"/>
            <a:ext cx="2692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0.4789</a:t>
            </a:r>
          </a:p>
        </p:txBody>
      </p:sp>
      <p:sp>
        <p:nvSpPr>
          <p:cNvPr id="18" name="TextBox 17"/>
          <p:cNvSpPr txBox="1"/>
          <p:nvPr/>
        </p:nvSpPr>
        <p:spPr>
          <a:xfrm>
            <a:off x="5486400" y="2781300"/>
            <a:ext cx="2946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0.7026</a:t>
            </a:r>
          </a:p>
        </p:txBody>
      </p:sp>
      <p:sp>
        <p:nvSpPr>
          <p:cNvPr id="19" name="TextBox 18"/>
          <p:cNvSpPr txBox="1"/>
          <p:nvPr/>
        </p:nvSpPr>
        <p:spPr>
          <a:xfrm>
            <a:off x="8661400" y="2781300"/>
            <a:ext cx="28956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SELECTED</a:t>
            </a:r>
          </a:p>
        </p:txBody>
      </p:sp>
      <p:cxnSp>
        <p:nvCxnSpPr>
          <p:cNvPr id="20" name="Connector 19"/>
          <p:cNvCxnSpPr/>
          <p:nvPr/>
        </p:nvCxnSpPr>
        <p:spPr>
          <a:xfrm>
            <a:off x="533400" y="3327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327400"/>
            <a:ext cx="11125200" cy="6604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441700"/>
            <a:ext cx="1676400" cy="5207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2</a:t>
            </a:r>
          </a:p>
        </p:txBody>
      </p:sp>
      <p:sp>
        <p:nvSpPr>
          <p:cNvPr id="23" name="TextBox 22"/>
          <p:cNvSpPr txBox="1"/>
          <p:nvPr/>
        </p:nvSpPr>
        <p:spPr>
          <a:xfrm>
            <a:off x="2565400" y="3441700"/>
            <a:ext cx="2692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0.2895</a:t>
            </a:r>
          </a:p>
        </p:txBody>
      </p:sp>
      <p:sp>
        <p:nvSpPr>
          <p:cNvPr id="24" name="TextBox 23"/>
          <p:cNvSpPr txBox="1"/>
          <p:nvPr/>
        </p:nvSpPr>
        <p:spPr>
          <a:xfrm>
            <a:off x="5486400" y="3441700"/>
            <a:ext cx="2946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0.6485</a:t>
            </a:r>
          </a:p>
        </p:txBody>
      </p:sp>
      <p:sp>
        <p:nvSpPr>
          <p:cNvPr id="25" name="TextBox 24"/>
          <p:cNvSpPr txBox="1"/>
          <p:nvPr/>
        </p:nvSpPr>
        <p:spPr>
          <a:xfrm>
            <a:off x="8661400" y="3441700"/>
            <a:ext cx="28956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Retained history</a:t>
            </a:r>
          </a:p>
        </p:txBody>
      </p:sp>
      <p:cxnSp>
        <p:nvCxnSpPr>
          <p:cNvPr id="26" name="Connector 25"/>
          <p:cNvCxnSpPr/>
          <p:nvPr/>
        </p:nvCxnSpPr>
        <p:spPr>
          <a:xfrm>
            <a:off x="533400" y="398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87800"/>
            <a:ext cx="11125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102100"/>
            <a:ext cx="1676400" cy="5207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3</a:t>
            </a:r>
          </a:p>
        </p:txBody>
      </p:sp>
      <p:sp>
        <p:nvSpPr>
          <p:cNvPr id="29" name="TextBox 28"/>
          <p:cNvSpPr txBox="1"/>
          <p:nvPr/>
        </p:nvSpPr>
        <p:spPr>
          <a:xfrm>
            <a:off x="2565400" y="4102100"/>
            <a:ext cx="2692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0.2235</a:t>
            </a:r>
          </a:p>
        </p:txBody>
      </p:sp>
      <p:sp>
        <p:nvSpPr>
          <p:cNvPr id="30" name="TextBox 29"/>
          <p:cNvSpPr txBox="1"/>
          <p:nvPr/>
        </p:nvSpPr>
        <p:spPr>
          <a:xfrm>
            <a:off x="5486400" y="4102100"/>
            <a:ext cx="29464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0.6276</a:t>
            </a:r>
          </a:p>
        </p:txBody>
      </p:sp>
      <p:sp>
        <p:nvSpPr>
          <p:cNvPr id="31" name="TextBox 30"/>
          <p:cNvSpPr txBox="1"/>
          <p:nvPr/>
        </p:nvSpPr>
        <p:spPr>
          <a:xfrm>
            <a:off x="8661400" y="4102100"/>
            <a:ext cx="2895600" cy="5207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Retained history</a:t>
            </a:r>
          </a:p>
        </p:txBody>
      </p:sp>
      <p:cxnSp>
        <p:nvCxnSpPr>
          <p:cNvPr id="32" name="Connector 31"/>
          <p:cNvCxnSpPr/>
          <p:nvPr/>
        </p:nvCxnSpPr>
        <p:spPr>
          <a:xfrm>
            <a:off x="533400" y="4648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6600" y="4838700"/>
            <a:ext cx="10718800" cy="431800"/>
          </a:xfrm>
          <a:prstGeom prst="rect">
            <a:avLst/>
          </a:prstGeom>
          <a:noFill/>
        </p:spPr>
        <p:txBody>
          <a:bodyPr wrap="none" lIns="0" rIns="0" tIns="0" bIns="0" anchor="t">
            <a:spAutoFit/>
          </a:bodyPr>
          <a:lstStyle/>
          <a:p>
            <a:pPr algn="l">
              <a:lnSpc>
                <a:spcPts val="2214"/>
              </a:lnSpc>
              <a:spcBef>
                <a:spcPts val="0"/>
              </a:spcBef>
              <a:spcAft>
                <a:spcPts val="0"/>
              </a:spcAft>
              <a:defRPr sz="1800" b="1">
                <a:solidFill>
                  <a:srgbClr val="C86535"/>
                </a:solidFill>
                <a:latin typeface="DejaVu Sans"/>
              </a:defRPr>
            </a:pPr>
            <a:r>
              <a:t>Source transfer deteriorates before the planned six-epoch limit.</a:t>
            </a:r>
          </a:p>
        </p:txBody>
      </p:sp>
      <p:sp>
        <p:nvSpPr>
          <p:cNvPr id="34" name="Rectangle 3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Early stopping protects the selected checkpoint; the lowest-loss final weights are not promoted.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MATCHED PRIMARY RANKING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LoRA improves selected rankings and regresses on</a:t>
            </a:r>
          </a:p>
          <a:p>
            <a:pPr algn="l">
              <a:lnSpc>
                <a:spcPts val="3690"/>
              </a:lnSpc>
              <a:spcBef>
                <a:spcPts val="0"/>
              </a:spcBef>
              <a:spcAft>
                <a:spcPts val="0"/>
              </a:spcAft>
              <a:defRPr sz="3000" b="1">
                <a:solidFill>
                  <a:srgbClr val="142C40"/>
                </a:solidFill>
                <a:latin typeface="DejaVu Sans"/>
              </a:defRPr>
            </a:pPr>
            <a:r>
              <a:t>loitering</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Primary seed 42 • identical inputs and binary scoring • AP is ranking, not accuracy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SmolVLM metrics.csv / original, joint and routed</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35</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479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Task / source</a:t>
            </a:r>
          </a:p>
        </p:txBody>
      </p:sp>
      <p:sp>
        <p:nvSpPr>
          <p:cNvPr id="12" name="TextBox 11"/>
          <p:cNvSpPr txBox="1"/>
          <p:nvPr/>
        </p:nvSpPr>
        <p:spPr>
          <a:xfrm>
            <a:off x="4368800" y="2273300"/>
            <a:ext cx="1358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Total / +</a:t>
            </a:r>
          </a:p>
        </p:txBody>
      </p:sp>
      <p:sp>
        <p:nvSpPr>
          <p:cNvPr id="13" name="TextBox 12"/>
          <p:cNvSpPr txBox="1"/>
          <p:nvPr/>
        </p:nvSpPr>
        <p:spPr>
          <a:xfrm>
            <a:off x="59563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Original AP</a:t>
            </a:r>
          </a:p>
        </p:txBody>
      </p:sp>
      <p:sp>
        <p:nvSpPr>
          <p:cNvPr id="14" name="TextBox 13"/>
          <p:cNvSpPr txBox="1"/>
          <p:nvPr/>
        </p:nvSpPr>
        <p:spPr>
          <a:xfrm>
            <a:off x="78994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Joint AP</a:t>
            </a:r>
          </a:p>
        </p:txBody>
      </p:sp>
      <p:sp>
        <p:nvSpPr>
          <p:cNvPr id="15" name="TextBox 14"/>
          <p:cNvSpPr txBox="1"/>
          <p:nvPr/>
        </p:nvSpPr>
        <p:spPr>
          <a:xfrm>
            <a:off x="98425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Routed AP</a:t>
            </a:r>
          </a:p>
        </p:txBody>
      </p:sp>
      <p:sp>
        <p:nvSpPr>
          <p:cNvPr id="16" name="Rectangle 15"/>
          <p:cNvSpPr/>
          <p:nvPr/>
        </p:nvSpPr>
        <p:spPr>
          <a:xfrm>
            <a:off x="533400" y="26670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photos / Kaggle</a:t>
            </a:r>
          </a:p>
        </p:txBody>
      </p:sp>
      <p:sp>
        <p:nvSpPr>
          <p:cNvPr id="18" name="TextBox 17"/>
          <p:cNvSpPr txBox="1"/>
          <p:nvPr/>
        </p:nvSpPr>
        <p:spPr>
          <a:xfrm>
            <a:off x="4368800" y="27813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224 / 112</a:t>
            </a:r>
          </a:p>
        </p:txBody>
      </p:sp>
      <p:sp>
        <p:nvSpPr>
          <p:cNvPr id="19" name="TextBox 18"/>
          <p:cNvSpPr txBox="1"/>
          <p:nvPr/>
        </p:nvSpPr>
        <p:spPr>
          <a:xfrm>
            <a:off x="5956300" y="2781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0.9670</a:t>
            </a:r>
          </a:p>
        </p:txBody>
      </p:sp>
      <p:sp>
        <p:nvSpPr>
          <p:cNvPr id="20" name="TextBox 19"/>
          <p:cNvSpPr txBox="1"/>
          <p:nvPr/>
        </p:nvSpPr>
        <p:spPr>
          <a:xfrm>
            <a:off x="7899400" y="2781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0.9844</a:t>
            </a:r>
          </a:p>
        </p:txBody>
      </p:sp>
      <p:sp>
        <p:nvSpPr>
          <p:cNvPr id="21" name="TextBox 20"/>
          <p:cNvSpPr txBox="1"/>
          <p:nvPr/>
        </p:nvSpPr>
        <p:spPr>
          <a:xfrm>
            <a:off x="9842500" y="2781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0.9844</a:t>
            </a:r>
          </a:p>
        </p:txBody>
      </p:sp>
      <p:cxnSp>
        <p:nvCxnSpPr>
          <p:cNvPr id="22" name="Connector 21"/>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0988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2131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CCTV</a:t>
            </a:r>
          </a:p>
        </p:txBody>
      </p:sp>
      <p:sp>
        <p:nvSpPr>
          <p:cNvPr id="25" name="TextBox 24"/>
          <p:cNvSpPr txBox="1"/>
          <p:nvPr/>
        </p:nvSpPr>
        <p:spPr>
          <a:xfrm>
            <a:off x="4368800" y="32131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646 / 393</a:t>
            </a:r>
          </a:p>
        </p:txBody>
      </p:sp>
      <p:sp>
        <p:nvSpPr>
          <p:cNvPr id="26" name="TextBox 25"/>
          <p:cNvSpPr txBox="1"/>
          <p:nvPr/>
        </p:nvSpPr>
        <p:spPr>
          <a:xfrm>
            <a:off x="5956300" y="32131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0.5999</a:t>
            </a:r>
          </a:p>
        </p:txBody>
      </p:sp>
      <p:sp>
        <p:nvSpPr>
          <p:cNvPr id="27" name="TextBox 26"/>
          <p:cNvSpPr txBox="1"/>
          <p:nvPr/>
        </p:nvSpPr>
        <p:spPr>
          <a:xfrm>
            <a:off x="7899400" y="32131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0.6225</a:t>
            </a:r>
          </a:p>
        </p:txBody>
      </p:sp>
      <p:sp>
        <p:nvSpPr>
          <p:cNvPr id="28" name="TextBox 27"/>
          <p:cNvSpPr txBox="1"/>
          <p:nvPr/>
        </p:nvSpPr>
        <p:spPr>
          <a:xfrm>
            <a:off x="9842500" y="32131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0.6225</a:t>
            </a:r>
          </a:p>
        </p:txBody>
      </p:sp>
      <p:cxnSp>
        <p:nvCxnSpPr>
          <p:cNvPr id="29" name="Connector 28"/>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5306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6449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IWDD</a:t>
            </a:r>
          </a:p>
        </p:txBody>
      </p:sp>
      <p:sp>
        <p:nvSpPr>
          <p:cNvPr id="32" name="TextBox 31"/>
          <p:cNvSpPr txBox="1"/>
          <p:nvPr/>
        </p:nvSpPr>
        <p:spPr>
          <a:xfrm>
            <a:off x="4368800" y="36449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100 / 50</a:t>
            </a:r>
          </a:p>
        </p:txBody>
      </p:sp>
      <p:sp>
        <p:nvSpPr>
          <p:cNvPr id="33" name="TextBox 32"/>
          <p:cNvSpPr txBox="1"/>
          <p:nvPr/>
        </p:nvSpPr>
        <p:spPr>
          <a:xfrm>
            <a:off x="5956300" y="36449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0.5922</a:t>
            </a:r>
          </a:p>
        </p:txBody>
      </p:sp>
      <p:sp>
        <p:nvSpPr>
          <p:cNvPr id="34" name="TextBox 33"/>
          <p:cNvSpPr txBox="1"/>
          <p:nvPr/>
        </p:nvSpPr>
        <p:spPr>
          <a:xfrm>
            <a:off x="7899400" y="36449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0.7660</a:t>
            </a:r>
          </a:p>
        </p:txBody>
      </p:sp>
      <p:sp>
        <p:nvSpPr>
          <p:cNvPr id="35" name="TextBox 34"/>
          <p:cNvSpPr txBox="1"/>
          <p:nvPr/>
        </p:nvSpPr>
        <p:spPr>
          <a:xfrm>
            <a:off x="9842500" y="36449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0.7660</a:t>
            </a:r>
          </a:p>
        </p:txBody>
      </p:sp>
      <p:cxnSp>
        <p:nvCxnSpPr>
          <p:cNvPr id="36" name="Connector 35"/>
          <p:cNvCxnSpPr/>
          <p:nvPr/>
        </p:nvCxnSpPr>
        <p:spPr>
          <a:xfrm>
            <a:off x="533400" y="396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39624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0767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 / Street Scene</a:t>
            </a:r>
          </a:p>
        </p:txBody>
      </p:sp>
      <p:sp>
        <p:nvSpPr>
          <p:cNvPr id="39" name="TextBox 38"/>
          <p:cNvSpPr txBox="1"/>
          <p:nvPr/>
        </p:nvSpPr>
        <p:spPr>
          <a:xfrm>
            <a:off x="4368800" y="40767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75 / 11</a:t>
            </a:r>
          </a:p>
        </p:txBody>
      </p:sp>
      <p:sp>
        <p:nvSpPr>
          <p:cNvPr id="40" name="TextBox 39"/>
          <p:cNvSpPr txBox="1"/>
          <p:nvPr/>
        </p:nvSpPr>
        <p:spPr>
          <a:xfrm>
            <a:off x="5956300" y="40767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0.4250</a:t>
            </a:r>
          </a:p>
        </p:txBody>
      </p:sp>
      <p:sp>
        <p:nvSpPr>
          <p:cNvPr id="41" name="TextBox 40"/>
          <p:cNvSpPr txBox="1"/>
          <p:nvPr/>
        </p:nvSpPr>
        <p:spPr>
          <a:xfrm>
            <a:off x="7899400" y="40767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0.1822</a:t>
            </a:r>
          </a:p>
        </p:txBody>
      </p:sp>
      <p:sp>
        <p:nvSpPr>
          <p:cNvPr id="42" name="TextBox 41"/>
          <p:cNvSpPr txBox="1"/>
          <p:nvPr/>
        </p:nvSpPr>
        <p:spPr>
          <a:xfrm>
            <a:off x="9842500" y="40767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0.1822</a:t>
            </a:r>
          </a:p>
        </p:txBody>
      </p:sp>
      <p:cxnSp>
        <p:nvCxnSpPr>
          <p:cNvPr id="43" name="Connector 42"/>
          <p:cNvCxnSpPr/>
          <p:nvPr/>
        </p:nvCxnSpPr>
        <p:spPr>
          <a:xfrm>
            <a:off x="533400" y="439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43942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400" y="45085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 / historical</a:t>
            </a:r>
          </a:p>
        </p:txBody>
      </p:sp>
      <p:sp>
        <p:nvSpPr>
          <p:cNvPr id="46" name="TextBox 45"/>
          <p:cNvSpPr txBox="1"/>
          <p:nvPr/>
        </p:nvSpPr>
        <p:spPr>
          <a:xfrm>
            <a:off x="4368800" y="45085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18 / 6</a:t>
            </a:r>
          </a:p>
        </p:txBody>
      </p:sp>
      <p:sp>
        <p:nvSpPr>
          <p:cNvPr id="47" name="TextBox 46"/>
          <p:cNvSpPr txBox="1"/>
          <p:nvPr/>
        </p:nvSpPr>
        <p:spPr>
          <a:xfrm>
            <a:off x="5956300" y="45085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0.7437</a:t>
            </a:r>
          </a:p>
        </p:txBody>
      </p:sp>
      <p:sp>
        <p:nvSpPr>
          <p:cNvPr id="48" name="TextBox 47"/>
          <p:cNvSpPr txBox="1"/>
          <p:nvPr/>
        </p:nvSpPr>
        <p:spPr>
          <a:xfrm>
            <a:off x="7899400" y="45085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0.6327</a:t>
            </a:r>
          </a:p>
        </p:txBody>
      </p:sp>
      <p:sp>
        <p:nvSpPr>
          <p:cNvPr id="49" name="TextBox 48"/>
          <p:cNvSpPr txBox="1"/>
          <p:nvPr/>
        </p:nvSpPr>
        <p:spPr>
          <a:xfrm>
            <a:off x="9842500" y="45085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0.7885</a:t>
            </a:r>
          </a:p>
        </p:txBody>
      </p:sp>
      <p:cxnSp>
        <p:nvCxnSpPr>
          <p:cNvPr id="50" name="Connector 49"/>
          <p:cNvCxnSpPr/>
          <p:nvPr/>
        </p:nvCxnSpPr>
        <p:spPr>
          <a:xfrm>
            <a:off x="533400" y="4826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48260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0400" y="4940300"/>
            <a:ext cx="34798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 historical</a:t>
            </a:r>
          </a:p>
        </p:txBody>
      </p:sp>
      <p:sp>
        <p:nvSpPr>
          <p:cNvPr id="53" name="TextBox 52"/>
          <p:cNvSpPr txBox="1"/>
          <p:nvPr/>
        </p:nvSpPr>
        <p:spPr>
          <a:xfrm>
            <a:off x="4368800" y="4940300"/>
            <a:ext cx="13589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962 / 242</a:t>
            </a:r>
          </a:p>
        </p:txBody>
      </p:sp>
      <p:sp>
        <p:nvSpPr>
          <p:cNvPr id="54" name="TextBox 53"/>
          <p:cNvSpPr txBox="1"/>
          <p:nvPr/>
        </p:nvSpPr>
        <p:spPr>
          <a:xfrm>
            <a:off x="5956300" y="4940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0.4762</a:t>
            </a:r>
          </a:p>
        </p:txBody>
      </p:sp>
      <p:sp>
        <p:nvSpPr>
          <p:cNvPr id="55" name="TextBox 54"/>
          <p:cNvSpPr txBox="1"/>
          <p:nvPr/>
        </p:nvSpPr>
        <p:spPr>
          <a:xfrm>
            <a:off x="7899400" y="4940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0.6933</a:t>
            </a:r>
          </a:p>
        </p:txBody>
      </p:sp>
      <p:sp>
        <p:nvSpPr>
          <p:cNvPr id="56" name="TextBox 55"/>
          <p:cNvSpPr txBox="1"/>
          <p:nvPr/>
        </p:nvSpPr>
        <p:spPr>
          <a:xfrm>
            <a:off x="9842500" y="4940300"/>
            <a:ext cx="17145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0.6933</a:t>
            </a:r>
          </a:p>
        </p:txBody>
      </p:sp>
      <p:cxnSp>
        <p:nvCxnSpPr>
          <p:cNvPr id="57" name="Connector 56"/>
          <p:cNvCxnSpPr/>
          <p:nvPr/>
        </p:nvCxnSpPr>
        <p:spPr>
          <a:xfrm>
            <a:off x="533400" y="525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Joint sleep regresses; low-LR routing helps. CCTV AP 0.6225 is only slightly above constant AP 0.6084.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OTHER-SOURCE TRANSFER</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Photo and action-source gains do not validate</a:t>
            </a:r>
          </a:p>
          <a:p>
            <a:pPr algn="l">
              <a:lnSpc>
                <a:spcPts val="3690"/>
              </a:lnSpc>
              <a:spcBef>
                <a:spcPts val="0"/>
              </a:spcBef>
              <a:spcAft>
                <a:spcPts val="0"/>
              </a:spcAft>
              <a:defRPr sz="3000" b="1">
                <a:solidFill>
                  <a:srgbClr val="142C40"/>
                </a:solidFill>
                <a:latin typeface="DejaVu Sans"/>
              </a:defRPr>
            </a:pPr>
            <a:r>
              <a:t>events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No transfer example is used for SmolVLM training, route selection or calibration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SmolVLM additional-transfer / source summaries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36</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479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Source</a:t>
            </a:r>
          </a:p>
        </p:txBody>
      </p:sp>
      <p:sp>
        <p:nvSpPr>
          <p:cNvPr id="12" name="TextBox 11"/>
          <p:cNvSpPr txBox="1"/>
          <p:nvPr/>
        </p:nvSpPr>
        <p:spPr>
          <a:xfrm>
            <a:off x="4368800" y="2273300"/>
            <a:ext cx="1358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Total / +</a:t>
            </a:r>
          </a:p>
        </p:txBody>
      </p:sp>
      <p:sp>
        <p:nvSpPr>
          <p:cNvPr id="13" name="TextBox 12"/>
          <p:cNvSpPr txBox="1"/>
          <p:nvPr/>
        </p:nvSpPr>
        <p:spPr>
          <a:xfrm>
            <a:off x="59563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Original AP</a:t>
            </a:r>
          </a:p>
        </p:txBody>
      </p:sp>
      <p:sp>
        <p:nvSpPr>
          <p:cNvPr id="14" name="TextBox 13"/>
          <p:cNvSpPr txBox="1"/>
          <p:nvPr/>
        </p:nvSpPr>
        <p:spPr>
          <a:xfrm>
            <a:off x="78994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Joint AP</a:t>
            </a:r>
          </a:p>
        </p:txBody>
      </p:sp>
      <p:sp>
        <p:nvSpPr>
          <p:cNvPr id="15" name="TextBox 14"/>
          <p:cNvSpPr txBox="1"/>
          <p:nvPr/>
        </p:nvSpPr>
        <p:spPr>
          <a:xfrm>
            <a:off x="9842500" y="2273300"/>
            <a:ext cx="1714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Routed AP</a:t>
            </a:r>
          </a:p>
        </p:txBody>
      </p:sp>
      <p:sp>
        <p:nvSpPr>
          <p:cNvPr id="16" name="Rectangle 15"/>
          <p:cNvSpPr/>
          <p:nvPr/>
        </p:nvSpPr>
        <p:spPr>
          <a:xfrm>
            <a:off x="533400" y="26670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81300"/>
            <a:ext cx="3479800" cy="4699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Stanford40</a:t>
            </a:r>
          </a:p>
        </p:txBody>
      </p:sp>
      <p:sp>
        <p:nvSpPr>
          <p:cNvPr id="18" name="TextBox 17"/>
          <p:cNvSpPr txBox="1"/>
          <p:nvPr/>
        </p:nvSpPr>
        <p:spPr>
          <a:xfrm>
            <a:off x="4368800" y="2781300"/>
            <a:ext cx="13589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806 / 140</a:t>
            </a:r>
          </a:p>
        </p:txBody>
      </p:sp>
      <p:sp>
        <p:nvSpPr>
          <p:cNvPr id="19" name="TextBox 18"/>
          <p:cNvSpPr txBox="1"/>
          <p:nvPr/>
        </p:nvSpPr>
        <p:spPr>
          <a:xfrm>
            <a:off x="5956300" y="27813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0.5831</a:t>
            </a:r>
          </a:p>
        </p:txBody>
      </p:sp>
      <p:sp>
        <p:nvSpPr>
          <p:cNvPr id="20" name="TextBox 19"/>
          <p:cNvSpPr txBox="1"/>
          <p:nvPr/>
        </p:nvSpPr>
        <p:spPr>
          <a:xfrm>
            <a:off x="7899400" y="27813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0.8900</a:t>
            </a:r>
          </a:p>
        </p:txBody>
      </p:sp>
      <p:sp>
        <p:nvSpPr>
          <p:cNvPr id="21" name="TextBox 20"/>
          <p:cNvSpPr txBox="1"/>
          <p:nvPr/>
        </p:nvSpPr>
        <p:spPr>
          <a:xfrm>
            <a:off x="9842500" y="27813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0.8900</a:t>
            </a:r>
          </a:p>
        </p:txBody>
      </p:sp>
      <p:cxnSp>
        <p:nvCxnSpPr>
          <p:cNvPr id="22" name="Connector 21"/>
          <p:cNvCxnSpPr/>
          <p:nvPr/>
        </p:nvCxnSpPr>
        <p:spPr>
          <a:xfrm>
            <a:off x="533400" y="3276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2766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390900"/>
            <a:ext cx="3479800" cy="4699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HMDB</a:t>
            </a:r>
          </a:p>
        </p:txBody>
      </p:sp>
      <p:sp>
        <p:nvSpPr>
          <p:cNvPr id="25" name="TextBox 24"/>
          <p:cNvSpPr txBox="1"/>
          <p:nvPr/>
        </p:nvSpPr>
        <p:spPr>
          <a:xfrm>
            <a:off x="4368800" y="3390900"/>
            <a:ext cx="13589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906 / 109</a:t>
            </a:r>
          </a:p>
        </p:txBody>
      </p:sp>
      <p:sp>
        <p:nvSpPr>
          <p:cNvPr id="26" name="TextBox 25"/>
          <p:cNvSpPr txBox="1"/>
          <p:nvPr/>
        </p:nvSpPr>
        <p:spPr>
          <a:xfrm>
            <a:off x="5956300" y="33909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0.7638</a:t>
            </a:r>
          </a:p>
        </p:txBody>
      </p:sp>
      <p:sp>
        <p:nvSpPr>
          <p:cNvPr id="27" name="TextBox 26"/>
          <p:cNvSpPr txBox="1"/>
          <p:nvPr/>
        </p:nvSpPr>
        <p:spPr>
          <a:xfrm>
            <a:off x="7899400" y="33909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0.7837</a:t>
            </a:r>
          </a:p>
        </p:txBody>
      </p:sp>
      <p:sp>
        <p:nvSpPr>
          <p:cNvPr id="28" name="TextBox 27"/>
          <p:cNvSpPr txBox="1"/>
          <p:nvPr/>
        </p:nvSpPr>
        <p:spPr>
          <a:xfrm>
            <a:off x="9842500" y="33909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0.7837</a:t>
            </a:r>
          </a:p>
        </p:txBody>
      </p:sp>
      <p:cxnSp>
        <p:nvCxnSpPr>
          <p:cNvPr id="29" name="Connector 28"/>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886200"/>
            <a:ext cx="111252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4000500"/>
            <a:ext cx="3479800" cy="4699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 / new authors</a:t>
            </a:r>
          </a:p>
        </p:txBody>
      </p:sp>
      <p:sp>
        <p:nvSpPr>
          <p:cNvPr id="32" name="TextBox 31"/>
          <p:cNvSpPr txBox="1"/>
          <p:nvPr/>
        </p:nvSpPr>
        <p:spPr>
          <a:xfrm>
            <a:off x="4368800" y="4000500"/>
            <a:ext cx="13589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28 / 17</a:t>
            </a:r>
          </a:p>
        </p:txBody>
      </p:sp>
      <p:sp>
        <p:nvSpPr>
          <p:cNvPr id="33" name="TextBox 32"/>
          <p:cNvSpPr txBox="1"/>
          <p:nvPr/>
        </p:nvSpPr>
        <p:spPr>
          <a:xfrm>
            <a:off x="5956300" y="40005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0.8062</a:t>
            </a:r>
          </a:p>
        </p:txBody>
      </p:sp>
      <p:sp>
        <p:nvSpPr>
          <p:cNvPr id="34" name="TextBox 33"/>
          <p:cNvSpPr txBox="1"/>
          <p:nvPr/>
        </p:nvSpPr>
        <p:spPr>
          <a:xfrm>
            <a:off x="7899400" y="40005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0.8441</a:t>
            </a:r>
          </a:p>
        </p:txBody>
      </p:sp>
      <p:sp>
        <p:nvSpPr>
          <p:cNvPr id="35" name="TextBox 34"/>
          <p:cNvSpPr txBox="1"/>
          <p:nvPr/>
        </p:nvSpPr>
        <p:spPr>
          <a:xfrm>
            <a:off x="9842500" y="40005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0.8904</a:t>
            </a:r>
          </a:p>
        </p:txBody>
      </p:sp>
      <p:cxnSp>
        <p:nvCxnSpPr>
          <p:cNvPr id="36" name="Connector 35"/>
          <p:cNvCxnSpPr/>
          <p:nvPr/>
        </p:nvCxnSpPr>
        <p:spPr>
          <a:xfrm>
            <a:off x="533400" y="4495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4958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610100"/>
            <a:ext cx="3479800" cy="4699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MEVA abandonment action</a:t>
            </a:r>
          </a:p>
        </p:txBody>
      </p:sp>
      <p:sp>
        <p:nvSpPr>
          <p:cNvPr id="39" name="TextBox 38"/>
          <p:cNvSpPr txBox="1"/>
          <p:nvPr/>
        </p:nvSpPr>
        <p:spPr>
          <a:xfrm>
            <a:off x="4368800" y="4610100"/>
            <a:ext cx="13589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27 / 15</a:t>
            </a:r>
          </a:p>
        </p:txBody>
      </p:sp>
      <p:sp>
        <p:nvSpPr>
          <p:cNvPr id="40" name="TextBox 39"/>
          <p:cNvSpPr txBox="1"/>
          <p:nvPr/>
        </p:nvSpPr>
        <p:spPr>
          <a:xfrm>
            <a:off x="5956300" y="46101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0.6076</a:t>
            </a:r>
          </a:p>
        </p:txBody>
      </p:sp>
      <p:sp>
        <p:nvSpPr>
          <p:cNvPr id="41" name="TextBox 40"/>
          <p:cNvSpPr txBox="1"/>
          <p:nvPr/>
        </p:nvSpPr>
        <p:spPr>
          <a:xfrm>
            <a:off x="7899400" y="46101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0.6457</a:t>
            </a:r>
          </a:p>
        </p:txBody>
      </p:sp>
      <p:sp>
        <p:nvSpPr>
          <p:cNvPr id="42" name="TextBox 41"/>
          <p:cNvSpPr txBox="1"/>
          <p:nvPr/>
        </p:nvSpPr>
        <p:spPr>
          <a:xfrm>
            <a:off x="9842500" y="4610100"/>
            <a:ext cx="1714500" cy="4699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0.6457</a:t>
            </a:r>
          </a:p>
        </p:txBody>
      </p:sp>
      <p:cxnSp>
        <p:nvCxnSpPr>
          <p:cNvPr id="43" name="Connector 42"/>
          <p:cNvCxnSpPr/>
          <p:nvPr/>
        </p:nvCxnSpPr>
        <p:spPr>
          <a:xfrm>
            <a:off x="533400" y="510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All four routed APs rise. Labels remain source-specific: action clips, provisional sleep, and abandonment</a:t>
            </a:r>
          </a:p>
          <a:p>
            <a:pPr algn="l">
              <a:lnSpc>
                <a:spcPts val="1722"/>
              </a:lnSpc>
              <a:spcBef>
                <a:spcPts val="0"/>
              </a:spcBef>
              <a:spcAft>
                <a:spcPts val="0"/>
              </a:spcAft>
              <a:defRPr sz="1400" b="1">
                <a:solidFill>
                  <a:srgbClr val="C86535"/>
                </a:solidFill>
                <a:latin typeface="DejaVu Sans"/>
              </a:defRPr>
            </a:pPr>
            <a:r>
              <a:t>actions.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FIXED DECISIONS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development FPR cutoff fails on unattended</a:t>
            </a:r>
          </a:p>
          <a:p>
            <a:pPr algn="l">
              <a:lnSpc>
                <a:spcPts val="3690"/>
              </a:lnSpc>
              <a:spcBef>
                <a:spcPts val="0"/>
              </a:spcBef>
              <a:spcAft>
                <a:spcPts val="0"/>
              </a:spcAft>
              <a:defRPr sz="3000" b="1">
                <a:solidFill>
                  <a:srgbClr val="142C40"/>
                </a:solidFill>
                <a:latin typeface="DejaVu Sans"/>
              </a:defRPr>
            </a:pPr>
            <a:r>
              <a:t>items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Each target cutoff allows ≤5% pooled development FPR; held-out FPR can exceed it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Primary routed scores / frozen development-budget cutoffs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37</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96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Task / source</a:t>
            </a:r>
          </a:p>
        </p:txBody>
      </p:sp>
      <p:sp>
        <p:nvSpPr>
          <p:cNvPr id="12" name="TextBox 11"/>
          <p:cNvSpPr txBox="1"/>
          <p:nvPr/>
        </p:nvSpPr>
        <p:spPr>
          <a:xfrm>
            <a:off x="4851400" y="2273300"/>
            <a:ext cx="154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3" name="TextBox 12"/>
          <p:cNvSpPr txBox="1"/>
          <p:nvPr/>
        </p:nvSpPr>
        <p:spPr>
          <a:xfrm>
            <a:off x="6629400" y="2273300"/>
            <a:ext cx="1549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4" name="TextBox 13"/>
          <p:cNvSpPr txBox="1"/>
          <p:nvPr/>
        </p:nvSpPr>
        <p:spPr>
          <a:xfrm>
            <a:off x="8407400" y="2273300"/>
            <a:ext cx="3149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True / false positives</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9624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Smoking / CCTV</a:t>
            </a:r>
          </a:p>
        </p:txBody>
      </p:sp>
      <p:sp>
        <p:nvSpPr>
          <p:cNvPr id="17" name="TextBox 16"/>
          <p:cNvSpPr txBox="1"/>
          <p:nvPr/>
        </p:nvSpPr>
        <p:spPr>
          <a:xfrm>
            <a:off x="4851400" y="27813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1.8%</a:t>
            </a:r>
          </a:p>
        </p:txBody>
      </p:sp>
      <p:sp>
        <p:nvSpPr>
          <p:cNvPr id="18" name="TextBox 17"/>
          <p:cNvSpPr txBox="1"/>
          <p:nvPr/>
        </p:nvSpPr>
        <p:spPr>
          <a:xfrm>
            <a:off x="6629400" y="27813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0.0%</a:t>
            </a:r>
          </a:p>
        </p:txBody>
      </p:sp>
      <p:sp>
        <p:nvSpPr>
          <p:cNvPr id="19" name="TextBox 18"/>
          <p:cNvSpPr txBox="1"/>
          <p:nvPr/>
        </p:nvSpPr>
        <p:spPr>
          <a:xfrm>
            <a:off x="8407400" y="2781300"/>
            <a:ext cx="3149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7 / 0</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39624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Littering / IWDD</a:t>
            </a:r>
          </a:p>
        </p:txBody>
      </p:sp>
      <p:sp>
        <p:nvSpPr>
          <p:cNvPr id="23" name="TextBox 22"/>
          <p:cNvSpPr txBox="1"/>
          <p:nvPr/>
        </p:nvSpPr>
        <p:spPr>
          <a:xfrm>
            <a:off x="4851400" y="33274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30.0%</a:t>
            </a:r>
          </a:p>
        </p:txBody>
      </p:sp>
      <p:sp>
        <p:nvSpPr>
          <p:cNvPr id="24" name="TextBox 23"/>
          <p:cNvSpPr txBox="1"/>
          <p:nvPr/>
        </p:nvSpPr>
        <p:spPr>
          <a:xfrm>
            <a:off x="6629400" y="33274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8.0%</a:t>
            </a:r>
          </a:p>
        </p:txBody>
      </p:sp>
      <p:sp>
        <p:nvSpPr>
          <p:cNvPr id="25" name="TextBox 24"/>
          <p:cNvSpPr txBox="1"/>
          <p:nvPr/>
        </p:nvSpPr>
        <p:spPr>
          <a:xfrm>
            <a:off x="8407400" y="3327400"/>
            <a:ext cx="3149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15 / 4</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39624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Loitering / Street Scene</a:t>
            </a:r>
          </a:p>
        </p:txBody>
      </p:sp>
      <p:sp>
        <p:nvSpPr>
          <p:cNvPr id="29" name="TextBox 28"/>
          <p:cNvSpPr txBox="1"/>
          <p:nvPr/>
        </p:nvSpPr>
        <p:spPr>
          <a:xfrm>
            <a:off x="4851400" y="38735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9.1%</a:t>
            </a:r>
          </a:p>
        </p:txBody>
      </p:sp>
      <p:sp>
        <p:nvSpPr>
          <p:cNvPr id="30" name="TextBox 29"/>
          <p:cNvSpPr txBox="1"/>
          <p:nvPr/>
        </p:nvSpPr>
        <p:spPr>
          <a:xfrm>
            <a:off x="6629400" y="38735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6.2%</a:t>
            </a:r>
          </a:p>
        </p:txBody>
      </p:sp>
      <p:sp>
        <p:nvSpPr>
          <p:cNvPr id="31" name="TextBox 30"/>
          <p:cNvSpPr txBox="1"/>
          <p:nvPr/>
        </p:nvSpPr>
        <p:spPr>
          <a:xfrm>
            <a:off x="8407400" y="3873500"/>
            <a:ext cx="3149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 / 4</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39624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Public sleep / historical</a:t>
            </a:r>
          </a:p>
        </p:txBody>
      </p:sp>
      <p:sp>
        <p:nvSpPr>
          <p:cNvPr id="35" name="TextBox 34"/>
          <p:cNvSpPr txBox="1"/>
          <p:nvPr/>
        </p:nvSpPr>
        <p:spPr>
          <a:xfrm>
            <a:off x="4851400" y="44196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33.3%</a:t>
            </a:r>
          </a:p>
        </p:txBody>
      </p:sp>
      <p:sp>
        <p:nvSpPr>
          <p:cNvPr id="36" name="TextBox 35"/>
          <p:cNvSpPr txBox="1"/>
          <p:nvPr/>
        </p:nvSpPr>
        <p:spPr>
          <a:xfrm>
            <a:off x="6629400" y="44196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8.3%</a:t>
            </a:r>
          </a:p>
        </p:txBody>
      </p:sp>
      <p:sp>
        <p:nvSpPr>
          <p:cNvPr id="37" name="TextBox 36"/>
          <p:cNvSpPr txBox="1"/>
          <p:nvPr/>
        </p:nvSpPr>
        <p:spPr>
          <a:xfrm>
            <a:off x="8407400" y="4419600"/>
            <a:ext cx="3149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2 / 1</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39624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Unattended / historical</a:t>
            </a:r>
          </a:p>
        </p:txBody>
      </p:sp>
      <p:sp>
        <p:nvSpPr>
          <p:cNvPr id="41" name="TextBox 40"/>
          <p:cNvSpPr txBox="1"/>
          <p:nvPr/>
        </p:nvSpPr>
        <p:spPr>
          <a:xfrm>
            <a:off x="4851400" y="49657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94.6%</a:t>
            </a:r>
          </a:p>
        </p:txBody>
      </p:sp>
      <p:sp>
        <p:nvSpPr>
          <p:cNvPr id="42" name="TextBox 41"/>
          <p:cNvSpPr txBox="1"/>
          <p:nvPr/>
        </p:nvSpPr>
        <p:spPr>
          <a:xfrm>
            <a:off x="6629400" y="4965700"/>
            <a:ext cx="1549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70.8%</a:t>
            </a:r>
          </a:p>
        </p:txBody>
      </p:sp>
      <p:sp>
        <p:nvSpPr>
          <p:cNvPr id="43" name="TextBox 42"/>
          <p:cNvSpPr txBox="1"/>
          <p:nvPr/>
        </p:nvSpPr>
        <p:spPr>
          <a:xfrm>
            <a:off x="8407400" y="4965700"/>
            <a:ext cx="3149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229 / 510</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Unattended: 510 / 720 normals flagged. CCTV: only 7 / 393 positives found; raw margin zero finds none.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OPTIMIZATION REPLICATION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The second seed repeats the loitering failure</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Fixed primary winning learning rate • one joint adapter per seed • same held-out sources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Seed 42 / 43 joint-adapter source AP</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38</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4978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Task / source</a:t>
            </a:r>
          </a:p>
        </p:txBody>
      </p:sp>
      <p:sp>
        <p:nvSpPr>
          <p:cNvPr id="12" name="TextBox 11"/>
          <p:cNvSpPr txBox="1"/>
          <p:nvPr/>
        </p:nvSpPr>
        <p:spPr>
          <a:xfrm>
            <a:off x="5867400" y="2273300"/>
            <a:ext cx="2730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Seed 42 joint AP</a:t>
            </a:r>
          </a:p>
        </p:txBody>
      </p:sp>
      <p:sp>
        <p:nvSpPr>
          <p:cNvPr id="13" name="TextBox 12"/>
          <p:cNvSpPr txBox="1"/>
          <p:nvPr/>
        </p:nvSpPr>
        <p:spPr>
          <a:xfrm>
            <a:off x="8826500" y="2273300"/>
            <a:ext cx="27305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Seed 43 joint AP</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49784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Smoking / CCTV</a:t>
            </a:r>
          </a:p>
        </p:txBody>
      </p:sp>
      <p:sp>
        <p:nvSpPr>
          <p:cNvPr id="16" name="TextBox 15"/>
          <p:cNvSpPr txBox="1"/>
          <p:nvPr/>
        </p:nvSpPr>
        <p:spPr>
          <a:xfrm>
            <a:off x="5867400" y="27813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0.6225</a:t>
            </a:r>
          </a:p>
        </p:txBody>
      </p:sp>
      <p:sp>
        <p:nvSpPr>
          <p:cNvPr id="17" name="TextBox 16"/>
          <p:cNvSpPr txBox="1"/>
          <p:nvPr/>
        </p:nvSpPr>
        <p:spPr>
          <a:xfrm>
            <a:off x="8826500" y="27813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0.6295</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49784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Littering / IWDD</a:t>
            </a:r>
          </a:p>
        </p:txBody>
      </p:sp>
      <p:sp>
        <p:nvSpPr>
          <p:cNvPr id="21" name="TextBox 20"/>
          <p:cNvSpPr txBox="1"/>
          <p:nvPr/>
        </p:nvSpPr>
        <p:spPr>
          <a:xfrm>
            <a:off x="5867400" y="33274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0.7660</a:t>
            </a:r>
          </a:p>
        </p:txBody>
      </p:sp>
      <p:sp>
        <p:nvSpPr>
          <p:cNvPr id="22" name="TextBox 21"/>
          <p:cNvSpPr txBox="1"/>
          <p:nvPr/>
        </p:nvSpPr>
        <p:spPr>
          <a:xfrm>
            <a:off x="8826500" y="33274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0.7656</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49784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Loitering / Street Scene</a:t>
            </a:r>
          </a:p>
        </p:txBody>
      </p:sp>
      <p:sp>
        <p:nvSpPr>
          <p:cNvPr id="26" name="TextBox 25"/>
          <p:cNvSpPr txBox="1"/>
          <p:nvPr/>
        </p:nvSpPr>
        <p:spPr>
          <a:xfrm>
            <a:off x="5867400" y="38735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0.1822</a:t>
            </a:r>
          </a:p>
        </p:txBody>
      </p:sp>
      <p:sp>
        <p:nvSpPr>
          <p:cNvPr id="27" name="TextBox 26"/>
          <p:cNvSpPr txBox="1"/>
          <p:nvPr/>
        </p:nvSpPr>
        <p:spPr>
          <a:xfrm>
            <a:off x="8826500" y="38735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0.1314</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49784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Public sleep / historical</a:t>
            </a:r>
          </a:p>
        </p:txBody>
      </p:sp>
      <p:sp>
        <p:nvSpPr>
          <p:cNvPr id="31" name="TextBox 30"/>
          <p:cNvSpPr txBox="1"/>
          <p:nvPr/>
        </p:nvSpPr>
        <p:spPr>
          <a:xfrm>
            <a:off x="5867400" y="44196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0.6327</a:t>
            </a:r>
          </a:p>
        </p:txBody>
      </p:sp>
      <p:sp>
        <p:nvSpPr>
          <p:cNvPr id="32" name="TextBox 31"/>
          <p:cNvSpPr txBox="1"/>
          <p:nvPr/>
        </p:nvSpPr>
        <p:spPr>
          <a:xfrm>
            <a:off x="8826500" y="44196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0.9167</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4978400" cy="4064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142C40"/>
                </a:solidFill>
                <a:latin typeface="DejaVu Sans"/>
              </a:defRPr>
            </a:pPr>
            <a:r>
              <a:t>Unattended / historical</a:t>
            </a:r>
          </a:p>
        </p:txBody>
      </p:sp>
      <p:sp>
        <p:nvSpPr>
          <p:cNvPr id="36" name="TextBox 35"/>
          <p:cNvSpPr txBox="1"/>
          <p:nvPr/>
        </p:nvSpPr>
        <p:spPr>
          <a:xfrm>
            <a:off x="5867400" y="49657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0.6933</a:t>
            </a:r>
          </a:p>
        </p:txBody>
      </p:sp>
      <p:sp>
        <p:nvSpPr>
          <p:cNvPr id="37" name="TextBox 36"/>
          <p:cNvSpPr txBox="1"/>
          <p:nvPr/>
        </p:nvSpPr>
        <p:spPr>
          <a:xfrm>
            <a:off x="8826500" y="4965700"/>
            <a:ext cx="2730500" cy="4064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142C40"/>
                </a:solidFill>
                <a:latin typeface="DejaVu Sans"/>
              </a:defRPr>
            </a:pPr>
            <a:r>
              <a:t>0.7052</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Sleep varies greatly on six positives. Optimization replication adds no independent camera evidence.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CONTEXT ON IDENTICAL CASES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CLIP strategies lead on most historical cohorts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3,792 held-out IDs / labels; crops, resolution and training differ across pipelines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16 Oct selected CLIP strategy routes + SmolVLM primary routes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39</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396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Task / source</a:t>
            </a:r>
          </a:p>
        </p:txBody>
      </p:sp>
      <p:sp>
        <p:nvSpPr>
          <p:cNvPr id="12" name="TextBox 11"/>
          <p:cNvSpPr txBox="1"/>
          <p:nvPr/>
        </p:nvSpPr>
        <p:spPr>
          <a:xfrm>
            <a:off x="4851400" y="2273300"/>
            <a:ext cx="2082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MobileCLIP AP</a:t>
            </a:r>
          </a:p>
        </p:txBody>
      </p:sp>
      <p:sp>
        <p:nvSpPr>
          <p:cNvPr id="13" name="TextBox 12"/>
          <p:cNvSpPr txBox="1"/>
          <p:nvPr/>
        </p:nvSpPr>
        <p:spPr>
          <a:xfrm>
            <a:off x="7162800" y="2273300"/>
            <a:ext cx="2082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SigLIP AP</a:t>
            </a:r>
          </a:p>
        </p:txBody>
      </p:sp>
      <p:sp>
        <p:nvSpPr>
          <p:cNvPr id="14" name="TextBox 13"/>
          <p:cNvSpPr txBox="1"/>
          <p:nvPr/>
        </p:nvSpPr>
        <p:spPr>
          <a:xfrm>
            <a:off x="9474200" y="2273300"/>
            <a:ext cx="20828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Smol routed AP</a:t>
            </a:r>
          </a:p>
        </p:txBody>
      </p:sp>
      <p:sp>
        <p:nvSpPr>
          <p:cNvPr id="15" name="Rectangle 14"/>
          <p:cNvSpPr/>
          <p:nvPr/>
        </p:nvSpPr>
        <p:spPr>
          <a:xfrm>
            <a:off x="533400" y="26670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CCTV</a:t>
            </a:r>
          </a:p>
        </p:txBody>
      </p:sp>
      <p:sp>
        <p:nvSpPr>
          <p:cNvPr id="17" name="TextBox 16"/>
          <p:cNvSpPr txBox="1"/>
          <p:nvPr/>
        </p:nvSpPr>
        <p:spPr>
          <a:xfrm>
            <a:off x="4851400" y="2781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0.6902</a:t>
            </a:r>
          </a:p>
        </p:txBody>
      </p:sp>
      <p:sp>
        <p:nvSpPr>
          <p:cNvPr id="18" name="TextBox 17"/>
          <p:cNvSpPr txBox="1"/>
          <p:nvPr/>
        </p:nvSpPr>
        <p:spPr>
          <a:xfrm>
            <a:off x="7162800" y="2781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0.7225</a:t>
            </a:r>
          </a:p>
        </p:txBody>
      </p:sp>
      <p:sp>
        <p:nvSpPr>
          <p:cNvPr id="19" name="TextBox 18"/>
          <p:cNvSpPr txBox="1"/>
          <p:nvPr/>
        </p:nvSpPr>
        <p:spPr>
          <a:xfrm>
            <a:off x="9474200" y="2781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0.6225</a:t>
            </a:r>
          </a:p>
        </p:txBody>
      </p:sp>
      <p:cxnSp>
        <p:nvCxnSpPr>
          <p:cNvPr id="20" name="Connector 19"/>
          <p:cNvCxnSpPr/>
          <p:nvPr/>
        </p:nvCxnSpPr>
        <p:spPr>
          <a:xfrm>
            <a:off x="533400" y="3098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0988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2131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Littering / IWDD</a:t>
            </a:r>
          </a:p>
        </p:txBody>
      </p:sp>
      <p:sp>
        <p:nvSpPr>
          <p:cNvPr id="23" name="TextBox 22"/>
          <p:cNvSpPr txBox="1"/>
          <p:nvPr/>
        </p:nvSpPr>
        <p:spPr>
          <a:xfrm>
            <a:off x="4851400" y="32131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0.8064</a:t>
            </a:r>
          </a:p>
        </p:txBody>
      </p:sp>
      <p:sp>
        <p:nvSpPr>
          <p:cNvPr id="24" name="TextBox 23"/>
          <p:cNvSpPr txBox="1"/>
          <p:nvPr/>
        </p:nvSpPr>
        <p:spPr>
          <a:xfrm>
            <a:off x="7162800" y="32131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0.8934</a:t>
            </a:r>
          </a:p>
        </p:txBody>
      </p:sp>
      <p:sp>
        <p:nvSpPr>
          <p:cNvPr id="25" name="TextBox 24"/>
          <p:cNvSpPr txBox="1"/>
          <p:nvPr/>
        </p:nvSpPr>
        <p:spPr>
          <a:xfrm>
            <a:off x="9474200" y="32131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0.7660</a:t>
            </a:r>
          </a:p>
        </p:txBody>
      </p:sp>
      <p:cxnSp>
        <p:nvCxnSpPr>
          <p:cNvPr id="26" name="Connector 25"/>
          <p:cNvCxnSpPr/>
          <p:nvPr/>
        </p:nvCxnSpPr>
        <p:spPr>
          <a:xfrm>
            <a:off x="533400" y="3530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5306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6449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Loitering / Street Scene</a:t>
            </a:r>
          </a:p>
        </p:txBody>
      </p:sp>
      <p:sp>
        <p:nvSpPr>
          <p:cNvPr id="29" name="TextBox 28"/>
          <p:cNvSpPr txBox="1"/>
          <p:nvPr/>
        </p:nvSpPr>
        <p:spPr>
          <a:xfrm>
            <a:off x="4851400" y="36449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0.4894</a:t>
            </a:r>
          </a:p>
        </p:txBody>
      </p:sp>
      <p:sp>
        <p:nvSpPr>
          <p:cNvPr id="30" name="TextBox 29"/>
          <p:cNvSpPr txBox="1"/>
          <p:nvPr/>
        </p:nvSpPr>
        <p:spPr>
          <a:xfrm>
            <a:off x="7162800" y="36449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0.5505</a:t>
            </a:r>
          </a:p>
        </p:txBody>
      </p:sp>
      <p:sp>
        <p:nvSpPr>
          <p:cNvPr id="31" name="TextBox 30"/>
          <p:cNvSpPr txBox="1"/>
          <p:nvPr/>
        </p:nvSpPr>
        <p:spPr>
          <a:xfrm>
            <a:off x="9474200" y="36449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0.1822</a:t>
            </a:r>
          </a:p>
        </p:txBody>
      </p:sp>
      <p:cxnSp>
        <p:nvCxnSpPr>
          <p:cNvPr id="32" name="Connector 31"/>
          <p:cNvCxnSpPr/>
          <p:nvPr/>
        </p:nvCxnSpPr>
        <p:spPr>
          <a:xfrm>
            <a:off x="533400" y="3962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39624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0767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Public sleep / historical</a:t>
            </a:r>
          </a:p>
        </p:txBody>
      </p:sp>
      <p:sp>
        <p:nvSpPr>
          <p:cNvPr id="35" name="TextBox 34"/>
          <p:cNvSpPr txBox="1"/>
          <p:nvPr/>
        </p:nvSpPr>
        <p:spPr>
          <a:xfrm>
            <a:off x="4851400" y="40767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0.9306</a:t>
            </a:r>
          </a:p>
        </p:txBody>
      </p:sp>
      <p:sp>
        <p:nvSpPr>
          <p:cNvPr id="36" name="TextBox 35"/>
          <p:cNvSpPr txBox="1"/>
          <p:nvPr/>
        </p:nvSpPr>
        <p:spPr>
          <a:xfrm>
            <a:off x="7162800" y="40767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0.8833</a:t>
            </a:r>
          </a:p>
        </p:txBody>
      </p:sp>
      <p:sp>
        <p:nvSpPr>
          <p:cNvPr id="37" name="TextBox 36"/>
          <p:cNvSpPr txBox="1"/>
          <p:nvPr/>
        </p:nvSpPr>
        <p:spPr>
          <a:xfrm>
            <a:off x="9474200" y="40767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0.7885</a:t>
            </a:r>
          </a:p>
        </p:txBody>
      </p:sp>
      <p:cxnSp>
        <p:nvCxnSpPr>
          <p:cNvPr id="38" name="Connector 37"/>
          <p:cNvCxnSpPr/>
          <p:nvPr/>
        </p:nvCxnSpPr>
        <p:spPr>
          <a:xfrm>
            <a:off x="533400" y="4394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394200"/>
            <a:ext cx="11125200" cy="431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5085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Unattended / historical</a:t>
            </a:r>
          </a:p>
        </p:txBody>
      </p:sp>
      <p:sp>
        <p:nvSpPr>
          <p:cNvPr id="41" name="TextBox 40"/>
          <p:cNvSpPr txBox="1"/>
          <p:nvPr/>
        </p:nvSpPr>
        <p:spPr>
          <a:xfrm>
            <a:off x="4851400" y="45085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0.9803</a:t>
            </a:r>
          </a:p>
        </p:txBody>
      </p:sp>
      <p:sp>
        <p:nvSpPr>
          <p:cNvPr id="42" name="TextBox 41"/>
          <p:cNvSpPr txBox="1"/>
          <p:nvPr/>
        </p:nvSpPr>
        <p:spPr>
          <a:xfrm>
            <a:off x="7162800" y="45085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0.9250</a:t>
            </a:r>
          </a:p>
        </p:txBody>
      </p:sp>
      <p:sp>
        <p:nvSpPr>
          <p:cNvPr id="43" name="TextBox 42"/>
          <p:cNvSpPr txBox="1"/>
          <p:nvPr/>
        </p:nvSpPr>
        <p:spPr>
          <a:xfrm>
            <a:off x="9474200" y="45085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0.6933</a:t>
            </a:r>
          </a:p>
        </p:txBody>
      </p:sp>
      <p:cxnSp>
        <p:nvCxnSpPr>
          <p:cNvPr id="44" name="Connector 43"/>
          <p:cNvCxnSpPr/>
          <p:nvPr/>
        </p:nvCxnSpPr>
        <p:spPr>
          <a:xfrm>
            <a:off x="533400" y="4826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4826000"/>
            <a:ext cx="11125200" cy="431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4940300"/>
            <a:ext cx="3962400" cy="2921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142C40"/>
                </a:solidFill>
                <a:latin typeface="DejaVu Sans"/>
              </a:defRPr>
            </a:pPr>
            <a:r>
              <a:t>Smoking / HMDB</a:t>
            </a:r>
          </a:p>
        </p:txBody>
      </p:sp>
      <p:sp>
        <p:nvSpPr>
          <p:cNvPr id="47" name="TextBox 46"/>
          <p:cNvSpPr txBox="1"/>
          <p:nvPr/>
        </p:nvSpPr>
        <p:spPr>
          <a:xfrm>
            <a:off x="4851400" y="4940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0.5764</a:t>
            </a:r>
          </a:p>
        </p:txBody>
      </p:sp>
      <p:sp>
        <p:nvSpPr>
          <p:cNvPr id="48" name="TextBox 47"/>
          <p:cNvSpPr txBox="1"/>
          <p:nvPr/>
        </p:nvSpPr>
        <p:spPr>
          <a:xfrm>
            <a:off x="7162800" y="4940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0.6639</a:t>
            </a:r>
          </a:p>
        </p:txBody>
      </p:sp>
      <p:sp>
        <p:nvSpPr>
          <p:cNvPr id="49" name="TextBox 48"/>
          <p:cNvSpPr txBox="1"/>
          <p:nvPr/>
        </p:nvSpPr>
        <p:spPr>
          <a:xfrm>
            <a:off x="9474200" y="4940300"/>
            <a:ext cx="2082800" cy="2921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142C40"/>
                </a:solidFill>
                <a:latin typeface="DejaVu Sans"/>
              </a:defRPr>
            </a:pPr>
            <a:r>
              <a:t>0.7837</a:t>
            </a:r>
          </a:p>
        </p:txBody>
      </p:sp>
      <p:cxnSp>
        <p:nvCxnSpPr>
          <p:cNvPr id="50" name="Connector 49"/>
          <p:cNvCxnSpPr/>
          <p:nvPr/>
        </p:nvCxnSpPr>
        <p:spPr>
          <a:xfrm>
            <a:off x="533400" y="5257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SmolVLM is stronger on 906-case HMDB transfer. Later CLIP video heads use a different 205-case</a:t>
            </a:r>
          </a:p>
          <a:p>
            <a:pPr algn="l">
              <a:lnSpc>
                <a:spcPts val="1722"/>
              </a:lnSpc>
              <a:spcBef>
                <a:spcPts val="0"/>
              </a:spcBef>
              <a:spcAft>
                <a:spcPts val="0"/>
              </a:spcAft>
              <a:defRPr sz="1400" b="1">
                <a:solidFill>
                  <a:srgbClr val="C86535"/>
                </a:solidFill>
                <a:latin typeface="DejaVu Sans"/>
              </a:defRPr>
            </a:pPr>
            <a:r>
              <a:t>protocol.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OPTIONAL RETROSPECTIVE SAFEGUARD</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Require a development gain in both optimization</a:t>
            </a:r>
          </a:p>
          <a:p>
            <a:pPr algn="l">
              <a:lnSpc>
                <a:spcPts val="3690"/>
              </a:lnSpc>
              <a:spcBef>
                <a:spcPts val="0"/>
              </a:spcBef>
              <a:spcAft>
                <a:spcPts val="0"/>
              </a:spcAft>
              <a:defRPr sz="3000" b="1">
                <a:solidFill>
                  <a:srgbClr val="142C40"/>
                </a:solidFill>
                <a:latin typeface="DejaVu Sans"/>
              </a:defRPr>
            </a:pPr>
            <a:r>
              <a:t>seeds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Rule introduced after primary held-out inspection • optional, exploratory and retrospective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repeated_gain_protocol.json + repeated_gain_routes.json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40</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702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Target</a:t>
            </a:r>
          </a:p>
        </p:txBody>
      </p:sp>
      <p:sp>
        <p:nvSpPr>
          <p:cNvPr id="12" name="TextBox 11"/>
          <p:cNvSpPr txBox="1"/>
          <p:nvPr/>
        </p:nvSpPr>
        <p:spPr>
          <a:xfrm>
            <a:off x="3759200" y="2273300"/>
            <a:ext cx="2184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Primary dev gain</a:t>
            </a:r>
          </a:p>
        </p:txBody>
      </p:sp>
      <p:sp>
        <p:nvSpPr>
          <p:cNvPr id="13" name="TextBox 12"/>
          <p:cNvSpPr txBox="1"/>
          <p:nvPr/>
        </p:nvSpPr>
        <p:spPr>
          <a:xfrm>
            <a:off x="6172200" y="2273300"/>
            <a:ext cx="2260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Seed-43 dev gain</a:t>
            </a:r>
          </a:p>
        </p:txBody>
      </p:sp>
      <p:sp>
        <p:nvSpPr>
          <p:cNvPr id="14" name="TextBox 13"/>
          <p:cNvSpPr txBox="1"/>
          <p:nvPr/>
        </p:nvSpPr>
        <p:spPr>
          <a:xfrm>
            <a:off x="8661400" y="2273300"/>
            <a:ext cx="2895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Optional route</a:t>
            </a:r>
          </a:p>
        </p:txBody>
      </p:sp>
      <p:sp>
        <p:nvSpPr>
          <p:cNvPr id="15" name="Rectangle 14"/>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781300"/>
            <a:ext cx="28702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Smoking</a:t>
            </a:r>
          </a:p>
        </p:txBody>
      </p:sp>
      <p:sp>
        <p:nvSpPr>
          <p:cNvPr id="17" name="TextBox 16"/>
          <p:cNvSpPr txBox="1"/>
          <p:nvPr/>
        </p:nvSpPr>
        <p:spPr>
          <a:xfrm>
            <a:off x="3759200" y="2781300"/>
            <a:ext cx="2184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+0.0872</a:t>
            </a:r>
          </a:p>
        </p:txBody>
      </p:sp>
      <p:sp>
        <p:nvSpPr>
          <p:cNvPr id="18" name="TextBox 17"/>
          <p:cNvSpPr txBox="1"/>
          <p:nvPr/>
        </p:nvSpPr>
        <p:spPr>
          <a:xfrm>
            <a:off x="6172200" y="2781300"/>
            <a:ext cx="2260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+0.0828</a:t>
            </a:r>
          </a:p>
        </p:txBody>
      </p:sp>
      <p:sp>
        <p:nvSpPr>
          <p:cNvPr id="19" name="TextBox 18"/>
          <p:cNvSpPr txBox="1"/>
          <p:nvPr/>
        </p:nvSpPr>
        <p:spPr>
          <a:xfrm>
            <a:off x="8661400" y="2781300"/>
            <a:ext cx="2895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High LR</a:t>
            </a:r>
          </a:p>
        </p:txBody>
      </p:sp>
      <p:cxnSp>
        <p:nvCxnSpPr>
          <p:cNvPr id="20" name="Connector 19"/>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27400"/>
            <a:ext cx="28702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Littering</a:t>
            </a:r>
          </a:p>
        </p:txBody>
      </p:sp>
      <p:sp>
        <p:nvSpPr>
          <p:cNvPr id="23" name="TextBox 22"/>
          <p:cNvSpPr txBox="1"/>
          <p:nvPr/>
        </p:nvSpPr>
        <p:spPr>
          <a:xfrm>
            <a:off x="3759200" y="3327400"/>
            <a:ext cx="2184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+0.1589</a:t>
            </a:r>
          </a:p>
        </p:txBody>
      </p:sp>
      <p:sp>
        <p:nvSpPr>
          <p:cNvPr id="24" name="TextBox 23"/>
          <p:cNvSpPr txBox="1"/>
          <p:nvPr/>
        </p:nvSpPr>
        <p:spPr>
          <a:xfrm>
            <a:off x="6172200" y="3327400"/>
            <a:ext cx="2260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+0.1017</a:t>
            </a:r>
          </a:p>
        </p:txBody>
      </p:sp>
      <p:sp>
        <p:nvSpPr>
          <p:cNvPr id="25" name="TextBox 24"/>
          <p:cNvSpPr txBox="1"/>
          <p:nvPr/>
        </p:nvSpPr>
        <p:spPr>
          <a:xfrm>
            <a:off x="8661400" y="3327400"/>
            <a:ext cx="2895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High LR</a:t>
            </a:r>
          </a:p>
        </p:txBody>
      </p:sp>
      <p:cxnSp>
        <p:nvCxnSpPr>
          <p:cNvPr id="26" name="Connector 25"/>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873500"/>
            <a:ext cx="28702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Loitering</a:t>
            </a:r>
          </a:p>
        </p:txBody>
      </p:sp>
      <p:sp>
        <p:nvSpPr>
          <p:cNvPr id="29" name="TextBox 28"/>
          <p:cNvSpPr txBox="1"/>
          <p:nvPr/>
        </p:nvSpPr>
        <p:spPr>
          <a:xfrm>
            <a:off x="3759200" y="3873500"/>
            <a:ext cx="2184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+0.0308</a:t>
            </a:r>
          </a:p>
        </p:txBody>
      </p:sp>
      <p:sp>
        <p:nvSpPr>
          <p:cNvPr id="30" name="TextBox 29"/>
          <p:cNvSpPr txBox="1"/>
          <p:nvPr/>
        </p:nvSpPr>
        <p:spPr>
          <a:xfrm>
            <a:off x="6172200" y="3873500"/>
            <a:ext cx="2260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-0.1620</a:t>
            </a:r>
          </a:p>
        </p:txBody>
      </p:sp>
      <p:sp>
        <p:nvSpPr>
          <p:cNvPr id="31" name="TextBox 30"/>
          <p:cNvSpPr txBox="1"/>
          <p:nvPr/>
        </p:nvSpPr>
        <p:spPr>
          <a:xfrm>
            <a:off x="8661400" y="3873500"/>
            <a:ext cx="2895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Original</a:t>
            </a:r>
          </a:p>
        </p:txBody>
      </p:sp>
      <p:cxnSp>
        <p:nvCxnSpPr>
          <p:cNvPr id="32" name="Connector 31"/>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419600"/>
            <a:ext cx="28702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Rough Sleeping</a:t>
            </a:r>
          </a:p>
        </p:txBody>
      </p:sp>
      <p:sp>
        <p:nvSpPr>
          <p:cNvPr id="35" name="TextBox 34"/>
          <p:cNvSpPr txBox="1"/>
          <p:nvPr/>
        </p:nvSpPr>
        <p:spPr>
          <a:xfrm>
            <a:off x="3759200" y="4419600"/>
            <a:ext cx="2184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+0.3084</a:t>
            </a:r>
          </a:p>
        </p:txBody>
      </p:sp>
      <p:sp>
        <p:nvSpPr>
          <p:cNvPr id="36" name="TextBox 35"/>
          <p:cNvSpPr txBox="1"/>
          <p:nvPr/>
        </p:nvSpPr>
        <p:spPr>
          <a:xfrm>
            <a:off x="6172200" y="4419600"/>
            <a:ext cx="2260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+0.3426</a:t>
            </a:r>
          </a:p>
        </p:txBody>
      </p:sp>
      <p:sp>
        <p:nvSpPr>
          <p:cNvPr id="37" name="TextBox 36"/>
          <p:cNvSpPr txBox="1"/>
          <p:nvPr/>
        </p:nvSpPr>
        <p:spPr>
          <a:xfrm>
            <a:off x="8661400" y="4419600"/>
            <a:ext cx="2895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Low LR</a:t>
            </a:r>
          </a:p>
        </p:txBody>
      </p:sp>
      <p:cxnSp>
        <p:nvCxnSpPr>
          <p:cNvPr id="38" name="Connector 37"/>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4965700"/>
            <a:ext cx="2870200" cy="4064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Unattended Items</a:t>
            </a:r>
          </a:p>
        </p:txBody>
      </p:sp>
      <p:sp>
        <p:nvSpPr>
          <p:cNvPr id="41" name="TextBox 40"/>
          <p:cNvSpPr txBox="1"/>
          <p:nvPr/>
        </p:nvSpPr>
        <p:spPr>
          <a:xfrm>
            <a:off x="3759200" y="4965700"/>
            <a:ext cx="21844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+0.1253</a:t>
            </a:r>
          </a:p>
        </p:txBody>
      </p:sp>
      <p:sp>
        <p:nvSpPr>
          <p:cNvPr id="42" name="TextBox 41"/>
          <p:cNvSpPr txBox="1"/>
          <p:nvPr/>
        </p:nvSpPr>
        <p:spPr>
          <a:xfrm>
            <a:off x="6172200" y="4965700"/>
            <a:ext cx="2260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+0.0805</a:t>
            </a:r>
          </a:p>
        </p:txBody>
      </p:sp>
      <p:sp>
        <p:nvSpPr>
          <p:cNvPr id="43" name="TextBox 42"/>
          <p:cNvSpPr txBox="1"/>
          <p:nvPr/>
        </p:nvSpPr>
        <p:spPr>
          <a:xfrm>
            <a:off x="8661400" y="4965700"/>
            <a:ext cx="2895600" cy="406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High LR</a:t>
            </a:r>
          </a:p>
        </p:txBody>
      </p:sp>
      <p:cxnSp>
        <p:nvCxnSpPr>
          <p:cNvPr id="44" name="Connector 43"/>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Only loitering returns to the original. Primary results stay unchanged; unattended false positives remain.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19 OCT / VERIFICATION AND INFERENCE ARTIFACTS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Check actual checkpoints and native image</a:t>
            </a:r>
          </a:p>
          <a:p>
            <a:pPr algn="l">
              <a:lnSpc>
                <a:spcPts val="3690"/>
              </a:lnSpc>
              <a:spcBef>
                <a:spcPts val="0"/>
              </a:spcBef>
              <a:spcAft>
                <a:spcPts val="0"/>
              </a:spcAft>
              <a:defRPr sz="3000" b="1">
                <a:solidFill>
                  <a:srgbClr val="142C40"/>
                </a:solidFill>
                <a:latin typeface="DejaVu Sans"/>
              </a:defRPr>
            </a:pPr>
            <a:r>
              <a:t>execution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Saved research bundle includes adapter weights, portable base identity, task routes and cutoffs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SmolVLM verification.json + software_checks.json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41</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Experiment reconstruction</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7,248 dev scores replayed</a:t>
            </a:r>
          </a:p>
          <a:p>
            <a:pPr algn="l">
              <a:lnSpc>
                <a:spcPts val="1968"/>
              </a:lnSpc>
              <a:spcBef>
                <a:spcPts val="0"/>
              </a:spcBef>
              <a:spcAft>
                <a:spcPts val="0"/>
              </a:spcAft>
              <a:defRPr sz="1600" b="0">
                <a:solidFill>
                  <a:srgbClr val="142C40"/>
                </a:solidFill>
                <a:latin typeface="DejaVu Sans"/>
              </a:defRPr>
            </a:pPr>
            <a:r>
              <a:t>15,168 held-out scores replayed</a:t>
            </a:r>
          </a:p>
          <a:p>
            <a:pPr algn="l">
              <a:lnSpc>
                <a:spcPts val="1968"/>
              </a:lnSpc>
              <a:spcBef>
                <a:spcPts val="0"/>
              </a:spcBef>
              <a:spcAft>
                <a:spcPts val="0"/>
              </a:spcAft>
              <a:defRPr sz="1600" b="0">
                <a:solidFill>
                  <a:srgbClr val="142C40"/>
                </a:solidFill>
                <a:latin typeface="DejaVu Sans"/>
              </a:defRPr>
            </a:pPr>
            <a:r>
              <a:t>20,971 decoded images checked</a:t>
            </a:r>
          </a:p>
          <a:p>
            <a:pPr algn="l">
              <a:lnSpc>
                <a:spcPts val="1968"/>
              </a:lnSpc>
              <a:spcBef>
                <a:spcPts val="0"/>
              </a:spcBef>
              <a:spcAft>
                <a:spcPts val="0"/>
              </a:spcAft>
              <a:defRPr sz="1600" b="0">
                <a:solidFill>
                  <a:srgbClr val="142C40"/>
                </a:solidFill>
                <a:latin typeface="DejaVu Sans"/>
              </a:defRPr>
            </a:pPr>
            <a:r>
              <a:t>3 finite changed adapters checked</a:t>
            </a:r>
          </a:p>
          <a:p>
            <a:pPr algn="l">
              <a:lnSpc>
                <a:spcPts val="1968"/>
              </a:lnSpc>
              <a:spcBef>
                <a:spcPts val="0"/>
              </a:spcBef>
              <a:spcAft>
                <a:spcPts val="0"/>
              </a:spcAft>
              <a:defRPr sz="1600" b="0">
                <a:solidFill>
                  <a:srgbClr val="142C40"/>
                </a:solidFill>
                <a:latin typeface="DejaVu Sans"/>
              </a:defRPr>
            </a:pPr>
            <a:r>
              <a:t>20 native GPU / cached comparisons</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Software and saved output</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187 unit tests passed</a:t>
            </a:r>
          </a:p>
          <a:p>
            <a:pPr algn="l">
              <a:lnSpc>
                <a:spcPts val="1968"/>
              </a:lnSpc>
              <a:spcBef>
                <a:spcPts val="0"/>
              </a:spcBef>
              <a:spcAft>
                <a:spcPts val="0"/>
              </a:spcAft>
              <a:defRPr sz="1600" b="0">
                <a:solidFill>
                  <a:srgbClr val="142C40"/>
                </a:solidFill>
                <a:latin typeface="DejaVu Sans"/>
              </a:defRPr>
            </a:pPr>
            <a:r>
              <a:t>6 real-input / missing-context checks</a:t>
            </a:r>
          </a:p>
          <a:p>
            <a:pPr algn="l">
              <a:lnSpc>
                <a:spcPts val="1968"/>
              </a:lnSpc>
              <a:spcBef>
                <a:spcPts val="0"/>
              </a:spcBef>
              <a:spcAft>
                <a:spcPts val="0"/>
              </a:spcAft>
              <a:defRPr sz="1600" b="0">
                <a:solidFill>
                  <a:srgbClr val="142C40"/>
                </a:solidFill>
                <a:latin typeface="DejaVu Sans"/>
              </a:defRPr>
            </a:pPr>
            <a:r>
              <a:t>Max native score error &lt; 0.000073</a:t>
            </a:r>
          </a:p>
          <a:p>
            <a:pPr algn="l">
              <a:lnSpc>
                <a:spcPts val="1968"/>
              </a:lnSpc>
              <a:spcBef>
                <a:spcPts val="0"/>
              </a:spcBef>
              <a:spcAft>
                <a:spcPts val="0"/>
              </a:spcAft>
              <a:defRPr sz="1600" b="0">
                <a:solidFill>
                  <a:srgbClr val="142C40"/>
                </a:solidFill>
                <a:latin typeface="DejaVu Sans"/>
              </a:defRPr>
            </a:pPr>
            <a:r>
              <a:t>Portable adapters + processor files</a:t>
            </a:r>
          </a:p>
          <a:p>
            <a:pPr algn="l">
              <a:lnSpc>
                <a:spcPts val="1968"/>
              </a:lnSpc>
              <a:spcBef>
                <a:spcPts val="0"/>
              </a:spcBef>
              <a:spcAft>
                <a:spcPts val="0"/>
              </a:spcAft>
              <a:defRPr sz="1600" b="0">
                <a:solidFill>
                  <a:srgbClr val="142C40"/>
                </a:solidFill>
                <a:latin typeface="DejaVu Sans"/>
              </a:defRPr>
            </a:pPr>
            <a:r>
              <a:t>Research bundle; no event certification</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Functional CLI checks verify scores and guards. They are not six successful accuracy predictions.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CURRENT ASSESSMENT / ALL FIVE OBJECTIVES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No single model reliably covers all five events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Use source-qualified candidates; do not replace event evidence with a model confidence score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All preserved studies through 19 October</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42</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866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Objective</a:t>
            </a:r>
          </a:p>
        </p:txBody>
      </p:sp>
      <p:sp>
        <p:nvSpPr>
          <p:cNvPr id="12" name="TextBox 11"/>
          <p:cNvSpPr txBox="1"/>
          <p:nvPr/>
        </p:nvSpPr>
        <p:spPr>
          <a:xfrm>
            <a:off x="2755900" y="2273300"/>
            <a:ext cx="4279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Useful evidence so far</a:t>
            </a:r>
          </a:p>
        </p:txBody>
      </p:sp>
      <p:sp>
        <p:nvSpPr>
          <p:cNvPr id="13" name="TextBox 12"/>
          <p:cNvSpPr txBox="1"/>
          <p:nvPr/>
        </p:nvSpPr>
        <p:spPr>
          <a:xfrm>
            <a:off x="7264400" y="2273300"/>
            <a:ext cx="42926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Main remaining gap</a:t>
            </a:r>
          </a:p>
        </p:txBody>
      </p:sp>
      <p:sp>
        <p:nvSpPr>
          <p:cNvPr id="14" name="Rectangle 13"/>
          <p:cNvSpPr/>
          <p:nvPr/>
        </p:nvSpPr>
        <p:spPr>
          <a:xfrm>
            <a:off x="533400" y="26670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8669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Smoking</a:t>
            </a:r>
          </a:p>
        </p:txBody>
      </p:sp>
      <p:sp>
        <p:nvSpPr>
          <p:cNvPr id="16" name="TextBox 15"/>
          <p:cNvSpPr txBox="1"/>
          <p:nvPr/>
        </p:nvSpPr>
        <p:spPr>
          <a:xfrm>
            <a:off x="2755900" y="2781300"/>
            <a:ext cx="42799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Photo learning; action ensembles; crops</a:t>
            </a:r>
          </a:p>
        </p:txBody>
      </p:sp>
      <p:sp>
        <p:nvSpPr>
          <p:cNvPr id="17" name="TextBox 16"/>
          <p:cNvSpPr txBox="1"/>
          <p:nvPr/>
        </p:nvSpPr>
        <p:spPr>
          <a:xfrm>
            <a:off x="7264400" y="2781300"/>
            <a:ext cx="42926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CCTV low-FPR recall; tiny people</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8669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Littering</a:t>
            </a:r>
          </a:p>
        </p:txBody>
      </p:sp>
      <p:sp>
        <p:nvSpPr>
          <p:cNvPr id="21" name="TextBox 20"/>
          <p:cNvSpPr txBox="1"/>
          <p:nvPr/>
        </p:nvSpPr>
        <p:spPr>
          <a:xfrm>
            <a:off x="2755900" y="3327400"/>
            <a:ext cx="42799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CLIP / LoRA learn IWDD dumping actions</a:t>
            </a:r>
          </a:p>
        </p:txBody>
      </p:sp>
      <p:sp>
        <p:nvSpPr>
          <p:cNvPr id="22" name="TextBox 21"/>
          <p:cNvSpPr txBox="1"/>
          <p:nvPr/>
        </p:nvSpPr>
        <p:spPr>
          <a:xfrm>
            <a:off x="7264400" y="3327400"/>
            <a:ext cx="42926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Small disposal vs placing; online onset</a:t>
            </a:r>
          </a:p>
        </p:txBody>
      </p:sp>
      <p:cxnSp>
        <p:nvCxnSpPr>
          <p:cNvPr id="23" name="Connector 22"/>
          <p:cNvCxnSpPr/>
          <p:nvPr/>
        </p:nvCxnSpPr>
        <p:spPr>
          <a:xfrm>
            <a:off x="533400" y="3759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592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73500"/>
            <a:ext cx="18669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Loitering</a:t>
            </a:r>
          </a:p>
        </p:txBody>
      </p:sp>
      <p:sp>
        <p:nvSpPr>
          <p:cNvPr id="26" name="TextBox 25"/>
          <p:cNvSpPr txBox="1"/>
          <p:nvPr/>
        </p:nvSpPr>
        <p:spPr>
          <a:xfrm>
            <a:off x="2755900" y="3873500"/>
            <a:ext cx="42799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Geometry / provided tracks; original control</a:t>
            </a:r>
          </a:p>
        </p:txBody>
      </p:sp>
      <p:sp>
        <p:nvSpPr>
          <p:cNvPr id="27" name="TextBox 26"/>
          <p:cNvSpPr txBox="1"/>
          <p:nvPr/>
        </p:nvSpPr>
        <p:spPr>
          <a:xfrm>
            <a:off x="7264400" y="3873500"/>
            <a:ext cx="42926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LoRA regression; identities / new cameras</a:t>
            </a:r>
          </a:p>
        </p:txBody>
      </p:sp>
      <p:cxnSp>
        <p:nvCxnSpPr>
          <p:cNvPr id="28" name="Connector 27"/>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05300"/>
            <a:ext cx="111252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19600"/>
            <a:ext cx="18669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Public sleep</a:t>
            </a:r>
          </a:p>
        </p:txBody>
      </p:sp>
      <p:sp>
        <p:nvSpPr>
          <p:cNvPr id="31" name="TextBox 30"/>
          <p:cNvSpPr txBox="1"/>
          <p:nvPr/>
        </p:nvSpPr>
        <p:spPr>
          <a:xfrm>
            <a:off x="2755900" y="4419600"/>
            <a:ext cx="42799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Photo probes; low-LR VLM route</a:t>
            </a:r>
          </a:p>
        </p:txBody>
      </p:sp>
      <p:sp>
        <p:nvSpPr>
          <p:cNvPr id="32" name="TextBox 31"/>
          <p:cNvSpPr txBox="1"/>
          <p:nvPr/>
        </p:nvSpPr>
        <p:spPr>
          <a:xfrm>
            <a:off x="7264400" y="4419600"/>
            <a:ext cx="42926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Tiny provisional sets; persistent video</a:t>
            </a:r>
          </a:p>
        </p:txBody>
      </p:sp>
      <p:cxnSp>
        <p:nvCxnSpPr>
          <p:cNvPr id="33" name="Connector 32"/>
          <p:cNvCxnSpPr/>
          <p:nvPr/>
        </p:nvCxnSpPr>
        <p:spPr>
          <a:xfrm>
            <a:off x="533400" y="4851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851400"/>
            <a:ext cx="111252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965700"/>
            <a:ext cx="1866900" cy="406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Unattended</a:t>
            </a:r>
          </a:p>
        </p:txBody>
      </p:sp>
      <p:sp>
        <p:nvSpPr>
          <p:cNvPr id="36" name="TextBox 35"/>
          <p:cNvSpPr txBox="1"/>
          <p:nvPr/>
        </p:nvSpPr>
        <p:spPr>
          <a:xfrm>
            <a:off x="2755900" y="4965700"/>
            <a:ext cx="42799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Grounded items + explicit state rule</a:t>
            </a:r>
          </a:p>
        </p:txBody>
      </p:sp>
      <p:sp>
        <p:nvSpPr>
          <p:cNvPr id="37" name="TextBox 36"/>
          <p:cNvSpPr txBox="1"/>
          <p:nvPr/>
        </p:nvSpPr>
        <p:spPr>
          <a:xfrm>
            <a:off x="7264400" y="4965700"/>
            <a:ext cx="4292600" cy="406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Owner truth; threshold shift; normal hours</a:t>
            </a:r>
          </a:p>
        </p:txBody>
      </p:sp>
      <p:cxnSp>
        <p:nvCxnSpPr>
          <p:cNvPr id="38" name="Connector 37"/>
          <p:cNvCxnSpPr/>
          <p:nvPr/>
        </p:nvCxnSpPr>
        <p:spPr>
          <a:xfrm>
            <a:off x="533400" y="5397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Ranking gains are real within their protocols. Reliable five-event camera transfer is still unproven.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FINDINGS / RETAIN GAINS AND FAILURES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Generalization needs evidence beyond another</a:t>
            </a:r>
          </a:p>
          <a:p>
            <a:pPr algn="l">
              <a:lnSpc>
                <a:spcPts val="3690"/>
              </a:lnSpc>
              <a:spcBef>
                <a:spcPts val="0"/>
              </a:spcBef>
              <a:spcAft>
                <a:spcPts val="0"/>
              </a:spcAft>
              <a:defRPr sz="3000" b="1">
                <a:solidFill>
                  <a:srgbClr val="142C40"/>
                </a:solidFill>
                <a:latin typeface="DejaVu Sans"/>
              </a:defRPr>
            </a:pPr>
            <a:r>
              <a:t>training run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All tested interventions remain auditable, including unsuccessful choices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Preserved checkpoints, source metrics and event traces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43</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Useful progress</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Correct labels and source-group guards</a:t>
            </a:r>
          </a:p>
          <a:p>
            <a:pPr algn="l">
              <a:lnSpc>
                <a:spcPts val="1968"/>
              </a:lnSpc>
              <a:spcBef>
                <a:spcPts val="0"/>
              </a:spcBef>
              <a:spcAft>
                <a:spcPts val="0"/>
              </a:spcAft>
              <a:defRPr sz="1600" b="0">
                <a:solidFill>
                  <a:srgbClr val="142C40"/>
                </a:solidFill>
                <a:latin typeface="DejaVu Sans"/>
              </a:defRPr>
            </a:pPr>
            <a:r>
              <a:t>True CLIP and language-weight updates</a:t>
            </a:r>
          </a:p>
          <a:p>
            <a:pPr algn="l">
              <a:lnSpc>
                <a:spcPts val="1968"/>
              </a:lnSpc>
              <a:spcBef>
                <a:spcPts val="0"/>
              </a:spcBef>
              <a:spcAft>
                <a:spcPts val="0"/>
              </a:spcAft>
              <a:defRPr sz="1600" b="0">
                <a:solidFill>
                  <a:srgbClr val="142C40"/>
                </a:solidFill>
                <a:latin typeface="DejaVu Sans"/>
              </a:defRPr>
            </a:pPr>
            <a:r>
              <a:t>Dumping and photo ranking gains</a:t>
            </a:r>
          </a:p>
          <a:p>
            <a:pPr algn="l">
              <a:lnSpc>
                <a:spcPts val="1968"/>
              </a:lnSpc>
              <a:spcBef>
                <a:spcPts val="0"/>
              </a:spcBef>
              <a:spcAft>
                <a:spcPts val="0"/>
              </a:spcAft>
              <a:defRPr sz="1600" b="0">
                <a:solidFill>
                  <a:srgbClr val="142C40"/>
                </a:solidFill>
                <a:latin typeface="DejaVu Sans"/>
              </a:defRPr>
            </a:pPr>
            <a:r>
              <a:t>Matched original controls and replays</a:t>
            </a:r>
          </a:p>
          <a:p>
            <a:pPr algn="l">
              <a:lnSpc>
                <a:spcPts val="1968"/>
              </a:lnSpc>
              <a:spcBef>
                <a:spcPts val="0"/>
              </a:spcBef>
              <a:spcAft>
                <a:spcPts val="0"/>
              </a:spcAft>
              <a:defRPr sz="1600" b="0">
                <a:solidFill>
                  <a:srgbClr val="142C40"/>
                </a:solidFill>
                <a:latin typeface="DejaVu Sans"/>
              </a:defRPr>
            </a:pPr>
            <a:r>
              <a:t>Explicit item state and tiled recall</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Limits that repeated</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Photo success does not settle CCTV</a:t>
            </a:r>
          </a:p>
          <a:p>
            <a:pPr algn="l">
              <a:lnSpc>
                <a:spcPts val="1968"/>
              </a:lnSpc>
              <a:spcBef>
                <a:spcPts val="0"/>
              </a:spcBef>
              <a:spcAft>
                <a:spcPts val="0"/>
              </a:spcAft>
              <a:defRPr sz="1600" b="0">
                <a:solidFill>
                  <a:srgbClr val="142C40"/>
                </a:solidFill>
                <a:latin typeface="DejaVu Sans"/>
              </a:defRPr>
            </a:pPr>
            <a:r>
              <a:t>Higher AP can still yield high FPR</a:t>
            </a:r>
          </a:p>
          <a:p>
            <a:pPr algn="l">
              <a:lnSpc>
                <a:spcPts val="1968"/>
              </a:lnSpc>
              <a:spcBef>
                <a:spcPts val="0"/>
              </a:spcBef>
              <a:spcAft>
                <a:spcPts val="0"/>
              </a:spcAft>
              <a:defRPr sz="1600" b="0">
                <a:solidFill>
                  <a:srgbClr val="142C40"/>
                </a:solidFill>
                <a:latin typeface="DejaVu Sans"/>
              </a:defRPr>
            </a:pPr>
            <a:r>
              <a:t>Later epochs can overfit quickly</a:t>
            </a:r>
          </a:p>
          <a:p>
            <a:pPr algn="l">
              <a:lnSpc>
                <a:spcPts val="1968"/>
              </a:lnSpc>
              <a:spcBef>
                <a:spcPts val="0"/>
              </a:spcBef>
              <a:spcAft>
                <a:spcPts val="0"/>
              </a:spcAft>
              <a:defRPr sz="1600" b="0">
                <a:solidFill>
                  <a:srgbClr val="142C40"/>
                </a:solidFill>
                <a:latin typeface="DejaVu Sans"/>
              </a:defRPr>
            </a:pPr>
            <a:r>
              <a:t>Seed agreement adds no new cameras</a:t>
            </a:r>
          </a:p>
          <a:p>
            <a:pPr algn="l">
              <a:lnSpc>
                <a:spcPts val="1968"/>
              </a:lnSpc>
              <a:spcBef>
                <a:spcPts val="0"/>
              </a:spcBef>
              <a:spcAft>
                <a:spcPts val="0"/>
              </a:spcAft>
              <a:defRPr sz="1600" b="0">
                <a:solidFill>
                  <a:srgbClr val="142C40"/>
                </a:solidFill>
                <a:latin typeface="DejaVu Sans"/>
              </a:defRPr>
            </a:pPr>
            <a:r>
              <a:t>Sparse views lack owner / dwell truth</a:t>
            </a:r>
          </a:p>
        </p:txBody>
      </p:sp>
      <p:sp>
        <p:nvSpPr>
          <p:cNvPr id="18" name="Rectangle 17"/>
          <p:cNvSpPr/>
          <p:nvPr/>
        </p:nvSpPr>
        <p:spPr>
          <a:xfrm>
            <a:off x="533400" y="5473700"/>
            <a:ext cx="11125200" cy="7747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C86535"/>
                </a:solidFill>
                <a:latin typeface="DejaVu Sans"/>
              </a:defRPr>
            </a:pPr>
            <a:r>
              <a:t>The optional LoRA safeguard is retrospective. A new frozen source holdout is needed to validate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NEXT STEPS / GENERALIZATION GATES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Freeze new camera evidence before selecting</a:t>
            </a:r>
          </a:p>
          <a:p>
            <a:pPr algn="l">
              <a:lnSpc>
                <a:spcPts val="3690"/>
              </a:lnSpc>
              <a:spcBef>
                <a:spcPts val="0"/>
              </a:spcBef>
              <a:spcAft>
                <a:spcPts val="0"/>
              </a:spcAft>
              <a:defRPr sz="3000" b="1">
                <a:solidFill>
                  <a:srgbClr val="142C40"/>
                </a:solidFill>
                <a:latin typeface="DejaVu Sans"/>
              </a:defRPr>
            </a:pPr>
            <a:r>
              <a:t>another model</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Existing definitions retained • improve source diversity, temporal labels and realistic controls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Current observed failure modes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44</a:t>
            </a:r>
          </a:p>
        </p:txBody>
      </p:sp>
      <p:sp>
        <p:nvSpPr>
          <p:cNvPr id="10" name="Rectangle 9"/>
          <p:cNvSpPr/>
          <p:nvPr/>
        </p:nvSpPr>
        <p:spPr>
          <a:xfrm>
            <a:off x="533400" y="2159000"/>
            <a:ext cx="11125200" cy="5080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4224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Priority</a:t>
            </a:r>
          </a:p>
        </p:txBody>
      </p:sp>
      <p:sp>
        <p:nvSpPr>
          <p:cNvPr id="12" name="TextBox 11"/>
          <p:cNvSpPr txBox="1"/>
          <p:nvPr/>
        </p:nvSpPr>
        <p:spPr>
          <a:xfrm>
            <a:off x="2311400" y="2273300"/>
            <a:ext cx="45339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Concrete work</a:t>
            </a:r>
          </a:p>
        </p:txBody>
      </p:sp>
      <p:sp>
        <p:nvSpPr>
          <p:cNvPr id="13" name="TextBox 12"/>
          <p:cNvSpPr txBox="1"/>
          <p:nvPr/>
        </p:nvSpPr>
        <p:spPr>
          <a:xfrm>
            <a:off x="7073900" y="2273300"/>
            <a:ext cx="4483100" cy="3810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Acceptance evidence</a:t>
            </a:r>
          </a:p>
        </p:txBody>
      </p:sp>
      <p:sp>
        <p:nvSpPr>
          <p:cNvPr id="14" name="Rectangle 13"/>
          <p:cNvSpPr/>
          <p:nvPr/>
        </p:nvSpPr>
        <p:spPr>
          <a:xfrm>
            <a:off x="533400" y="266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81300"/>
            <a:ext cx="1422400" cy="4953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1. Label /</a:t>
            </a:r>
          </a:p>
          <a:p>
            <a:pPr algn="l">
              <a:lnSpc>
                <a:spcPts val="1537"/>
              </a:lnSpc>
              <a:spcBef>
                <a:spcPts val="0"/>
              </a:spcBef>
              <a:spcAft>
                <a:spcPts val="0"/>
              </a:spcAft>
              <a:defRPr sz="1250" b="1">
                <a:solidFill>
                  <a:srgbClr val="142C40"/>
                </a:solidFill>
                <a:latin typeface="DejaVu Sans"/>
              </a:defRPr>
            </a:pPr>
            <a:r>
              <a:t>collect</a:t>
            </a:r>
          </a:p>
        </p:txBody>
      </p:sp>
      <p:sp>
        <p:nvSpPr>
          <p:cNvPr id="16" name="TextBox 15"/>
          <p:cNvSpPr txBox="1"/>
          <p:nvPr/>
        </p:nvSpPr>
        <p:spPr>
          <a:xfrm>
            <a:off x="2311400" y="2781300"/>
            <a:ext cx="45339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New cameras; full event / owner histories</a:t>
            </a:r>
          </a:p>
        </p:txBody>
      </p:sp>
      <p:sp>
        <p:nvSpPr>
          <p:cNvPr id="17" name="TextBox 16"/>
          <p:cNvSpPr txBox="1"/>
          <p:nvPr/>
        </p:nvSpPr>
        <p:spPr>
          <a:xfrm>
            <a:off x="7073900" y="2781300"/>
            <a:ext cx="44831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Independent review + matched controls</a:t>
            </a:r>
          </a:p>
        </p:txBody>
      </p:sp>
      <p:cxnSp>
        <p:nvCxnSpPr>
          <p:cNvPr id="18" name="Connector 17"/>
          <p:cNvCxnSpPr/>
          <p:nvPr/>
        </p:nvCxnSpPr>
        <p:spPr>
          <a:xfrm>
            <a:off x="533400" y="330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30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416300"/>
            <a:ext cx="1422400" cy="4953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2. Components</a:t>
            </a:r>
          </a:p>
        </p:txBody>
      </p:sp>
      <p:sp>
        <p:nvSpPr>
          <p:cNvPr id="21" name="TextBox 20"/>
          <p:cNvSpPr txBox="1"/>
          <p:nvPr/>
        </p:nvSpPr>
        <p:spPr>
          <a:xfrm>
            <a:off x="2311400" y="3416300"/>
            <a:ext cx="45339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Person / item coverage; identity; persistence</a:t>
            </a:r>
          </a:p>
        </p:txBody>
      </p:sp>
      <p:sp>
        <p:nvSpPr>
          <p:cNvPr id="22" name="TextBox 21"/>
          <p:cNvSpPr txBox="1"/>
          <p:nvPr/>
        </p:nvSpPr>
        <p:spPr>
          <a:xfrm>
            <a:off x="7073900" y="3416300"/>
            <a:ext cx="44831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Automatic inputs; explicit error audit</a:t>
            </a:r>
          </a:p>
        </p:txBody>
      </p:sp>
      <p:cxnSp>
        <p:nvCxnSpPr>
          <p:cNvPr id="23" name="Connector 22"/>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937000"/>
            <a:ext cx="11125200" cy="635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4051300"/>
            <a:ext cx="1422400" cy="4953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3. Adapt</a:t>
            </a:r>
          </a:p>
        </p:txBody>
      </p:sp>
      <p:sp>
        <p:nvSpPr>
          <p:cNvPr id="26" name="TextBox 25"/>
          <p:cNvSpPr txBox="1"/>
          <p:nvPr/>
        </p:nvSpPr>
        <p:spPr>
          <a:xfrm>
            <a:off x="2311400" y="4051300"/>
            <a:ext cx="45339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Source-balanced confirmed examples; early stop</a:t>
            </a:r>
          </a:p>
        </p:txBody>
      </p:sp>
      <p:sp>
        <p:nvSpPr>
          <p:cNvPr id="27" name="TextBox 26"/>
          <p:cNvSpPr txBox="1"/>
          <p:nvPr/>
        </p:nvSpPr>
        <p:spPr>
          <a:xfrm>
            <a:off x="7073900" y="4051300"/>
            <a:ext cx="44831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Original control; multiple source folds</a:t>
            </a:r>
          </a:p>
        </p:txBody>
      </p:sp>
      <p:cxnSp>
        <p:nvCxnSpPr>
          <p:cNvPr id="28" name="Connector 27"/>
          <p:cNvCxnSpPr/>
          <p:nvPr/>
        </p:nvCxnSpPr>
        <p:spPr>
          <a:xfrm>
            <a:off x="533400" y="4572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572000"/>
            <a:ext cx="11125200" cy="635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686300"/>
            <a:ext cx="1422400" cy="4953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4. Validate</a:t>
            </a:r>
          </a:p>
        </p:txBody>
      </p:sp>
      <p:sp>
        <p:nvSpPr>
          <p:cNvPr id="31" name="TextBox 30"/>
          <p:cNvSpPr txBox="1"/>
          <p:nvPr/>
        </p:nvSpPr>
        <p:spPr>
          <a:xfrm>
            <a:off x="2311400" y="4686300"/>
            <a:ext cx="45339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Freeze route / cutoff; untouched long streams</a:t>
            </a:r>
          </a:p>
        </p:txBody>
      </p:sp>
      <p:sp>
        <p:nvSpPr>
          <p:cNvPr id="32" name="TextBox 31"/>
          <p:cNvSpPr txBox="1"/>
          <p:nvPr/>
        </p:nvSpPr>
        <p:spPr>
          <a:xfrm>
            <a:off x="7073900" y="4686300"/>
            <a:ext cx="4483100" cy="4953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Recall, delay, FAR, repeats and bounds</a:t>
            </a:r>
          </a:p>
        </p:txBody>
      </p:sp>
      <p:cxnSp>
        <p:nvCxnSpPr>
          <p:cNvPr id="33" name="Connector 32"/>
          <p:cNvCxnSpPr/>
          <p:nvPr/>
        </p:nvCxnSpPr>
        <p:spPr>
          <a:xfrm>
            <a:off x="533400" y="520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Keep unknown when the required visible, duration or ownership evidence is missing.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DELIVERABLES / REPRODUCIBILITY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Updated paper, editable slides and source-linked</a:t>
            </a:r>
          </a:p>
          <a:p>
            <a:pPr algn="l">
              <a:lnSpc>
                <a:spcPts val="3690"/>
              </a:lnSpc>
              <a:spcBef>
                <a:spcPts val="0"/>
              </a:spcBef>
              <a:spcAft>
                <a:spcPts val="0"/>
              </a:spcAft>
              <a:defRPr sz="3000" b="1">
                <a:solidFill>
                  <a:srgbClr val="142C40"/>
                </a:solidFill>
                <a:latin typeface="DejaVu Sans"/>
              </a:defRPr>
            </a:pPr>
            <a:r>
              <a:t>findings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Complete historical account plus detailed SmolVLM methods, results and limitations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PROGRESS 19 OCT 2026 • Technical runthrough + per-stage data / source manifests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45</a:t>
            </a:r>
          </a:p>
        </p:txBody>
      </p:sp>
      <p:sp>
        <p:nvSpPr>
          <p:cNvPr id="10" name="Rectangle 9"/>
          <p:cNvSpPr/>
          <p:nvPr/>
        </p:nvSpPr>
        <p:spPr>
          <a:xfrm>
            <a:off x="5334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16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Detailed technical paper</a:t>
            </a:r>
          </a:p>
        </p:txBody>
      </p:sp>
      <p:sp>
        <p:nvSpPr>
          <p:cNvPr id="13" name="TextBox 12"/>
          <p:cNvSpPr txBox="1"/>
          <p:nvPr/>
        </p:nvSpPr>
        <p:spPr>
          <a:xfrm>
            <a:off x="7620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All original data / testing stages</a:t>
            </a:r>
          </a:p>
          <a:p>
            <a:pPr algn="l">
              <a:lnSpc>
                <a:spcPts val="1968"/>
              </a:lnSpc>
              <a:spcBef>
                <a:spcPts val="0"/>
              </a:spcBef>
              <a:spcAft>
                <a:spcPts val="0"/>
              </a:spcAft>
              <a:defRPr sz="1600" b="0">
                <a:solidFill>
                  <a:srgbClr val="142C40"/>
                </a:solidFill>
                <a:latin typeface="DejaVu Sans"/>
              </a:defRPr>
            </a:pPr>
            <a:r>
              <a:t>New full SmolVLM training chapter</a:t>
            </a:r>
          </a:p>
          <a:p>
            <a:pPr algn="l">
              <a:lnSpc>
                <a:spcPts val="1968"/>
              </a:lnSpc>
              <a:spcBef>
                <a:spcPts val="0"/>
              </a:spcBef>
              <a:spcAft>
                <a:spcPts val="0"/>
              </a:spcAft>
              <a:defRPr sz="1600" b="0">
                <a:solidFill>
                  <a:srgbClr val="142C40"/>
                </a:solidFill>
                <a:latin typeface="DejaVu Sans"/>
              </a:defRPr>
            </a:pPr>
            <a:r>
              <a:t>All 60 method / seed / source cells</a:t>
            </a:r>
          </a:p>
          <a:p>
            <a:pPr algn="l">
              <a:lnSpc>
                <a:spcPts val="1968"/>
              </a:lnSpc>
              <a:spcBef>
                <a:spcPts val="0"/>
              </a:spcBef>
              <a:spcAft>
                <a:spcPts val="0"/>
              </a:spcAft>
              <a:defRPr sz="1600" b="0">
                <a:solidFill>
                  <a:srgbClr val="142C40"/>
                </a:solidFill>
                <a:latin typeface="DejaVu Sans"/>
              </a:defRPr>
            </a:pPr>
            <a:r>
              <a:t>Exact cutoffs and epoch histories</a:t>
            </a:r>
          </a:p>
          <a:p>
            <a:pPr algn="l">
              <a:lnSpc>
                <a:spcPts val="1968"/>
              </a:lnSpc>
              <a:spcBef>
                <a:spcPts val="0"/>
              </a:spcBef>
              <a:spcAft>
                <a:spcPts val="0"/>
              </a:spcAft>
              <a:defRPr sz="1600" b="0">
                <a:solidFill>
                  <a:srgbClr val="142C40"/>
                </a:solidFill>
                <a:latin typeface="DejaVu Sans"/>
              </a:defRPr>
            </a:pPr>
            <a:r>
              <a:t>LaTeX source + portable source ZIP</a:t>
            </a:r>
          </a:p>
        </p:txBody>
      </p:sp>
      <p:sp>
        <p:nvSpPr>
          <p:cNvPr id="14" name="Rectangle 13"/>
          <p:cNvSpPr/>
          <p:nvPr/>
        </p:nvSpPr>
        <p:spPr>
          <a:xfrm>
            <a:off x="6235700" y="2108200"/>
            <a:ext cx="5422900" cy="316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08200"/>
            <a:ext cx="50800" cy="316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860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Presentation and evidence</a:t>
            </a:r>
          </a:p>
        </p:txBody>
      </p:sp>
      <p:sp>
        <p:nvSpPr>
          <p:cNvPr id="17" name="TextBox 16"/>
          <p:cNvSpPr txBox="1"/>
          <p:nvPr/>
        </p:nvSpPr>
        <p:spPr>
          <a:xfrm>
            <a:off x="6464300" y="2997200"/>
            <a:ext cx="4991100" cy="21463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Editable PPTX + matching vector PDF</a:t>
            </a:r>
          </a:p>
          <a:p>
            <a:pPr algn="l">
              <a:lnSpc>
                <a:spcPts val="1968"/>
              </a:lnSpc>
              <a:spcBef>
                <a:spcPts val="0"/>
              </a:spcBef>
              <a:spcAft>
                <a:spcPts val="0"/>
              </a:spcAft>
              <a:defRPr sz="1600" b="0">
                <a:solidFill>
                  <a:srgbClr val="142C40"/>
                </a:solidFill>
                <a:latin typeface="DejaVu Sans"/>
              </a:defRPr>
            </a:pPr>
            <a:r>
              <a:t>Updated one-slide summary</a:t>
            </a:r>
          </a:p>
          <a:p>
            <a:pPr algn="l">
              <a:lnSpc>
                <a:spcPts val="1968"/>
              </a:lnSpc>
              <a:spcBef>
                <a:spcPts val="0"/>
              </a:spcBef>
              <a:spcAft>
                <a:spcPts val="0"/>
              </a:spcAft>
              <a:defRPr sz="1600" b="0">
                <a:solidFill>
                  <a:srgbClr val="142C40"/>
                </a:solidFill>
                <a:latin typeface="DejaVu Sans"/>
              </a:defRPr>
            </a:pPr>
            <a:r>
              <a:t>Speaker notes + source identities</a:t>
            </a:r>
          </a:p>
          <a:p>
            <a:pPr algn="l">
              <a:lnSpc>
                <a:spcPts val="1968"/>
              </a:lnSpc>
              <a:spcBef>
                <a:spcPts val="0"/>
              </a:spcBef>
              <a:spcAft>
                <a:spcPts val="0"/>
              </a:spcAft>
              <a:defRPr sz="1600" b="0">
                <a:solidFill>
                  <a:srgbClr val="142C40"/>
                </a:solidFill>
                <a:latin typeface="DejaVu Sans"/>
              </a:defRPr>
            </a:pPr>
            <a:r>
              <a:t>Rendered previews + layout checks</a:t>
            </a:r>
          </a:p>
          <a:p>
            <a:pPr algn="l">
              <a:lnSpc>
                <a:spcPts val="1968"/>
              </a:lnSpc>
              <a:spcBef>
                <a:spcPts val="0"/>
              </a:spcBef>
              <a:spcAft>
                <a:spcPts val="0"/>
              </a:spcAft>
              <a:defRPr sz="1600" b="0">
                <a:solidFill>
                  <a:srgbClr val="142C40"/>
                </a:solidFill>
                <a:latin typeface="DejaVu Sans"/>
              </a:defRPr>
            </a:pPr>
            <a:r>
              <a:t>Earlier report / slides preserved</a:t>
            </a:r>
          </a:p>
        </p:txBody>
      </p:sp>
      <p:sp>
        <p:nvSpPr>
          <p:cNvPr id="18" name="Rectangle 17"/>
          <p:cNvSpPr/>
          <p:nvPr/>
        </p:nvSpPr>
        <p:spPr>
          <a:xfrm>
            <a:off x="533400" y="5473700"/>
            <a:ext cx="11125200" cy="7747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473700"/>
            <a:ext cx="50800" cy="774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588000"/>
            <a:ext cx="10706100" cy="622300"/>
          </a:xfrm>
          <a:prstGeom prst="rect">
            <a:avLst/>
          </a:prstGeom>
          <a:noFill/>
        </p:spPr>
        <p:txBody>
          <a:bodyPr wrap="none" lIns="0" rIns="0" tIns="0" bIns="0" anchor="t">
            <a:spAutoFit/>
          </a:bodyPr>
          <a:lstStyle/>
          <a:p>
            <a:pPr algn="l">
              <a:lnSpc>
                <a:spcPts val="1722"/>
              </a:lnSpc>
              <a:spcBef>
                <a:spcPts val="0"/>
              </a:spcBef>
              <a:spcAft>
                <a:spcPts val="0"/>
              </a:spcAft>
              <a:defRPr sz="1400" b="1">
                <a:solidFill>
                  <a:srgbClr val="007E80"/>
                </a:solidFill>
                <a:latin typeface="DejaVu Sans"/>
              </a:defRPr>
            </a:pPr>
            <a:r>
              <a:t>This documentation build reads completed results. It runs no new model evaluation or latency</a:t>
            </a:r>
          </a:p>
          <a:p>
            <a:pPr algn="l">
              <a:lnSpc>
                <a:spcPts val="1722"/>
              </a:lnSpc>
              <a:spcBef>
                <a:spcPts val="0"/>
              </a:spcBef>
              <a:spcAft>
                <a:spcPts val="0"/>
              </a:spcAft>
              <a:defRPr sz="1400" b="1">
                <a:solidFill>
                  <a:srgbClr val="007E80"/>
                </a:solidFill>
                <a:latin typeface="DejaVu Sans"/>
              </a:defRPr>
            </a:pPr>
            <a:r>
              <a:t>benchmark.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Five-anomaly evaluation and adaptation progress</dc:title>
  <dc:subject>Data, methods, results and improvements through 19 October 2026</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