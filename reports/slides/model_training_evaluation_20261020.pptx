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dedicated training/evaluation presentation rather than the full project-history deck. The requested four families are included; MiniCPM is outside this deck. Six CLIP visual runs, three SmolVLM LoRA runs and the corrected supervised VadCLIP study are documented. Later classifier, region and source-data studies are separated from genuine changes to pretrained backbone weights. No model is retrained for this documentation build and no speed or latency measurements are included.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MobileCLIP updates 18,106,992 visual parameters plus 10,245 head parameters; SigLIP updates 14,176,512 plus 15,365. Earlier visual layers and text encoders remain frozen. SmolVLM updates 4,341,760 language projection parameters while its vision tower and connector remain frozen. VadCLIP trains about 12.642 million adapter parameters over frozen CLIP-B/16 features. A missing SmolVLM linear probe is not assigned another model's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MobileCLIP/SigLIP stages are the original CLIP visual study: 3,258 train,1,633 dev. SmolVLM original and joint LoRA use the expanded 3,973 train/1,812 dev corpus and matched binary prompting. They share the646-case test with the earlier CLIP stages but not the same training data. VadCLIP stages share their own1,056-frame test and9/4/3session split. Its temporal adapter, Smol language LoRA and CLIP visual fine-tunes are distinct forms of weight adaptation. SmolVLM has no executed linear-probe stage. This AP table must not be read as a matched four-model leaderboard.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expansion adds 1,118 smoking photos: 715 training, 179 development and 224 test. The main SmolVLM corpus therefore has 3,973 training, 1,812 development, 2,025 test and 806 external examples. Additional transfer is wholly held out from that training. HMDB later changes from a 906-clip transfer cohort to grouped adaptation folds; ten title-part aliases are purged, leaving 896. The 3,278 VadCLIP frames reuse the original CCTV corpus under a different split. Views, repeated temporal endpoints and copied dataset exports do not create independent events.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counts in the primary CLIP manifest: CCTV smoking 3,278; Stanford40 1,406; IWDD 435; Street Scene 496; apparent public sleep 113; unattended endpoints 1,770. Subsequent photo expansion adds 1,118. IWDD acquired 498/500 videos; two missing training videos and 63 training videos linked to official test sources are excluded, leaving 274/61/100. Old person-only loitering exports, duplicate lying/standing images and foreground-mask datasets are not treated as complete target supervision. Public-sleep labels describe appearance/context, with no inference about housing status.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Smoking trains on camera c4 and Stanford40 official-training photos, develops on c2 and tests c1; the external 806 photos preserve Stanford40 official-test membership. IWDD retains its 100 official test clips. Street Scene recordings stay within a split, but all originate from one camera. Sleep splits use author/perceptual groups. Unattended training has two source groups, development one and historical test two camera families. Static targets use one endpoint, temporal tasks four chronological views, and littering eight uniform clip views.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CLIP visual fine-tuning study and this expanded corpus do not have identical training data. The 16 October CLIP strategy routes and 19 October SmolVLM study do share these expanded training/development splits and exactly matched held-out IDs/labels. That is the basis for the later three-model pipeline comparison. Main held-out cases total 2,831; additional transfer adds 961, giving 3,792. Neither count equals independent people, cameras or events.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split is 9 training, 4 development and 3 test sessions, grouped by camera/date. The 1,056 test frames contain 560 positives and 496 normals. Train and test both include camera IDs c1, c2 and c4 on different dates, so this is session generalization rather than unseen-camera generalization. The separate camera-c1 holdout used by the five-target CLIP/Smol studies has 646 frames and 393 positives. No arithmetic comparison between those scores is a matched four-model benchmark.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HMDB transfer uses eight uniform views across full clips and includes 109 smoking plus 797 primary-action controls. The later adapted pilot uses sixteen views and 530/161/205 grouped clips after title-part alias purging. MEVA has 15 abandonment windows plus 12 pre-event controls across ten synchronized sessions/seven cameras, using source end annotations to define offline windows. It does not supply fully reviewed unattended-owner state. XRF55 train/dev/test aliases and scene blocks are disjoint; training inspection did not verify a visible cigarette, so it is weak gesture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Historical CCTV, unattended intervals and many transfer cohorts were inspected in earlier rounds; those tests remain retrospective. Exact pixel disjointness does not establish complete semantic/source independence. Six CLIP visual runs use seeds 42/43/44; Smol uses two primary learning rates at seed 42 plus one repeat at seed 43. More source views, repeated photos or adjacent endpoints do not increase the count of independent target events. The XRF55 split was frozen before new source predictions. No latency experiment is included.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detailed stage tables use each method's maximum-development-F1 cutoff, frozen before held-out scoring. Supplementary tables explicitly use raw zero or the development 5% FPR point. Older CLIP and Smol cutoffs use pooled target development negatives; later 17/20 October smoking experiments constrain every development source. Accuracy and balanced accuracy are derived from saved TP/FP/FN/TN. All source thresholds and unrounded metrics are included in metrics.csv. AP/AUPR labels follow the stored implementations; VadCLIP AP belongs to its separate frame cohort. Endpoint FPR is not continuous false alerts per camera-hour.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probe pools ordered input image embeddings into normalized endpoint/mean/max/last-minus-first features. C is selected on development AP: primary MobileCLIP C10, SigLIP C100. Only one annotated target contributes BCE to visual tuning. Fine-tuning starts from the selected probe head, updates the recorded last-stage visual parameters, and applies feature distillation plus weight anchoring at coefficient0.1 each. Scene-preserving augmentation uses horizontal flip0.5, brightness/contrast0.15 and saturation0.1, without random crops. Float32 parameters with BF16 autocast train on GPU; final selection/calibration and held-out inference use float32 with TF32 disabled. Zero-shot uses a text direction on the endpoint embedding rather than the supervised temporal pooling, so that transition changes supervision and representation.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primary models select visual learning rate3e-5 from1e-5/3e-5. Epochs maximize development macro AP, averaging source AP within each of the five targets. Checkpoints and per-task routes are frozen before final test. Original AMP diagnostics are preserved; a numerical audit found batch-shape sensitivity, so the final tables use the separate float32_evaluation outputs. Operating thresholds were recalibrated only on float32 development predictions, keeping weights and method selection unchanged.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Zero-shot text uses the endpoint visual embedding; the probe and visual-tuned classifier use normalized last/mean/max/change features. Thus the first step adds supervision and representation pooling. Visual tuning versus the probe uses the same representation and dataset. These bars are all candidates, not a test-best deployment selection. AP does not determine a working cutoff. Values come from the final float32 evaluation, not the retained AMP diagnostic.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Zero-shot text uses the endpoint visual embedding; the probe and visual-tuned classifier use normalized last/mean/max/change features. Thus the first step adds supervision and representation pooling. Visual tuning versus the probe uses the same representation and dataset. These bars are all candidates, not a test-best deployment selection. AP does not determine a working cutoff. Values come from the final float32 evaluation, not the retained AMP diagnostic.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seed 42. AP and ROC-AUC are ranking metrics independent of the displayed cutoff. F1, precision, recall and FPR use each method's own frozen maximum-development-F1 threshold. Zero-shot/probe/visual-tune stages use the same held-out labels; the zero-shot endpoint and supervised pooling representations differ. Dataset/source qualifications apply: historical CCTV and unattended labels are retrospective; IWDD is whole-clip waste dumping; loitering is one-camera supervised windows; sleep is18 provisional photos with6 positives; Stanford40 is an official photo holdout from a domain contributing training examples. Test-best method values do not override development routing.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seed 42. AP and ROC-AUC are ranking metrics independent of the displayed cutoff. F1, precision, recall and FPR use each method's own frozen maximum-development-F1 threshold. Zero-shot/probe/visual-tune stages use the same held-out labels; the zero-shot endpoint and supervised pooling representations differ. Dataset/source qualifications apply: historical CCTV and unattended labels are retrospective; IWDD is whole-clip waste dumping; loitering is one-camera supervised windows; sleep is18 provisional photos with6 positives; Stanford40 is an official photo holdout from a domain contributing training examples. Test-best method values do not override development routing.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seed 42. AP and ROC-AUC are ranking metrics independent of the displayed cutoff. F1, precision, recall and FPR use each method's own frozen maximum-development-F1 threshold. Zero-shot/probe/visual-tune stages use the same held-out labels; the zero-shot endpoint and supervised pooling representations differ. Dataset/source qualifications apply: historical CCTV and unattended labels are retrospective; IWDD is whole-clip waste dumping; loitering is one-camera supervised windows; sleep is18 provisional photos with6 positives; Stanford40 is an official photo holdout from a domain contributing training examples. Test-best method values do not override development routing.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seed 42. AP and ROC-AUC are ranking metrics independent of the displayed cutoff. F1, precision, recall and FPR use each method's own frozen maximum-development-F1 threshold. Zero-shot/probe/visual-tune stages use the same held-out labels; the zero-shot endpoint and supervised pooling representations differ. Dataset/source qualifications apply: historical CCTV and unattended labels are retrospective; IWDD is whole-clip waste dumping; loitering is one-camera supervised windows; sleep is18 provisional photos with6 positives; Stanford40 is an official photo holdout from a domain contributing training examples. Test-best method values do not override development routing.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seed 42. AP and ROC-AUC are ranking metrics independent of the displayed cutoff. F1, precision, recall and FPR use each method's own frozen maximum-development-F1 threshold. Zero-shot/probe/visual-tune stages use the same held-out labels; the zero-shot endpoint and supervised pooling representations differ. Dataset/source qualifications apply: historical CCTV and unattended labels are retrospective; IWDD is whole-clip waste dumping; loitering is one-camera supervised windows; sleep is18 provisional photos with6 positives; Stanford40 is an official photo holdout from a domain contributing training examples. Test-best method values do not override development routing.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seed 42. AP and ROC-AUC are ranking metrics independent of the displayed cutoff. F1, precision, recall and FPR use each method's own frozen maximum-development-F1 threshold. Zero-shot/probe/visual-tune stages use the same held-out labels; the zero-shot endpoint and supervised pooling representations differ. Dataset/source qualifications apply: historical CCTV and unattended labels are retrospective; IWDD is whole-clip waste dumping; loitering is one-camera supervised windows; sleep is18 provisional photos with6 positives; Stanford40 is an official photo holdout from a domain contributing training examples. Test-best method values do not override development routing.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MobileCLIP routes all five targets through its fine-tuned checkpoint. Primary SigLIP routes smoking/unattended through visual tuning, dumping/public sleep through its probe and loitering through zero-shot. SigLIP's sleep fine-tune has a higher test AP than the selected probe; that fact is retained rather than retrospectively replacing the development route. These scores remain on the original 7,498-example study; later expanded-data strategies are a separate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test threshold is fitted. The raw-zero cutoff was predeclared, so reporting it alongside development-max-F1 and development-budget results is a sensitivity analysis rather than threshold cherry-picking. AP is unchanged across all three rows for a route. Normal endpoint FPR remains different from false alerts per continuous camera-hour. Item ownership and temporal consistency are not measured by high endpoint AP.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range includes seeds42/43/44; each replication follows its own development-only routing and the primary selected visual LR. Seeds do not add independent cameras, people, new labels or events. The full CSV contains every method, seed and threshold. No winning test seed replaces seed 42. Small public-sleep and loitering cohorts make apparent score changes especially unstable.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expanded training/development pool is3,973/1,812. Automatic Faster R-CNN contextual crops have confidence 0.5,20% padding and full-frame fallback. Full pooled features use last/mean/max/change; ordered features concatenate four indexed frames plus mean/max. MLP uses one64-unit ReLU layer, dropout 0.3, AdamW LR 0.001/weight decay 0.01, batch 128, at most80 epochs and patience 8. Linear classifiers use LBFGS up to400 iterations. Visual interpolation uses only previously trained parameters. Primary selection maximizes mean development-source AP. Secondary worst-source analyses and later policies have their own timing qualifications.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provenance checked exact held-out IDs/labels for all3,792 cases. The new presentation also asserts all cohort denominators and class counts match across the three saved pipelines. Primary development-selected CLIP strategy routes are compared with primary seed 42 SmolVLM per-target routes. The SmolVLM original control remains the causal comparison for LoRA weight adaptation. No VadCLIP score is inserted because its separate1,056-frame smoking test has different sessions. Later HMDB-adapted205-clip results use additional training and do not replace the906-clip transfer row. These historical cohorts remain retrospective.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provenance checked exact held-out IDs/labels for all3,792 cases. The new presentation also asserts all cohort denominators and class counts match across the three saved pipelines. Primary development-selected CLIP strategy routes are compared with primary seed 42 SmolVLM per-target routes. The SmolVLM original control remains the causal comparison for LoRA weight adaptation. No VadCLIP score is inserted because its separate1,056-frame smoking test has different sessions. Later HMDB-adapted205-clip results use additional training and do not replace the906-clip transfer row. These historical cohorts remain retrospective.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Smoking cohort646/393 positive; unattended962/242 positive. Method-specific development-budget thresholds are fixed. These older studies constrain pooled development negatives for each target, rather than every source separately. The table includes AP, ROC-AUC, F1, precision, recall and FPR on exactly matched held-out labels. No low-FPR operating threshold is fitted to these test cases. Confusion counts and thresholds are retained in metrics.csv; precision and F1 can look favorable with high positive prevalence even when normal rejection fails.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sample contributes supervision only for its annotated target. The Yes/No first-token loss uses the whole vocabulary, with all prompt/image loss positions excluded. Vision tower, multimodal connector, token embeddings and vocabulary head are immutable. Rank 8alpha16dropout0.05 target seven projection types in language layers. Linear LR decay follows5% warmup; gradient norm clipping1.0. One epoch has7,946 visits: all3,973unique examples plus an equally sized task/class/source/group-balanced resample. Frozen vision tokens are512-pixel inputs without image splitting; static tasks1image, temporal windows4, littering8. Held-out logits are float32 with TF32 off. Original and adapted routes use identical prompts and images.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Development metric averages dataset-source AP within each target, then equally across five targets. Original matched development macro AP0.5657; primary joint adapter seed 42/LR 1e-4 reaches0.7026. The low-rate candidate reaches0.6584; repeated seed 43/LR 1e-4 reaches0.6548. Each run completes three epochs under patience 2 and selects epoch 1. Epoch loss is not directly comparable to CLIP's binary classifier loss. Per-task routing chooses between original and the two primary adapters using development data before held-out inference; it is not a newly trained third head.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is the unadapted model under the same binary query, not the earlier six-label JSON generation baseline. Joint uses high-rate seed 42adapter for all targets; primary routing selects low-rate seed 42 for public sleep and high-rate for the other four. Loitering original AP0.4250 falls to0.1822 despite favorable primary development selection. Public sleep joint0.6327 versus routed0.7885 demonstrates why a joint model and a routed system must not be conflated. This table uses exact stored AP values rather than generated class labels.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six rows use the frozen maximum-development-F1 operating point. The source-specific positive/negative counts are in the dataset and exported metrics tables. This binary task query has no trained unknown category, explanations or boxes. It is not numerically comparable to the older six-class free-generation accuracy. Native image forwards validate the cached visual-token path. Low-FPR and raw-zero operating points follow on the next slide; they do not use test fitting.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pooled-development-budget cutoff, unattended recall94.6%, FPR70.8%. Smoking CCTV recall1.8%, FPR0%. At raw zero, unattended recall64.9%, FPR25.8%; CCTV predicts no positives. These outcomes illustrate different score distributions and source offsets. Test cutoffs are unchanged. All three points share the same AP/AUC because only the threshold varies. Neither static-frame accuracy nor sparse-window AP measures persistent owner departure or long normal camera exposure.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seed is an optimization repeat, not an independent data-source replication. Seed 42joint sleep AP0.6327, seed 43joint0.9167 and primary routed low-rate0.7885 are different configurations. Optional repeated-gain routing was formulated after primary held-out inspection; it is exploratory and not substituted into these primary tables. Exact original baseline rows repeat across seeds only as controls, not as new model runs.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pretrained CLIP-B/16 feature/text encoder stays frozen. The baseline logistic regression uses C1, max_iter2000 and training-frame labels, without test tuning. The adapter uses masked per-frame binary visual loss plus alignment cross entropy. Padded frames do not contribute. It can use context inside an offline sequence; raw-frame scores are expanded from the representative sequence to original labels. Best checkpoint/branch uses development PR performance, selecting epoch 1; training stops after51completed epochs under patience 50. Test threshold comes only from312development frames. This session split shares physical cameras across dates and differs from the other models' unseen-camera holdout. Historical earlier adapter ablations with no final test are excluded.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 baseline AP0.4823, linear probe0.5439, dual-mean adapter0.6332 all use identical test labels. The adapter's ROC-AUC0.5874, F10.5648, precision0.6210, recall0.5179, FPR0.3569, accuracy0.5767. Exact confusion:290TP,177FP,270FN,319TN. The probe's development cutoff flags97.8% of test normals, despite its high recall. Always-positive F1≈0.693 exceeds adapter F1 while producing100% FPR, demonstrating why F1 alone is misleading. AP/AUPR are taken from the saved implementation; this is not a matched-cohort comparison with646-case camera-c1 tests.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includes three pipelines sharing held-out camera-c1 frames but different primary training corpora and score interfaces. MobileCLIP/SigLIP entries are the actual visual-tune candidate rather than a later strategy selected after source-data expansion. SmolVLM is the high-rate primary joint LoRA. B is the corrected separate VadCLIP temporal adapter test. Do not infer a winner by sorting AP or F1 across A/B; prevalence is60.8% versus53.0%, and split difficulty differs. The preceding within-study stage tables are the valid attribution comparisons. The expanded-data matched three-model table uses a different, explicitly named strategy stage.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encoder fits14smoking and11unattended heads. Person/region baselines, causal GRUs with and without geometry, three seeds and region-supervised variants are retained. Hard negatives are mined only from training normals beginning epoch 4; a checkpoint selected earlier did not benefit from later mining. Smoking train3,342/dev1,475 combines expanded static data and HMDB adaptation; unattended uses236/236eligible windows. Ten known film-part aliases were removed from training. Improved crop geometry does not prove improved anomaly classification, and sparse ownership geometry remains a hypothesis. This training stage differs from both the earlier partial visual fine-tunes and SmolVLM language LoRA.</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probe and region/person rows use their original pooled development-budget cutoff. The17October policy chooses a fixed ensemble and single global cutoff that satisfies each development source's5% FPR budget. Primary policy uses person-supervised hard-negative seed 42 for MobileCLIP and all-head ensemble for SigLIP. These policies are selected on development data, while historical test sources were already inspected. The205HMDB test has30 positive/175controls, additional530training clips and16 views; the earlier906clip Smol/strategy transfer cohort had no HMDB training and8 views. Do not compare those APs as one fixed-test learning curve.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probe and region/person rows use their original pooled development-budget cutoff. The17October policy chooses a fixed ensemble and single global cutoff that satisfies each development source's5% FPR budget. Primary policy uses person-supervised hard-negative seed 42 for MobileCLIP and all-head ensemble for SigLIP. These policies are selected on development data, while historical test sources were already inspected. The205HMDB test has30 positive/175controls, additional530training clips and16 views; the earlier906clip Smol/strategy transfer cohort had no HMDB training and8 views. Do not compare those APs as one fixed-test learning curve.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XRF55 official public RGB release v6 supplies740selected clips and11,840 frames. Training-only inspection found masked actors performing hand-to-mouth gestures; class15 is retained as a publisher action proxy, not verified target smoking. New-only fitting uses340weakly labelled clips, not a verified CCTV smoking corpus. Frozen pretrained encoders and exact automatic contextual crops feed logistic heads with C0.1/1/10. Each source/class/group is balanced. All36fits converge; both model development selections freeze before test. No new temporal rule, visual fine-tune or language adapter is trained. Old-only also receives new-source development calibration, and new-only receives old-source development feedback.</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Mixed SigLIP CCTV AP0.7309to0.6227, and FPR3.95% to36.76%. On the new action proxy AP0.3568to0.7768, with recall21.7% and FPR1.7% at the frozen cutoff. MobileCLIP also loses CCTV AP0.6937to0.5673; its mixed proxy cutoff finds no positives and flags20drinking clips. All source control errors in these CLIP families occur on drinking actions. The new-source subject-level recall varies strongly; mixed SigLIP recalls10%,0%,55% across the three aliases. HistoricalCCTV remains retrospective, and proxy gain does not establish true CCTV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Mixed SigLIP CCTV AP0.7309to0.6227, and FPR3.95% to36.76%. On the new action proxy AP0.3568to0.7768, with recall21.7% and FPR1.7% at the frozen cutoff. MobileCLIP also loses CCTV AP0.6937to0.5673; its mixed proxy cutoff finds no positives and flags20drinking clips. All source control errors in these CLIP families occur on drinking actions. The new-source subject-level recall varies strongly; mixed SigLIP recalls10%,0%,55% across the three aliases. HistoricalCCTV remains retrospective, and proxy gain does not establish true CCTV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routes use the same8uniform frames selected from the16-view source manifest; the existing native prompt supports at most8. Each route scores160 dev clips and freezes new-source thresholds before either scores test. Original new-dev-budget recall61.7%, FPR36.7%; LoRA35.0%,18.3%. Older19Octoberbudget cutoffs yield zero recall and zero FPR on both routes. No scene4 adapter selection or new LoRA training occurs. Native image/cache margin checks pass. The source remains scripted-gesture evidence and cannot certify real smoking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defensible comparisons are within-study baseline/probe/adaptation stages and expanded-data matched three-pipeline cohorts. Generalization is still limited by camera diversity, independent annotation and confusable negatives. Apparent public sleep remains a visual proxy, and static endpoints do not verify owner departure or excessive dwell duration. The separate VadCLIP study supports only smoking-session results. Full-parameter model unfreezing was not performed. No test-best seed, retrospective cutoff or optional repeated-gain routing is silently promoted. The new deck reports existing training/evaluation facts without another inference or latency experiment.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Companion directory: reports/slides/training_evaluation_20261020. The CSV exports stored AP, ROC-AUC, precision, recall, F1, FPR, TP/FP/FN/TN, as well as derived accuracy/balanced accuracy. The manifest binds every reporting input and builder. A separate validation checks source hashes, metrics against the original result cells, PowerPoint/PDF content and rendered page bounds. The8-page20Octoberreport and102-page19Octobertechnical history remain separate documents. This deck focuses on the four requested model families and their training/evaluation stages.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TRAINING / SCOPE</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Four models, every completed learning stage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MobileCLIP2-S2 • SigLIP2-B/16-224 • SmolVLM-500M-Instruct • VadCLIP</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01</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What is compared</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Zero-shot / original model</a:t>
            </a:r>
          </a:p>
          <a:p>
            <a:pPr algn="l">
              <a:lnSpc>
                <a:spcPts val="1968"/>
              </a:lnSpc>
              <a:spcBef>
                <a:spcPts val="0"/>
              </a:spcBef>
              <a:spcAft>
                <a:spcPts val="0"/>
              </a:spcAft>
              <a:defRPr sz="1600" b="0">
                <a:solidFill>
                  <a:srgbClr val="142C40"/>
                </a:solidFill>
                <a:latin typeface="DejaVu Sans"/>
              </a:defRPr>
            </a:pPr>
            <a:r>
              <a:t>Frozen-feature linear probes</a:t>
            </a:r>
          </a:p>
          <a:p>
            <a:pPr algn="l">
              <a:lnSpc>
                <a:spcPts val="1968"/>
              </a:lnSpc>
              <a:spcBef>
                <a:spcPts val="0"/>
              </a:spcBef>
              <a:spcAft>
                <a:spcPts val="0"/>
              </a:spcAft>
              <a:defRPr sz="1600" b="0">
                <a:solidFill>
                  <a:srgbClr val="142C40"/>
                </a:solidFill>
                <a:latin typeface="DejaVu Sans"/>
              </a:defRPr>
            </a:pPr>
            <a:r>
              <a:t>Partial visual fine-tuning</a:t>
            </a:r>
          </a:p>
          <a:p>
            <a:pPr algn="l">
              <a:lnSpc>
                <a:spcPts val="1968"/>
              </a:lnSpc>
              <a:spcBef>
                <a:spcPts val="0"/>
              </a:spcBef>
              <a:spcAft>
                <a:spcPts val="0"/>
              </a:spcAft>
              <a:defRPr sz="1600" b="0">
                <a:solidFill>
                  <a:srgbClr val="142C40"/>
                </a:solidFill>
                <a:latin typeface="DejaVu Sans"/>
              </a:defRPr>
            </a:pPr>
            <a:r>
              <a:t>Language LoRA and temporal adapters</a:t>
            </a:r>
          </a:p>
          <a:p>
            <a:pPr algn="l">
              <a:lnSpc>
                <a:spcPts val="1968"/>
              </a:lnSpc>
              <a:spcBef>
                <a:spcPts val="0"/>
              </a:spcBef>
              <a:spcAft>
                <a:spcPts val="0"/>
              </a:spcAft>
              <a:defRPr sz="1600" b="0">
                <a:solidFill>
                  <a:srgbClr val="142C40"/>
                </a:solidFill>
                <a:latin typeface="DejaVu Sans"/>
              </a:defRPr>
            </a:pPr>
            <a:r>
              <a:t>Later region / source-data experiments</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How to read the results</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Five target-specific binary tasks</a:t>
            </a:r>
          </a:p>
          <a:p>
            <a:pPr algn="l">
              <a:lnSpc>
                <a:spcPts val="1968"/>
              </a:lnSpc>
              <a:spcBef>
                <a:spcPts val="0"/>
              </a:spcBef>
              <a:spcAft>
                <a:spcPts val="0"/>
              </a:spcAft>
              <a:defRPr sz="1600" b="0">
                <a:solidFill>
                  <a:srgbClr val="142C40"/>
                </a:solidFill>
                <a:latin typeface="DejaVu Sans"/>
              </a:defRPr>
            </a:pPr>
            <a:r>
              <a:t>Dataset and positive counts shown</a:t>
            </a:r>
          </a:p>
          <a:p>
            <a:pPr algn="l">
              <a:lnSpc>
                <a:spcPts val="1968"/>
              </a:lnSpc>
              <a:spcBef>
                <a:spcPts val="0"/>
              </a:spcBef>
              <a:spcAft>
                <a:spcPts val="0"/>
              </a:spcAft>
              <a:defRPr sz="1600" b="0">
                <a:solidFill>
                  <a:srgbClr val="142C40"/>
                </a:solidFill>
                <a:latin typeface="DejaVu Sans"/>
              </a:defRPr>
            </a:pPr>
            <a:r>
              <a:t>Ranking + fixed-cutoff metrics</a:t>
            </a:r>
          </a:p>
          <a:p>
            <a:pPr algn="l">
              <a:lnSpc>
                <a:spcPts val="1968"/>
              </a:lnSpc>
              <a:spcBef>
                <a:spcPts val="0"/>
              </a:spcBef>
              <a:spcAft>
                <a:spcPts val="0"/>
              </a:spcAft>
              <a:defRPr sz="1600" b="0">
                <a:solidFill>
                  <a:srgbClr val="142C40"/>
                </a:solidFill>
                <a:latin typeface="DejaVu Sans"/>
              </a:defRPr>
            </a:pPr>
            <a:r>
              <a:t>Primary development-selected routes</a:t>
            </a:r>
          </a:p>
          <a:p>
            <a:pPr algn="l">
              <a:lnSpc>
                <a:spcPts val="1968"/>
              </a:lnSpc>
              <a:spcBef>
                <a:spcPts val="0"/>
              </a:spcBef>
              <a:spcAft>
                <a:spcPts val="0"/>
              </a:spcAft>
              <a:defRPr sz="1600" b="0">
                <a:solidFill>
                  <a:srgbClr val="142C40"/>
                </a:solidFill>
                <a:latin typeface="DejaVu Sans"/>
              </a:defRPr>
            </a:pPr>
            <a:r>
              <a:t>Unavailable stages explicitly marked</a:t>
            </a:r>
          </a:p>
        </p:txBody>
      </p:sp>
      <p:sp>
        <p:nvSpPr>
          <p:cNvPr id="18" name="Rectangle 17"/>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This deck covers training and accuracy evaluation; all numbers come from preserved runs.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TRAINING / STAGE COVERAGE</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The stages differ by model architecture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 stage is reported only when a corresponding saved experiment exists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02</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1765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a:t>
            </a:r>
          </a:p>
        </p:txBody>
      </p:sp>
      <p:sp>
        <p:nvSpPr>
          <p:cNvPr id="12" name="TextBox 11"/>
          <p:cNvSpPr txBox="1"/>
          <p:nvPr/>
        </p:nvSpPr>
        <p:spPr>
          <a:xfrm>
            <a:off x="2603500" y="2171700"/>
            <a:ext cx="208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Baseline</a:t>
            </a:r>
          </a:p>
        </p:txBody>
      </p:sp>
      <p:sp>
        <p:nvSpPr>
          <p:cNvPr id="13" name="TextBox 12"/>
          <p:cNvSpPr txBox="1"/>
          <p:nvPr/>
        </p:nvSpPr>
        <p:spPr>
          <a:xfrm>
            <a:off x="4889500" y="2171700"/>
            <a:ext cx="1638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Linear probe</a:t>
            </a:r>
          </a:p>
        </p:txBody>
      </p:sp>
      <p:sp>
        <p:nvSpPr>
          <p:cNvPr id="14" name="TextBox 13"/>
          <p:cNvSpPr txBox="1"/>
          <p:nvPr/>
        </p:nvSpPr>
        <p:spPr>
          <a:xfrm>
            <a:off x="6731000" y="2171700"/>
            <a:ext cx="2209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Weight adaptation</a:t>
            </a:r>
          </a:p>
        </p:txBody>
      </p:sp>
      <p:sp>
        <p:nvSpPr>
          <p:cNvPr id="15" name="TextBox 14"/>
          <p:cNvSpPr txBox="1"/>
          <p:nvPr/>
        </p:nvSpPr>
        <p:spPr>
          <a:xfrm>
            <a:off x="9144000" y="2171700"/>
            <a:ext cx="24130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Later stages</a:t>
            </a:r>
          </a:p>
        </p:txBody>
      </p:sp>
      <p:sp>
        <p:nvSpPr>
          <p:cNvPr id="16" name="Rectangle 15"/>
          <p:cNvSpPr/>
          <p:nvPr/>
        </p:nvSpPr>
        <p:spPr>
          <a:xfrm>
            <a:off x="533400" y="25654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 y="2603500"/>
            <a:ext cx="1765300" cy="520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MobileCLIP</a:t>
            </a:r>
          </a:p>
        </p:txBody>
      </p:sp>
      <p:sp>
        <p:nvSpPr>
          <p:cNvPr id="18" name="TextBox 17"/>
          <p:cNvSpPr txBox="1"/>
          <p:nvPr/>
        </p:nvSpPr>
        <p:spPr>
          <a:xfrm>
            <a:off x="2603500" y="2603500"/>
            <a:ext cx="2082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Text margin</a:t>
            </a:r>
          </a:p>
        </p:txBody>
      </p:sp>
      <p:sp>
        <p:nvSpPr>
          <p:cNvPr id="19" name="TextBox 18"/>
          <p:cNvSpPr txBox="1"/>
          <p:nvPr/>
        </p:nvSpPr>
        <p:spPr>
          <a:xfrm>
            <a:off x="4889500" y="2603500"/>
            <a:ext cx="16383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Yes</a:t>
            </a:r>
          </a:p>
        </p:txBody>
      </p:sp>
      <p:sp>
        <p:nvSpPr>
          <p:cNvPr id="20" name="TextBox 19"/>
          <p:cNvSpPr txBox="1"/>
          <p:nvPr/>
        </p:nvSpPr>
        <p:spPr>
          <a:xfrm>
            <a:off x="6731000" y="2603500"/>
            <a:ext cx="2209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Last visual stage</a:t>
            </a:r>
          </a:p>
        </p:txBody>
      </p:sp>
      <p:sp>
        <p:nvSpPr>
          <p:cNvPr id="21" name="TextBox 20"/>
          <p:cNvSpPr txBox="1"/>
          <p:nvPr/>
        </p:nvSpPr>
        <p:spPr>
          <a:xfrm>
            <a:off x="9144000" y="2603500"/>
            <a:ext cx="24130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Crops / GRU / source fits</a:t>
            </a:r>
          </a:p>
        </p:txBody>
      </p:sp>
      <p:cxnSp>
        <p:nvCxnSpPr>
          <p:cNvPr id="22" name="Connector 21"/>
          <p:cNvCxnSpPr/>
          <p:nvPr/>
        </p:nvCxnSpPr>
        <p:spPr>
          <a:xfrm>
            <a:off x="533400" y="3162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162300"/>
            <a:ext cx="11125200" cy="596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000" y="3200400"/>
            <a:ext cx="1765300" cy="520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SigLIP2</a:t>
            </a:r>
          </a:p>
        </p:txBody>
      </p:sp>
      <p:sp>
        <p:nvSpPr>
          <p:cNvPr id="25" name="TextBox 24"/>
          <p:cNvSpPr txBox="1"/>
          <p:nvPr/>
        </p:nvSpPr>
        <p:spPr>
          <a:xfrm>
            <a:off x="2603500" y="3200400"/>
            <a:ext cx="2082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Text margin</a:t>
            </a:r>
          </a:p>
        </p:txBody>
      </p:sp>
      <p:sp>
        <p:nvSpPr>
          <p:cNvPr id="26" name="TextBox 25"/>
          <p:cNvSpPr txBox="1"/>
          <p:nvPr/>
        </p:nvSpPr>
        <p:spPr>
          <a:xfrm>
            <a:off x="4889500" y="3200400"/>
            <a:ext cx="16383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Yes</a:t>
            </a:r>
          </a:p>
        </p:txBody>
      </p:sp>
      <p:sp>
        <p:nvSpPr>
          <p:cNvPr id="27" name="TextBox 26"/>
          <p:cNvSpPr txBox="1"/>
          <p:nvPr/>
        </p:nvSpPr>
        <p:spPr>
          <a:xfrm>
            <a:off x="6731000" y="3200400"/>
            <a:ext cx="2209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Last visual layers</a:t>
            </a:r>
          </a:p>
        </p:txBody>
      </p:sp>
      <p:sp>
        <p:nvSpPr>
          <p:cNvPr id="28" name="TextBox 27"/>
          <p:cNvSpPr txBox="1"/>
          <p:nvPr/>
        </p:nvSpPr>
        <p:spPr>
          <a:xfrm>
            <a:off x="9144000" y="3200400"/>
            <a:ext cx="24130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Geometry / ensembles</a:t>
            </a:r>
          </a:p>
        </p:txBody>
      </p:sp>
      <p:cxnSp>
        <p:nvCxnSpPr>
          <p:cNvPr id="29" name="Connector 28"/>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7592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000" y="3797300"/>
            <a:ext cx="1765300" cy="520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SmolVLM</a:t>
            </a:r>
          </a:p>
        </p:txBody>
      </p:sp>
      <p:sp>
        <p:nvSpPr>
          <p:cNvPr id="32" name="TextBox 31"/>
          <p:cNvSpPr txBox="1"/>
          <p:nvPr/>
        </p:nvSpPr>
        <p:spPr>
          <a:xfrm>
            <a:off x="2603500" y="3797300"/>
            <a:ext cx="2082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Original binary query</a:t>
            </a:r>
          </a:p>
        </p:txBody>
      </p:sp>
      <p:sp>
        <p:nvSpPr>
          <p:cNvPr id="33" name="TextBox 32"/>
          <p:cNvSpPr txBox="1"/>
          <p:nvPr/>
        </p:nvSpPr>
        <p:spPr>
          <a:xfrm>
            <a:off x="4889500" y="3797300"/>
            <a:ext cx="16383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Not run</a:t>
            </a:r>
          </a:p>
        </p:txBody>
      </p:sp>
      <p:sp>
        <p:nvSpPr>
          <p:cNvPr id="34" name="TextBox 33"/>
          <p:cNvSpPr txBox="1"/>
          <p:nvPr/>
        </p:nvSpPr>
        <p:spPr>
          <a:xfrm>
            <a:off x="6731000" y="3797300"/>
            <a:ext cx="2209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Language-layer LoRA</a:t>
            </a:r>
          </a:p>
        </p:txBody>
      </p:sp>
      <p:sp>
        <p:nvSpPr>
          <p:cNvPr id="35" name="TextBox 34"/>
          <p:cNvSpPr txBox="1"/>
          <p:nvPr/>
        </p:nvSpPr>
        <p:spPr>
          <a:xfrm>
            <a:off x="9144000" y="3797300"/>
            <a:ext cx="24130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Joint / routed / transfer</a:t>
            </a:r>
          </a:p>
        </p:txBody>
      </p:sp>
      <p:cxnSp>
        <p:nvCxnSpPr>
          <p:cNvPr id="36" name="Connector 35"/>
          <p:cNvCxnSpPr/>
          <p:nvPr/>
        </p:nvCxnSpPr>
        <p:spPr>
          <a:xfrm>
            <a:off x="533400" y="4356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4356100"/>
            <a:ext cx="11125200" cy="596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000" y="4394200"/>
            <a:ext cx="1765300" cy="520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VadCLIP</a:t>
            </a:r>
          </a:p>
        </p:txBody>
      </p:sp>
      <p:sp>
        <p:nvSpPr>
          <p:cNvPr id="39" name="TextBox 38"/>
          <p:cNvSpPr txBox="1"/>
          <p:nvPr/>
        </p:nvSpPr>
        <p:spPr>
          <a:xfrm>
            <a:off x="2603500" y="4394200"/>
            <a:ext cx="2082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CLIP-B/16 text</a:t>
            </a:r>
          </a:p>
        </p:txBody>
      </p:sp>
      <p:sp>
        <p:nvSpPr>
          <p:cNvPr id="40" name="TextBox 39"/>
          <p:cNvSpPr txBox="1"/>
          <p:nvPr/>
        </p:nvSpPr>
        <p:spPr>
          <a:xfrm>
            <a:off x="4889500" y="4394200"/>
            <a:ext cx="16383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Yes</a:t>
            </a:r>
          </a:p>
        </p:txBody>
      </p:sp>
      <p:sp>
        <p:nvSpPr>
          <p:cNvPr id="41" name="TextBox 40"/>
          <p:cNvSpPr txBox="1"/>
          <p:nvPr/>
        </p:nvSpPr>
        <p:spPr>
          <a:xfrm>
            <a:off x="6731000" y="4394200"/>
            <a:ext cx="2209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Temporal adapter</a:t>
            </a:r>
          </a:p>
        </p:txBody>
      </p:sp>
      <p:sp>
        <p:nvSpPr>
          <p:cNvPr id="42" name="TextBox 41"/>
          <p:cNvSpPr txBox="1"/>
          <p:nvPr/>
        </p:nvSpPr>
        <p:spPr>
          <a:xfrm>
            <a:off x="9144000" y="4394200"/>
            <a:ext cx="24130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Branch selection</a:t>
            </a:r>
          </a:p>
        </p:txBody>
      </p:sp>
      <p:cxnSp>
        <p:nvCxnSpPr>
          <p:cNvPr id="43" name="Connector 42"/>
          <p:cNvCxnSpPr/>
          <p:nvPr/>
        </p:nvCxnSpPr>
        <p:spPr>
          <a:xfrm>
            <a:off x="533400" y="4953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No study unfreezes every parameter: visual tuning, LoRA and adapter training have distinct meanings.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FOUR-MODEL STAGE OVERVIEW</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Smoking: all four model families, stage by stage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AP overview • A and B are different tests • the adaptation type differs by architecture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03</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1892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a:t>
            </a:r>
          </a:p>
        </p:txBody>
      </p:sp>
      <p:sp>
        <p:nvSpPr>
          <p:cNvPr id="12" name="TextBox 11"/>
          <p:cNvSpPr txBox="1"/>
          <p:nvPr/>
        </p:nvSpPr>
        <p:spPr>
          <a:xfrm>
            <a:off x="2730500" y="2171700"/>
            <a:ext cx="2209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Test N / positive</a:t>
            </a:r>
          </a:p>
        </p:txBody>
      </p:sp>
      <p:sp>
        <p:nvSpPr>
          <p:cNvPr id="13" name="TextBox 12"/>
          <p:cNvSpPr txBox="1"/>
          <p:nvPr/>
        </p:nvSpPr>
        <p:spPr>
          <a:xfrm>
            <a:off x="5143500" y="2171700"/>
            <a:ext cx="2209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Zero-shot / original</a:t>
            </a:r>
          </a:p>
        </p:txBody>
      </p:sp>
      <p:sp>
        <p:nvSpPr>
          <p:cNvPr id="14" name="TextBox 13"/>
          <p:cNvSpPr txBox="1"/>
          <p:nvPr/>
        </p:nvSpPr>
        <p:spPr>
          <a:xfrm>
            <a:off x="7556500" y="2171700"/>
            <a:ext cx="17780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Linear probe</a:t>
            </a:r>
          </a:p>
        </p:txBody>
      </p:sp>
      <p:sp>
        <p:nvSpPr>
          <p:cNvPr id="15" name="TextBox 14"/>
          <p:cNvSpPr txBox="1"/>
          <p:nvPr/>
        </p:nvSpPr>
        <p:spPr>
          <a:xfrm>
            <a:off x="9537700" y="2171700"/>
            <a:ext cx="2019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Weight-adapted</a:t>
            </a:r>
          </a:p>
        </p:txBody>
      </p:sp>
      <p:sp>
        <p:nvSpPr>
          <p:cNvPr id="16" name="Rectangle 15"/>
          <p:cNvSpPr/>
          <p:nvPr/>
        </p:nvSpPr>
        <p:spPr>
          <a:xfrm>
            <a:off x="533400" y="25654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 y="2603500"/>
            <a:ext cx="1892300" cy="520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MobileCLIP</a:t>
            </a:r>
          </a:p>
        </p:txBody>
      </p:sp>
      <p:sp>
        <p:nvSpPr>
          <p:cNvPr id="18" name="TextBox 17"/>
          <p:cNvSpPr txBox="1"/>
          <p:nvPr/>
        </p:nvSpPr>
        <p:spPr>
          <a:xfrm>
            <a:off x="2730500" y="2603500"/>
            <a:ext cx="2209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A: 646 / 393</a:t>
            </a:r>
          </a:p>
        </p:txBody>
      </p:sp>
      <p:sp>
        <p:nvSpPr>
          <p:cNvPr id="19" name="TextBox 18"/>
          <p:cNvSpPr txBox="1"/>
          <p:nvPr/>
        </p:nvSpPr>
        <p:spPr>
          <a:xfrm>
            <a:off x="5143500" y="2603500"/>
            <a:ext cx="2209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0.642</a:t>
            </a:r>
          </a:p>
        </p:txBody>
      </p:sp>
      <p:sp>
        <p:nvSpPr>
          <p:cNvPr id="20" name="TextBox 19"/>
          <p:cNvSpPr txBox="1"/>
          <p:nvPr/>
        </p:nvSpPr>
        <p:spPr>
          <a:xfrm>
            <a:off x="7556500" y="2603500"/>
            <a:ext cx="17780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0.594</a:t>
            </a:r>
          </a:p>
        </p:txBody>
      </p:sp>
      <p:sp>
        <p:nvSpPr>
          <p:cNvPr id="21" name="TextBox 20"/>
          <p:cNvSpPr txBox="1"/>
          <p:nvPr/>
        </p:nvSpPr>
        <p:spPr>
          <a:xfrm>
            <a:off x="9537700" y="2603500"/>
            <a:ext cx="20193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0.564</a:t>
            </a:r>
          </a:p>
        </p:txBody>
      </p:sp>
      <p:cxnSp>
        <p:nvCxnSpPr>
          <p:cNvPr id="22" name="Connector 21"/>
          <p:cNvCxnSpPr/>
          <p:nvPr/>
        </p:nvCxnSpPr>
        <p:spPr>
          <a:xfrm>
            <a:off x="533400" y="3162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162300"/>
            <a:ext cx="11125200" cy="596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000" y="3200400"/>
            <a:ext cx="1892300" cy="520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SigLIP2</a:t>
            </a:r>
          </a:p>
        </p:txBody>
      </p:sp>
      <p:sp>
        <p:nvSpPr>
          <p:cNvPr id="25" name="TextBox 24"/>
          <p:cNvSpPr txBox="1"/>
          <p:nvPr/>
        </p:nvSpPr>
        <p:spPr>
          <a:xfrm>
            <a:off x="2730500" y="3200400"/>
            <a:ext cx="2209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A: 646 / 393</a:t>
            </a:r>
          </a:p>
        </p:txBody>
      </p:sp>
      <p:sp>
        <p:nvSpPr>
          <p:cNvPr id="26" name="TextBox 25"/>
          <p:cNvSpPr txBox="1"/>
          <p:nvPr/>
        </p:nvSpPr>
        <p:spPr>
          <a:xfrm>
            <a:off x="5143500" y="3200400"/>
            <a:ext cx="2209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0.669</a:t>
            </a:r>
          </a:p>
        </p:txBody>
      </p:sp>
      <p:sp>
        <p:nvSpPr>
          <p:cNvPr id="27" name="TextBox 26"/>
          <p:cNvSpPr txBox="1"/>
          <p:nvPr/>
        </p:nvSpPr>
        <p:spPr>
          <a:xfrm>
            <a:off x="7556500" y="3200400"/>
            <a:ext cx="17780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0.670</a:t>
            </a:r>
          </a:p>
        </p:txBody>
      </p:sp>
      <p:sp>
        <p:nvSpPr>
          <p:cNvPr id="28" name="TextBox 27"/>
          <p:cNvSpPr txBox="1"/>
          <p:nvPr/>
        </p:nvSpPr>
        <p:spPr>
          <a:xfrm>
            <a:off x="9537700" y="3200400"/>
            <a:ext cx="20193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0.650</a:t>
            </a:r>
          </a:p>
        </p:txBody>
      </p:sp>
      <p:cxnSp>
        <p:nvCxnSpPr>
          <p:cNvPr id="29" name="Connector 28"/>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7592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000" y="3797300"/>
            <a:ext cx="1892300" cy="520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SmolVLM</a:t>
            </a:r>
          </a:p>
        </p:txBody>
      </p:sp>
      <p:sp>
        <p:nvSpPr>
          <p:cNvPr id="32" name="TextBox 31"/>
          <p:cNvSpPr txBox="1"/>
          <p:nvPr/>
        </p:nvSpPr>
        <p:spPr>
          <a:xfrm>
            <a:off x="2730500" y="3797300"/>
            <a:ext cx="2209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A: 646 / 393</a:t>
            </a:r>
          </a:p>
        </p:txBody>
      </p:sp>
      <p:sp>
        <p:nvSpPr>
          <p:cNvPr id="33" name="TextBox 32"/>
          <p:cNvSpPr txBox="1"/>
          <p:nvPr/>
        </p:nvSpPr>
        <p:spPr>
          <a:xfrm>
            <a:off x="5143500" y="3797300"/>
            <a:ext cx="2209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0.600</a:t>
            </a:r>
          </a:p>
        </p:txBody>
      </p:sp>
      <p:sp>
        <p:nvSpPr>
          <p:cNvPr id="34" name="TextBox 33"/>
          <p:cNvSpPr txBox="1"/>
          <p:nvPr/>
        </p:nvSpPr>
        <p:spPr>
          <a:xfrm>
            <a:off x="7556500" y="3797300"/>
            <a:ext cx="17780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Not run</a:t>
            </a:r>
          </a:p>
        </p:txBody>
      </p:sp>
      <p:sp>
        <p:nvSpPr>
          <p:cNvPr id="35" name="TextBox 34"/>
          <p:cNvSpPr txBox="1"/>
          <p:nvPr/>
        </p:nvSpPr>
        <p:spPr>
          <a:xfrm>
            <a:off x="9537700" y="3797300"/>
            <a:ext cx="20193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0.623</a:t>
            </a:r>
          </a:p>
        </p:txBody>
      </p:sp>
      <p:cxnSp>
        <p:nvCxnSpPr>
          <p:cNvPr id="36" name="Connector 35"/>
          <p:cNvCxnSpPr/>
          <p:nvPr/>
        </p:nvCxnSpPr>
        <p:spPr>
          <a:xfrm>
            <a:off x="533400" y="4356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4356100"/>
            <a:ext cx="11125200" cy="596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000" y="4394200"/>
            <a:ext cx="1892300" cy="520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VadCLIP</a:t>
            </a:r>
          </a:p>
        </p:txBody>
      </p:sp>
      <p:sp>
        <p:nvSpPr>
          <p:cNvPr id="39" name="TextBox 38"/>
          <p:cNvSpPr txBox="1"/>
          <p:nvPr/>
        </p:nvSpPr>
        <p:spPr>
          <a:xfrm>
            <a:off x="2730500" y="4394200"/>
            <a:ext cx="2209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B: 1,056 / 560</a:t>
            </a:r>
          </a:p>
        </p:txBody>
      </p:sp>
      <p:sp>
        <p:nvSpPr>
          <p:cNvPr id="40" name="TextBox 39"/>
          <p:cNvSpPr txBox="1"/>
          <p:nvPr/>
        </p:nvSpPr>
        <p:spPr>
          <a:xfrm>
            <a:off x="5143500" y="4394200"/>
            <a:ext cx="22098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0.482</a:t>
            </a:r>
          </a:p>
        </p:txBody>
      </p:sp>
      <p:sp>
        <p:nvSpPr>
          <p:cNvPr id="41" name="TextBox 40"/>
          <p:cNvSpPr txBox="1"/>
          <p:nvPr/>
        </p:nvSpPr>
        <p:spPr>
          <a:xfrm>
            <a:off x="7556500" y="4394200"/>
            <a:ext cx="17780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0.544</a:t>
            </a:r>
          </a:p>
        </p:txBody>
      </p:sp>
      <p:sp>
        <p:nvSpPr>
          <p:cNvPr id="42" name="TextBox 41"/>
          <p:cNvSpPr txBox="1"/>
          <p:nvPr/>
        </p:nvSpPr>
        <p:spPr>
          <a:xfrm>
            <a:off x="9537700" y="4394200"/>
            <a:ext cx="2019300" cy="520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0.633</a:t>
            </a:r>
          </a:p>
        </p:txBody>
      </p:sp>
      <p:cxnSp>
        <p:nvCxnSpPr>
          <p:cNvPr id="43" name="Connector 42"/>
          <p:cNvCxnSpPr/>
          <p:nvPr/>
        </p:nvCxnSpPr>
        <p:spPr>
          <a:xfrm>
            <a:off x="533400" y="4953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A: camera-c1 holdout. B: session holdout across cameras. These rows do not establish a four-model winner.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DATA / STUDY LEDGER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Overall data coverage, without double counting</a:t>
            </a:r>
          </a:p>
          <a:p>
            <a:pPr algn="l">
              <a:lnSpc>
                <a:spcPts val="3690"/>
              </a:lnSpc>
              <a:spcBef>
                <a:spcPts val="0"/>
              </a:spcBef>
              <a:spcAft>
                <a:spcPts val="0"/>
              </a:spcAft>
              <a:defRPr sz="3000" b="1">
                <a:solidFill>
                  <a:srgbClr val="142C40"/>
                </a:solidFill>
                <a:latin typeface="DejaVu Sans"/>
              </a:defRPr>
            </a:pPr>
            <a:r>
              <a:t>studies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Rows are study manifests and reuse sources • counts are examples, not independent events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04</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844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Study</a:t>
            </a:r>
          </a:p>
        </p:txBody>
      </p:sp>
      <p:sp>
        <p:nvSpPr>
          <p:cNvPr id="12" name="TextBox 11"/>
          <p:cNvSpPr txBox="1"/>
          <p:nvPr/>
        </p:nvSpPr>
        <p:spPr>
          <a:xfrm>
            <a:off x="3683000" y="2171700"/>
            <a:ext cx="1066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Train</a:t>
            </a:r>
          </a:p>
        </p:txBody>
      </p:sp>
      <p:sp>
        <p:nvSpPr>
          <p:cNvPr id="13" name="TextBox 12"/>
          <p:cNvSpPr txBox="1"/>
          <p:nvPr/>
        </p:nvSpPr>
        <p:spPr>
          <a:xfrm>
            <a:off x="4953000" y="2171700"/>
            <a:ext cx="1066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Dev</a:t>
            </a:r>
          </a:p>
        </p:txBody>
      </p:sp>
      <p:sp>
        <p:nvSpPr>
          <p:cNvPr id="14" name="TextBox 13"/>
          <p:cNvSpPr txBox="1"/>
          <p:nvPr/>
        </p:nvSpPr>
        <p:spPr>
          <a:xfrm>
            <a:off x="6223000" y="2171700"/>
            <a:ext cx="2590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Test / transfer</a:t>
            </a:r>
          </a:p>
        </p:txBody>
      </p:sp>
      <p:sp>
        <p:nvSpPr>
          <p:cNvPr id="15" name="TextBox 14"/>
          <p:cNvSpPr txBox="1"/>
          <p:nvPr/>
        </p:nvSpPr>
        <p:spPr>
          <a:xfrm>
            <a:off x="9017000" y="2171700"/>
            <a:ext cx="25400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Total / unit</a:t>
            </a:r>
          </a:p>
        </p:txBody>
      </p:sp>
      <p:sp>
        <p:nvSpPr>
          <p:cNvPr id="16" name="Rectangle 15"/>
          <p:cNvSpPr/>
          <p:nvPr/>
        </p:nvSpPr>
        <p:spPr>
          <a:xfrm>
            <a:off x="533400" y="2565400"/>
            <a:ext cx="11125200" cy="469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 y="2603500"/>
            <a:ext cx="2844800" cy="3937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CLIP visual study</a:t>
            </a:r>
          </a:p>
        </p:txBody>
      </p:sp>
      <p:sp>
        <p:nvSpPr>
          <p:cNvPr id="18" name="TextBox 17"/>
          <p:cNvSpPr txBox="1"/>
          <p:nvPr/>
        </p:nvSpPr>
        <p:spPr>
          <a:xfrm>
            <a:off x="3683000" y="2603500"/>
            <a:ext cx="1066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3,258</a:t>
            </a:r>
          </a:p>
        </p:txBody>
      </p:sp>
      <p:sp>
        <p:nvSpPr>
          <p:cNvPr id="19" name="TextBox 18"/>
          <p:cNvSpPr txBox="1"/>
          <p:nvPr/>
        </p:nvSpPr>
        <p:spPr>
          <a:xfrm>
            <a:off x="4953000" y="2603500"/>
            <a:ext cx="1066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1,633</a:t>
            </a:r>
          </a:p>
        </p:txBody>
      </p:sp>
      <p:sp>
        <p:nvSpPr>
          <p:cNvPr id="20" name="TextBox 19"/>
          <p:cNvSpPr txBox="1"/>
          <p:nvPr/>
        </p:nvSpPr>
        <p:spPr>
          <a:xfrm>
            <a:off x="6223000" y="2603500"/>
            <a:ext cx="2590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1,801 + 806 external</a:t>
            </a:r>
          </a:p>
        </p:txBody>
      </p:sp>
      <p:sp>
        <p:nvSpPr>
          <p:cNvPr id="21" name="TextBox 20"/>
          <p:cNvSpPr txBox="1"/>
          <p:nvPr/>
        </p:nvSpPr>
        <p:spPr>
          <a:xfrm>
            <a:off x="9017000" y="2603500"/>
            <a:ext cx="25400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7,498 mixed examples</a:t>
            </a:r>
          </a:p>
        </p:txBody>
      </p:sp>
      <p:cxnSp>
        <p:nvCxnSpPr>
          <p:cNvPr id="22" name="Connector 21"/>
          <p:cNvCxnSpPr/>
          <p:nvPr/>
        </p:nvCxnSpPr>
        <p:spPr>
          <a:xfrm>
            <a:off x="533400" y="303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035300"/>
            <a:ext cx="11125200" cy="469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000" y="3073400"/>
            <a:ext cx="2844800" cy="3937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Strategy / Smol main</a:t>
            </a:r>
          </a:p>
        </p:txBody>
      </p:sp>
      <p:sp>
        <p:nvSpPr>
          <p:cNvPr id="25" name="TextBox 24"/>
          <p:cNvSpPr txBox="1"/>
          <p:nvPr/>
        </p:nvSpPr>
        <p:spPr>
          <a:xfrm>
            <a:off x="3683000" y="3073400"/>
            <a:ext cx="1066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3,973</a:t>
            </a:r>
          </a:p>
        </p:txBody>
      </p:sp>
      <p:sp>
        <p:nvSpPr>
          <p:cNvPr id="26" name="TextBox 25"/>
          <p:cNvSpPr txBox="1"/>
          <p:nvPr/>
        </p:nvSpPr>
        <p:spPr>
          <a:xfrm>
            <a:off x="4953000" y="3073400"/>
            <a:ext cx="1066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1,812</a:t>
            </a:r>
          </a:p>
        </p:txBody>
      </p:sp>
      <p:sp>
        <p:nvSpPr>
          <p:cNvPr id="27" name="TextBox 26"/>
          <p:cNvSpPr txBox="1"/>
          <p:nvPr/>
        </p:nvSpPr>
        <p:spPr>
          <a:xfrm>
            <a:off x="6223000" y="3073400"/>
            <a:ext cx="2590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2,025 + 806 external</a:t>
            </a:r>
          </a:p>
        </p:txBody>
      </p:sp>
      <p:sp>
        <p:nvSpPr>
          <p:cNvPr id="28" name="TextBox 27"/>
          <p:cNvSpPr txBox="1"/>
          <p:nvPr/>
        </p:nvSpPr>
        <p:spPr>
          <a:xfrm>
            <a:off x="9017000" y="3073400"/>
            <a:ext cx="25400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8,616 mixed examples</a:t>
            </a:r>
          </a:p>
        </p:txBody>
      </p:sp>
      <p:cxnSp>
        <p:nvCxnSpPr>
          <p:cNvPr id="29" name="Connector 28"/>
          <p:cNvCxnSpPr/>
          <p:nvPr/>
        </p:nvCxnSpPr>
        <p:spPr>
          <a:xfrm>
            <a:off x="533400" y="3505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505200"/>
            <a:ext cx="11125200" cy="469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000" y="3543300"/>
            <a:ext cx="2844800" cy="3937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Additional transfer</a:t>
            </a:r>
          </a:p>
        </p:txBody>
      </p:sp>
      <p:sp>
        <p:nvSpPr>
          <p:cNvPr id="32" name="TextBox 31"/>
          <p:cNvSpPr txBox="1"/>
          <p:nvPr/>
        </p:nvSpPr>
        <p:spPr>
          <a:xfrm>
            <a:off x="3683000" y="3543300"/>
            <a:ext cx="1066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a:t>
            </a:r>
          </a:p>
        </p:txBody>
      </p:sp>
      <p:sp>
        <p:nvSpPr>
          <p:cNvPr id="33" name="TextBox 32"/>
          <p:cNvSpPr txBox="1"/>
          <p:nvPr/>
        </p:nvSpPr>
        <p:spPr>
          <a:xfrm>
            <a:off x="4953000" y="3543300"/>
            <a:ext cx="1066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a:t>
            </a:r>
          </a:p>
        </p:txBody>
      </p:sp>
      <p:sp>
        <p:nvSpPr>
          <p:cNvPr id="34" name="TextBox 33"/>
          <p:cNvSpPr txBox="1"/>
          <p:nvPr/>
        </p:nvSpPr>
        <p:spPr>
          <a:xfrm>
            <a:off x="6223000" y="3543300"/>
            <a:ext cx="2590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906 + 28 + 27</a:t>
            </a:r>
          </a:p>
        </p:txBody>
      </p:sp>
      <p:sp>
        <p:nvSpPr>
          <p:cNvPr id="35" name="TextBox 34"/>
          <p:cNvSpPr txBox="1"/>
          <p:nvPr/>
        </p:nvSpPr>
        <p:spPr>
          <a:xfrm>
            <a:off x="9017000" y="3543300"/>
            <a:ext cx="25400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961 clips/photos/windows</a:t>
            </a:r>
          </a:p>
        </p:txBody>
      </p:sp>
      <p:cxnSp>
        <p:nvCxnSpPr>
          <p:cNvPr id="36" name="Connector 35"/>
          <p:cNvCxnSpPr/>
          <p:nvPr/>
        </p:nvCxnSpPr>
        <p:spPr>
          <a:xfrm>
            <a:off x="533400" y="3975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3975100"/>
            <a:ext cx="11125200" cy="469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000" y="4013200"/>
            <a:ext cx="2844800" cy="3937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VadCLIP smoking</a:t>
            </a:r>
          </a:p>
        </p:txBody>
      </p:sp>
      <p:sp>
        <p:nvSpPr>
          <p:cNvPr id="39" name="TextBox 38"/>
          <p:cNvSpPr txBox="1"/>
          <p:nvPr/>
        </p:nvSpPr>
        <p:spPr>
          <a:xfrm>
            <a:off x="3683000" y="4013200"/>
            <a:ext cx="1066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1,910</a:t>
            </a:r>
          </a:p>
        </p:txBody>
      </p:sp>
      <p:sp>
        <p:nvSpPr>
          <p:cNvPr id="40" name="TextBox 39"/>
          <p:cNvSpPr txBox="1"/>
          <p:nvPr/>
        </p:nvSpPr>
        <p:spPr>
          <a:xfrm>
            <a:off x="4953000" y="4013200"/>
            <a:ext cx="1066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312</a:t>
            </a:r>
          </a:p>
        </p:txBody>
      </p:sp>
      <p:sp>
        <p:nvSpPr>
          <p:cNvPr id="41" name="TextBox 40"/>
          <p:cNvSpPr txBox="1"/>
          <p:nvPr/>
        </p:nvSpPr>
        <p:spPr>
          <a:xfrm>
            <a:off x="6223000" y="4013200"/>
            <a:ext cx="2590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1,056</a:t>
            </a:r>
          </a:p>
        </p:txBody>
      </p:sp>
      <p:sp>
        <p:nvSpPr>
          <p:cNvPr id="42" name="TextBox 41"/>
          <p:cNvSpPr txBox="1"/>
          <p:nvPr/>
        </p:nvSpPr>
        <p:spPr>
          <a:xfrm>
            <a:off x="9017000" y="4013200"/>
            <a:ext cx="25400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3,278 original frames</a:t>
            </a:r>
          </a:p>
        </p:txBody>
      </p:sp>
      <p:cxnSp>
        <p:nvCxnSpPr>
          <p:cNvPr id="43" name="Connector 42"/>
          <p:cNvCxnSpPr/>
          <p:nvPr/>
        </p:nvCxnSpPr>
        <p:spPr>
          <a:xfrm>
            <a:off x="533400" y="4445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4445000"/>
            <a:ext cx="11125200" cy="469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000" y="4483100"/>
            <a:ext cx="2844800" cy="3937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HMDB adaptation</a:t>
            </a:r>
          </a:p>
        </p:txBody>
      </p:sp>
      <p:sp>
        <p:nvSpPr>
          <p:cNvPr id="46" name="TextBox 45"/>
          <p:cNvSpPr txBox="1"/>
          <p:nvPr/>
        </p:nvSpPr>
        <p:spPr>
          <a:xfrm>
            <a:off x="3683000" y="4483100"/>
            <a:ext cx="1066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530</a:t>
            </a:r>
          </a:p>
        </p:txBody>
      </p:sp>
      <p:sp>
        <p:nvSpPr>
          <p:cNvPr id="47" name="TextBox 46"/>
          <p:cNvSpPr txBox="1"/>
          <p:nvPr/>
        </p:nvSpPr>
        <p:spPr>
          <a:xfrm>
            <a:off x="4953000" y="4483100"/>
            <a:ext cx="1066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161</a:t>
            </a:r>
          </a:p>
        </p:txBody>
      </p:sp>
      <p:sp>
        <p:nvSpPr>
          <p:cNvPr id="48" name="TextBox 47"/>
          <p:cNvSpPr txBox="1"/>
          <p:nvPr/>
        </p:nvSpPr>
        <p:spPr>
          <a:xfrm>
            <a:off x="6223000" y="4483100"/>
            <a:ext cx="2590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205</a:t>
            </a:r>
          </a:p>
        </p:txBody>
      </p:sp>
      <p:sp>
        <p:nvSpPr>
          <p:cNvPr id="49" name="TextBox 48"/>
          <p:cNvSpPr txBox="1"/>
          <p:nvPr/>
        </p:nvSpPr>
        <p:spPr>
          <a:xfrm>
            <a:off x="9017000" y="4483100"/>
            <a:ext cx="25400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896 clips after purge</a:t>
            </a:r>
          </a:p>
        </p:txBody>
      </p:sp>
      <p:cxnSp>
        <p:nvCxnSpPr>
          <p:cNvPr id="50" name="Connector 49"/>
          <p:cNvCxnSpPr/>
          <p:nvPr/>
        </p:nvCxnSpPr>
        <p:spPr>
          <a:xfrm>
            <a:off x="533400" y="49149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33400" y="4914900"/>
            <a:ext cx="11125200" cy="469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5000" y="4953000"/>
            <a:ext cx="2844800" cy="3937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20 Oct XRF55 proxy</a:t>
            </a:r>
          </a:p>
        </p:txBody>
      </p:sp>
      <p:sp>
        <p:nvSpPr>
          <p:cNvPr id="53" name="TextBox 52"/>
          <p:cNvSpPr txBox="1"/>
          <p:nvPr/>
        </p:nvSpPr>
        <p:spPr>
          <a:xfrm>
            <a:off x="3683000" y="4953000"/>
            <a:ext cx="1066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340</a:t>
            </a:r>
          </a:p>
        </p:txBody>
      </p:sp>
      <p:sp>
        <p:nvSpPr>
          <p:cNvPr id="54" name="TextBox 53"/>
          <p:cNvSpPr txBox="1"/>
          <p:nvPr/>
        </p:nvSpPr>
        <p:spPr>
          <a:xfrm>
            <a:off x="4953000" y="4953000"/>
            <a:ext cx="1066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160</a:t>
            </a:r>
          </a:p>
        </p:txBody>
      </p:sp>
      <p:sp>
        <p:nvSpPr>
          <p:cNvPr id="55" name="TextBox 54"/>
          <p:cNvSpPr txBox="1"/>
          <p:nvPr/>
        </p:nvSpPr>
        <p:spPr>
          <a:xfrm>
            <a:off x="6223000" y="4953000"/>
            <a:ext cx="25908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240</a:t>
            </a:r>
          </a:p>
        </p:txBody>
      </p:sp>
      <p:sp>
        <p:nvSpPr>
          <p:cNvPr id="56" name="TextBox 55"/>
          <p:cNvSpPr txBox="1"/>
          <p:nvPr/>
        </p:nvSpPr>
        <p:spPr>
          <a:xfrm>
            <a:off x="9017000" y="4953000"/>
            <a:ext cx="2540000" cy="3937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740 scripted clips</a:t>
            </a:r>
          </a:p>
        </p:txBody>
      </p:sp>
      <p:cxnSp>
        <p:nvCxnSpPr>
          <p:cNvPr id="57" name="Connector 56"/>
          <p:cNvCxnSpPr/>
          <p:nvPr/>
        </p:nvCxnSpPr>
        <p:spPr>
          <a:xfrm>
            <a:off x="533400" y="5384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The 8,616-example corpus contains the earlier 7,498; these totals must not be added as unique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DATA / SOURCES AND MEANING</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What the five targets are actually trained on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Input units and annotation scope determine what each evaluation supports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05</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1701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Objective</a:t>
            </a:r>
          </a:p>
        </p:txBody>
      </p:sp>
      <p:sp>
        <p:nvSpPr>
          <p:cNvPr id="12" name="TextBox 11"/>
          <p:cNvSpPr txBox="1"/>
          <p:nvPr/>
        </p:nvSpPr>
        <p:spPr>
          <a:xfrm>
            <a:off x="2540000" y="2171700"/>
            <a:ext cx="3924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Sources used</a:t>
            </a:r>
          </a:p>
        </p:txBody>
      </p:sp>
      <p:sp>
        <p:nvSpPr>
          <p:cNvPr id="13" name="TextBox 12"/>
          <p:cNvSpPr txBox="1"/>
          <p:nvPr/>
        </p:nvSpPr>
        <p:spPr>
          <a:xfrm>
            <a:off x="6667500" y="2171700"/>
            <a:ext cx="48895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Main evaluation unit / limitation</a:t>
            </a:r>
          </a:p>
        </p:txBody>
      </p:sp>
      <p:sp>
        <p:nvSpPr>
          <p:cNvPr id="14" name="Rectangle 13"/>
          <p:cNvSpPr/>
          <p:nvPr/>
        </p:nvSpPr>
        <p:spPr>
          <a:xfrm>
            <a:off x="533400" y="2565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000" y="2603500"/>
            <a:ext cx="1701800" cy="4699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Smoking</a:t>
            </a:r>
          </a:p>
        </p:txBody>
      </p:sp>
      <p:sp>
        <p:nvSpPr>
          <p:cNvPr id="16" name="TextBox 15"/>
          <p:cNvSpPr txBox="1"/>
          <p:nvPr/>
        </p:nvSpPr>
        <p:spPr>
          <a:xfrm>
            <a:off x="2540000" y="2603500"/>
            <a:ext cx="39243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CCTV; Stanford40; Kaggle; HMDB; XRF55</a:t>
            </a:r>
          </a:p>
        </p:txBody>
      </p:sp>
      <p:sp>
        <p:nvSpPr>
          <p:cNvPr id="17" name="TextBox 16"/>
          <p:cNvSpPr txBox="1"/>
          <p:nvPr/>
        </p:nvSpPr>
        <p:spPr>
          <a:xfrm>
            <a:off x="6667500" y="2603500"/>
            <a:ext cx="48895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Frames/photos/actions; XRF55 is a gesture proxy</a:t>
            </a:r>
          </a:p>
        </p:txBody>
      </p:sp>
      <p:cxnSp>
        <p:nvCxnSpPr>
          <p:cNvPr id="18" name="Connector 17"/>
          <p:cNvCxnSpPr/>
          <p:nvPr/>
        </p:nvCxnSpPr>
        <p:spPr>
          <a:xfrm>
            <a:off x="533400" y="3111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1115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3149600"/>
            <a:ext cx="1701800" cy="4699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Littering</a:t>
            </a:r>
          </a:p>
        </p:txBody>
      </p:sp>
      <p:sp>
        <p:nvSpPr>
          <p:cNvPr id="21" name="TextBox 20"/>
          <p:cNvSpPr txBox="1"/>
          <p:nvPr/>
        </p:nvSpPr>
        <p:spPr>
          <a:xfrm>
            <a:off x="2540000" y="3149600"/>
            <a:ext cx="39243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MIVIA-IWDD</a:t>
            </a:r>
          </a:p>
        </p:txBody>
      </p:sp>
      <p:sp>
        <p:nvSpPr>
          <p:cNvPr id="22" name="TextBox 21"/>
          <p:cNvSpPr txBox="1"/>
          <p:nvPr/>
        </p:nvSpPr>
        <p:spPr>
          <a:xfrm>
            <a:off x="6667500" y="3149600"/>
            <a:ext cx="48895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Whole waste-dumping clips; broader than small littering</a:t>
            </a:r>
          </a:p>
        </p:txBody>
      </p:sp>
      <p:cxnSp>
        <p:nvCxnSpPr>
          <p:cNvPr id="23" name="Connector 22"/>
          <p:cNvCxnSpPr/>
          <p:nvPr/>
        </p:nvCxnSpPr>
        <p:spPr>
          <a:xfrm>
            <a:off x="533400" y="3657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6576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000" y="3695700"/>
            <a:ext cx="1701800" cy="4699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Loitering</a:t>
            </a:r>
          </a:p>
        </p:txBody>
      </p:sp>
      <p:sp>
        <p:nvSpPr>
          <p:cNvPr id="26" name="TextBox 25"/>
          <p:cNvSpPr txBox="1"/>
          <p:nvPr/>
        </p:nvSpPr>
        <p:spPr>
          <a:xfrm>
            <a:off x="2540000" y="3695700"/>
            <a:ext cx="39243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Street Scene track/type labels</a:t>
            </a:r>
          </a:p>
        </p:txBody>
      </p:sp>
      <p:sp>
        <p:nvSpPr>
          <p:cNvPr id="27" name="TextBox 26"/>
          <p:cNvSpPr txBox="1"/>
          <p:nvPr/>
        </p:nvSpPr>
        <p:spPr>
          <a:xfrm>
            <a:off x="6667500" y="3695700"/>
            <a:ext cx="48895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20-second windows; one camera, supervised re-split</a:t>
            </a:r>
          </a:p>
        </p:txBody>
      </p:sp>
      <p:cxnSp>
        <p:nvCxnSpPr>
          <p:cNvPr id="28" name="Connector 27"/>
          <p:cNvCxnSpPr/>
          <p:nvPr/>
        </p:nvCxnSpPr>
        <p:spPr>
          <a:xfrm>
            <a:off x="533400" y="4203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2037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4241800"/>
            <a:ext cx="1701800" cy="4699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Public sleep</a:t>
            </a:r>
          </a:p>
        </p:txBody>
      </p:sp>
      <p:sp>
        <p:nvSpPr>
          <p:cNvPr id="31" name="TextBox 30"/>
          <p:cNvSpPr txBox="1"/>
          <p:nvPr/>
        </p:nvSpPr>
        <p:spPr>
          <a:xfrm>
            <a:off x="2540000" y="4241800"/>
            <a:ext cx="39243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Commons photos and matched controls</a:t>
            </a:r>
          </a:p>
        </p:txBody>
      </p:sp>
      <p:sp>
        <p:nvSpPr>
          <p:cNvPr id="32" name="TextBox 31"/>
          <p:cNvSpPr txBox="1"/>
          <p:nvPr/>
        </p:nvSpPr>
        <p:spPr>
          <a:xfrm>
            <a:off x="6667500" y="4241800"/>
            <a:ext cx="48895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Apparent visible sleep; provisional review</a:t>
            </a:r>
          </a:p>
        </p:txBody>
      </p:sp>
      <p:cxnSp>
        <p:nvCxnSpPr>
          <p:cNvPr id="33" name="Connector 32"/>
          <p:cNvCxnSpPr/>
          <p:nvPr/>
        </p:nvCxnSpPr>
        <p:spPr>
          <a:xfrm>
            <a:off x="533400" y="4749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7498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000" y="4787900"/>
            <a:ext cx="1701800" cy="4699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Unattended</a:t>
            </a:r>
          </a:p>
        </p:txBody>
      </p:sp>
      <p:sp>
        <p:nvSpPr>
          <p:cNvPr id="36" name="TextBox 35"/>
          <p:cNvSpPr txBox="1"/>
          <p:nvPr/>
        </p:nvSpPr>
        <p:spPr>
          <a:xfrm>
            <a:off x="2540000" y="4787900"/>
            <a:ext cx="39243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CAVIAR / ABODA; MEVA transfer</a:t>
            </a:r>
          </a:p>
        </p:txBody>
      </p:sp>
      <p:sp>
        <p:nvSpPr>
          <p:cNvPr id="37" name="TextBox 36"/>
          <p:cNvSpPr txBox="1"/>
          <p:nvPr/>
        </p:nvSpPr>
        <p:spPr>
          <a:xfrm>
            <a:off x="6667500" y="4787900"/>
            <a:ext cx="48895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Overlapping endpoints; ownership/state labels limited</a:t>
            </a:r>
          </a:p>
        </p:txBody>
      </p:sp>
      <p:cxnSp>
        <p:nvCxnSpPr>
          <p:cNvPr id="38" name="Connector 37"/>
          <p:cNvCxnSpPr/>
          <p:nvPr/>
        </p:nvCxnSpPr>
        <p:spPr>
          <a:xfrm>
            <a:off x="533400" y="52959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Primary-action labels, person boxes and posture labels are not interchangeable with verified events.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DATA / ORIGINAL CLIP LEARNING CORPUS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Primary CLIP dataset: total / positive by target</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7,498 target-specific examples • 12,478 distinct view images • one known objective per row</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06</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844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Target</a:t>
            </a:r>
          </a:p>
        </p:txBody>
      </p:sp>
      <p:sp>
        <p:nvSpPr>
          <p:cNvPr id="12" name="TextBox 11"/>
          <p:cNvSpPr txBox="1"/>
          <p:nvPr/>
        </p:nvSpPr>
        <p:spPr>
          <a:xfrm>
            <a:off x="3683000" y="2171700"/>
            <a:ext cx="18161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Train N / +</a:t>
            </a:r>
          </a:p>
        </p:txBody>
      </p:sp>
      <p:sp>
        <p:nvSpPr>
          <p:cNvPr id="13" name="TextBox 12"/>
          <p:cNvSpPr txBox="1"/>
          <p:nvPr/>
        </p:nvSpPr>
        <p:spPr>
          <a:xfrm>
            <a:off x="5702300" y="2171700"/>
            <a:ext cx="18161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Dev N / +</a:t>
            </a:r>
          </a:p>
        </p:txBody>
      </p:sp>
      <p:sp>
        <p:nvSpPr>
          <p:cNvPr id="14" name="TextBox 13"/>
          <p:cNvSpPr txBox="1"/>
          <p:nvPr/>
        </p:nvSpPr>
        <p:spPr>
          <a:xfrm>
            <a:off x="7721600" y="2171700"/>
            <a:ext cx="18161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Test N / +</a:t>
            </a:r>
          </a:p>
        </p:txBody>
      </p:sp>
      <p:sp>
        <p:nvSpPr>
          <p:cNvPr id="15" name="TextBox 14"/>
          <p:cNvSpPr txBox="1"/>
          <p:nvPr/>
        </p:nvSpPr>
        <p:spPr>
          <a:xfrm>
            <a:off x="9740900" y="2171700"/>
            <a:ext cx="18161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External N / +</a:t>
            </a:r>
          </a:p>
        </p:txBody>
      </p:sp>
      <p:sp>
        <p:nvSpPr>
          <p:cNvPr id="16" name="Rectangle 15"/>
          <p:cNvSpPr/>
          <p:nvPr/>
        </p:nvSpPr>
        <p:spPr>
          <a:xfrm>
            <a:off x="533400" y="25654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 y="26035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Smoking (all sources)</a:t>
            </a:r>
          </a:p>
        </p:txBody>
      </p:sp>
      <p:sp>
        <p:nvSpPr>
          <p:cNvPr id="18" name="TextBox 17"/>
          <p:cNvSpPr txBox="1"/>
          <p:nvPr/>
        </p:nvSpPr>
        <p:spPr>
          <a:xfrm>
            <a:off x="3683000" y="26035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2,097 / 716</a:t>
            </a:r>
          </a:p>
        </p:txBody>
      </p:sp>
      <p:sp>
        <p:nvSpPr>
          <p:cNvPr id="19" name="TextBox 18"/>
          <p:cNvSpPr txBox="1"/>
          <p:nvPr/>
        </p:nvSpPr>
        <p:spPr>
          <a:xfrm>
            <a:off x="5702300" y="26035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1,135 / 413</a:t>
            </a:r>
          </a:p>
        </p:txBody>
      </p:sp>
      <p:sp>
        <p:nvSpPr>
          <p:cNvPr id="20" name="TextBox 19"/>
          <p:cNvSpPr txBox="1"/>
          <p:nvPr/>
        </p:nvSpPr>
        <p:spPr>
          <a:xfrm>
            <a:off x="7721600" y="26035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646 / 393</a:t>
            </a:r>
          </a:p>
        </p:txBody>
      </p:sp>
      <p:sp>
        <p:nvSpPr>
          <p:cNvPr id="21" name="TextBox 20"/>
          <p:cNvSpPr txBox="1"/>
          <p:nvPr/>
        </p:nvSpPr>
        <p:spPr>
          <a:xfrm>
            <a:off x="9740900" y="26035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806 / 140</a:t>
            </a:r>
          </a:p>
        </p:txBody>
      </p:sp>
      <p:cxnSp>
        <p:nvCxnSpPr>
          <p:cNvPr id="22" name="Connector 21"/>
          <p:cNvCxnSpPr/>
          <p:nvPr/>
        </p:nvCxnSpPr>
        <p:spPr>
          <a:xfrm>
            <a:off x="533400" y="3098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098800"/>
            <a:ext cx="11125200" cy="533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000" y="31369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Littering / IWDD</a:t>
            </a:r>
          </a:p>
        </p:txBody>
      </p:sp>
      <p:sp>
        <p:nvSpPr>
          <p:cNvPr id="25" name="TextBox 24"/>
          <p:cNvSpPr txBox="1"/>
          <p:nvPr/>
        </p:nvSpPr>
        <p:spPr>
          <a:xfrm>
            <a:off x="3683000" y="31369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274 / 144</a:t>
            </a:r>
          </a:p>
        </p:txBody>
      </p:sp>
      <p:sp>
        <p:nvSpPr>
          <p:cNvPr id="26" name="TextBox 25"/>
          <p:cNvSpPr txBox="1"/>
          <p:nvPr/>
        </p:nvSpPr>
        <p:spPr>
          <a:xfrm>
            <a:off x="5702300" y="31369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61 / 32</a:t>
            </a:r>
          </a:p>
        </p:txBody>
      </p:sp>
      <p:sp>
        <p:nvSpPr>
          <p:cNvPr id="27" name="TextBox 26"/>
          <p:cNvSpPr txBox="1"/>
          <p:nvPr/>
        </p:nvSpPr>
        <p:spPr>
          <a:xfrm>
            <a:off x="7721600" y="31369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100 / 50</a:t>
            </a:r>
          </a:p>
        </p:txBody>
      </p:sp>
      <p:sp>
        <p:nvSpPr>
          <p:cNvPr id="28" name="TextBox 27"/>
          <p:cNvSpPr txBox="1"/>
          <p:nvPr/>
        </p:nvSpPr>
        <p:spPr>
          <a:xfrm>
            <a:off x="9740900" y="31369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a:t>
            </a:r>
          </a:p>
        </p:txBody>
      </p:sp>
      <p:cxnSp>
        <p:nvCxnSpPr>
          <p:cNvPr id="29" name="Connector 28"/>
          <p:cNvCxnSpPr/>
          <p:nvPr/>
        </p:nvCxnSpPr>
        <p:spPr>
          <a:xfrm>
            <a:off x="533400" y="3632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6322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000" y="36703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Loitering</a:t>
            </a:r>
          </a:p>
        </p:txBody>
      </p:sp>
      <p:sp>
        <p:nvSpPr>
          <p:cNvPr id="32" name="TextBox 31"/>
          <p:cNvSpPr txBox="1"/>
          <p:nvPr/>
        </p:nvSpPr>
        <p:spPr>
          <a:xfrm>
            <a:off x="3683000" y="36703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323 / 41</a:t>
            </a:r>
          </a:p>
        </p:txBody>
      </p:sp>
      <p:sp>
        <p:nvSpPr>
          <p:cNvPr id="33" name="TextBox 32"/>
          <p:cNvSpPr txBox="1"/>
          <p:nvPr/>
        </p:nvSpPr>
        <p:spPr>
          <a:xfrm>
            <a:off x="5702300" y="36703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98 / 13</a:t>
            </a:r>
          </a:p>
        </p:txBody>
      </p:sp>
      <p:sp>
        <p:nvSpPr>
          <p:cNvPr id="34" name="TextBox 33"/>
          <p:cNvSpPr txBox="1"/>
          <p:nvPr/>
        </p:nvSpPr>
        <p:spPr>
          <a:xfrm>
            <a:off x="7721600" y="36703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75 / 11</a:t>
            </a:r>
          </a:p>
        </p:txBody>
      </p:sp>
      <p:sp>
        <p:nvSpPr>
          <p:cNvPr id="35" name="TextBox 34"/>
          <p:cNvSpPr txBox="1"/>
          <p:nvPr/>
        </p:nvSpPr>
        <p:spPr>
          <a:xfrm>
            <a:off x="9740900" y="36703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a:t>
            </a:r>
          </a:p>
        </p:txBody>
      </p:sp>
      <p:cxnSp>
        <p:nvCxnSpPr>
          <p:cNvPr id="36" name="Connector 35"/>
          <p:cNvCxnSpPr/>
          <p:nvPr/>
        </p:nvCxnSpPr>
        <p:spPr>
          <a:xfrm>
            <a:off x="533400" y="4165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4165600"/>
            <a:ext cx="11125200" cy="533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000" y="42037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Public sleep</a:t>
            </a:r>
          </a:p>
        </p:txBody>
      </p:sp>
      <p:sp>
        <p:nvSpPr>
          <p:cNvPr id="39" name="TextBox 38"/>
          <p:cNvSpPr txBox="1"/>
          <p:nvPr/>
        </p:nvSpPr>
        <p:spPr>
          <a:xfrm>
            <a:off x="3683000" y="42037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74 / 25</a:t>
            </a:r>
          </a:p>
        </p:txBody>
      </p:sp>
      <p:sp>
        <p:nvSpPr>
          <p:cNvPr id="40" name="TextBox 39"/>
          <p:cNvSpPr txBox="1"/>
          <p:nvPr/>
        </p:nvSpPr>
        <p:spPr>
          <a:xfrm>
            <a:off x="5702300" y="42037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21 / 7</a:t>
            </a:r>
          </a:p>
        </p:txBody>
      </p:sp>
      <p:sp>
        <p:nvSpPr>
          <p:cNvPr id="41" name="TextBox 40"/>
          <p:cNvSpPr txBox="1"/>
          <p:nvPr/>
        </p:nvSpPr>
        <p:spPr>
          <a:xfrm>
            <a:off x="7721600" y="42037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18 / 6</a:t>
            </a:r>
          </a:p>
        </p:txBody>
      </p:sp>
      <p:sp>
        <p:nvSpPr>
          <p:cNvPr id="42" name="TextBox 41"/>
          <p:cNvSpPr txBox="1"/>
          <p:nvPr/>
        </p:nvSpPr>
        <p:spPr>
          <a:xfrm>
            <a:off x="9740900" y="42037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a:t>
            </a:r>
          </a:p>
        </p:txBody>
      </p:sp>
      <p:cxnSp>
        <p:nvCxnSpPr>
          <p:cNvPr id="43" name="Connector 42"/>
          <p:cNvCxnSpPr/>
          <p:nvPr/>
        </p:nvCxnSpPr>
        <p:spPr>
          <a:xfrm>
            <a:off x="533400" y="4699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46990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000" y="47371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Unattended</a:t>
            </a:r>
          </a:p>
        </p:txBody>
      </p:sp>
      <p:sp>
        <p:nvSpPr>
          <p:cNvPr id="46" name="TextBox 45"/>
          <p:cNvSpPr txBox="1"/>
          <p:nvPr/>
        </p:nvSpPr>
        <p:spPr>
          <a:xfrm>
            <a:off x="3683000" y="47371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490 / 74</a:t>
            </a:r>
          </a:p>
        </p:txBody>
      </p:sp>
      <p:sp>
        <p:nvSpPr>
          <p:cNvPr id="47" name="TextBox 46"/>
          <p:cNvSpPr txBox="1"/>
          <p:nvPr/>
        </p:nvSpPr>
        <p:spPr>
          <a:xfrm>
            <a:off x="5702300" y="47371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318 / 181</a:t>
            </a:r>
          </a:p>
        </p:txBody>
      </p:sp>
      <p:sp>
        <p:nvSpPr>
          <p:cNvPr id="48" name="TextBox 47"/>
          <p:cNvSpPr txBox="1"/>
          <p:nvPr/>
        </p:nvSpPr>
        <p:spPr>
          <a:xfrm>
            <a:off x="7721600" y="47371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962 / 242</a:t>
            </a:r>
          </a:p>
        </p:txBody>
      </p:sp>
      <p:sp>
        <p:nvSpPr>
          <p:cNvPr id="49" name="TextBox 48"/>
          <p:cNvSpPr txBox="1"/>
          <p:nvPr/>
        </p:nvSpPr>
        <p:spPr>
          <a:xfrm>
            <a:off x="9740900" y="47371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a:t>
            </a:r>
          </a:p>
        </p:txBody>
      </p:sp>
      <p:cxnSp>
        <p:nvCxnSpPr>
          <p:cNvPr id="50" name="Connector 49"/>
          <p:cNvCxnSpPr/>
          <p:nvPr/>
        </p:nvCxnSpPr>
        <p:spPr>
          <a:xfrm>
            <a:off x="533400" y="5232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Only the annotated objective contributes loss; the other four labels remain unknown.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DATA / EXPANDED LEARNING CORPUS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Expanded strategy and SmolVLM dataset: total /</a:t>
            </a:r>
          </a:p>
          <a:p>
            <a:pPr algn="l">
              <a:lnSpc>
                <a:spcPts val="3690"/>
              </a:lnSpc>
              <a:spcBef>
                <a:spcPts val="0"/>
              </a:spcBef>
              <a:spcAft>
                <a:spcPts val="0"/>
              </a:spcAft>
              <a:defRPr sz="3000" b="1">
                <a:solidFill>
                  <a:srgbClr val="142C40"/>
                </a:solidFill>
                <a:latin typeface="DejaVu Sans"/>
              </a:defRPr>
            </a:pPr>
            <a:r>
              <a:t>positive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8,616 examples • 13,596 distinct decoded images • same expanded train/dev splits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07</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844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Target</a:t>
            </a:r>
          </a:p>
        </p:txBody>
      </p:sp>
      <p:sp>
        <p:nvSpPr>
          <p:cNvPr id="12" name="TextBox 11"/>
          <p:cNvSpPr txBox="1"/>
          <p:nvPr/>
        </p:nvSpPr>
        <p:spPr>
          <a:xfrm>
            <a:off x="3683000" y="2171700"/>
            <a:ext cx="18161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Train N / +</a:t>
            </a:r>
          </a:p>
        </p:txBody>
      </p:sp>
      <p:sp>
        <p:nvSpPr>
          <p:cNvPr id="13" name="TextBox 12"/>
          <p:cNvSpPr txBox="1"/>
          <p:nvPr/>
        </p:nvSpPr>
        <p:spPr>
          <a:xfrm>
            <a:off x="5702300" y="2171700"/>
            <a:ext cx="18161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Dev N / +</a:t>
            </a:r>
          </a:p>
        </p:txBody>
      </p:sp>
      <p:sp>
        <p:nvSpPr>
          <p:cNvPr id="14" name="TextBox 13"/>
          <p:cNvSpPr txBox="1"/>
          <p:nvPr/>
        </p:nvSpPr>
        <p:spPr>
          <a:xfrm>
            <a:off x="7721600" y="2171700"/>
            <a:ext cx="18161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Test N / +</a:t>
            </a:r>
          </a:p>
        </p:txBody>
      </p:sp>
      <p:sp>
        <p:nvSpPr>
          <p:cNvPr id="15" name="TextBox 14"/>
          <p:cNvSpPr txBox="1"/>
          <p:nvPr/>
        </p:nvSpPr>
        <p:spPr>
          <a:xfrm>
            <a:off x="9740900" y="2171700"/>
            <a:ext cx="18161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External N / +</a:t>
            </a:r>
          </a:p>
        </p:txBody>
      </p:sp>
      <p:sp>
        <p:nvSpPr>
          <p:cNvPr id="16" name="Rectangle 15"/>
          <p:cNvSpPr/>
          <p:nvPr/>
        </p:nvSpPr>
        <p:spPr>
          <a:xfrm>
            <a:off x="533400" y="25654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 y="26035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Smoking (all sources)</a:t>
            </a:r>
          </a:p>
        </p:txBody>
      </p:sp>
      <p:sp>
        <p:nvSpPr>
          <p:cNvPr id="18" name="TextBox 17"/>
          <p:cNvSpPr txBox="1"/>
          <p:nvPr/>
        </p:nvSpPr>
        <p:spPr>
          <a:xfrm>
            <a:off x="3683000" y="26035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2,812 / 1,073</a:t>
            </a:r>
          </a:p>
        </p:txBody>
      </p:sp>
      <p:sp>
        <p:nvSpPr>
          <p:cNvPr id="19" name="TextBox 18"/>
          <p:cNvSpPr txBox="1"/>
          <p:nvPr/>
        </p:nvSpPr>
        <p:spPr>
          <a:xfrm>
            <a:off x="5702300" y="26035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1,314 / 502</a:t>
            </a:r>
          </a:p>
        </p:txBody>
      </p:sp>
      <p:sp>
        <p:nvSpPr>
          <p:cNvPr id="20" name="TextBox 19"/>
          <p:cNvSpPr txBox="1"/>
          <p:nvPr/>
        </p:nvSpPr>
        <p:spPr>
          <a:xfrm>
            <a:off x="7721600" y="26035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870 / 505</a:t>
            </a:r>
          </a:p>
        </p:txBody>
      </p:sp>
      <p:sp>
        <p:nvSpPr>
          <p:cNvPr id="21" name="TextBox 20"/>
          <p:cNvSpPr txBox="1"/>
          <p:nvPr/>
        </p:nvSpPr>
        <p:spPr>
          <a:xfrm>
            <a:off x="9740900" y="26035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806 / 140</a:t>
            </a:r>
          </a:p>
        </p:txBody>
      </p:sp>
      <p:cxnSp>
        <p:nvCxnSpPr>
          <p:cNvPr id="22" name="Connector 21"/>
          <p:cNvCxnSpPr/>
          <p:nvPr/>
        </p:nvCxnSpPr>
        <p:spPr>
          <a:xfrm>
            <a:off x="533400" y="3098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098800"/>
            <a:ext cx="11125200" cy="533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000" y="31369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Littering / IWDD</a:t>
            </a:r>
          </a:p>
        </p:txBody>
      </p:sp>
      <p:sp>
        <p:nvSpPr>
          <p:cNvPr id="25" name="TextBox 24"/>
          <p:cNvSpPr txBox="1"/>
          <p:nvPr/>
        </p:nvSpPr>
        <p:spPr>
          <a:xfrm>
            <a:off x="3683000" y="31369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274 / 144</a:t>
            </a:r>
          </a:p>
        </p:txBody>
      </p:sp>
      <p:sp>
        <p:nvSpPr>
          <p:cNvPr id="26" name="TextBox 25"/>
          <p:cNvSpPr txBox="1"/>
          <p:nvPr/>
        </p:nvSpPr>
        <p:spPr>
          <a:xfrm>
            <a:off x="5702300" y="31369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61 / 32</a:t>
            </a:r>
          </a:p>
        </p:txBody>
      </p:sp>
      <p:sp>
        <p:nvSpPr>
          <p:cNvPr id="27" name="TextBox 26"/>
          <p:cNvSpPr txBox="1"/>
          <p:nvPr/>
        </p:nvSpPr>
        <p:spPr>
          <a:xfrm>
            <a:off x="7721600" y="31369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100 / 50</a:t>
            </a:r>
          </a:p>
        </p:txBody>
      </p:sp>
      <p:sp>
        <p:nvSpPr>
          <p:cNvPr id="28" name="TextBox 27"/>
          <p:cNvSpPr txBox="1"/>
          <p:nvPr/>
        </p:nvSpPr>
        <p:spPr>
          <a:xfrm>
            <a:off x="9740900" y="31369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a:t>
            </a:r>
          </a:p>
        </p:txBody>
      </p:sp>
      <p:cxnSp>
        <p:nvCxnSpPr>
          <p:cNvPr id="29" name="Connector 28"/>
          <p:cNvCxnSpPr/>
          <p:nvPr/>
        </p:nvCxnSpPr>
        <p:spPr>
          <a:xfrm>
            <a:off x="533400" y="3632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6322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000" y="36703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Loitering</a:t>
            </a:r>
          </a:p>
        </p:txBody>
      </p:sp>
      <p:sp>
        <p:nvSpPr>
          <p:cNvPr id="32" name="TextBox 31"/>
          <p:cNvSpPr txBox="1"/>
          <p:nvPr/>
        </p:nvSpPr>
        <p:spPr>
          <a:xfrm>
            <a:off x="3683000" y="36703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323 / 41</a:t>
            </a:r>
          </a:p>
        </p:txBody>
      </p:sp>
      <p:sp>
        <p:nvSpPr>
          <p:cNvPr id="33" name="TextBox 32"/>
          <p:cNvSpPr txBox="1"/>
          <p:nvPr/>
        </p:nvSpPr>
        <p:spPr>
          <a:xfrm>
            <a:off x="5702300" y="36703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98 / 13</a:t>
            </a:r>
          </a:p>
        </p:txBody>
      </p:sp>
      <p:sp>
        <p:nvSpPr>
          <p:cNvPr id="34" name="TextBox 33"/>
          <p:cNvSpPr txBox="1"/>
          <p:nvPr/>
        </p:nvSpPr>
        <p:spPr>
          <a:xfrm>
            <a:off x="7721600" y="36703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75 / 11</a:t>
            </a:r>
          </a:p>
        </p:txBody>
      </p:sp>
      <p:sp>
        <p:nvSpPr>
          <p:cNvPr id="35" name="TextBox 34"/>
          <p:cNvSpPr txBox="1"/>
          <p:nvPr/>
        </p:nvSpPr>
        <p:spPr>
          <a:xfrm>
            <a:off x="9740900" y="36703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a:t>
            </a:r>
          </a:p>
        </p:txBody>
      </p:sp>
      <p:cxnSp>
        <p:nvCxnSpPr>
          <p:cNvPr id="36" name="Connector 35"/>
          <p:cNvCxnSpPr/>
          <p:nvPr/>
        </p:nvCxnSpPr>
        <p:spPr>
          <a:xfrm>
            <a:off x="533400" y="4165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4165600"/>
            <a:ext cx="11125200" cy="533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000" y="42037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Public sleep</a:t>
            </a:r>
          </a:p>
        </p:txBody>
      </p:sp>
      <p:sp>
        <p:nvSpPr>
          <p:cNvPr id="39" name="TextBox 38"/>
          <p:cNvSpPr txBox="1"/>
          <p:nvPr/>
        </p:nvSpPr>
        <p:spPr>
          <a:xfrm>
            <a:off x="3683000" y="42037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74 / 25</a:t>
            </a:r>
          </a:p>
        </p:txBody>
      </p:sp>
      <p:sp>
        <p:nvSpPr>
          <p:cNvPr id="40" name="TextBox 39"/>
          <p:cNvSpPr txBox="1"/>
          <p:nvPr/>
        </p:nvSpPr>
        <p:spPr>
          <a:xfrm>
            <a:off x="5702300" y="42037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21 / 7</a:t>
            </a:r>
          </a:p>
        </p:txBody>
      </p:sp>
      <p:sp>
        <p:nvSpPr>
          <p:cNvPr id="41" name="TextBox 40"/>
          <p:cNvSpPr txBox="1"/>
          <p:nvPr/>
        </p:nvSpPr>
        <p:spPr>
          <a:xfrm>
            <a:off x="7721600" y="42037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18 / 6</a:t>
            </a:r>
          </a:p>
        </p:txBody>
      </p:sp>
      <p:sp>
        <p:nvSpPr>
          <p:cNvPr id="42" name="TextBox 41"/>
          <p:cNvSpPr txBox="1"/>
          <p:nvPr/>
        </p:nvSpPr>
        <p:spPr>
          <a:xfrm>
            <a:off x="9740900" y="42037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a:t>
            </a:r>
          </a:p>
        </p:txBody>
      </p:sp>
      <p:cxnSp>
        <p:nvCxnSpPr>
          <p:cNvPr id="43" name="Connector 42"/>
          <p:cNvCxnSpPr/>
          <p:nvPr/>
        </p:nvCxnSpPr>
        <p:spPr>
          <a:xfrm>
            <a:off x="533400" y="4699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46990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000" y="47371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Unattended</a:t>
            </a:r>
          </a:p>
        </p:txBody>
      </p:sp>
      <p:sp>
        <p:nvSpPr>
          <p:cNvPr id="46" name="TextBox 45"/>
          <p:cNvSpPr txBox="1"/>
          <p:nvPr/>
        </p:nvSpPr>
        <p:spPr>
          <a:xfrm>
            <a:off x="3683000" y="47371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490 / 74</a:t>
            </a:r>
          </a:p>
        </p:txBody>
      </p:sp>
      <p:sp>
        <p:nvSpPr>
          <p:cNvPr id="47" name="TextBox 46"/>
          <p:cNvSpPr txBox="1"/>
          <p:nvPr/>
        </p:nvSpPr>
        <p:spPr>
          <a:xfrm>
            <a:off x="5702300" y="47371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318 / 181</a:t>
            </a:r>
          </a:p>
        </p:txBody>
      </p:sp>
      <p:sp>
        <p:nvSpPr>
          <p:cNvPr id="48" name="TextBox 47"/>
          <p:cNvSpPr txBox="1"/>
          <p:nvPr/>
        </p:nvSpPr>
        <p:spPr>
          <a:xfrm>
            <a:off x="7721600" y="47371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962 / 242</a:t>
            </a:r>
          </a:p>
        </p:txBody>
      </p:sp>
      <p:sp>
        <p:nvSpPr>
          <p:cNvPr id="49" name="TextBox 48"/>
          <p:cNvSpPr txBox="1"/>
          <p:nvPr/>
        </p:nvSpPr>
        <p:spPr>
          <a:xfrm>
            <a:off x="9740900" y="47371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a:t>
            </a:r>
          </a:p>
        </p:txBody>
      </p:sp>
      <p:cxnSp>
        <p:nvCxnSpPr>
          <p:cNvPr id="50" name="Connector 49"/>
          <p:cNvCxnSpPr/>
          <p:nvPr/>
        </p:nvCxnSpPr>
        <p:spPr>
          <a:xfrm>
            <a:off x="533400" y="5232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The main expansion is smoking photos: +715 train, +179 dev and +224 held-out photos.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DATA / VADCLIP SPLIT</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VadCLIP uses a separate session-held-out smoking</a:t>
            </a:r>
          </a:p>
          <a:p>
            <a:pPr algn="l">
              <a:lnSpc>
                <a:spcPts val="3690"/>
              </a:lnSpc>
              <a:spcBef>
                <a:spcPts val="0"/>
              </a:spcBef>
              <a:spcAft>
                <a:spcPts val="0"/>
              </a:spcAft>
              <a:defRPr sz="3000" b="1">
                <a:solidFill>
                  <a:srgbClr val="142C40"/>
                </a:solidFill>
                <a:latin typeface="DejaVu Sans"/>
              </a:defRPr>
            </a:pPr>
            <a:r>
              <a:t>split</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Frozen CLIP-B/16 features • original 3,278 annotated frames across 16 camera/date sessions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08</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1828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Split</a:t>
            </a:r>
          </a:p>
        </p:txBody>
      </p:sp>
      <p:sp>
        <p:nvSpPr>
          <p:cNvPr id="12" name="TextBox 11"/>
          <p:cNvSpPr txBox="1"/>
          <p:nvPr/>
        </p:nvSpPr>
        <p:spPr>
          <a:xfrm>
            <a:off x="2667000" y="2171700"/>
            <a:ext cx="1320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Sessions</a:t>
            </a:r>
          </a:p>
        </p:txBody>
      </p:sp>
      <p:sp>
        <p:nvSpPr>
          <p:cNvPr id="13" name="TextBox 12"/>
          <p:cNvSpPr txBox="1"/>
          <p:nvPr/>
        </p:nvSpPr>
        <p:spPr>
          <a:xfrm>
            <a:off x="4191000" y="2171700"/>
            <a:ext cx="1701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Frames</a:t>
            </a:r>
          </a:p>
        </p:txBody>
      </p:sp>
      <p:sp>
        <p:nvSpPr>
          <p:cNvPr id="14" name="TextBox 13"/>
          <p:cNvSpPr txBox="1"/>
          <p:nvPr/>
        </p:nvSpPr>
        <p:spPr>
          <a:xfrm>
            <a:off x="6096000" y="2171700"/>
            <a:ext cx="1701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Smoking +</a:t>
            </a:r>
          </a:p>
        </p:txBody>
      </p:sp>
      <p:sp>
        <p:nvSpPr>
          <p:cNvPr id="15" name="TextBox 14"/>
          <p:cNvSpPr txBox="1"/>
          <p:nvPr/>
        </p:nvSpPr>
        <p:spPr>
          <a:xfrm>
            <a:off x="8001000" y="2171700"/>
            <a:ext cx="1701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Normal −</a:t>
            </a:r>
          </a:p>
        </p:txBody>
      </p:sp>
      <p:sp>
        <p:nvSpPr>
          <p:cNvPr id="16" name="TextBox 15"/>
          <p:cNvSpPr txBox="1"/>
          <p:nvPr/>
        </p:nvSpPr>
        <p:spPr>
          <a:xfrm>
            <a:off x="9906000" y="2171700"/>
            <a:ext cx="16510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Prevalence</a:t>
            </a:r>
          </a:p>
        </p:txBody>
      </p:sp>
      <p:sp>
        <p:nvSpPr>
          <p:cNvPr id="17" name="Rectangle 16"/>
          <p:cNvSpPr/>
          <p:nvPr/>
        </p:nvSpPr>
        <p:spPr>
          <a:xfrm>
            <a:off x="533400" y="25654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000" y="2603500"/>
            <a:ext cx="1828800" cy="5207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train</a:t>
            </a:r>
          </a:p>
        </p:txBody>
      </p:sp>
      <p:sp>
        <p:nvSpPr>
          <p:cNvPr id="19" name="TextBox 18"/>
          <p:cNvSpPr txBox="1"/>
          <p:nvPr/>
        </p:nvSpPr>
        <p:spPr>
          <a:xfrm>
            <a:off x="2667000" y="2603500"/>
            <a:ext cx="13208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9</a:t>
            </a:r>
          </a:p>
        </p:txBody>
      </p:sp>
      <p:sp>
        <p:nvSpPr>
          <p:cNvPr id="20" name="TextBox 19"/>
          <p:cNvSpPr txBox="1"/>
          <p:nvPr/>
        </p:nvSpPr>
        <p:spPr>
          <a:xfrm>
            <a:off x="4191000" y="2603500"/>
            <a:ext cx="17018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1910</a:t>
            </a:r>
          </a:p>
        </p:txBody>
      </p:sp>
      <p:sp>
        <p:nvSpPr>
          <p:cNvPr id="21" name="TextBox 20"/>
          <p:cNvSpPr txBox="1"/>
          <p:nvPr/>
        </p:nvSpPr>
        <p:spPr>
          <a:xfrm>
            <a:off x="6096000" y="2603500"/>
            <a:ext cx="17018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756</a:t>
            </a:r>
          </a:p>
        </p:txBody>
      </p:sp>
      <p:sp>
        <p:nvSpPr>
          <p:cNvPr id="22" name="TextBox 21"/>
          <p:cNvSpPr txBox="1"/>
          <p:nvPr/>
        </p:nvSpPr>
        <p:spPr>
          <a:xfrm>
            <a:off x="8001000" y="2603500"/>
            <a:ext cx="17018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1154</a:t>
            </a:r>
          </a:p>
        </p:txBody>
      </p:sp>
      <p:sp>
        <p:nvSpPr>
          <p:cNvPr id="23" name="TextBox 22"/>
          <p:cNvSpPr txBox="1"/>
          <p:nvPr/>
        </p:nvSpPr>
        <p:spPr>
          <a:xfrm>
            <a:off x="9906000" y="2603500"/>
            <a:ext cx="16510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39.6%</a:t>
            </a:r>
          </a:p>
        </p:txBody>
      </p:sp>
      <p:cxnSp>
        <p:nvCxnSpPr>
          <p:cNvPr id="24" name="Connector 23"/>
          <p:cNvCxnSpPr/>
          <p:nvPr/>
        </p:nvCxnSpPr>
        <p:spPr>
          <a:xfrm>
            <a:off x="533400" y="3162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33400" y="3162300"/>
            <a:ext cx="11125200" cy="596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000" y="3200400"/>
            <a:ext cx="1828800" cy="5207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dev</a:t>
            </a:r>
          </a:p>
        </p:txBody>
      </p:sp>
      <p:sp>
        <p:nvSpPr>
          <p:cNvPr id="27" name="TextBox 26"/>
          <p:cNvSpPr txBox="1"/>
          <p:nvPr/>
        </p:nvSpPr>
        <p:spPr>
          <a:xfrm>
            <a:off x="2667000" y="3200400"/>
            <a:ext cx="13208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4</a:t>
            </a:r>
          </a:p>
        </p:txBody>
      </p:sp>
      <p:sp>
        <p:nvSpPr>
          <p:cNvPr id="28" name="TextBox 27"/>
          <p:cNvSpPr txBox="1"/>
          <p:nvPr/>
        </p:nvSpPr>
        <p:spPr>
          <a:xfrm>
            <a:off x="4191000" y="3200400"/>
            <a:ext cx="17018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312</a:t>
            </a:r>
          </a:p>
        </p:txBody>
      </p:sp>
      <p:sp>
        <p:nvSpPr>
          <p:cNvPr id="29" name="TextBox 28"/>
          <p:cNvSpPr txBox="1"/>
          <p:nvPr/>
        </p:nvSpPr>
        <p:spPr>
          <a:xfrm>
            <a:off x="6096000" y="3200400"/>
            <a:ext cx="17018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106</a:t>
            </a:r>
          </a:p>
        </p:txBody>
      </p:sp>
      <p:sp>
        <p:nvSpPr>
          <p:cNvPr id="30" name="TextBox 29"/>
          <p:cNvSpPr txBox="1"/>
          <p:nvPr/>
        </p:nvSpPr>
        <p:spPr>
          <a:xfrm>
            <a:off x="8001000" y="3200400"/>
            <a:ext cx="17018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206</a:t>
            </a:r>
          </a:p>
        </p:txBody>
      </p:sp>
      <p:sp>
        <p:nvSpPr>
          <p:cNvPr id="31" name="TextBox 30"/>
          <p:cNvSpPr txBox="1"/>
          <p:nvPr/>
        </p:nvSpPr>
        <p:spPr>
          <a:xfrm>
            <a:off x="9906000" y="3200400"/>
            <a:ext cx="16510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34.0%</a:t>
            </a:r>
          </a:p>
        </p:txBody>
      </p:sp>
      <p:cxnSp>
        <p:nvCxnSpPr>
          <p:cNvPr id="32" name="Connector 31"/>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37592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000" y="3797300"/>
            <a:ext cx="1828800" cy="5207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test</a:t>
            </a:r>
          </a:p>
        </p:txBody>
      </p:sp>
      <p:sp>
        <p:nvSpPr>
          <p:cNvPr id="35" name="TextBox 34"/>
          <p:cNvSpPr txBox="1"/>
          <p:nvPr/>
        </p:nvSpPr>
        <p:spPr>
          <a:xfrm>
            <a:off x="2667000" y="3797300"/>
            <a:ext cx="13208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a:t>
            </a:r>
          </a:p>
        </p:txBody>
      </p:sp>
      <p:sp>
        <p:nvSpPr>
          <p:cNvPr id="36" name="TextBox 35"/>
          <p:cNvSpPr txBox="1"/>
          <p:nvPr/>
        </p:nvSpPr>
        <p:spPr>
          <a:xfrm>
            <a:off x="4191000" y="3797300"/>
            <a:ext cx="17018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1056</a:t>
            </a:r>
          </a:p>
        </p:txBody>
      </p:sp>
      <p:sp>
        <p:nvSpPr>
          <p:cNvPr id="37" name="TextBox 36"/>
          <p:cNvSpPr txBox="1"/>
          <p:nvPr/>
        </p:nvSpPr>
        <p:spPr>
          <a:xfrm>
            <a:off x="6096000" y="3797300"/>
            <a:ext cx="17018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560</a:t>
            </a:r>
          </a:p>
        </p:txBody>
      </p:sp>
      <p:sp>
        <p:nvSpPr>
          <p:cNvPr id="38" name="TextBox 37"/>
          <p:cNvSpPr txBox="1"/>
          <p:nvPr/>
        </p:nvSpPr>
        <p:spPr>
          <a:xfrm>
            <a:off x="8001000" y="3797300"/>
            <a:ext cx="17018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496</a:t>
            </a:r>
          </a:p>
        </p:txBody>
      </p:sp>
      <p:sp>
        <p:nvSpPr>
          <p:cNvPr id="39" name="TextBox 38"/>
          <p:cNvSpPr txBox="1"/>
          <p:nvPr/>
        </p:nvSpPr>
        <p:spPr>
          <a:xfrm>
            <a:off x="9906000" y="3797300"/>
            <a:ext cx="1651000" cy="5207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53.0%</a:t>
            </a:r>
          </a:p>
        </p:txBody>
      </p:sp>
      <p:cxnSp>
        <p:nvCxnSpPr>
          <p:cNvPr id="40" name="Connector 39"/>
          <p:cNvCxnSpPr/>
          <p:nvPr/>
        </p:nvCxnSpPr>
        <p:spPr>
          <a:xfrm>
            <a:off x="533400" y="4356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Train and test share physical cameras across dates; this is not the CLIP camera-c1 holdout.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DATA / EXTERNAL EVIDENCE</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Transfer cohorts answer different generalization</a:t>
            </a:r>
          </a:p>
          <a:p>
            <a:pPr algn="l">
              <a:lnSpc>
                <a:spcPts val="3690"/>
              </a:lnSpc>
              <a:spcBef>
                <a:spcPts val="0"/>
              </a:spcBef>
              <a:spcAft>
                <a:spcPts val="0"/>
              </a:spcAft>
              <a:defRPr sz="3000" b="1">
                <a:solidFill>
                  <a:srgbClr val="142C40"/>
                </a:solidFill>
                <a:latin typeface="DejaVu Sans"/>
              </a:defRPr>
            </a:pPr>
            <a:r>
              <a:t>questions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These are separately reported cohorts; their labels and train/test roles are explicit</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09</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654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Cohort</a:t>
            </a:r>
          </a:p>
        </p:txBody>
      </p:sp>
      <p:sp>
        <p:nvSpPr>
          <p:cNvPr id="12" name="TextBox 11"/>
          <p:cNvSpPr txBox="1"/>
          <p:nvPr/>
        </p:nvSpPr>
        <p:spPr>
          <a:xfrm>
            <a:off x="3492500" y="2171700"/>
            <a:ext cx="1574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Held-out N / +</a:t>
            </a:r>
          </a:p>
        </p:txBody>
      </p:sp>
      <p:sp>
        <p:nvSpPr>
          <p:cNvPr id="13" name="TextBox 12"/>
          <p:cNvSpPr txBox="1"/>
          <p:nvPr/>
        </p:nvSpPr>
        <p:spPr>
          <a:xfrm>
            <a:off x="5270500" y="2171700"/>
            <a:ext cx="2717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Role</a:t>
            </a:r>
          </a:p>
        </p:txBody>
      </p:sp>
      <p:sp>
        <p:nvSpPr>
          <p:cNvPr id="14" name="TextBox 13"/>
          <p:cNvSpPr txBox="1"/>
          <p:nvPr/>
        </p:nvSpPr>
        <p:spPr>
          <a:xfrm>
            <a:off x="8191500" y="2171700"/>
            <a:ext cx="33655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What is still limited</a:t>
            </a:r>
          </a:p>
        </p:txBody>
      </p:sp>
      <p:sp>
        <p:nvSpPr>
          <p:cNvPr id="15" name="Rectangle 14"/>
          <p:cNvSpPr/>
          <p:nvPr/>
        </p:nvSpPr>
        <p:spPr>
          <a:xfrm>
            <a:off x="533400" y="2565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000" y="2603500"/>
            <a:ext cx="26543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Stanford40</a:t>
            </a:r>
          </a:p>
        </p:txBody>
      </p:sp>
      <p:sp>
        <p:nvSpPr>
          <p:cNvPr id="17" name="TextBox 16"/>
          <p:cNvSpPr txBox="1"/>
          <p:nvPr/>
        </p:nvSpPr>
        <p:spPr>
          <a:xfrm>
            <a:off x="3492500" y="2603500"/>
            <a:ext cx="1574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806 / 140</a:t>
            </a:r>
          </a:p>
        </p:txBody>
      </p:sp>
      <p:sp>
        <p:nvSpPr>
          <p:cNvPr id="18" name="TextBox 17"/>
          <p:cNvSpPr txBox="1"/>
          <p:nvPr/>
        </p:nvSpPr>
        <p:spPr>
          <a:xfrm>
            <a:off x="5270500" y="2603500"/>
            <a:ext cx="2717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Official photo test</a:t>
            </a:r>
          </a:p>
        </p:txBody>
      </p:sp>
      <p:sp>
        <p:nvSpPr>
          <p:cNvPr id="19" name="TextBox 18"/>
          <p:cNvSpPr txBox="1"/>
          <p:nvPr/>
        </p:nvSpPr>
        <p:spPr>
          <a:xfrm>
            <a:off x="8191500" y="2603500"/>
            <a:ext cx="3365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Photo domain contributes training</a:t>
            </a:r>
          </a:p>
        </p:txBody>
      </p:sp>
      <p:cxnSp>
        <p:nvCxnSpPr>
          <p:cNvPr id="20" name="Connector 19"/>
          <p:cNvCxnSpPr/>
          <p:nvPr/>
        </p:nvCxnSpPr>
        <p:spPr>
          <a:xfrm>
            <a:off x="533400" y="3111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1115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000" y="3149600"/>
            <a:ext cx="26543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HMDB action transfer</a:t>
            </a:r>
          </a:p>
        </p:txBody>
      </p:sp>
      <p:sp>
        <p:nvSpPr>
          <p:cNvPr id="23" name="TextBox 22"/>
          <p:cNvSpPr txBox="1"/>
          <p:nvPr/>
        </p:nvSpPr>
        <p:spPr>
          <a:xfrm>
            <a:off x="3492500" y="3149600"/>
            <a:ext cx="1574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906 / 109</a:t>
            </a:r>
          </a:p>
        </p:txBody>
      </p:sp>
      <p:sp>
        <p:nvSpPr>
          <p:cNvPr id="24" name="TextBox 23"/>
          <p:cNvSpPr txBox="1"/>
          <p:nvPr/>
        </p:nvSpPr>
        <p:spPr>
          <a:xfrm>
            <a:off x="5270500" y="3149600"/>
            <a:ext cx="2717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Unseen-source test in strategy/Smol</a:t>
            </a:r>
          </a:p>
        </p:txBody>
      </p:sp>
      <p:sp>
        <p:nvSpPr>
          <p:cNvPr id="25" name="TextBox 24"/>
          <p:cNvSpPr txBox="1"/>
          <p:nvPr/>
        </p:nvSpPr>
        <p:spPr>
          <a:xfrm>
            <a:off x="8191500" y="3149600"/>
            <a:ext cx="3365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Other actions are non-exhaustive negatives</a:t>
            </a:r>
          </a:p>
        </p:txBody>
      </p:sp>
      <p:cxnSp>
        <p:nvCxnSpPr>
          <p:cNvPr id="26" name="Connector 25"/>
          <p:cNvCxnSpPr/>
          <p:nvPr/>
        </p:nvCxnSpPr>
        <p:spPr>
          <a:xfrm>
            <a:off x="533400" y="3657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6576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000" y="3695700"/>
            <a:ext cx="26543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New-author public sleep</a:t>
            </a:r>
          </a:p>
        </p:txBody>
      </p:sp>
      <p:sp>
        <p:nvSpPr>
          <p:cNvPr id="29" name="TextBox 28"/>
          <p:cNvSpPr txBox="1"/>
          <p:nvPr/>
        </p:nvSpPr>
        <p:spPr>
          <a:xfrm>
            <a:off x="3492500" y="3695700"/>
            <a:ext cx="1574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28 / 17</a:t>
            </a:r>
          </a:p>
        </p:txBody>
      </p:sp>
      <p:sp>
        <p:nvSpPr>
          <p:cNvPr id="30" name="TextBox 29"/>
          <p:cNvSpPr txBox="1"/>
          <p:nvPr/>
        </p:nvSpPr>
        <p:spPr>
          <a:xfrm>
            <a:off x="5270500" y="3695700"/>
            <a:ext cx="2717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No training or selection</a:t>
            </a:r>
          </a:p>
        </p:txBody>
      </p:sp>
      <p:sp>
        <p:nvSpPr>
          <p:cNvPr id="31" name="TextBox 30"/>
          <p:cNvSpPr txBox="1"/>
          <p:nvPr/>
        </p:nvSpPr>
        <p:spPr>
          <a:xfrm>
            <a:off x="8191500" y="3695700"/>
            <a:ext cx="3365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25 author groups; provisional labels</a:t>
            </a:r>
          </a:p>
        </p:txBody>
      </p:sp>
      <p:cxnSp>
        <p:nvCxnSpPr>
          <p:cNvPr id="32" name="Connector 31"/>
          <p:cNvCxnSpPr/>
          <p:nvPr/>
        </p:nvCxnSpPr>
        <p:spPr>
          <a:xfrm>
            <a:off x="533400" y="4203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2037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000" y="4241800"/>
            <a:ext cx="26543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MEVA abandonment</a:t>
            </a:r>
          </a:p>
        </p:txBody>
      </p:sp>
      <p:sp>
        <p:nvSpPr>
          <p:cNvPr id="35" name="TextBox 34"/>
          <p:cNvSpPr txBox="1"/>
          <p:nvPr/>
        </p:nvSpPr>
        <p:spPr>
          <a:xfrm>
            <a:off x="3492500" y="4241800"/>
            <a:ext cx="1574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27 / 15</a:t>
            </a:r>
          </a:p>
        </p:txBody>
      </p:sp>
      <p:sp>
        <p:nvSpPr>
          <p:cNvPr id="36" name="TextBox 35"/>
          <p:cNvSpPr txBox="1"/>
          <p:nvPr/>
        </p:nvSpPr>
        <p:spPr>
          <a:xfrm>
            <a:off x="5270500" y="4241800"/>
            <a:ext cx="2717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No training or selection</a:t>
            </a:r>
          </a:p>
        </p:txBody>
      </p:sp>
      <p:sp>
        <p:nvSpPr>
          <p:cNvPr id="37" name="TextBox 36"/>
          <p:cNvSpPr txBox="1"/>
          <p:nvPr/>
        </p:nvSpPr>
        <p:spPr>
          <a:xfrm>
            <a:off x="8191500" y="4241800"/>
            <a:ext cx="3365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Action windows, not persistent item state</a:t>
            </a:r>
          </a:p>
        </p:txBody>
      </p:sp>
      <p:cxnSp>
        <p:nvCxnSpPr>
          <p:cNvPr id="38" name="Connector 37"/>
          <p:cNvCxnSpPr/>
          <p:nvPr/>
        </p:nvCxnSpPr>
        <p:spPr>
          <a:xfrm>
            <a:off x="533400" y="4749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7498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4787900"/>
            <a:ext cx="26543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XRF55 scene 4</a:t>
            </a:r>
          </a:p>
        </p:txBody>
      </p:sp>
      <p:sp>
        <p:nvSpPr>
          <p:cNvPr id="41" name="TextBox 40"/>
          <p:cNvSpPr txBox="1"/>
          <p:nvPr/>
        </p:nvSpPr>
        <p:spPr>
          <a:xfrm>
            <a:off x="3492500" y="4787900"/>
            <a:ext cx="1574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240 / 60</a:t>
            </a:r>
          </a:p>
        </p:txBody>
      </p:sp>
      <p:sp>
        <p:nvSpPr>
          <p:cNvPr id="42" name="TextBox 41"/>
          <p:cNvSpPr txBox="1"/>
          <p:nvPr/>
        </p:nvSpPr>
        <p:spPr>
          <a:xfrm>
            <a:off x="5270500" y="4787900"/>
            <a:ext cx="2717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20 Oct new-source proxy test</a:t>
            </a:r>
          </a:p>
        </p:txBody>
      </p:sp>
      <p:sp>
        <p:nvSpPr>
          <p:cNvPr id="43" name="TextBox 42"/>
          <p:cNvSpPr txBox="1"/>
          <p:nvPr/>
        </p:nvSpPr>
        <p:spPr>
          <a:xfrm>
            <a:off x="8191500" y="4787900"/>
            <a:ext cx="3365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One scene, three subject aliases; masked</a:t>
            </a:r>
          </a:p>
          <a:p>
            <a:pPr algn="l">
              <a:lnSpc>
                <a:spcPts val="1414"/>
              </a:lnSpc>
              <a:spcBef>
                <a:spcPts val="0"/>
              </a:spcBef>
              <a:spcAft>
                <a:spcPts val="0"/>
              </a:spcAft>
              <a:defRPr sz="1150" b="0">
                <a:solidFill>
                  <a:srgbClr val="142C40"/>
                </a:solidFill>
                <a:latin typeface="DejaVu Sans"/>
              </a:defRPr>
            </a:pPr>
            <a:r>
              <a:t>gestures</a:t>
            </a:r>
          </a:p>
        </p:txBody>
      </p:sp>
      <p:cxnSp>
        <p:nvCxnSpPr>
          <p:cNvPr id="44" name="Connector 43"/>
          <p:cNvCxnSpPr/>
          <p:nvPr/>
        </p:nvCxnSpPr>
        <p:spPr>
          <a:xfrm>
            <a:off x="533400" y="52959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The later HMDB 205-clip adaptation test and the earlier 906-clip transfer test must stay separate.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SPLIT AND SELECTION DISCIPLINE</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Train, select and test play different roles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Development data determine checkpoints, routes and cutoffs; test data report the frozen result</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10</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Training and validation</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Task / class / source balancing</a:t>
            </a:r>
          </a:p>
          <a:p>
            <a:pPr algn="l">
              <a:lnSpc>
                <a:spcPts val="1968"/>
              </a:lnSpc>
              <a:spcBef>
                <a:spcPts val="0"/>
              </a:spcBef>
              <a:spcAft>
                <a:spcPts val="0"/>
              </a:spcAft>
              <a:defRPr sz="1600" b="0">
                <a:solidFill>
                  <a:srgbClr val="142C40"/>
                </a:solidFill>
                <a:latin typeface="DejaVu Sans"/>
              </a:defRPr>
            </a:pPr>
            <a:r>
              <a:t>Grouped camera / recording / author splits</a:t>
            </a:r>
          </a:p>
          <a:p>
            <a:pPr algn="l">
              <a:lnSpc>
                <a:spcPts val="1968"/>
              </a:lnSpc>
              <a:spcBef>
                <a:spcPts val="0"/>
              </a:spcBef>
              <a:spcAft>
                <a:spcPts val="0"/>
              </a:spcAft>
              <a:defRPr sz="1600" b="0">
                <a:solidFill>
                  <a:srgbClr val="142C40"/>
                </a:solidFill>
                <a:latin typeface="DejaVu Sans"/>
              </a:defRPr>
            </a:pPr>
            <a:r>
              <a:t>Unknown targets have zero loss</a:t>
            </a:r>
          </a:p>
          <a:p>
            <a:pPr algn="l">
              <a:lnSpc>
                <a:spcPts val="1968"/>
              </a:lnSpc>
              <a:spcBef>
                <a:spcPts val="0"/>
              </a:spcBef>
              <a:spcAft>
                <a:spcPts val="0"/>
              </a:spcAft>
              <a:defRPr sz="1600" b="0">
                <a:solidFill>
                  <a:srgbClr val="142C40"/>
                </a:solidFill>
                <a:latin typeface="DejaVu Sans"/>
              </a:defRPr>
            </a:pPr>
            <a:r>
              <a:t>File and decoded-pixel checks</a:t>
            </a:r>
          </a:p>
          <a:p>
            <a:pPr algn="l">
              <a:lnSpc>
                <a:spcPts val="1968"/>
              </a:lnSpc>
              <a:spcBef>
                <a:spcPts val="0"/>
              </a:spcBef>
              <a:spcAft>
                <a:spcPts val="0"/>
              </a:spcAft>
              <a:defRPr sz="1600" b="0">
                <a:solidFill>
                  <a:srgbClr val="142C40"/>
                </a:solidFill>
                <a:latin typeface="DejaVu Sans"/>
              </a:defRPr>
            </a:pPr>
            <a:r>
              <a:t>Primary seeds specified in advance</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Held-out reporting</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All stage results remain visible</a:t>
            </a:r>
          </a:p>
          <a:p>
            <a:pPr algn="l">
              <a:lnSpc>
                <a:spcPts val="1968"/>
              </a:lnSpc>
              <a:spcBef>
                <a:spcPts val="0"/>
              </a:spcBef>
              <a:spcAft>
                <a:spcPts val="0"/>
              </a:spcAft>
              <a:defRPr sz="1600" b="0">
                <a:solidFill>
                  <a:srgbClr val="142C40"/>
                </a:solidFill>
                <a:latin typeface="DejaVu Sans"/>
              </a:defRPr>
            </a:pPr>
            <a:r>
              <a:t>No best-test-seed substitution</a:t>
            </a:r>
          </a:p>
          <a:p>
            <a:pPr algn="l">
              <a:lnSpc>
                <a:spcPts val="1968"/>
              </a:lnSpc>
              <a:spcBef>
                <a:spcPts val="0"/>
              </a:spcBef>
              <a:spcAft>
                <a:spcPts val="0"/>
              </a:spcAft>
              <a:defRPr sz="1600" b="0">
                <a:solidFill>
                  <a:srgbClr val="142C40"/>
                </a:solidFill>
                <a:latin typeface="DejaVu Sans"/>
              </a:defRPr>
            </a:pPr>
            <a:r>
              <a:t>No test-fitted decision threshold</a:t>
            </a:r>
          </a:p>
          <a:p>
            <a:pPr algn="l">
              <a:lnSpc>
                <a:spcPts val="1968"/>
              </a:lnSpc>
              <a:spcBef>
                <a:spcPts val="0"/>
              </a:spcBef>
              <a:spcAft>
                <a:spcPts val="0"/>
              </a:spcAft>
              <a:defRPr sz="1600" b="0">
                <a:solidFill>
                  <a:srgbClr val="142C40"/>
                </a:solidFill>
                <a:latin typeface="DejaVu Sans"/>
              </a:defRPr>
            </a:pPr>
            <a:r>
              <a:t>Historical results labelled retrospective</a:t>
            </a:r>
          </a:p>
          <a:p>
            <a:pPr algn="l">
              <a:lnSpc>
                <a:spcPts val="1968"/>
              </a:lnSpc>
              <a:spcBef>
                <a:spcPts val="0"/>
              </a:spcBef>
              <a:spcAft>
                <a:spcPts val="0"/>
              </a:spcAft>
              <a:defRPr sz="1600" b="0">
                <a:solidFill>
                  <a:srgbClr val="142C40"/>
                </a:solidFill>
                <a:latin typeface="DejaVu Sans"/>
              </a:defRPr>
            </a:pPr>
            <a:r>
              <a:t>Per-source denominators retained</a:t>
            </a:r>
          </a:p>
        </p:txBody>
      </p:sp>
      <p:sp>
        <p:nvSpPr>
          <p:cNvPr id="18" name="Rectangle 17"/>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Seeds estimate optimization variation; they do not add cameras or independent event evidence.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METRICS AND OPERATING POINTS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Use ranking and decision metrics together</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All metrics are binary and source-specific • accuracy is exported with balanced accuracy</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11</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463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Metric / point</a:t>
            </a:r>
          </a:p>
        </p:txBody>
      </p:sp>
      <p:sp>
        <p:nvSpPr>
          <p:cNvPr id="12" name="TextBox 11"/>
          <p:cNvSpPr txBox="1"/>
          <p:nvPr/>
        </p:nvSpPr>
        <p:spPr>
          <a:xfrm>
            <a:off x="3302000" y="2171700"/>
            <a:ext cx="3733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Meaning</a:t>
            </a:r>
          </a:p>
        </p:txBody>
      </p:sp>
      <p:sp>
        <p:nvSpPr>
          <p:cNvPr id="13" name="TextBox 12"/>
          <p:cNvSpPr txBox="1"/>
          <p:nvPr/>
        </p:nvSpPr>
        <p:spPr>
          <a:xfrm>
            <a:off x="7239000" y="2171700"/>
            <a:ext cx="43180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How it is used here</a:t>
            </a:r>
          </a:p>
        </p:txBody>
      </p:sp>
      <p:sp>
        <p:nvSpPr>
          <p:cNvPr id="14" name="Rectangle 13"/>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000" y="2603500"/>
            <a:ext cx="24638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AP / PR area</a:t>
            </a:r>
          </a:p>
        </p:txBody>
      </p:sp>
      <p:sp>
        <p:nvSpPr>
          <p:cNvPr id="16" name="TextBox 15"/>
          <p:cNvSpPr txBox="1"/>
          <p:nvPr/>
        </p:nvSpPr>
        <p:spPr>
          <a:xfrm>
            <a:off x="3302000" y="2603500"/>
            <a:ext cx="3733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Precision–recall ranking across score cutoffs</a:t>
            </a:r>
          </a:p>
        </p:txBody>
      </p:sp>
      <p:sp>
        <p:nvSpPr>
          <p:cNvPr id="17" name="TextBox 16"/>
          <p:cNvSpPr txBox="1"/>
          <p:nvPr/>
        </p:nvSpPr>
        <p:spPr>
          <a:xfrm>
            <a:off x="7239000" y="2603500"/>
            <a:ext cx="43180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Higher is better; compare the same labelled cohort</a:t>
            </a:r>
          </a:p>
        </p:txBody>
      </p:sp>
      <p:cxnSp>
        <p:nvCxnSpPr>
          <p:cNvPr id="18" name="Connector 1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3086100"/>
            <a:ext cx="24638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ROC-AUC</a:t>
            </a:r>
          </a:p>
        </p:txBody>
      </p:sp>
      <p:sp>
        <p:nvSpPr>
          <p:cNvPr id="21" name="TextBox 20"/>
          <p:cNvSpPr txBox="1"/>
          <p:nvPr/>
        </p:nvSpPr>
        <p:spPr>
          <a:xfrm>
            <a:off x="3302000" y="3086100"/>
            <a:ext cx="3733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Pairwise positive/negative ranking</a:t>
            </a:r>
          </a:p>
        </p:txBody>
      </p:sp>
      <p:sp>
        <p:nvSpPr>
          <p:cNvPr id="22" name="TextBox 21"/>
          <p:cNvSpPr txBox="1"/>
          <p:nvPr/>
        </p:nvSpPr>
        <p:spPr>
          <a:xfrm>
            <a:off x="7239000" y="3086100"/>
            <a:ext cx="43180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Higher is better; show with AP and prevalence</a:t>
            </a:r>
          </a:p>
        </p:txBody>
      </p:sp>
      <p:cxnSp>
        <p:nvCxnSpPr>
          <p:cNvPr id="23" name="Connector 22"/>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000" y="3568700"/>
            <a:ext cx="24638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Precision / recall / F1</a:t>
            </a:r>
          </a:p>
        </p:txBody>
      </p:sp>
      <p:sp>
        <p:nvSpPr>
          <p:cNvPr id="26" name="TextBox 25"/>
          <p:cNvSpPr txBox="1"/>
          <p:nvPr/>
        </p:nvSpPr>
        <p:spPr>
          <a:xfrm>
            <a:off x="3302000" y="3568700"/>
            <a:ext cx="3733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TP/(TP+FP); TP/P; harmonic mean</a:t>
            </a:r>
          </a:p>
        </p:txBody>
      </p:sp>
      <p:sp>
        <p:nvSpPr>
          <p:cNvPr id="27" name="TextBox 26"/>
          <p:cNvSpPr txBox="1"/>
          <p:nvPr/>
        </p:nvSpPr>
        <p:spPr>
          <a:xfrm>
            <a:off x="7239000" y="3568700"/>
            <a:ext cx="43180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Use a named, frozen cutoff; report confusion counts</a:t>
            </a:r>
          </a:p>
        </p:txBody>
      </p:sp>
      <p:cxnSp>
        <p:nvCxnSpPr>
          <p:cNvPr id="28" name="Connector 2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4051300"/>
            <a:ext cx="24638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FPR / accuracy</a:t>
            </a:r>
          </a:p>
        </p:txBody>
      </p:sp>
      <p:sp>
        <p:nvSpPr>
          <p:cNvPr id="31" name="TextBox 30"/>
          <p:cNvSpPr txBox="1"/>
          <p:nvPr/>
        </p:nvSpPr>
        <p:spPr>
          <a:xfrm>
            <a:off x="3302000" y="4051300"/>
            <a:ext cx="3733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FP/N; (TP+TN)/all</a:t>
            </a:r>
          </a:p>
        </p:txBody>
      </p:sp>
      <p:sp>
        <p:nvSpPr>
          <p:cNvPr id="32" name="TextBox 31"/>
          <p:cNvSpPr txBox="1"/>
          <p:nvPr/>
        </p:nvSpPr>
        <p:spPr>
          <a:xfrm>
            <a:off x="7239000" y="4051300"/>
            <a:ext cx="43180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FPR matters for normal scenes; accuracy can hide</a:t>
            </a:r>
          </a:p>
          <a:p>
            <a:pPr algn="l">
              <a:lnSpc>
                <a:spcPts val="1414"/>
              </a:lnSpc>
              <a:spcBef>
                <a:spcPts val="0"/>
              </a:spcBef>
              <a:spcAft>
                <a:spcPts val="0"/>
              </a:spcAft>
              <a:defRPr sz="1150" b="0">
                <a:solidFill>
                  <a:srgbClr val="142C40"/>
                </a:solidFill>
                <a:latin typeface="DejaVu Sans"/>
              </a:defRPr>
            </a:pPr>
            <a:r>
              <a:t>imbalance</a:t>
            </a:r>
          </a:p>
        </p:txBody>
      </p:sp>
      <p:cxnSp>
        <p:nvCxnSpPr>
          <p:cNvPr id="33" name="Connector 32"/>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000" y="4533900"/>
            <a:ext cx="24638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Raw / dev-max-F1</a:t>
            </a:r>
          </a:p>
        </p:txBody>
      </p:sp>
      <p:sp>
        <p:nvSpPr>
          <p:cNvPr id="36" name="TextBox 35"/>
          <p:cNvSpPr txBox="1"/>
          <p:nvPr/>
        </p:nvSpPr>
        <p:spPr>
          <a:xfrm>
            <a:off x="3302000" y="4533900"/>
            <a:ext cx="3733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Zero margin / best development F1</a:t>
            </a:r>
          </a:p>
        </p:txBody>
      </p:sp>
      <p:sp>
        <p:nvSpPr>
          <p:cNvPr id="37" name="TextBox 36"/>
          <p:cNvSpPr txBox="1"/>
          <p:nvPr/>
        </p:nvSpPr>
        <p:spPr>
          <a:xfrm>
            <a:off x="7239000" y="4533900"/>
            <a:ext cx="43180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No test recalibration; main stage tables use dev-max-F1</a:t>
            </a:r>
          </a:p>
        </p:txBody>
      </p:sp>
      <p:cxnSp>
        <p:nvCxnSpPr>
          <p:cNvPr id="38" name="Connector 3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5016500"/>
            <a:ext cx="24638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Dev FPR budget</a:t>
            </a:r>
          </a:p>
        </p:txBody>
      </p:sp>
      <p:sp>
        <p:nvSpPr>
          <p:cNvPr id="41" name="TextBox 40"/>
          <p:cNvSpPr txBox="1"/>
          <p:nvPr/>
        </p:nvSpPr>
        <p:spPr>
          <a:xfrm>
            <a:off x="3302000" y="5016500"/>
            <a:ext cx="3733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At most 5% empirical development FPR</a:t>
            </a:r>
          </a:p>
        </p:txBody>
      </p:sp>
      <p:sp>
        <p:nvSpPr>
          <p:cNvPr id="42" name="TextBox 41"/>
          <p:cNvSpPr txBox="1"/>
          <p:nvPr/>
        </p:nvSpPr>
        <p:spPr>
          <a:xfrm>
            <a:off x="7239000" y="5016500"/>
            <a:ext cx="43180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Test FPR can exceed 5%; not an alert-per-hour rate</a:t>
            </a:r>
          </a:p>
        </p:txBody>
      </p:sp>
      <p:cxnSp>
        <p:nvCxnSpPr>
          <p:cNvPr id="43" name="Connector 42"/>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AP can rise while FPR becomes unacceptable. A classifier score is not an event probability.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TRAINING / MOBILECLIP AND SIGLIP2</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Linear probing and visual tuning change different</a:t>
            </a:r>
          </a:p>
          <a:p>
            <a:pPr algn="l">
              <a:lnSpc>
                <a:spcPts val="3690"/>
              </a:lnSpc>
              <a:spcBef>
                <a:spcPts val="0"/>
              </a:spcBef>
              <a:spcAft>
                <a:spcPts val="0"/>
              </a:spcAft>
              <a:defRPr sz="3000" b="1">
                <a:solidFill>
                  <a:srgbClr val="142C40"/>
                </a:solidFill>
                <a:latin typeface="DejaVu Sans"/>
              </a:defRPr>
            </a:pPr>
            <a:r>
              <a:t>weights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 primary dataset and development-selection rule • five binary objectives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12</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1955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Setting</a:t>
            </a:r>
          </a:p>
        </p:txBody>
      </p:sp>
      <p:sp>
        <p:nvSpPr>
          <p:cNvPr id="12" name="TextBox 11"/>
          <p:cNvSpPr txBox="1"/>
          <p:nvPr/>
        </p:nvSpPr>
        <p:spPr>
          <a:xfrm>
            <a:off x="2794000" y="2171700"/>
            <a:ext cx="4025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Frozen-feature probe</a:t>
            </a:r>
          </a:p>
        </p:txBody>
      </p:sp>
      <p:sp>
        <p:nvSpPr>
          <p:cNvPr id="13" name="TextBox 12"/>
          <p:cNvSpPr txBox="1"/>
          <p:nvPr/>
        </p:nvSpPr>
        <p:spPr>
          <a:xfrm>
            <a:off x="7023100" y="2171700"/>
            <a:ext cx="4533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Visual fine-tune</a:t>
            </a:r>
          </a:p>
        </p:txBody>
      </p:sp>
      <p:sp>
        <p:nvSpPr>
          <p:cNvPr id="14" name="Rectangle 13"/>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000" y="2603500"/>
            <a:ext cx="19558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Trainable part</a:t>
            </a:r>
          </a:p>
        </p:txBody>
      </p:sp>
      <p:sp>
        <p:nvSpPr>
          <p:cNvPr id="16" name="TextBox 15"/>
          <p:cNvSpPr txBox="1"/>
          <p:nvPr/>
        </p:nvSpPr>
        <p:spPr>
          <a:xfrm>
            <a:off x="2794000" y="2603500"/>
            <a:ext cx="4025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Five logistic-regression classifiers</a:t>
            </a:r>
          </a:p>
        </p:txBody>
      </p:sp>
      <p:sp>
        <p:nvSpPr>
          <p:cNvPr id="17" name="TextBox 16"/>
          <p:cNvSpPr txBox="1"/>
          <p:nvPr/>
        </p:nvSpPr>
        <p:spPr>
          <a:xfrm>
            <a:off x="7023100" y="2603500"/>
            <a:ext cx="4533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Last visual stage/layers plus five heads</a:t>
            </a:r>
          </a:p>
        </p:txBody>
      </p:sp>
      <p:cxnSp>
        <p:nvCxnSpPr>
          <p:cNvPr id="18" name="Connector 1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3086100"/>
            <a:ext cx="19558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Representation</a:t>
            </a:r>
          </a:p>
        </p:txBody>
      </p:sp>
      <p:sp>
        <p:nvSpPr>
          <p:cNvPr id="21" name="TextBox 20"/>
          <p:cNvSpPr txBox="1"/>
          <p:nvPr/>
        </p:nvSpPr>
        <p:spPr>
          <a:xfrm>
            <a:off x="2794000" y="3086100"/>
            <a:ext cx="4025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Normalized last / mean / max / change</a:t>
            </a:r>
          </a:p>
        </p:txBody>
      </p:sp>
      <p:sp>
        <p:nvSpPr>
          <p:cNvPr id="22" name="TextBox 21"/>
          <p:cNvSpPr txBox="1"/>
          <p:nvPr/>
        </p:nvSpPr>
        <p:spPr>
          <a:xfrm>
            <a:off x="7023100" y="3086100"/>
            <a:ext cx="4533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Same pooled representation; learned visual features</a:t>
            </a:r>
          </a:p>
        </p:txBody>
      </p:sp>
      <p:cxnSp>
        <p:nvCxnSpPr>
          <p:cNvPr id="23" name="Connector 22"/>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000" y="3568700"/>
            <a:ext cx="19558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Optimization</a:t>
            </a:r>
          </a:p>
        </p:txBody>
      </p:sp>
      <p:sp>
        <p:nvSpPr>
          <p:cNvPr id="26" name="TextBox 25"/>
          <p:cNvSpPr txBox="1"/>
          <p:nvPr/>
        </p:nvSpPr>
        <p:spPr>
          <a:xfrm>
            <a:off x="2794000" y="3568700"/>
            <a:ext cx="4025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C = 1, 10, 100; at most 2,000 LBFGS steps</a:t>
            </a:r>
          </a:p>
        </p:txBody>
      </p:sp>
      <p:sp>
        <p:nvSpPr>
          <p:cNvPr id="27" name="TextBox 26"/>
          <p:cNvSpPr txBox="1"/>
          <p:nvPr/>
        </p:nvSpPr>
        <p:spPr>
          <a:xfrm>
            <a:off x="7023100" y="3568700"/>
            <a:ext cx="4533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AdamW; visual LR 1e-5 or 3e-5; head LR 3e-4</a:t>
            </a:r>
          </a:p>
        </p:txBody>
      </p:sp>
      <p:cxnSp>
        <p:nvCxnSpPr>
          <p:cNvPr id="28" name="Connector 2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4051300"/>
            <a:ext cx="19558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Regularization</a:t>
            </a:r>
          </a:p>
        </p:txBody>
      </p:sp>
      <p:sp>
        <p:nvSpPr>
          <p:cNvPr id="31" name="TextBox 30"/>
          <p:cNvSpPr txBox="1"/>
          <p:nvPr/>
        </p:nvSpPr>
        <p:spPr>
          <a:xfrm>
            <a:off x="2794000" y="4051300"/>
            <a:ext cx="4025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Task/class/source/group sample weights</a:t>
            </a:r>
          </a:p>
        </p:txBody>
      </p:sp>
      <p:sp>
        <p:nvSpPr>
          <p:cNvPr id="32" name="TextBox 31"/>
          <p:cNvSpPr txBox="1"/>
          <p:nvPr/>
        </p:nvSpPr>
        <p:spPr>
          <a:xfrm>
            <a:off x="7023100" y="4051300"/>
            <a:ext cx="4533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Weight decay .01; dropout .1; clipping 1.0</a:t>
            </a:r>
          </a:p>
        </p:txBody>
      </p:sp>
      <p:cxnSp>
        <p:nvCxnSpPr>
          <p:cNvPr id="33" name="Connector 32"/>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000" y="4533900"/>
            <a:ext cx="19558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Preserve pretraining</a:t>
            </a:r>
          </a:p>
        </p:txBody>
      </p:sp>
      <p:sp>
        <p:nvSpPr>
          <p:cNvPr id="36" name="TextBox 35"/>
          <p:cNvSpPr txBox="1"/>
          <p:nvPr/>
        </p:nvSpPr>
        <p:spPr>
          <a:xfrm>
            <a:off x="2794000" y="4533900"/>
            <a:ext cx="4025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Entire visual encoder frozen</a:t>
            </a:r>
          </a:p>
        </p:txBody>
      </p:sp>
      <p:sp>
        <p:nvSpPr>
          <p:cNvPr id="37" name="TextBox 36"/>
          <p:cNvSpPr txBox="1"/>
          <p:nvPr/>
        </p:nvSpPr>
        <p:spPr>
          <a:xfrm>
            <a:off x="7023100" y="4533900"/>
            <a:ext cx="4533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Feature MSE ×.1; parameter anchor ×.1</a:t>
            </a:r>
          </a:p>
        </p:txBody>
      </p:sp>
      <p:cxnSp>
        <p:nvCxnSpPr>
          <p:cNvPr id="38" name="Connector 3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5016500"/>
            <a:ext cx="19558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Budget / inputs</a:t>
            </a:r>
          </a:p>
        </p:txBody>
      </p:sp>
      <p:sp>
        <p:nvSpPr>
          <p:cNvPr id="41" name="TextBox 40"/>
          <p:cNvSpPr txBox="1"/>
          <p:nvPr/>
        </p:nvSpPr>
        <p:spPr>
          <a:xfrm>
            <a:off x="2794000" y="5016500"/>
            <a:ext cx="4025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C selected on dev macro source AP</a:t>
            </a:r>
          </a:p>
        </p:txBody>
      </p:sp>
      <p:sp>
        <p:nvSpPr>
          <p:cNvPr id="42" name="TextBox 41"/>
          <p:cNvSpPr txBox="1"/>
          <p:nvPr/>
        </p:nvSpPr>
        <p:spPr>
          <a:xfrm>
            <a:off x="7023100" y="5016500"/>
            <a:ext cx="4533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Batch 32; max 10 epochs; patience 3; BF16 train</a:t>
            </a:r>
          </a:p>
        </p:txBody>
      </p:sp>
      <p:cxnSp>
        <p:nvCxnSpPr>
          <p:cNvPr id="43" name="Connector 42"/>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Earlier visual layers, text encoders and batch-normalization statistics remain frozen.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TRAINING / CHANGED PARAMETERS AND CHECKPOINTS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Six actual visual fine-tuning runs were completed</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Primary seed 42; seeds 43 and 44 repeat the selected visual learning rate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13</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146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Encoder</a:t>
            </a:r>
          </a:p>
        </p:txBody>
      </p:sp>
      <p:sp>
        <p:nvSpPr>
          <p:cNvPr id="12" name="TextBox 11"/>
          <p:cNvSpPr txBox="1"/>
          <p:nvPr/>
        </p:nvSpPr>
        <p:spPr>
          <a:xfrm>
            <a:off x="2984500" y="2171700"/>
            <a:ext cx="1765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Visual params</a:t>
            </a:r>
          </a:p>
        </p:txBody>
      </p:sp>
      <p:sp>
        <p:nvSpPr>
          <p:cNvPr id="13" name="TextBox 12"/>
          <p:cNvSpPr txBox="1"/>
          <p:nvPr/>
        </p:nvSpPr>
        <p:spPr>
          <a:xfrm>
            <a:off x="4953000" y="2171700"/>
            <a:ext cx="1574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Head params</a:t>
            </a:r>
          </a:p>
        </p:txBody>
      </p:sp>
      <p:sp>
        <p:nvSpPr>
          <p:cNvPr id="14" name="TextBox 13"/>
          <p:cNvSpPr txBox="1"/>
          <p:nvPr/>
        </p:nvSpPr>
        <p:spPr>
          <a:xfrm>
            <a:off x="6731000" y="2171700"/>
            <a:ext cx="1193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Probe C</a:t>
            </a:r>
          </a:p>
        </p:txBody>
      </p:sp>
      <p:sp>
        <p:nvSpPr>
          <p:cNvPr id="15" name="TextBox 14"/>
          <p:cNvSpPr txBox="1"/>
          <p:nvPr/>
        </p:nvSpPr>
        <p:spPr>
          <a:xfrm>
            <a:off x="8128000" y="2171700"/>
            <a:ext cx="1574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Visual LR</a:t>
            </a:r>
          </a:p>
        </p:txBody>
      </p:sp>
      <p:sp>
        <p:nvSpPr>
          <p:cNvPr id="16" name="TextBox 15"/>
          <p:cNvSpPr txBox="1"/>
          <p:nvPr/>
        </p:nvSpPr>
        <p:spPr>
          <a:xfrm>
            <a:off x="9906000" y="2171700"/>
            <a:ext cx="16510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Best epoch</a:t>
            </a:r>
          </a:p>
        </p:txBody>
      </p:sp>
      <p:sp>
        <p:nvSpPr>
          <p:cNvPr id="17" name="Rectangle 16"/>
          <p:cNvSpPr/>
          <p:nvPr/>
        </p:nvSpPr>
        <p:spPr>
          <a:xfrm>
            <a:off x="533400" y="25654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000" y="2603500"/>
            <a:ext cx="2146300" cy="5588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MobileCLIP</a:t>
            </a:r>
          </a:p>
        </p:txBody>
      </p:sp>
      <p:sp>
        <p:nvSpPr>
          <p:cNvPr id="19" name="TextBox 18"/>
          <p:cNvSpPr txBox="1"/>
          <p:nvPr/>
        </p:nvSpPr>
        <p:spPr>
          <a:xfrm>
            <a:off x="2984500" y="2603500"/>
            <a:ext cx="1765300" cy="5588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18,106,992</a:t>
            </a:r>
          </a:p>
        </p:txBody>
      </p:sp>
      <p:sp>
        <p:nvSpPr>
          <p:cNvPr id="20" name="TextBox 19"/>
          <p:cNvSpPr txBox="1"/>
          <p:nvPr/>
        </p:nvSpPr>
        <p:spPr>
          <a:xfrm>
            <a:off x="4953000" y="2603500"/>
            <a:ext cx="1574800" cy="5588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10,245</a:t>
            </a:r>
          </a:p>
        </p:txBody>
      </p:sp>
      <p:sp>
        <p:nvSpPr>
          <p:cNvPr id="21" name="TextBox 20"/>
          <p:cNvSpPr txBox="1"/>
          <p:nvPr/>
        </p:nvSpPr>
        <p:spPr>
          <a:xfrm>
            <a:off x="6731000" y="2603500"/>
            <a:ext cx="1193800" cy="5588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10.0</a:t>
            </a:r>
          </a:p>
        </p:txBody>
      </p:sp>
      <p:sp>
        <p:nvSpPr>
          <p:cNvPr id="22" name="TextBox 21"/>
          <p:cNvSpPr txBox="1"/>
          <p:nvPr/>
        </p:nvSpPr>
        <p:spPr>
          <a:xfrm>
            <a:off x="8128000" y="2603500"/>
            <a:ext cx="1574800" cy="5588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3e-05</a:t>
            </a:r>
          </a:p>
        </p:txBody>
      </p:sp>
      <p:sp>
        <p:nvSpPr>
          <p:cNvPr id="23" name="TextBox 22"/>
          <p:cNvSpPr txBox="1"/>
          <p:nvPr/>
        </p:nvSpPr>
        <p:spPr>
          <a:xfrm>
            <a:off x="9906000" y="2603500"/>
            <a:ext cx="1651000" cy="5588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a:t>
            </a:r>
          </a:p>
        </p:txBody>
      </p:sp>
      <p:cxnSp>
        <p:nvCxnSpPr>
          <p:cNvPr id="24" name="Connector 23"/>
          <p:cNvCxnSpPr/>
          <p:nvPr/>
        </p:nvCxnSpPr>
        <p:spPr>
          <a:xfrm>
            <a:off x="533400" y="3200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33400" y="32004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000" y="3238500"/>
            <a:ext cx="2146300" cy="5588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SigLIP2</a:t>
            </a:r>
          </a:p>
        </p:txBody>
      </p:sp>
      <p:sp>
        <p:nvSpPr>
          <p:cNvPr id="27" name="TextBox 26"/>
          <p:cNvSpPr txBox="1"/>
          <p:nvPr/>
        </p:nvSpPr>
        <p:spPr>
          <a:xfrm>
            <a:off x="2984500" y="3238500"/>
            <a:ext cx="1765300" cy="5588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14,176,512</a:t>
            </a:r>
          </a:p>
        </p:txBody>
      </p:sp>
      <p:sp>
        <p:nvSpPr>
          <p:cNvPr id="28" name="TextBox 27"/>
          <p:cNvSpPr txBox="1"/>
          <p:nvPr/>
        </p:nvSpPr>
        <p:spPr>
          <a:xfrm>
            <a:off x="4953000" y="3238500"/>
            <a:ext cx="1574800" cy="5588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15,365</a:t>
            </a:r>
          </a:p>
        </p:txBody>
      </p:sp>
      <p:sp>
        <p:nvSpPr>
          <p:cNvPr id="29" name="TextBox 28"/>
          <p:cNvSpPr txBox="1"/>
          <p:nvPr/>
        </p:nvSpPr>
        <p:spPr>
          <a:xfrm>
            <a:off x="6731000" y="3238500"/>
            <a:ext cx="1193800" cy="5588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100.0</a:t>
            </a:r>
          </a:p>
        </p:txBody>
      </p:sp>
      <p:sp>
        <p:nvSpPr>
          <p:cNvPr id="30" name="TextBox 29"/>
          <p:cNvSpPr txBox="1"/>
          <p:nvPr/>
        </p:nvSpPr>
        <p:spPr>
          <a:xfrm>
            <a:off x="8128000" y="3238500"/>
            <a:ext cx="1574800" cy="5588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3e-05</a:t>
            </a:r>
          </a:p>
        </p:txBody>
      </p:sp>
      <p:sp>
        <p:nvSpPr>
          <p:cNvPr id="31" name="TextBox 30"/>
          <p:cNvSpPr txBox="1"/>
          <p:nvPr/>
        </p:nvSpPr>
        <p:spPr>
          <a:xfrm>
            <a:off x="9906000" y="3238500"/>
            <a:ext cx="1651000" cy="5588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2</a:t>
            </a:r>
          </a:p>
        </p:txBody>
      </p:sp>
      <p:cxnSp>
        <p:nvCxnSpPr>
          <p:cNvPr id="32" name="Connector 31"/>
          <p:cNvCxnSpPr/>
          <p:nvPr/>
        </p:nvCxnSpPr>
        <p:spPr>
          <a:xfrm>
            <a:off x="533400" y="3835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Primary MobileCLIP chooses epoch 3; SigLIP chooses epoch 2. Later epochs do not replace them on 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MATCHED TRAINING STAGES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MobileCLIP: every training stage on the same</a:t>
            </a:r>
          </a:p>
          <a:p>
            <a:pPr algn="l">
              <a:lnSpc>
                <a:spcPts val="3690"/>
              </a:lnSpc>
              <a:spcBef>
                <a:spcPts val="0"/>
              </a:spcBef>
              <a:spcAft>
                <a:spcPts val="0"/>
              </a:spcAft>
              <a:defRPr sz="3000" b="1">
                <a:solidFill>
                  <a:srgbClr val="142C40"/>
                </a:solidFill>
                <a:latin typeface="DejaVu Sans"/>
              </a:defRPr>
            </a:pPr>
            <a:r>
              <a:t>holdout</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15–16 Oct study • primary seed 42 • AP by target; selected routes are reported separately</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14</a:t>
            </a:r>
          </a:p>
        </p:txBody>
      </p:sp>
      <p:sp>
        <p:nvSpPr>
          <p:cNvPr id="10" name="Rectangle 9"/>
          <p:cNvSpPr/>
          <p:nvPr/>
        </p:nvSpPr>
        <p:spPr>
          <a:xfrm>
            <a:off x="2603500" y="2032000"/>
            <a:ext cx="177800" cy="127000"/>
          </a:xfrm>
          <a:prstGeom prst="rect">
            <a:avLst/>
          </a:prstGeom>
          <a:solidFill>
            <a:srgbClr val="5264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7500" y="1968500"/>
            <a:ext cx="2286000" cy="3175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Zero-shot</a:t>
            </a:r>
          </a:p>
        </p:txBody>
      </p:sp>
      <p:sp>
        <p:nvSpPr>
          <p:cNvPr id="12" name="Rectangle 11"/>
          <p:cNvSpPr/>
          <p:nvPr/>
        </p:nvSpPr>
        <p:spPr>
          <a:xfrm>
            <a:off x="5334000" y="2032000"/>
            <a:ext cx="177800" cy="1270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88000" y="1968500"/>
            <a:ext cx="2286000" cy="3175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Linear probe</a:t>
            </a:r>
          </a:p>
        </p:txBody>
      </p:sp>
      <p:sp>
        <p:nvSpPr>
          <p:cNvPr id="14" name="Rectangle 13"/>
          <p:cNvSpPr/>
          <p:nvPr/>
        </p:nvSpPr>
        <p:spPr>
          <a:xfrm>
            <a:off x="8382000" y="2032000"/>
            <a:ext cx="177800" cy="1270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6000" y="1968500"/>
            <a:ext cx="2286000" cy="3175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Visual tune</a:t>
            </a:r>
          </a:p>
        </p:txBody>
      </p:sp>
      <p:sp>
        <p:nvSpPr>
          <p:cNvPr id="16" name="TextBox 15"/>
          <p:cNvSpPr txBox="1"/>
          <p:nvPr/>
        </p:nvSpPr>
        <p:spPr>
          <a:xfrm>
            <a:off x="533400" y="2514600"/>
            <a:ext cx="2222500" cy="4318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 / CCTV</a:t>
            </a:r>
          </a:p>
        </p:txBody>
      </p:sp>
      <p:sp>
        <p:nvSpPr>
          <p:cNvPr id="17" name="Rectangle 16"/>
          <p:cNvSpPr/>
          <p:nvPr/>
        </p:nvSpPr>
        <p:spPr>
          <a:xfrm>
            <a:off x="2857500" y="2463800"/>
            <a:ext cx="4807055" cy="88900"/>
          </a:xfrm>
          <a:prstGeom prst="rect">
            <a:avLst/>
          </a:prstGeom>
          <a:solidFill>
            <a:srgbClr val="5264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40755" y="24257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0.642</a:t>
            </a:r>
          </a:p>
        </p:txBody>
      </p:sp>
      <p:sp>
        <p:nvSpPr>
          <p:cNvPr id="19" name="Rectangle 18"/>
          <p:cNvSpPr/>
          <p:nvPr/>
        </p:nvSpPr>
        <p:spPr>
          <a:xfrm>
            <a:off x="2857500" y="2590800"/>
            <a:ext cx="4448960" cy="88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82660" y="25527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0.594</a:t>
            </a:r>
          </a:p>
        </p:txBody>
      </p:sp>
      <p:sp>
        <p:nvSpPr>
          <p:cNvPr id="21" name="Rectangle 20"/>
          <p:cNvSpPr/>
          <p:nvPr/>
        </p:nvSpPr>
        <p:spPr>
          <a:xfrm>
            <a:off x="2857500" y="2717800"/>
            <a:ext cx="4224458" cy="88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58158" y="26797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0.564</a:t>
            </a:r>
          </a:p>
        </p:txBody>
      </p:sp>
      <p:sp>
        <p:nvSpPr>
          <p:cNvPr id="23" name="TextBox 22"/>
          <p:cNvSpPr txBox="1"/>
          <p:nvPr/>
        </p:nvSpPr>
        <p:spPr>
          <a:xfrm>
            <a:off x="533400" y="3073400"/>
            <a:ext cx="2222500" cy="4318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Littering / IWDD</a:t>
            </a:r>
          </a:p>
        </p:txBody>
      </p:sp>
      <p:sp>
        <p:nvSpPr>
          <p:cNvPr id="24" name="Rectangle 23"/>
          <p:cNvSpPr/>
          <p:nvPr/>
        </p:nvSpPr>
        <p:spPr>
          <a:xfrm>
            <a:off x="2857500" y="3022600"/>
            <a:ext cx="3177483" cy="88900"/>
          </a:xfrm>
          <a:prstGeom prst="rect">
            <a:avLst/>
          </a:prstGeom>
          <a:solidFill>
            <a:srgbClr val="5264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11183" y="29845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0.424</a:t>
            </a:r>
          </a:p>
        </p:txBody>
      </p:sp>
      <p:sp>
        <p:nvSpPr>
          <p:cNvPr id="26" name="Rectangle 25"/>
          <p:cNvSpPr/>
          <p:nvPr/>
        </p:nvSpPr>
        <p:spPr>
          <a:xfrm>
            <a:off x="2857500" y="3149600"/>
            <a:ext cx="6455012" cy="88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88712" y="31115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0.861</a:t>
            </a:r>
          </a:p>
        </p:txBody>
      </p:sp>
      <p:sp>
        <p:nvSpPr>
          <p:cNvPr id="28" name="Rectangle 27"/>
          <p:cNvSpPr/>
          <p:nvPr/>
        </p:nvSpPr>
        <p:spPr>
          <a:xfrm>
            <a:off x="2857500" y="3276600"/>
            <a:ext cx="6428306" cy="88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62006" y="32385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0.858</a:t>
            </a:r>
          </a:p>
        </p:txBody>
      </p:sp>
      <p:sp>
        <p:nvSpPr>
          <p:cNvPr id="30" name="TextBox 29"/>
          <p:cNvSpPr txBox="1"/>
          <p:nvPr/>
        </p:nvSpPr>
        <p:spPr>
          <a:xfrm>
            <a:off x="533400" y="3632200"/>
            <a:ext cx="2222500" cy="4318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Loitering</a:t>
            </a:r>
          </a:p>
        </p:txBody>
      </p:sp>
      <p:sp>
        <p:nvSpPr>
          <p:cNvPr id="31" name="Rectangle 30"/>
          <p:cNvSpPr/>
          <p:nvPr/>
        </p:nvSpPr>
        <p:spPr>
          <a:xfrm>
            <a:off x="2857500" y="3581400"/>
            <a:ext cx="2397701" cy="88900"/>
          </a:xfrm>
          <a:prstGeom prst="rect">
            <a:avLst/>
          </a:prstGeom>
          <a:solidFill>
            <a:srgbClr val="5264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31401" y="35433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0.320</a:t>
            </a:r>
          </a:p>
        </p:txBody>
      </p:sp>
      <p:sp>
        <p:nvSpPr>
          <p:cNvPr id="33" name="Rectangle 32"/>
          <p:cNvSpPr/>
          <p:nvPr/>
        </p:nvSpPr>
        <p:spPr>
          <a:xfrm>
            <a:off x="2857500" y="3708400"/>
            <a:ext cx="847800" cy="88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81500" y="36703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0.113</a:t>
            </a:r>
          </a:p>
        </p:txBody>
      </p:sp>
      <p:sp>
        <p:nvSpPr>
          <p:cNvPr id="35" name="Rectangle 34"/>
          <p:cNvSpPr/>
          <p:nvPr/>
        </p:nvSpPr>
        <p:spPr>
          <a:xfrm>
            <a:off x="2857500" y="3835400"/>
            <a:ext cx="697860" cy="88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31560" y="37973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0.093</a:t>
            </a:r>
          </a:p>
        </p:txBody>
      </p:sp>
      <p:sp>
        <p:nvSpPr>
          <p:cNvPr id="37" name="TextBox 36"/>
          <p:cNvSpPr txBox="1"/>
          <p:nvPr/>
        </p:nvSpPr>
        <p:spPr>
          <a:xfrm>
            <a:off x="533400" y="4191000"/>
            <a:ext cx="2222500" cy="4318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Public sleep</a:t>
            </a:r>
          </a:p>
        </p:txBody>
      </p:sp>
      <p:sp>
        <p:nvSpPr>
          <p:cNvPr id="38" name="Rectangle 37"/>
          <p:cNvSpPr/>
          <p:nvPr/>
        </p:nvSpPr>
        <p:spPr>
          <a:xfrm>
            <a:off x="2857500" y="4140200"/>
            <a:ext cx="3763529" cy="88900"/>
          </a:xfrm>
          <a:prstGeom prst="rect">
            <a:avLst/>
          </a:prstGeom>
          <a:solidFill>
            <a:srgbClr val="5264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97229" y="41021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0.502</a:t>
            </a:r>
          </a:p>
        </p:txBody>
      </p:sp>
      <p:sp>
        <p:nvSpPr>
          <p:cNvPr id="40" name="Rectangle 39"/>
          <p:cNvSpPr/>
          <p:nvPr/>
        </p:nvSpPr>
        <p:spPr>
          <a:xfrm>
            <a:off x="2857500" y="4267200"/>
            <a:ext cx="7314595" cy="88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48295" y="42291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0.976</a:t>
            </a:r>
          </a:p>
        </p:txBody>
      </p:sp>
      <p:sp>
        <p:nvSpPr>
          <p:cNvPr id="42" name="Rectangle 41"/>
          <p:cNvSpPr/>
          <p:nvPr/>
        </p:nvSpPr>
        <p:spPr>
          <a:xfrm>
            <a:off x="2857500" y="4394200"/>
            <a:ext cx="7314595" cy="88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48295" y="43561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0.976</a:t>
            </a:r>
          </a:p>
        </p:txBody>
      </p:sp>
      <p:sp>
        <p:nvSpPr>
          <p:cNvPr id="44" name="TextBox 43"/>
          <p:cNvSpPr txBox="1"/>
          <p:nvPr/>
        </p:nvSpPr>
        <p:spPr>
          <a:xfrm>
            <a:off x="533400" y="4749800"/>
            <a:ext cx="2222500" cy="4318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Unattended</a:t>
            </a:r>
          </a:p>
        </p:txBody>
      </p:sp>
      <p:sp>
        <p:nvSpPr>
          <p:cNvPr id="45" name="Rectangle 44"/>
          <p:cNvSpPr/>
          <p:nvPr/>
        </p:nvSpPr>
        <p:spPr>
          <a:xfrm>
            <a:off x="2857500" y="4699000"/>
            <a:ext cx="1562448" cy="88900"/>
          </a:xfrm>
          <a:prstGeom prst="rect">
            <a:avLst/>
          </a:prstGeom>
          <a:solidFill>
            <a:srgbClr val="5264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96148" y="46609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0.209</a:t>
            </a:r>
          </a:p>
        </p:txBody>
      </p:sp>
      <p:sp>
        <p:nvSpPr>
          <p:cNvPr id="47" name="Rectangle 46"/>
          <p:cNvSpPr/>
          <p:nvPr/>
        </p:nvSpPr>
        <p:spPr>
          <a:xfrm>
            <a:off x="2857500" y="4826000"/>
            <a:ext cx="2702040" cy="88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35740" y="47879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0.361</a:t>
            </a:r>
          </a:p>
        </p:txBody>
      </p:sp>
      <p:sp>
        <p:nvSpPr>
          <p:cNvPr id="49" name="Rectangle 48"/>
          <p:cNvSpPr/>
          <p:nvPr/>
        </p:nvSpPr>
        <p:spPr>
          <a:xfrm>
            <a:off x="2857500" y="4953000"/>
            <a:ext cx="4884699" cy="88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18399" y="49149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0.652</a:t>
            </a:r>
          </a:p>
        </p:txBody>
      </p:sp>
      <p:sp>
        <p:nvSpPr>
          <p:cNvPr id="51" name="Rectangle 50"/>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Training improves several rankings; smoking transfer and loitering remain inconsistent.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MATCHED TRAINING STAGES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SigLIP2: every training stage on the same holdout</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15–16 Oct study • primary seed 42 • AP by target; selected routes are reported separately</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15</a:t>
            </a:r>
          </a:p>
        </p:txBody>
      </p:sp>
      <p:sp>
        <p:nvSpPr>
          <p:cNvPr id="10" name="Rectangle 9"/>
          <p:cNvSpPr/>
          <p:nvPr/>
        </p:nvSpPr>
        <p:spPr>
          <a:xfrm>
            <a:off x="2603500" y="2032000"/>
            <a:ext cx="177800" cy="127000"/>
          </a:xfrm>
          <a:prstGeom prst="rect">
            <a:avLst/>
          </a:prstGeom>
          <a:solidFill>
            <a:srgbClr val="5264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7500" y="1968500"/>
            <a:ext cx="2286000" cy="3175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Zero-shot</a:t>
            </a:r>
          </a:p>
        </p:txBody>
      </p:sp>
      <p:sp>
        <p:nvSpPr>
          <p:cNvPr id="12" name="Rectangle 11"/>
          <p:cNvSpPr/>
          <p:nvPr/>
        </p:nvSpPr>
        <p:spPr>
          <a:xfrm>
            <a:off x="5334000" y="2032000"/>
            <a:ext cx="177800" cy="1270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88000" y="1968500"/>
            <a:ext cx="2286000" cy="3175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Linear probe</a:t>
            </a:r>
          </a:p>
        </p:txBody>
      </p:sp>
      <p:sp>
        <p:nvSpPr>
          <p:cNvPr id="14" name="Rectangle 13"/>
          <p:cNvSpPr/>
          <p:nvPr/>
        </p:nvSpPr>
        <p:spPr>
          <a:xfrm>
            <a:off x="8382000" y="2032000"/>
            <a:ext cx="177800" cy="1270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6000" y="1968500"/>
            <a:ext cx="2286000" cy="3175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Visual tune</a:t>
            </a:r>
          </a:p>
        </p:txBody>
      </p:sp>
      <p:sp>
        <p:nvSpPr>
          <p:cNvPr id="16" name="TextBox 15"/>
          <p:cNvSpPr txBox="1"/>
          <p:nvPr/>
        </p:nvSpPr>
        <p:spPr>
          <a:xfrm>
            <a:off x="533400" y="2514600"/>
            <a:ext cx="2222500" cy="4318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 / CCTV</a:t>
            </a:r>
          </a:p>
        </p:txBody>
      </p:sp>
      <p:sp>
        <p:nvSpPr>
          <p:cNvPr id="17" name="Rectangle 16"/>
          <p:cNvSpPr/>
          <p:nvPr/>
        </p:nvSpPr>
        <p:spPr>
          <a:xfrm>
            <a:off x="2857500" y="2463800"/>
            <a:ext cx="5012741" cy="88900"/>
          </a:xfrm>
          <a:prstGeom prst="rect">
            <a:avLst/>
          </a:prstGeom>
          <a:solidFill>
            <a:srgbClr val="5264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46441" y="24257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0.669</a:t>
            </a:r>
          </a:p>
        </p:txBody>
      </p:sp>
      <p:sp>
        <p:nvSpPr>
          <p:cNvPr id="19" name="Rectangle 18"/>
          <p:cNvSpPr/>
          <p:nvPr/>
        </p:nvSpPr>
        <p:spPr>
          <a:xfrm>
            <a:off x="2857500" y="2590800"/>
            <a:ext cx="5018956" cy="88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2656" y="25527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0.670</a:t>
            </a:r>
          </a:p>
        </p:txBody>
      </p:sp>
      <p:sp>
        <p:nvSpPr>
          <p:cNvPr id="21" name="Rectangle 20"/>
          <p:cNvSpPr/>
          <p:nvPr/>
        </p:nvSpPr>
        <p:spPr>
          <a:xfrm>
            <a:off x="2857500" y="2717800"/>
            <a:ext cx="4871754" cy="88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05454" y="26797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0.650</a:t>
            </a:r>
          </a:p>
        </p:txBody>
      </p:sp>
      <p:sp>
        <p:nvSpPr>
          <p:cNvPr id="23" name="TextBox 22"/>
          <p:cNvSpPr txBox="1"/>
          <p:nvPr/>
        </p:nvSpPr>
        <p:spPr>
          <a:xfrm>
            <a:off x="533400" y="3073400"/>
            <a:ext cx="2222500" cy="4318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Littering / IWDD</a:t>
            </a:r>
          </a:p>
        </p:txBody>
      </p:sp>
      <p:sp>
        <p:nvSpPr>
          <p:cNvPr id="24" name="Rectangle 23"/>
          <p:cNvSpPr/>
          <p:nvPr/>
        </p:nvSpPr>
        <p:spPr>
          <a:xfrm>
            <a:off x="2857500" y="3022600"/>
            <a:ext cx="3735358" cy="88900"/>
          </a:xfrm>
          <a:prstGeom prst="rect">
            <a:avLst/>
          </a:prstGeom>
          <a:solidFill>
            <a:srgbClr val="5264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69058" y="29845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0.499</a:t>
            </a:r>
          </a:p>
        </p:txBody>
      </p:sp>
      <p:sp>
        <p:nvSpPr>
          <p:cNvPr id="26" name="Rectangle 25"/>
          <p:cNvSpPr/>
          <p:nvPr/>
        </p:nvSpPr>
        <p:spPr>
          <a:xfrm>
            <a:off x="2857500" y="3149600"/>
            <a:ext cx="6632829" cy="88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66529" y="31115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0.885</a:t>
            </a:r>
          </a:p>
        </p:txBody>
      </p:sp>
      <p:sp>
        <p:nvSpPr>
          <p:cNvPr id="28" name="Rectangle 27"/>
          <p:cNvSpPr/>
          <p:nvPr/>
        </p:nvSpPr>
        <p:spPr>
          <a:xfrm>
            <a:off x="2857500" y="3276600"/>
            <a:ext cx="6474832" cy="88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08532" y="32385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0.864</a:t>
            </a:r>
          </a:p>
        </p:txBody>
      </p:sp>
      <p:sp>
        <p:nvSpPr>
          <p:cNvPr id="30" name="TextBox 29"/>
          <p:cNvSpPr txBox="1"/>
          <p:nvPr/>
        </p:nvSpPr>
        <p:spPr>
          <a:xfrm>
            <a:off x="533400" y="3632200"/>
            <a:ext cx="2222500" cy="4318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Loitering</a:t>
            </a:r>
          </a:p>
        </p:txBody>
      </p:sp>
      <p:sp>
        <p:nvSpPr>
          <p:cNvPr id="31" name="Rectangle 30"/>
          <p:cNvSpPr/>
          <p:nvPr/>
        </p:nvSpPr>
        <p:spPr>
          <a:xfrm>
            <a:off x="2857500" y="3581400"/>
            <a:ext cx="728363" cy="88900"/>
          </a:xfrm>
          <a:prstGeom prst="rect">
            <a:avLst/>
          </a:prstGeom>
          <a:solidFill>
            <a:srgbClr val="5264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62063" y="35433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0.097</a:t>
            </a:r>
          </a:p>
        </p:txBody>
      </p:sp>
      <p:sp>
        <p:nvSpPr>
          <p:cNvPr id="33" name="Rectangle 32"/>
          <p:cNvSpPr/>
          <p:nvPr/>
        </p:nvSpPr>
        <p:spPr>
          <a:xfrm>
            <a:off x="2857500" y="3708400"/>
            <a:ext cx="804537" cy="88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38237" y="36703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0.107</a:t>
            </a:r>
          </a:p>
        </p:txBody>
      </p:sp>
      <p:sp>
        <p:nvSpPr>
          <p:cNvPr id="35" name="Rectangle 34"/>
          <p:cNvSpPr/>
          <p:nvPr/>
        </p:nvSpPr>
        <p:spPr>
          <a:xfrm>
            <a:off x="2857500" y="3835400"/>
            <a:ext cx="827073" cy="88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0773" y="37973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0.110</a:t>
            </a:r>
          </a:p>
        </p:txBody>
      </p:sp>
      <p:sp>
        <p:nvSpPr>
          <p:cNvPr id="37" name="TextBox 36"/>
          <p:cNvSpPr txBox="1"/>
          <p:nvPr/>
        </p:nvSpPr>
        <p:spPr>
          <a:xfrm>
            <a:off x="533400" y="4191000"/>
            <a:ext cx="2222500" cy="4318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Public sleep</a:t>
            </a:r>
          </a:p>
        </p:txBody>
      </p:sp>
      <p:sp>
        <p:nvSpPr>
          <p:cNvPr id="38" name="Rectangle 37"/>
          <p:cNvSpPr/>
          <p:nvPr/>
        </p:nvSpPr>
        <p:spPr>
          <a:xfrm>
            <a:off x="2857500" y="4140200"/>
            <a:ext cx="5488919" cy="88900"/>
          </a:xfrm>
          <a:prstGeom prst="rect">
            <a:avLst/>
          </a:prstGeom>
          <a:solidFill>
            <a:srgbClr val="5264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22619" y="41021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0.733</a:t>
            </a:r>
          </a:p>
        </p:txBody>
      </p:sp>
      <p:sp>
        <p:nvSpPr>
          <p:cNvPr id="40" name="Rectangle 39"/>
          <p:cNvSpPr/>
          <p:nvPr/>
        </p:nvSpPr>
        <p:spPr>
          <a:xfrm>
            <a:off x="2857500" y="4267200"/>
            <a:ext cx="6856689" cy="88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90389" y="42291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0.915</a:t>
            </a:r>
          </a:p>
        </p:txBody>
      </p:sp>
      <p:sp>
        <p:nvSpPr>
          <p:cNvPr id="42" name="Rectangle 41"/>
          <p:cNvSpPr/>
          <p:nvPr/>
        </p:nvSpPr>
        <p:spPr>
          <a:xfrm>
            <a:off x="2857500" y="4394200"/>
            <a:ext cx="7314595" cy="88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48295" y="43561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0.976</a:t>
            </a:r>
          </a:p>
        </p:txBody>
      </p:sp>
      <p:sp>
        <p:nvSpPr>
          <p:cNvPr id="44" name="TextBox 43"/>
          <p:cNvSpPr txBox="1"/>
          <p:nvPr/>
        </p:nvSpPr>
        <p:spPr>
          <a:xfrm>
            <a:off x="533400" y="4749800"/>
            <a:ext cx="2222500" cy="4318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Unattended</a:t>
            </a:r>
          </a:p>
        </p:txBody>
      </p:sp>
      <p:sp>
        <p:nvSpPr>
          <p:cNvPr id="45" name="Rectangle 44"/>
          <p:cNvSpPr/>
          <p:nvPr/>
        </p:nvSpPr>
        <p:spPr>
          <a:xfrm>
            <a:off x="2857500" y="4699000"/>
            <a:ext cx="2318710" cy="88900"/>
          </a:xfrm>
          <a:prstGeom prst="rect">
            <a:avLst/>
          </a:prstGeom>
          <a:solidFill>
            <a:srgbClr val="5264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252410" y="46609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0.309</a:t>
            </a:r>
          </a:p>
        </p:txBody>
      </p:sp>
      <p:sp>
        <p:nvSpPr>
          <p:cNvPr id="47" name="Rectangle 46"/>
          <p:cNvSpPr/>
          <p:nvPr/>
        </p:nvSpPr>
        <p:spPr>
          <a:xfrm>
            <a:off x="2857500" y="4826000"/>
            <a:ext cx="6408643" cy="88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42343" y="47879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0.855</a:t>
            </a:r>
          </a:p>
        </p:txBody>
      </p:sp>
      <p:sp>
        <p:nvSpPr>
          <p:cNvPr id="49" name="Rectangle 48"/>
          <p:cNvSpPr/>
          <p:nvPr/>
        </p:nvSpPr>
        <p:spPr>
          <a:xfrm>
            <a:off x="2857500" y="4953000"/>
            <a:ext cx="6715971" cy="88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49671" y="4914900"/>
            <a:ext cx="889000" cy="165100"/>
          </a:xfrm>
          <a:prstGeom prst="rect">
            <a:avLst/>
          </a:prstGeom>
          <a:noFill/>
        </p:spPr>
        <p:txBody>
          <a:bodyPr wrap="none" lIns="0" rIns="0" tIns="0" bIns="0" anchor="t">
            <a:spAutoFit/>
          </a:bodyPr>
          <a:lstStyle/>
          <a:p>
            <a:pPr algn="l">
              <a:lnSpc>
                <a:spcPts val="1107"/>
              </a:lnSpc>
              <a:spcBef>
                <a:spcPts val="0"/>
              </a:spcBef>
              <a:spcAft>
                <a:spcPts val="0"/>
              </a:spcAft>
              <a:defRPr sz="900" b="0">
                <a:solidFill>
                  <a:srgbClr val="142C40"/>
                </a:solidFill>
                <a:latin typeface="DejaVu Sans"/>
              </a:defRPr>
            </a:pPr>
            <a:r>
              <a:t>0.896</a:t>
            </a:r>
          </a:p>
        </p:txBody>
      </p:sp>
      <p:sp>
        <p:nvSpPr>
          <p:cNvPr id="51" name="Rectangle 50"/>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Training improves several rankings; smoking transfer and loitering remain inconsistent.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Smoking / CCTV: zero-shot → probe → visual tune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 held-out cohort: n=646; positives=393; negatives=253 • dev-max-F1 cutoffs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16</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21" name="TextBox 20"/>
          <p:cNvSpPr txBox="1"/>
          <p:nvPr/>
        </p:nvSpPr>
        <p:spPr>
          <a:xfrm>
            <a:off x="2844800" y="2603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Zero-shot</a:t>
            </a:r>
          </a:p>
        </p:txBody>
      </p:sp>
      <p:sp>
        <p:nvSpPr>
          <p:cNvPr id="22" name="TextBox 21"/>
          <p:cNvSpPr txBox="1"/>
          <p:nvPr/>
        </p:nvSpPr>
        <p:spPr>
          <a:xfrm>
            <a:off x="4419600" y="2603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0.642</a:t>
            </a:r>
          </a:p>
        </p:txBody>
      </p:sp>
      <p:sp>
        <p:nvSpPr>
          <p:cNvPr id="23" name="TextBox 22"/>
          <p:cNvSpPr txBox="1"/>
          <p:nvPr/>
        </p:nvSpPr>
        <p:spPr>
          <a:xfrm>
            <a:off x="5486400" y="2603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0.543</a:t>
            </a:r>
          </a:p>
        </p:txBody>
      </p:sp>
      <p:sp>
        <p:nvSpPr>
          <p:cNvPr id="24" name="TextBox 23"/>
          <p:cNvSpPr txBox="1"/>
          <p:nvPr/>
        </p:nvSpPr>
        <p:spPr>
          <a:xfrm>
            <a:off x="6819900" y="2603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0.749</a:t>
            </a:r>
          </a:p>
        </p:txBody>
      </p:sp>
      <p:sp>
        <p:nvSpPr>
          <p:cNvPr id="25" name="TextBox 24"/>
          <p:cNvSpPr txBox="1"/>
          <p:nvPr/>
        </p:nvSpPr>
        <p:spPr>
          <a:xfrm>
            <a:off x="78359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60.6%</a:t>
            </a:r>
          </a:p>
        </p:txBody>
      </p:sp>
      <p:sp>
        <p:nvSpPr>
          <p:cNvPr id="26" name="TextBox 25"/>
          <p:cNvSpPr txBox="1"/>
          <p:nvPr/>
        </p:nvSpPr>
        <p:spPr>
          <a:xfrm>
            <a:off x="91440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98.0%</a:t>
            </a:r>
          </a:p>
        </p:txBody>
      </p:sp>
      <p:sp>
        <p:nvSpPr>
          <p:cNvPr id="27" name="TextBox 26"/>
          <p:cNvSpPr txBox="1"/>
          <p:nvPr/>
        </p:nvSpPr>
        <p:spPr>
          <a:xfrm>
            <a:off x="104521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98.8%</a:t>
            </a:r>
          </a:p>
        </p:txBody>
      </p:sp>
      <p:cxnSp>
        <p:nvCxnSpPr>
          <p:cNvPr id="28" name="Connector 2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0861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31" name="TextBox 30"/>
          <p:cNvSpPr txBox="1"/>
          <p:nvPr/>
        </p:nvSpPr>
        <p:spPr>
          <a:xfrm>
            <a:off x="2844800" y="30861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Linear probe</a:t>
            </a:r>
          </a:p>
        </p:txBody>
      </p:sp>
      <p:sp>
        <p:nvSpPr>
          <p:cNvPr id="32" name="TextBox 31"/>
          <p:cNvSpPr txBox="1"/>
          <p:nvPr/>
        </p:nvSpPr>
        <p:spPr>
          <a:xfrm>
            <a:off x="4419600" y="30861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0.594</a:t>
            </a:r>
          </a:p>
        </p:txBody>
      </p:sp>
      <p:sp>
        <p:nvSpPr>
          <p:cNvPr id="33" name="TextBox 32"/>
          <p:cNvSpPr txBox="1"/>
          <p:nvPr/>
        </p:nvSpPr>
        <p:spPr>
          <a:xfrm>
            <a:off x="5486400" y="30861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0.499</a:t>
            </a:r>
          </a:p>
        </p:txBody>
      </p:sp>
      <p:sp>
        <p:nvSpPr>
          <p:cNvPr id="34" name="TextBox 33"/>
          <p:cNvSpPr txBox="1"/>
          <p:nvPr/>
        </p:nvSpPr>
        <p:spPr>
          <a:xfrm>
            <a:off x="6819900" y="30861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0.752</a:t>
            </a:r>
          </a:p>
        </p:txBody>
      </p:sp>
      <p:sp>
        <p:nvSpPr>
          <p:cNvPr id="35" name="TextBox 34"/>
          <p:cNvSpPr txBox="1"/>
          <p:nvPr/>
        </p:nvSpPr>
        <p:spPr>
          <a:xfrm>
            <a:off x="78359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61.0%</a:t>
            </a:r>
          </a:p>
        </p:txBody>
      </p:sp>
      <p:sp>
        <p:nvSpPr>
          <p:cNvPr id="36" name="TextBox 35"/>
          <p:cNvSpPr txBox="1"/>
          <p:nvPr/>
        </p:nvSpPr>
        <p:spPr>
          <a:xfrm>
            <a:off x="91440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98.0%</a:t>
            </a:r>
          </a:p>
        </p:txBody>
      </p:sp>
      <p:sp>
        <p:nvSpPr>
          <p:cNvPr id="37" name="TextBox 36"/>
          <p:cNvSpPr txBox="1"/>
          <p:nvPr/>
        </p:nvSpPr>
        <p:spPr>
          <a:xfrm>
            <a:off x="104521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97.2%</a:t>
            </a:r>
          </a:p>
        </p:txBody>
      </p:sp>
      <p:cxnSp>
        <p:nvCxnSpPr>
          <p:cNvPr id="38" name="Connector 37"/>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5687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41" name="TextBox 40"/>
          <p:cNvSpPr txBox="1"/>
          <p:nvPr/>
        </p:nvSpPr>
        <p:spPr>
          <a:xfrm>
            <a:off x="2844800" y="35687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 tune</a:t>
            </a:r>
          </a:p>
        </p:txBody>
      </p:sp>
      <p:sp>
        <p:nvSpPr>
          <p:cNvPr id="42" name="TextBox 41"/>
          <p:cNvSpPr txBox="1"/>
          <p:nvPr/>
        </p:nvSpPr>
        <p:spPr>
          <a:xfrm>
            <a:off x="4419600" y="35687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0.564</a:t>
            </a:r>
          </a:p>
        </p:txBody>
      </p:sp>
      <p:sp>
        <p:nvSpPr>
          <p:cNvPr id="43" name="TextBox 42"/>
          <p:cNvSpPr txBox="1"/>
          <p:nvPr/>
        </p:nvSpPr>
        <p:spPr>
          <a:xfrm>
            <a:off x="5486400" y="35687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0.440</a:t>
            </a:r>
          </a:p>
        </p:txBody>
      </p:sp>
      <p:sp>
        <p:nvSpPr>
          <p:cNvPr id="44" name="TextBox 43"/>
          <p:cNvSpPr txBox="1"/>
          <p:nvPr/>
        </p:nvSpPr>
        <p:spPr>
          <a:xfrm>
            <a:off x="6819900" y="35687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0.735</a:t>
            </a:r>
          </a:p>
        </p:txBody>
      </p:sp>
      <p:sp>
        <p:nvSpPr>
          <p:cNvPr id="45" name="TextBox 44"/>
          <p:cNvSpPr txBox="1"/>
          <p:nvPr/>
        </p:nvSpPr>
        <p:spPr>
          <a:xfrm>
            <a:off x="78359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60.7%</a:t>
            </a:r>
          </a:p>
        </p:txBody>
      </p:sp>
      <p:sp>
        <p:nvSpPr>
          <p:cNvPr id="46" name="TextBox 45"/>
          <p:cNvSpPr txBox="1"/>
          <p:nvPr/>
        </p:nvSpPr>
        <p:spPr>
          <a:xfrm>
            <a:off x="91440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93.1%</a:t>
            </a:r>
          </a:p>
        </p:txBody>
      </p:sp>
      <p:sp>
        <p:nvSpPr>
          <p:cNvPr id="47" name="TextBox 46"/>
          <p:cNvSpPr txBox="1"/>
          <p:nvPr/>
        </p:nvSpPr>
        <p:spPr>
          <a:xfrm>
            <a:off x="104521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93.7%</a:t>
            </a:r>
          </a:p>
        </p:txBody>
      </p:sp>
      <p:cxnSp>
        <p:nvCxnSpPr>
          <p:cNvPr id="48" name="Connector 4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0513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51" name="TextBox 50"/>
          <p:cNvSpPr txBox="1"/>
          <p:nvPr/>
        </p:nvSpPr>
        <p:spPr>
          <a:xfrm>
            <a:off x="2844800" y="40513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Zero-shot</a:t>
            </a:r>
          </a:p>
        </p:txBody>
      </p:sp>
      <p:sp>
        <p:nvSpPr>
          <p:cNvPr id="52" name="TextBox 51"/>
          <p:cNvSpPr txBox="1"/>
          <p:nvPr/>
        </p:nvSpPr>
        <p:spPr>
          <a:xfrm>
            <a:off x="4419600" y="40513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0.669</a:t>
            </a:r>
          </a:p>
        </p:txBody>
      </p:sp>
      <p:sp>
        <p:nvSpPr>
          <p:cNvPr id="53" name="TextBox 52"/>
          <p:cNvSpPr txBox="1"/>
          <p:nvPr/>
        </p:nvSpPr>
        <p:spPr>
          <a:xfrm>
            <a:off x="5486400" y="40513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0.599</a:t>
            </a:r>
          </a:p>
        </p:txBody>
      </p:sp>
      <p:sp>
        <p:nvSpPr>
          <p:cNvPr id="54" name="TextBox 53"/>
          <p:cNvSpPr txBox="1"/>
          <p:nvPr/>
        </p:nvSpPr>
        <p:spPr>
          <a:xfrm>
            <a:off x="6819900" y="40513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0.529</a:t>
            </a:r>
          </a:p>
        </p:txBody>
      </p:sp>
      <p:sp>
        <p:nvSpPr>
          <p:cNvPr id="55" name="TextBox 54"/>
          <p:cNvSpPr txBox="1"/>
          <p:nvPr/>
        </p:nvSpPr>
        <p:spPr>
          <a:xfrm>
            <a:off x="78359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66.9%</a:t>
            </a:r>
          </a:p>
        </p:txBody>
      </p:sp>
      <p:sp>
        <p:nvSpPr>
          <p:cNvPr id="56" name="TextBox 55"/>
          <p:cNvSpPr txBox="1"/>
          <p:nvPr/>
        </p:nvSpPr>
        <p:spPr>
          <a:xfrm>
            <a:off x="91440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43.8%</a:t>
            </a:r>
          </a:p>
        </p:txBody>
      </p:sp>
      <p:sp>
        <p:nvSpPr>
          <p:cNvPr id="57" name="TextBox 56"/>
          <p:cNvSpPr txBox="1"/>
          <p:nvPr/>
        </p:nvSpPr>
        <p:spPr>
          <a:xfrm>
            <a:off x="104521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33.6%</a:t>
            </a:r>
          </a:p>
        </p:txBody>
      </p:sp>
      <p:cxnSp>
        <p:nvCxnSpPr>
          <p:cNvPr id="58" name="Connector 5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000" y="45339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61" name="TextBox 60"/>
          <p:cNvSpPr txBox="1"/>
          <p:nvPr/>
        </p:nvSpPr>
        <p:spPr>
          <a:xfrm>
            <a:off x="2844800" y="45339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Linear probe</a:t>
            </a:r>
          </a:p>
        </p:txBody>
      </p:sp>
      <p:sp>
        <p:nvSpPr>
          <p:cNvPr id="62" name="TextBox 61"/>
          <p:cNvSpPr txBox="1"/>
          <p:nvPr/>
        </p:nvSpPr>
        <p:spPr>
          <a:xfrm>
            <a:off x="4419600" y="45339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0.670</a:t>
            </a:r>
          </a:p>
        </p:txBody>
      </p:sp>
      <p:sp>
        <p:nvSpPr>
          <p:cNvPr id="63" name="TextBox 62"/>
          <p:cNvSpPr txBox="1"/>
          <p:nvPr/>
        </p:nvSpPr>
        <p:spPr>
          <a:xfrm>
            <a:off x="5486400" y="45339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0.575</a:t>
            </a:r>
          </a:p>
        </p:txBody>
      </p:sp>
      <p:sp>
        <p:nvSpPr>
          <p:cNvPr id="64" name="TextBox 63"/>
          <p:cNvSpPr txBox="1"/>
          <p:nvPr/>
        </p:nvSpPr>
        <p:spPr>
          <a:xfrm>
            <a:off x="6819900" y="45339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0.706</a:t>
            </a:r>
          </a:p>
        </p:txBody>
      </p:sp>
      <p:sp>
        <p:nvSpPr>
          <p:cNvPr id="65" name="TextBox 64"/>
          <p:cNvSpPr txBox="1"/>
          <p:nvPr/>
        </p:nvSpPr>
        <p:spPr>
          <a:xfrm>
            <a:off x="78359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65.2%</a:t>
            </a:r>
          </a:p>
        </p:txBody>
      </p:sp>
      <p:sp>
        <p:nvSpPr>
          <p:cNvPr id="66" name="TextBox 65"/>
          <p:cNvSpPr txBox="1"/>
          <p:nvPr/>
        </p:nvSpPr>
        <p:spPr>
          <a:xfrm>
            <a:off x="91440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76.8%</a:t>
            </a:r>
          </a:p>
        </p:txBody>
      </p:sp>
      <p:sp>
        <p:nvSpPr>
          <p:cNvPr id="67" name="TextBox 66"/>
          <p:cNvSpPr txBox="1"/>
          <p:nvPr/>
        </p:nvSpPr>
        <p:spPr>
          <a:xfrm>
            <a:off x="104521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63.6%</a:t>
            </a:r>
          </a:p>
        </p:txBody>
      </p:sp>
      <p:cxnSp>
        <p:nvCxnSpPr>
          <p:cNvPr id="68" name="Connector 6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000" y="5016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71" name="TextBox 70"/>
          <p:cNvSpPr txBox="1"/>
          <p:nvPr/>
        </p:nvSpPr>
        <p:spPr>
          <a:xfrm>
            <a:off x="2844800" y="5016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 tune</a:t>
            </a:r>
          </a:p>
        </p:txBody>
      </p:sp>
      <p:sp>
        <p:nvSpPr>
          <p:cNvPr id="72" name="TextBox 71"/>
          <p:cNvSpPr txBox="1"/>
          <p:nvPr/>
        </p:nvSpPr>
        <p:spPr>
          <a:xfrm>
            <a:off x="4419600" y="5016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0.650</a:t>
            </a:r>
          </a:p>
        </p:txBody>
      </p:sp>
      <p:sp>
        <p:nvSpPr>
          <p:cNvPr id="73" name="TextBox 72"/>
          <p:cNvSpPr txBox="1"/>
          <p:nvPr/>
        </p:nvSpPr>
        <p:spPr>
          <a:xfrm>
            <a:off x="5486400" y="5016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0.531</a:t>
            </a:r>
          </a:p>
        </p:txBody>
      </p:sp>
      <p:sp>
        <p:nvSpPr>
          <p:cNvPr id="74" name="TextBox 73"/>
          <p:cNvSpPr txBox="1"/>
          <p:nvPr/>
        </p:nvSpPr>
        <p:spPr>
          <a:xfrm>
            <a:off x="6819900" y="5016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0.727</a:t>
            </a:r>
          </a:p>
        </p:txBody>
      </p:sp>
      <p:sp>
        <p:nvSpPr>
          <p:cNvPr id="75" name="TextBox 74"/>
          <p:cNvSpPr txBox="1"/>
          <p:nvPr/>
        </p:nvSpPr>
        <p:spPr>
          <a:xfrm>
            <a:off x="78359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60.3%</a:t>
            </a:r>
          </a:p>
        </p:txBody>
      </p:sp>
      <p:sp>
        <p:nvSpPr>
          <p:cNvPr id="76" name="TextBox 75"/>
          <p:cNvSpPr txBox="1"/>
          <p:nvPr/>
        </p:nvSpPr>
        <p:spPr>
          <a:xfrm>
            <a:off x="91440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91.3%</a:t>
            </a:r>
          </a:p>
        </p:txBody>
      </p:sp>
      <p:sp>
        <p:nvSpPr>
          <p:cNvPr id="77" name="TextBox 76"/>
          <p:cNvSpPr txBox="1"/>
          <p:nvPr/>
        </p:nvSpPr>
        <p:spPr>
          <a:xfrm>
            <a:off x="104521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93.3%</a:t>
            </a:r>
          </a:p>
        </p:txBody>
      </p:sp>
      <p:cxnSp>
        <p:nvCxnSpPr>
          <p:cNvPr id="78" name="Connector 77"/>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All stages are shown, including regressions. These are candidate results, not test-selected routes.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Littering / IWDD: zero-shot → probe → visual tune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 held-out cohort: n=100; positives=50; negatives=50 • dev-max-F1 cutoffs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17</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21" name="TextBox 20"/>
          <p:cNvSpPr txBox="1"/>
          <p:nvPr/>
        </p:nvSpPr>
        <p:spPr>
          <a:xfrm>
            <a:off x="2844800" y="2603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Zero-shot</a:t>
            </a:r>
          </a:p>
        </p:txBody>
      </p:sp>
      <p:sp>
        <p:nvSpPr>
          <p:cNvPr id="22" name="TextBox 21"/>
          <p:cNvSpPr txBox="1"/>
          <p:nvPr/>
        </p:nvSpPr>
        <p:spPr>
          <a:xfrm>
            <a:off x="4419600" y="2603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0.424</a:t>
            </a:r>
          </a:p>
        </p:txBody>
      </p:sp>
      <p:sp>
        <p:nvSpPr>
          <p:cNvPr id="23" name="TextBox 22"/>
          <p:cNvSpPr txBox="1"/>
          <p:nvPr/>
        </p:nvSpPr>
        <p:spPr>
          <a:xfrm>
            <a:off x="5486400" y="2603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0.347</a:t>
            </a:r>
          </a:p>
        </p:txBody>
      </p:sp>
      <p:sp>
        <p:nvSpPr>
          <p:cNvPr id="24" name="TextBox 23"/>
          <p:cNvSpPr txBox="1"/>
          <p:nvPr/>
        </p:nvSpPr>
        <p:spPr>
          <a:xfrm>
            <a:off x="6819900" y="2603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0.611</a:t>
            </a:r>
          </a:p>
        </p:txBody>
      </p:sp>
      <p:sp>
        <p:nvSpPr>
          <p:cNvPr id="25" name="TextBox 24"/>
          <p:cNvSpPr txBox="1"/>
          <p:nvPr/>
        </p:nvSpPr>
        <p:spPr>
          <a:xfrm>
            <a:off x="78359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46.8%</a:t>
            </a:r>
          </a:p>
        </p:txBody>
      </p:sp>
      <p:sp>
        <p:nvSpPr>
          <p:cNvPr id="26" name="TextBox 25"/>
          <p:cNvSpPr txBox="1"/>
          <p:nvPr/>
        </p:nvSpPr>
        <p:spPr>
          <a:xfrm>
            <a:off x="91440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88.0%</a:t>
            </a:r>
          </a:p>
        </p:txBody>
      </p:sp>
      <p:sp>
        <p:nvSpPr>
          <p:cNvPr id="27" name="TextBox 26"/>
          <p:cNvSpPr txBox="1"/>
          <p:nvPr/>
        </p:nvSpPr>
        <p:spPr>
          <a:xfrm>
            <a:off x="104521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cxnSp>
        <p:nvCxnSpPr>
          <p:cNvPr id="28" name="Connector 2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0861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31" name="TextBox 30"/>
          <p:cNvSpPr txBox="1"/>
          <p:nvPr/>
        </p:nvSpPr>
        <p:spPr>
          <a:xfrm>
            <a:off x="2844800" y="30861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Linear probe</a:t>
            </a:r>
          </a:p>
        </p:txBody>
      </p:sp>
      <p:sp>
        <p:nvSpPr>
          <p:cNvPr id="32" name="TextBox 31"/>
          <p:cNvSpPr txBox="1"/>
          <p:nvPr/>
        </p:nvSpPr>
        <p:spPr>
          <a:xfrm>
            <a:off x="4419600" y="30861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0.861</a:t>
            </a:r>
          </a:p>
        </p:txBody>
      </p:sp>
      <p:sp>
        <p:nvSpPr>
          <p:cNvPr id="33" name="TextBox 32"/>
          <p:cNvSpPr txBox="1"/>
          <p:nvPr/>
        </p:nvSpPr>
        <p:spPr>
          <a:xfrm>
            <a:off x="5486400" y="30861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0.890</a:t>
            </a:r>
          </a:p>
        </p:txBody>
      </p:sp>
      <p:sp>
        <p:nvSpPr>
          <p:cNvPr id="34" name="TextBox 33"/>
          <p:cNvSpPr txBox="1"/>
          <p:nvPr/>
        </p:nvSpPr>
        <p:spPr>
          <a:xfrm>
            <a:off x="6819900" y="30861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0.847</a:t>
            </a:r>
          </a:p>
        </p:txBody>
      </p:sp>
      <p:sp>
        <p:nvSpPr>
          <p:cNvPr id="35" name="TextBox 34"/>
          <p:cNvSpPr txBox="1"/>
          <p:nvPr/>
        </p:nvSpPr>
        <p:spPr>
          <a:xfrm>
            <a:off x="78359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77.0%</a:t>
            </a:r>
          </a:p>
        </p:txBody>
      </p:sp>
      <p:sp>
        <p:nvSpPr>
          <p:cNvPr id="36" name="TextBox 35"/>
          <p:cNvSpPr txBox="1"/>
          <p:nvPr/>
        </p:nvSpPr>
        <p:spPr>
          <a:xfrm>
            <a:off x="91440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94.0%</a:t>
            </a:r>
          </a:p>
        </p:txBody>
      </p:sp>
      <p:sp>
        <p:nvSpPr>
          <p:cNvPr id="37" name="TextBox 36"/>
          <p:cNvSpPr txBox="1"/>
          <p:nvPr/>
        </p:nvSpPr>
        <p:spPr>
          <a:xfrm>
            <a:off x="104521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28.0%</a:t>
            </a:r>
          </a:p>
        </p:txBody>
      </p:sp>
      <p:cxnSp>
        <p:nvCxnSpPr>
          <p:cNvPr id="38" name="Connector 37"/>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5687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41" name="TextBox 40"/>
          <p:cNvSpPr txBox="1"/>
          <p:nvPr/>
        </p:nvSpPr>
        <p:spPr>
          <a:xfrm>
            <a:off x="2844800" y="35687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 tune</a:t>
            </a:r>
          </a:p>
        </p:txBody>
      </p:sp>
      <p:sp>
        <p:nvSpPr>
          <p:cNvPr id="42" name="TextBox 41"/>
          <p:cNvSpPr txBox="1"/>
          <p:nvPr/>
        </p:nvSpPr>
        <p:spPr>
          <a:xfrm>
            <a:off x="4419600" y="35687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0.858</a:t>
            </a:r>
          </a:p>
        </p:txBody>
      </p:sp>
      <p:sp>
        <p:nvSpPr>
          <p:cNvPr id="43" name="TextBox 42"/>
          <p:cNvSpPr txBox="1"/>
          <p:nvPr/>
        </p:nvSpPr>
        <p:spPr>
          <a:xfrm>
            <a:off x="5486400" y="35687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0.872</a:t>
            </a:r>
          </a:p>
        </p:txBody>
      </p:sp>
      <p:sp>
        <p:nvSpPr>
          <p:cNvPr id="44" name="TextBox 43"/>
          <p:cNvSpPr txBox="1"/>
          <p:nvPr/>
        </p:nvSpPr>
        <p:spPr>
          <a:xfrm>
            <a:off x="6819900" y="35687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0.841</a:t>
            </a:r>
          </a:p>
        </p:txBody>
      </p:sp>
      <p:sp>
        <p:nvSpPr>
          <p:cNvPr id="45" name="TextBox 44"/>
          <p:cNvSpPr txBox="1"/>
          <p:nvPr/>
        </p:nvSpPr>
        <p:spPr>
          <a:xfrm>
            <a:off x="78359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78.9%</a:t>
            </a:r>
          </a:p>
        </p:txBody>
      </p:sp>
      <p:sp>
        <p:nvSpPr>
          <p:cNvPr id="46" name="TextBox 45"/>
          <p:cNvSpPr txBox="1"/>
          <p:nvPr/>
        </p:nvSpPr>
        <p:spPr>
          <a:xfrm>
            <a:off x="91440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90.0%</a:t>
            </a:r>
          </a:p>
        </p:txBody>
      </p:sp>
      <p:sp>
        <p:nvSpPr>
          <p:cNvPr id="47" name="TextBox 46"/>
          <p:cNvSpPr txBox="1"/>
          <p:nvPr/>
        </p:nvSpPr>
        <p:spPr>
          <a:xfrm>
            <a:off x="104521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24.0%</a:t>
            </a:r>
          </a:p>
        </p:txBody>
      </p:sp>
      <p:cxnSp>
        <p:nvCxnSpPr>
          <p:cNvPr id="48" name="Connector 4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0513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51" name="TextBox 50"/>
          <p:cNvSpPr txBox="1"/>
          <p:nvPr/>
        </p:nvSpPr>
        <p:spPr>
          <a:xfrm>
            <a:off x="2844800" y="40513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Zero-shot</a:t>
            </a:r>
          </a:p>
        </p:txBody>
      </p:sp>
      <p:sp>
        <p:nvSpPr>
          <p:cNvPr id="52" name="TextBox 51"/>
          <p:cNvSpPr txBox="1"/>
          <p:nvPr/>
        </p:nvSpPr>
        <p:spPr>
          <a:xfrm>
            <a:off x="4419600" y="40513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0.499</a:t>
            </a:r>
          </a:p>
        </p:txBody>
      </p:sp>
      <p:sp>
        <p:nvSpPr>
          <p:cNvPr id="53" name="TextBox 52"/>
          <p:cNvSpPr txBox="1"/>
          <p:nvPr/>
        </p:nvSpPr>
        <p:spPr>
          <a:xfrm>
            <a:off x="5486400" y="40513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0.520</a:t>
            </a:r>
          </a:p>
        </p:txBody>
      </p:sp>
      <p:sp>
        <p:nvSpPr>
          <p:cNvPr id="54" name="TextBox 53"/>
          <p:cNvSpPr txBox="1"/>
          <p:nvPr/>
        </p:nvSpPr>
        <p:spPr>
          <a:xfrm>
            <a:off x="6819900" y="40513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0.667</a:t>
            </a:r>
          </a:p>
        </p:txBody>
      </p:sp>
      <p:sp>
        <p:nvSpPr>
          <p:cNvPr id="55" name="TextBox 54"/>
          <p:cNvSpPr txBox="1"/>
          <p:nvPr/>
        </p:nvSpPr>
        <p:spPr>
          <a:xfrm>
            <a:off x="78359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50.0%</a:t>
            </a:r>
          </a:p>
        </p:txBody>
      </p:sp>
      <p:sp>
        <p:nvSpPr>
          <p:cNvPr id="56" name="TextBox 55"/>
          <p:cNvSpPr txBox="1"/>
          <p:nvPr/>
        </p:nvSpPr>
        <p:spPr>
          <a:xfrm>
            <a:off x="91440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57" name="TextBox 56"/>
          <p:cNvSpPr txBox="1"/>
          <p:nvPr/>
        </p:nvSpPr>
        <p:spPr>
          <a:xfrm>
            <a:off x="104521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cxnSp>
        <p:nvCxnSpPr>
          <p:cNvPr id="58" name="Connector 5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000" y="45339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61" name="TextBox 60"/>
          <p:cNvSpPr txBox="1"/>
          <p:nvPr/>
        </p:nvSpPr>
        <p:spPr>
          <a:xfrm>
            <a:off x="2844800" y="45339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Linear probe</a:t>
            </a:r>
          </a:p>
        </p:txBody>
      </p:sp>
      <p:sp>
        <p:nvSpPr>
          <p:cNvPr id="62" name="TextBox 61"/>
          <p:cNvSpPr txBox="1"/>
          <p:nvPr/>
        </p:nvSpPr>
        <p:spPr>
          <a:xfrm>
            <a:off x="4419600" y="45339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0.885</a:t>
            </a:r>
          </a:p>
        </p:txBody>
      </p:sp>
      <p:sp>
        <p:nvSpPr>
          <p:cNvPr id="63" name="TextBox 62"/>
          <p:cNvSpPr txBox="1"/>
          <p:nvPr/>
        </p:nvSpPr>
        <p:spPr>
          <a:xfrm>
            <a:off x="5486400" y="45339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0.881</a:t>
            </a:r>
          </a:p>
        </p:txBody>
      </p:sp>
      <p:sp>
        <p:nvSpPr>
          <p:cNvPr id="64" name="TextBox 63"/>
          <p:cNvSpPr txBox="1"/>
          <p:nvPr/>
        </p:nvSpPr>
        <p:spPr>
          <a:xfrm>
            <a:off x="6819900" y="45339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0.811</a:t>
            </a:r>
          </a:p>
        </p:txBody>
      </p:sp>
      <p:sp>
        <p:nvSpPr>
          <p:cNvPr id="65" name="TextBox 64"/>
          <p:cNvSpPr txBox="1"/>
          <p:nvPr/>
        </p:nvSpPr>
        <p:spPr>
          <a:xfrm>
            <a:off x="78359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76.8%</a:t>
            </a:r>
          </a:p>
        </p:txBody>
      </p:sp>
      <p:sp>
        <p:nvSpPr>
          <p:cNvPr id="66" name="TextBox 65"/>
          <p:cNvSpPr txBox="1"/>
          <p:nvPr/>
        </p:nvSpPr>
        <p:spPr>
          <a:xfrm>
            <a:off x="91440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86.0%</a:t>
            </a:r>
          </a:p>
        </p:txBody>
      </p:sp>
      <p:sp>
        <p:nvSpPr>
          <p:cNvPr id="67" name="TextBox 66"/>
          <p:cNvSpPr txBox="1"/>
          <p:nvPr/>
        </p:nvSpPr>
        <p:spPr>
          <a:xfrm>
            <a:off x="104521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26.0%</a:t>
            </a:r>
          </a:p>
        </p:txBody>
      </p:sp>
      <p:cxnSp>
        <p:nvCxnSpPr>
          <p:cNvPr id="68" name="Connector 6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000" y="5016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71" name="TextBox 70"/>
          <p:cNvSpPr txBox="1"/>
          <p:nvPr/>
        </p:nvSpPr>
        <p:spPr>
          <a:xfrm>
            <a:off x="2844800" y="5016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 tune</a:t>
            </a:r>
          </a:p>
        </p:txBody>
      </p:sp>
      <p:sp>
        <p:nvSpPr>
          <p:cNvPr id="72" name="TextBox 71"/>
          <p:cNvSpPr txBox="1"/>
          <p:nvPr/>
        </p:nvSpPr>
        <p:spPr>
          <a:xfrm>
            <a:off x="4419600" y="5016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0.864</a:t>
            </a:r>
          </a:p>
        </p:txBody>
      </p:sp>
      <p:sp>
        <p:nvSpPr>
          <p:cNvPr id="73" name="TextBox 72"/>
          <p:cNvSpPr txBox="1"/>
          <p:nvPr/>
        </p:nvSpPr>
        <p:spPr>
          <a:xfrm>
            <a:off x="5486400" y="5016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0.868</a:t>
            </a:r>
          </a:p>
        </p:txBody>
      </p:sp>
      <p:sp>
        <p:nvSpPr>
          <p:cNvPr id="74" name="TextBox 73"/>
          <p:cNvSpPr txBox="1"/>
          <p:nvPr/>
        </p:nvSpPr>
        <p:spPr>
          <a:xfrm>
            <a:off x="6819900" y="5016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0.789</a:t>
            </a:r>
          </a:p>
        </p:txBody>
      </p:sp>
      <p:sp>
        <p:nvSpPr>
          <p:cNvPr id="75" name="TextBox 74"/>
          <p:cNvSpPr txBox="1"/>
          <p:nvPr/>
        </p:nvSpPr>
        <p:spPr>
          <a:xfrm>
            <a:off x="78359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70.3%</a:t>
            </a:r>
          </a:p>
        </p:txBody>
      </p:sp>
      <p:sp>
        <p:nvSpPr>
          <p:cNvPr id="76" name="TextBox 75"/>
          <p:cNvSpPr txBox="1"/>
          <p:nvPr/>
        </p:nvSpPr>
        <p:spPr>
          <a:xfrm>
            <a:off x="91440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90.0%</a:t>
            </a:r>
          </a:p>
        </p:txBody>
      </p:sp>
      <p:sp>
        <p:nvSpPr>
          <p:cNvPr id="77" name="TextBox 76"/>
          <p:cNvSpPr txBox="1"/>
          <p:nvPr/>
        </p:nvSpPr>
        <p:spPr>
          <a:xfrm>
            <a:off x="104521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38.0%</a:t>
            </a:r>
          </a:p>
        </p:txBody>
      </p:sp>
      <p:cxnSp>
        <p:nvCxnSpPr>
          <p:cNvPr id="78" name="Connector 77"/>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All stages are shown, including regressions. These are candidate results, not test-selected routes.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Loitering: zero-shot → probe → visual tune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 held-out cohort: n=75; positives=11; negatives=64 • dev-max-F1 cutoffs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18</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21" name="TextBox 20"/>
          <p:cNvSpPr txBox="1"/>
          <p:nvPr/>
        </p:nvSpPr>
        <p:spPr>
          <a:xfrm>
            <a:off x="2844800" y="2603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Zero-shot</a:t>
            </a:r>
          </a:p>
        </p:txBody>
      </p:sp>
      <p:sp>
        <p:nvSpPr>
          <p:cNvPr id="22" name="TextBox 21"/>
          <p:cNvSpPr txBox="1"/>
          <p:nvPr/>
        </p:nvSpPr>
        <p:spPr>
          <a:xfrm>
            <a:off x="4419600" y="2603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0.320</a:t>
            </a:r>
          </a:p>
        </p:txBody>
      </p:sp>
      <p:sp>
        <p:nvSpPr>
          <p:cNvPr id="23" name="TextBox 22"/>
          <p:cNvSpPr txBox="1"/>
          <p:nvPr/>
        </p:nvSpPr>
        <p:spPr>
          <a:xfrm>
            <a:off x="5486400" y="2603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0.814</a:t>
            </a:r>
          </a:p>
        </p:txBody>
      </p:sp>
      <p:sp>
        <p:nvSpPr>
          <p:cNvPr id="24" name="TextBox 23"/>
          <p:cNvSpPr txBox="1"/>
          <p:nvPr/>
        </p:nvSpPr>
        <p:spPr>
          <a:xfrm>
            <a:off x="6819900" y="2603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0.468</a:t>
            </a:r>
          </a:p>
        </p:txBody>
      </p:sp>
      <p:sp>
        <p:nvSpPr>
          <p:cNvPr id="25" name="TextBox 24"/>
          <p:cNvSpPr txBox="1"/>
          <p:nvPr/>
        </p:nvSpPr>
        <p:spPr>
          <a:xfrm>
            <a:off x="78359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30.6%</a:t>
            </a:r>
          </a:p>
        </p:txBody>
      </p:sp>
      <p:sp>
        <p:nvSpPr>
          <p:cNvPr id="26" name="TextBox 25"/>
          <p:cNvSpPr txBox="1"/>
          <p:nvPr/>
        </p:nvSpPr>
        <p:spPr>
          <a:xfrm>
            <a:off x="91440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27" name="TextBox 26"/>
          <p:cNvSpPr txBox="1"/>
          <p:nvPr/>
        </p:nvSpPr>
        <p:spPr>
          <a:xfrm>
            <a:off x="104521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39.1%</a:t>
            </a:r>
          </a:p>
        </p:txBody>
      </p:sp>
      <p:cxnSp>
        <p:nvCxnSpPr>
          <p:cNvPr id="28" name="Connector 2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0861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31" name="TextBox 30"/>
          <p:cNvSpPr txBox="1"/>
          <p:nvPr/>
        </p:nvSpPr>
        <p:spPr>
          <a:xfrm>
            <a:off x="2844800" y="30861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Linear probe</a:t>
            </a:r>
          </a:p>
        </p:txBody>
      </p:sp>
      <p:sp>
        <p:nvSpPr>
          <p:cNvPr id="32" name="TextBox 31"/>
          <p:cNvSpPr txBox="1"/>
          <p:nvPr/>
        </p:nvSpPr>
        <p:spPr>
          <a:xfrm>
            <a:off x="4419600" y="30861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0.113</a:t>
            </a:r>
          </a:p>
        </p:txBody>
      </p:sp>
      <p:sp>
        <p:nvSpPr>
          <p:cNvPr id="33" name="TextBox 32"/>
          <p:cNvSpPr txBox="1"/>
          <p:nvPr/>
        </p:nvSpPr>
        <p:spPr>
          <a:xfrm>
            <a:off x="5486400" y="30861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0.321</a:t>
            </a:r>
          </a:p>
        </p:txBody>
      </p:sp>
      <p:sp>
        <p:nvSpPr>
          <p:cNvPr id="34" name="TextBox 33"/>
          <p:cNvSpPr txBox="1"/>
          <p:nvPr/>
        </p:nvSpPr>
        <p:spPr>
          <a:xfrm>
            <a:off x="6819900" y="30861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0.272</a:t>
            </a:r>
          </a:p>
        </p:txBody>
      </p:sp>
      <p:sp>
        <p:nvSpPr>
          <p:cNvPr id="35" name="TextBox 34"/>
          <p:cNvSpPr txBox="1"/>
          <p:nvPr/>
        </p:nvSpPr>
        <p:spPr>
          <a:xfrm>
            <a:off x="78359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15.7%</a:t>
            </a:r>
          </a:p>
        </p:txBody>
      </p:sp>
      <p:sp>
        <p:nvSpPr>
          <p:cNvPr id="36" name="TextBox 35"/>
          <p:cNvSpPr txBox="1"/>
          <p:nvPr/>
        </p:nvSpPr>
        <p:spPr>
          <a:xfrm>
            <a:off x="91440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37" name="TextBox 36"/>
          <p:cNvSpPr txBox="1"/>
          <p:nvPr/>
        </p:nvSpPr>
        <p:spPr>
          <a:xfrm>
            <a:off x="104521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92.2%</a:t>
            </a:r>
          </a:p>
        </p:txBody>
      </p:sp>
      <p:cxnSp>
        <p:nvCxnSpPr>
          <p:cNvPr id="38" name="Connector 37"/>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5687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41" name="TextBox 40"/>
          <p:cNvSpPr txBox="1"/>
          <p:nvPr/>
        </p:nvSpPr>
        <p:spPr>
          <a:xfrm>
            <a:off x="2844800" y="35687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 tune</a:t>
            </a:r>
          </a:p>
        </p:txBody>
      </p:sp>
      <p:sp>
        <p:nvSpPr>
          <p:cNvPr id="42" name="TextBox 41"/>
          <p:cNvSpPr txBox="1"/>
          <p:nvPr/>
        </p:nvSpPr>
        <p:spPr>
          <a:xfrm>
            <a:off x="4419600" y="35687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0.093</a:t>
            </a:r>
          </a:p>
        </p:txBody>
      </p:sp>
      <p:sp>
        <p:nvSpPr>
          <p:cNvPr id="43" name="TextBox 42"/>
          <p:cNvSpPr txBox="1"/>
          <p:nvPr/>
        </p:nvSpPr>
        <p:spPr>
          <a:xfrm>
            <a:off x="5486400" y="35687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0.151</a:t>
            </a:r>
          </a:p>
        </p:txBody>
      </p:sp>
      <p:sp>
        <p:nvSpPr>
          <p:cNvPr id="44" name="TextBox 43"/>
          <p:cNvSpPr txBox="1"/>
          <p:nvPr/>
        </p:nvSpPr>
        <p:spPr>
          <a:xfrm>
            <a:off x="6819900" y="35687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0.000</a:t>
            </a:r>
          </a:p>
        </p:txBody>
      </p:sp>
      <p:sp>
        <p:nvSpPr>
          <p:cNvPr id="45" name="TextBox 44"/>
          <p:cNvSpPr txBox="1"/>
          <p:nvPr/>
        </p:nvSpPr>
        <p:spPr>
          <a:xfrm>
            <a:off x="78359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46" name="TextBox 45"/>
          <p:cNvSpPr txBox="1"/>
          <p:nvPr/>
        </p:nvSpPr>
        <p:spPr>
          <a:xfrm>
            <a:off x="91440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47" name="TextBox 46"/>
          <p:cNvSpPr txBox="1"/>
          <p:nvPr/>
        </p:nvSpPr>
        <p:spPr>
          <a:xfrm>
            <a:off x="104521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12.5%</a:t>
            </a:r>
          </a:p>
        </p:txBody>
      </p:sp>
      <p:cxnSp>
        <p:nvCxnSpPr>
          <p:cNvPr id="48" name="Connector 4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0513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51" name="TextBox 50"/>
          <p:cNvSpPr txBox="1"/>
          <p:nvPr/>
        </p:nvSpPr>
        <p:spPr>
          <a:xfrm>
            <a:off x="2844800" y="40513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Zero-shot</a:t>
            </a:r>
          </a:p>
        </p:txBody>
      </p:sp>
      <p:sp>
        <p:nvSpPr>
          <p:cNvPr id="52" name="TextBox 51"/>
          <p:cNvSpPr txBox="1"/>
          <p:nvPr/>
        </p:nvSpPr>
        <p:spPr>
          <a:xfrm>
            <a:off x="4419600" y="40513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0.097</a:t>
            </a:r>
          </a:p>
        </p:txBody>
      </p:sp>
      <p:sp>
        <p:nvSpPr>
          <p:cNvPr id="53" name="TextBox 52"/>
          <p:cNvSpPr txBox="1"/>
          <p:nvPr/>
        </p:nvSpPr>
        <p:spPr>
          <a:xfrm>
            <a:off x="5486400" y="40513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0.175</a:t>
            </a:r>
          </a:p>
        </p:txBody>
      </p:sp>
      <p:sp>
        <p:nvSpPr>
          <p:cNvPr id="54" name="TextBox 53"/>
          <p:cNvSpPr txBox="1"/>
          <p:nvPr/>
        </p:nvSpPr>
        <p:spPr>
          <a:xfrm>
            <a:off x="6819900" y="40513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0.035</a:t>
            </a:r>
          </a:p>
        </p:txBody>
      </p:sp>
      <p:sp>
        <p:nvSpPr>
          <p:cNvPr id="55" name="TextBox 54"/>
          <p:cNvSpPr txBox="1"/>
          <p:nvPr/>
        </p:nvSpPr>
        <p:spPr>
          <a:xfrm>
            <a:off x="78359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2.2%</a:t>
            </a:r>
          </a:p>
        </p:txBody>
      </p:sp>
      <p:sp>
        <p:nvSpPr>
          <p:cNvPr id="56" name="TextBox 55"/>
          <p:cNvSpPr txBox="1"/>
          <p:nvPr/>
        </p:nvSpPr>
        <p:spPr>
          <a:xfrm>
            <a:off x="91440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9.1%</a:t>
            </a:r>
          </a:p>
        </p:txBody>
      </p:sp>
      <p:sp>
        <p:nvSpPr>
          <p:cNvPr id="57" name="TextBox 56"/>
          <p:cNvSpPr txBox="1"/>
          <p:nvPr/>
        </p:nvSpPr>
        <p:spPr>
          <a:xfrm>
            <a:off x="104521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70.3%</a:t>
            </a:r>
          </a:p>
        </p:txBody>
      </p:sp>
      <p:cxnSp>
        <p:nvCxnSpPr>
          <p:cNvPr id="58" name="Connector 5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000" y="45339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61" name="TextBox 60"/>
          <p:cNvSpPr txBox="1"/>
          <p:nvPr/>
        </p:nvSpPr>
        <p:spPr>
          <a:xfrm>
            <a:off x="2844800" y="45339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Linear probe</a:t>
            </a:r>
          </a:p>
        </p:txBody>
      </p:sp>
      <p:sp>
        <p:nvSpPr>
          <p:cNvPr id="62" name="TextBox 61"/>
          <p:cNvSpPr txBox="1"/>
          <p:nvPr/>
        </p:nvSpPr>
        <p:spPr>
          <a:xfrm>
            <a:off x="4419600" y="45339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0.107</a:t>
            </a:r>
          </a:p>
        </p:txBody>
      </p:sp>
      <p:sp>
        <p:nvSpPr>
          <p:cNvPr id="63" name="TextBox 62"/>
          <p:cNvSpPr txBox="1"/>
          <p:nvPr/>
        </p:nvSpPr>
        <p:spPr>
          <a:xfrm>
            <a:off x="5486400" y="45339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0.283</a:t>
            </a:r>
          </a:p>
        </p:txBody>
      </p:sp>
      <p:sp>
        <p:nvSpPr>
          <p:cNvPr id="64" name="TextBox 63"/>
          <p:cNvSpPr txBox="1"/>
          <p:nvPr/>
        </p:nvSpPr>
        <p:spPr>
          <a:xfrm>
            <a:off x="6819900" y="45339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0.256</a:t>
            </a:r>
          </a:p>
        </p:txBody>
      </p:sp>
      <p:sp>
        <p:nvSpPr>
          <p:cNvPr id="65" name="TextBox 64"/>
          <p:cNvSpPr txBox="1"/>
          <p:nvPr/>
        </p:nvSpPr>
        <p:spPr>
          <a:xfrm>
            <a:off x="78359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14.7%</a:t>
            </a:r>
          </a:p>
        </p:txBody>
      </p:sp>
      <p:sp>
        <p:nvSpPr>
          <p:cNvPr id="66" name="TextBox 65"/>
          <p:cNvSpPr txBox="1"/>
          <p:nvPr/>
        </p:nvSpPr>
        <p:spPr>
          <a:xfrm>
            <a:off x="91440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67" name="TextBox 66"/>
          <p:cNvSpPr txBox="1"/>
          <p:nvPr/>
        </p:nvSpPr>
        <p:spPr>
          <a:xfrm>
            <a:off x="104521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cxnSp>
        <p:nvCxnSpPr>
          <p:cNvPr id="68" name="Connector 6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000" y="5016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71" name="TextBox 70"/>
          <p:cNvSpPr txBox="1"/>
          <p:nvPr/>
        </p:nvSpPr>
        <p:spPr>
          <a:xfrm>
            <a:off x="2844800" y="5016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 tune</a:t>
            </a:r>
          </a:p>
        </p:txBody>
      </p:sp>
      <p:sp>
        <p:nvSpPr>
          <p:cNvPr id="72" name="TextBox 71"/>
          <p:cNvSpPr txBox="1"/>
          <p:nvPr/>
        </p:nvSpPr>
        <p:spPr>
          <a:xfrm>
            <a:off x="4419600" y="5016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0.110</a:t>
            </a:r>
          </a:p>
        </p:txBody>
      </p:sp>
      <p:sp>
        <p:nvSpPr>
          <p:cNvPr id="73" name="TextBox 72"/>
          <p:cNvSpPr txBox="1"/>
          <p:nvPr/>
        </p:nvSpPr>
        <p:spPr>
          <a:xfrm>
            <a:off x="5486400" y="5016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0.305</a:t>
            </a:r>
          </a:p>
        </p:txBody>
      </p:sp>
      <p:sp>
        <p:nvSpPr>
          <p:cNvPr id="74" name="TextBox 73"/>
          <p:cNvSpPr txBox="1"/>
          <p:nvPr/>
        </p:nvSpPr>
        <p:spPr>
          <a:xfrm>
            <a:off x="6819900" y="5016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0.256</a:t>
            </a:r>
          </a:p>
        </p:txBody>
      </p:sp>
      <p:sp>
        <p:nvSpPr>
          <p:cNvPr id="75" name="TextBox 74"/>
          <p:cNvSpPr txBox="1"/>
          <p:nvPr/>
        </p:nvSpPr>
        <p:spPr>
          <a:xfrm>
            <a:off x="78359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14.7%</a:t>
            </a:r>
          </a:p>
        </p:txBody>
      </p:sp>
      <p:sp>
        <p:nvSpPr>
          <p:cNvPr id="76" name="TextBox 75"/>
          <p:cNvSpPr txBox="1"/>
          <p:nvPr/>
        </p:nvSpPr>
        <p:spPr>
          <a:xfrm>
            <a:off x="91440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77" name="TextBox 76"/>
          <p:cNvSpPr txBox="1"/>
          <p:nvPr/>
        </p:nvSpPr>
        <p:spPr>
          <a:xfrm>
            <a:off x="104521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cxnSp>
        <p:nvCxnSpPr>
          <p:cNvPr id="78" name="Connector 77"/>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All stages are shown, including regressions. These are candidate results, not test-selected routes.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Public sleep: zero-shot → probe → visual tune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 held-out cohort: n=18; positives=6; negatives=12 • dev-max-F1 cutoffs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19</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21" name="TextBox 20"/>
          <p:cNvSpPr txBox="1"/>
          <p:nvPr/>
        </p:nvSpPr>
        <p:spPr>
          <a:xfrm>
            <a:off x="2844800" y="2603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Zero-shot</a:t>
            </a:r>
          </a:p>
        </p:txBody>
      </p:sp>
      <p:sp>
        <p:nvSpPr>
          <p:cNvPr id="22" name="TextBox 21"/>
          <p:cNvSpPr txBox="1"/>
          <p:nvPr/>
        </p:nvSpPr>
        <p:spPr>
          <a:xfrm>
            <a:off x="4419600" y="2603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0.502</a:t>
            </a:r>
          </a:p>
        </p:txBody>
      </p:sp>
      <p:sp>
        <p:nvSpPr>
          <p:cNvPr id="23" name="TextBox 22"/>
          <p:cNvSpPr txBox="1"/>
          <p:nvPr/>
        </p:nvSpPr>
        <p:spPr>
          <a:xfrm>
            <a:off x="5486400" y="2603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0.556</a:t>
            </a:r>
          </a:p>
        </p:txBody>
      </p:sp>
      <p:sp>
        <p:nvSpPr>
          <p:cNvPr id="24" name="TextBox 23"/>
          <p:cNvSpPr txBox="1"/>
          <p:nvPr/>
        </p:nvSpPr>
        <p:spPr>
          <a:xfrm>
            <a:off x="6819900" y="2603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0.375</a:t>
            </a:r>
          </a:p>
        </p:txBody>
      </p:sp>
      <p:sp>
        <p:nvSpPr>
          <p:cNvPr id="25" name="TextBox 24"/>
          <p:cNvSpPr txBox="1"/>
          <p:nvPr/>
        </p:nvSpPr>
        <p:spPr>
          <a:xfrm>
            <a:off x="78359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30.0%</a:t>
            </a:r>
          </a:p>
        </p:txBody>
      </p:sp>
      <p:sp>
        <p:nvSpPr>
          <p:cNvPr id="26" name="TextBox 25"/>
          <p:cNvSpPr txBox="1"/>
          <p:nvPr/>
        </p:nvSpPr>
        <p:spPr>
          <a:xfrm>
            <a:off x="91440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50.0%</a:t>
            </a:r>
          </a:p>
        </p:txBody>
      </p:sp>
      <p:sp>
        <p:nvSpPr>
          <p:cNvPr id="27" name="TextBox 26"/>
          <p:cNvSpPr txBox="1"/>
          <p:nvPr/>
        </p:nvSpPr>
        <p:spPr>
          <a:xfrm>
            <a:off x="104521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58.3%</a:t>
            </a:r>
          </a:p>
        </p:txBody>
      </p:sp>
      <p:cxnSp>
        <p:nvCxnSpPr>
          <p:cNvPr id="28" name="Connector 2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0861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31" name="TextBox 30"/>
          <p:cNvSpPr txBox="1"/>
          <p:nvPr/>
        </p:nvSpPr>
        <p:spPr>
          <a:xfrm>
            <a:off x="2844800" y="30861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Linear probe</a:t>
            </a:r>
          </a:p>
        </p:txBody>
      </p:sp>
      <p:sp>
        <p:nvSpPr>
          <p:cNvPr id="32" name="TextBox 31"/>
          <p:cNvSpPr txBox="1"/>
          <p:nvPr/>
        </p:nvSpPr>
        <p:spPr>
          <a:xfrm>
            <a:off x="4419600" y="30861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0.976</a:t>
            </a:r>
          </a:p>
        </p:txBody>
      </p:sp>
      <p:sp>
        <p:nvSpPr>
          <p:cNvPr id="33" name="TextBox 32"/>
          <p:cNvSpPr txBox="1"/>
          <p:nvPr/>
        </p:nvSpPr>
        <p:spPr>
          <a:xfrm>
            <a:off x="5486400" y="30861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0.986</a:t>
            </a:r>
          </a:p>
        </p:txBody>
      </p:sp>
      <p:sp>
        <p:nvSpPr>
          <p:cNvPr id="34" name="TextBox 33"/>
          <p:cNvSpPr txBox="1"/>
          <p:nvPr/>
        </p:nvSpPr>
        <p:spPr>
          <a:xfrm>
            <a:off x="6819900" y="30861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0.833</a:t>
            </a:r>
          </a:p>
        </p:txBody>
      </p:sp>
      <p:sp>
        <p:nvSpPr>
          <p:cNvPr id="35" name="TextBox 34"/>
          <p:cNvSpPr txBox="1"/>
          <p:nvPr/>
        </p:nvSpPr>
        <p:spPr>
          <a:xfrm>
            <a:off x="78359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83.3%</a:t>
            </a:r>
          </a:p>
        </p:txBody>
      </p:sp>
      <p:sp>
        <p:nvSpPr>
          <p:cNvPr id="36" name="TextBox 35"/>
          <p:cNvSpPr txBox="1"/>
          <p:nvPr/>
        </p:nvSpPr>
        <p:spPr>
          <a:xfrm>
            <a:off x="91440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83.3%</a:t>
            </a:r>
          </a:p>
        </p:txBody>
      </p:sp>
      <p:sp>
        <p:nvSpPr>
          <p:cNvPr id="37" name="TextBox 36"/>
          <p:cNvSpPr txBox="1"/>
          <p:nvPr/>
        </p:nvSpPr>
        <p:spPr>
          <a:xfrm>
            <a:off x="104521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8.3%</a:t>
            </a:r>
          </a:p>
        </p:txBody>
      </p:sp>
      <p:cxnSp>
        <p:nvCxnSpPr>
          <p:cNvPr id="38" name="Connector 37"/>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5687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41" name="TextBox 40"/>
          <p:cNvSpPr txBox="1"/>
          <p:nvPr/>
        </p:nvSpPr>
        <p:spPr>
          <a:xfrm>
            <a:off x="2844800" y="35687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 tune</a:t>
            </a:r>
          </a:p>
        </p:txBody>
      </p:sp>
      <p:sp>
        <p:nvSpPr>
          <p:cNvPr id="42" name="TextBox 41"/>
          <p:cNvSpPr txBox="1"/>
          <p:nvPr/>
        </p:nvSpPr>
        <p:spPr>
          <a:xfrm>
            <a:off x="4419600" y="35687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0.976</a:t>
            </a:r>
          </a:p>
        </p:txBody>
      </p:sp>
      <p:sp>
        <p:nvSpPr>
          <p:cNvPr id="43" name="TextBox 42"/>
          <p:cNvSpPr txBox="1"/>
          <p:nvPr/>
        </p:nvSpPr>
        <p:spPr>
          <a:xfrm>
            <a:off x="5486400" y="35687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0.986</a:t>
            </a:r>
          </a:p>
        </p:txBody>
      </p:sp>
      <p:sp>
        <p:nvSpPr>
          <p:cNvPr id="44" name="TextBox 43"/>
          <p:cNvSpPr txBox="1"/>
          <p:nvPr/>
        </p:nvSpPr>
        <p:spPr>
          <a:xfrm>
            <a:off x="6819900" y="35687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0.909</a:t>
            </a:r>
          </a:p>
        </p:txBody>
      </p:sp>
      <p:sp>
        <p:nvSpPr>
          <p:cNvPr id="45" name="TextBox 44"/>
          <p:cNvSpPr txBox="1"/>
          <p:nvPr/>
        </p:nvSpPr>
        <p:spPr>
          <a:xfrm>
            <a:off x="78359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46" name="TextBox 45"/>
          <p:cNvSpPr txBox="1"/>
          <p:nvPr/>
        </p:nvSpPr>
        <p:spPr>
          <a:xfrm>
            <a:off x="91440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83.3%</a:t>
            </a:r>
          </a:p>
        </p:txBody>
      </p:sp>
      <p:sp>
        <p:nvSpPr>
          <p:cNvPr id="47" name="TextBox 46"/>
          <p:cNvSpPr txBox="1"/>
          <p:nvPr/>
        </p:nvSpPr>
        <p:spPr>
          <a:xfrm>
            <a:off x="104521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48" name="Connector 4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0513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51" name="TextBox 50"/>
          <p:cNvSpPr txBox="1"/>
          <p:nvPr/>
        </p:nvSpPr>
        <p:spPr>
          <a:xfrm>
            <a:off x="2844800" y="40513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Zero-shot</a:t>
            </a:r>
          </a:p>
        </p:txBody>
      </p:sp>
      <p:sp>
        <p:nvSpPr>
          <p:cNvPr id="52" name="TextBox 51"/>
          <p:cNvSpPr txBox="1"/>
          <p:nvPr/>
        </p:nvSpPr>
        <p:spPr>
          <a:xfrm>
            <a:off x="4419600" y="40513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0.733</a:t>
            </a:r>
          </a:p>
        </p:txBody>
      </p:sp>
      <p:sp>
        <p:nvSpPr>
          <p:cNvPr id="53" name="TextBox 52"/>
          <p:cNvSpPr txBox="1"/>
          <p:nvPr/>
        </p:nvSpPr>
        <p:spPr>
          <a:xfrm>
            <a:off x="5486400" y="40513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0.764</a:t>
            </a:r>
          </a:p>
        </p:txBody>
      </p:sp>
      <p:sp>
        <p:nvSpPr>
          <p:cNvPr id="54" name="TextBox 53"/>
          <p:cNvSpPr txBox="1"/>
          <p:nvPr/>
        </p:nvSpPr>
        <p:spPr>
          <a:xfrm>
            <a:off x="6819900" y="40513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0.600</a:t>
            </a:r>
          </a:p>
        </p:txBody>
      </p:sp>
      <p:sp>
        <p:nvSpPr>
          <p:cNvPr id="55" name="TextBox 54"/>
          <p:cNvSpPr txBox="1"/>
          <p:nvPr/>
        </p:nvSpPr>
        <p:spPr>
          <a:xfrm>
            <a:off x="78359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75.0%</a:t>
            </a:r>
          </a:p>
        </p:txBody>
      </p:sp>
      <p:sp>
        <p:nvSpPr>
          <p:cNvPr id="56" name="TextBox 55"/>
          <p:cNvSpPr txBox="1"/>
          <p:nvPr/>
        </p:nvSpPr>
        <p:spPr>
          <a:xfrm>
            <a:off x="91440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50.0%</a:t>
            </a:r>
          </a:p>
        </p:txBody>
      </p:sp>
      <p:sp>
        <p:nvSpPr>
          <p:cNvPr id="57" name="TextBox 56"/>
          <p:cNvSpPr txBox="1"/>
          <p:nvPr/>
        </p:nvSpPr>
        <p:spPr>
          <a:xfrm>
            <a:off x="104521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8.3%</a:t>
            </a:r>
          </a:p>
        </p:txBody>
      </p:sp>
      <p:cxnSp>
        <p:nvCxnSpPr>
          <p:cNvPr id="58" name="Connector 5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000" y="45339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61" name="TextBox 60"/>
          <p:cNvSpPr txBox="1"/>
          <p:nvPr/>
        </p:nvSpPr>
        <p:spPr>
          <a:xfrm>
            <a:off x="2844800" y="45339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Linear probe</a:t>
            </a:r>
          </a:p>
        </p:txBody>
      </p:sp>
      <p:sp>
        <p:nvSpPr>
          <p:cNvPr id="62" name="TextBox 61"/>
          <p:cNvSpPr txBox="1"/>
          <p:nvPr/>
        </p:nvSpPr>
        <p:spPr>
          <a:xfrm>
            <a:off x="4419600" y="45339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0.915</a:t>
            </a:r>
          </a:p>
        </p:txBody>
      </p:sp>
      <p:sp>
        <p:nvSpPr>
          <p:cNvPr id="63" name="TextBox 62"/>
          <p:cNvSpPr txBox="1"/>
          <p:nvPr/>
        </p:nvSpPr>
        <p:spPr>
          <a:xfrm>
            <a:off x="5486400" y="45339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0.958</a:t>
            </a:r>
          </a:p>
        </p:txBody>
      </p:sp>
      <p:sp>
        <p:nvSpPr>
          <p:cNvPr id="64" name="TextBox 63"/>
          <p:cNvSpPr txBox="1"/>
          <p:nvPr/>
        </p:nvSpPr>
        <p:spPr>
          <a:xfrm>
            <a:off x="6819900" y="45339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0.500</a:t>
            </a:r>
          </a:p>
        </p:txBody>
      </p:sp>
      <p:sp>
        <p:nvSpPr>
          <p:cNvPr id="65" name="TextBox 64"/>
          <p:cNvSpPr txBox="1"/>
          <p:nvPr/>
        </p:nvSpPr>
        <p:spPr>
          <a:xfrm>
            <a:off x="78359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66" name="TextBox 65"/>
          <p:cNvSpPr txBox="1"/>
          <p:nvPr/>
        </p:nvSpPr>
        <p:spPr>
          <a:xfrm>
            <a:off x="91440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33.3%</a:t>
            </a:r>
          </a:p>
        </p:txBody>
      </p:sp>
      <p:sp>
        <p:nvSpPr>
          <p:cNvPr id="67" name="TextBox 66"/>
          <p:cNvSpPr txBox="1"/>
          <p:nvPr/>
        </p:nvSpPr>
        <p:spPr>
          <a:xfrm>
            <a:off x="104521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68" name="Connector 6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000" y="5016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71" name="TextBox 70"/>
          <p:cNvSpPr txBox="1"/>
          <p:nvPr/>
        </p:nvSpPr>
        <p:spPr>
          <a:xfrm>
            <a:off x="2844800" y="5016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 tune</a:t>
            </a:r>
          </a:p>
        </p:txBody>
      </p:sp>
      <p:sp>
        <p:nvSpPr>
          <p:cNvPr id="72" name="TextBox 71"/>
          <p:cNvSpPr txBox="1"/>
          <p:nvPr/>
        </p:nvSpPr>
        <p:spPr>
          <a:xfrm>
            <a:off x="4419600" y="5016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0.976</a:t>
            </a:r>
          </a:p>
        </p:txBody>
      </p:sp>
      <p:sp>
        <p:nvSpPr>
          <p:cNvPr id="73" name="TextBox 72"/>
          <p:cNvSpPr txBox="1"/>
          <p:nvPr/>
        </p:nvSpPr>
        <p:spPr>
          <a:xfrm>
            <a:off x="5486400" y="5016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0.986</a:t>
            </a:r>
          </a:p>
        </p:txBody>
      </p:sp>
      <p:sp>
        <p:nvSpPr>
          <p:cNvPr id="74" name="TextBox 73"/>
          <p:cNvSpPr txBox="1"/>
          <p:nvPr/>
        </p:nvSpPr>
        <p:spPr>
          <a:xfrm>
            <a:off x="6819900" y="5016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0.800</a:t>
            </a:r>
          </a:p>
        </p:txBody>
      </p:sp>
      <p:sp>
        <p:nvSpPr>
          <p:cNvPr id="75" name="TextBox 74"/>
          <p:cNvSpPr txBox="1"/>
          <p:nvPr/>
        </p:nvSpPr>
        <p:spPr>
          <a:xfrm>
            <a:off x="78359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76" name="TextBox 75"/>
          <p:cNvSpPr txBox="1"/>
          <p:nvPr/>
        </p:nvSpPr>
        <p:spPr>
          <a:xfrm>
            <a:off x="91440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66.7%</a:t>
            </a:r>
          </a:p>
        </p:txBody>
      </p:sp>
      <p:sp>
        <p:nvSpPr>
          <p:cNvPr id="77" name="TextBox 76"/>
          <p:cNvSpPr txBox="1"/>
          <p:nvPr/>
        </p:nvSpPr>
        <p:spPr>
          <a:xfrm>
            <a:off x="104521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78" name="Connector 77"/>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All stages are shown, including regressions. These are candidate results, not test-selected routes.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Unattended: zero-shot → probe → visual tune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 held-out cohort: n=962; positives=242; negatives=720 • dev-max-F1 cutoffs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20</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21" name="TextBox 20"/>
          <p:cNvSpPr txBox="1"/>
          <p:nvPr/>
        </p:nvSpPr>
        <p:spPr>
          <a:xfrm>
            <a:off x="2844800" y="2603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Zero-shot</a:t>
            </a:r>
          </a:p>
        </p:txBody>
      </p:sp>
      <p:sp>
        <p:nvSpPr>
          <p:cNvPr id="22" name="TextBox 21"/>
          <p:cNvSpPr txBox="1"/>
          <p:nvPr/>
        </p:nvSpPr>
        <p:spPr>
          <a:xfrm>
            <a:off x="4419600" y="2603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0.209</a:t>
            </a:r>
          </a:p>
        </p:txBody>
      </p:sp>
      <p:sp>
        <p:nvSpPr>
          <p:cNvPr id="23" name="TextBox 22"/>
          <p:cNvSpPr txBox="1"/>
          <p:nvPr/>
        </p:nvSpPr>
        <p:spPr>
          <a:xfrm>
            <a:off x="5486400" y="2603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0.416</a:t>
            </a:r>
          </a:p>
        </p:txBody>
      </p:sp>
      <p:sp>
        <p:nvSpPr>
          <p:cNvPr id="24" name="TextBox 23"/>
          <p:cNvSpPr txBox="1"/>
          <p:nvPr/>
        </p:nvSpPr>
        <p:spPr>
          <a:xfrm>
            <a:off x="6819900" y="2603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0.402</a:t>
            </a:r>
          </a:p>
        </p:txBody>
      </p:sp>
      <p:sp>
        <p:nvSpPr>
          <p:cNvPr id="25" name="TextBox 24"/>
          <p:cNvSpPr txBox="1"/>
          <p:nvPr/>
        </p:nvSpPr>
        <p:spPr>
          <a:xfrm>
            <a:off x="78359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25.2%</a:t>
            </a:r>
          </a:p>
        </p:txBody>
      </p:sp>
      <p:sp>
        <p:nvSpPr>
          <p:cNvPr id="26" name="TextBox 25"/>
          <p:cNvSpPr txBox="1"/>
          <p:nvPr/>
        </p:nvSpPr>
        <p:spPr>
          <a:xfrm>
            <a:off x="91440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27" name="TextBox 26"/>
          <p:cNvSpPr txBox="1"/>
          <p:nvPr/>
        </p:nvSpPr>
        <p:spPr>
          <a:xfrm>
            <a:off x="104521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cxnSp>
        <p:nvCxnSpPr>
          <p:cNvPr id="28" name="Connector 2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0861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31" name="TextBox 30"/>
          <p:cNvSpPr txBox="1"/>
          <p:nvPr/>
        </p:nvSpPr>
        <p:spPr>
          <a:xfrm>
            <a:off x="2844800" y="30861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Linear probe</a:t>
            </a:r>
          </a:p>
        </p:txBody>
      </p:sp>
      <p:sp>
        <p:nvSpPr>
          <p:cNvPr id="32" name="TextBox 31"/>
          <p:cNvSpPr txBox="1"/>
          <p:nvPr/>
        </p:nvSpPr>
        <p:spPr>
          <a:xfrm>
            <a:off x="4419600" y="30861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0.361</a:t>
            </a:r>
          </a:p>
        </p:txBody>
      </p:sp>
      <p:sp>
        <p:nvSpPr>
          <p:cNvPr id="33" name="TextBox 32"/>
          <p:cNvSpPr txBox="1"/>
          <p:nvPr/>
        </p:nvSpPr>
        <p:spPr>
          <a:xfrm>
            <a:off x="5486400" y="30861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0.667</a:t>
            </a:r>
          </a:p>
        </p:txBody>
      </p:sp>
      <p:sp>
        <p:nvSpPr>
          <p:cNvPr id="34" name="TextBox 33"/>
          <p:cNvSpPr txBox="1"/>
          <p:nvPr/>
        </p:nvSpPr>
        <p:spPr>
          <a:xfrm>
            <a:off x="6819900" y="30861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0.404</a:t>
            </a:r>
          </a:p>
        </p:txBody>
      </p:sp>
      <p:sp>
        <p:nvSpPr>
          <p:cNvPr id="35" name="TextBox 34"/>
          <p:cNvSpPr txBox="1"/>
          <p:nvPr/>
        </p:nvSpPr>
        <p:spPr>
          <a:xfrm>
            <a:off x="78359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25.3%</a:t>
            </a:r>
          </a:p>
        </p:txBody>
      </p:sp>
      <p:sp>
        <p:nvSpPr>
          <p:cNvPr id="36" name="TextBox 35"/>
          <p:cNvSpPr txBox="1"/>
          <p:nvPr/>
        </p:nvSpPr>
        <p:spPr>
          <a:xfrm>
            <a:off x="91440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37" name="TextBox 36"/>
          <p:cNvSpPr txBox="1"/>
          <p:nvPr/>
        </p:nvSpPr>
        <p:spPr>
          <a:xfrm>
            <a:off x="104521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99.0%</a:t>
            </a:r>
          </a:p>
        </p:txBody>
      </p:sp>
      <p:cxnSp>
        <p:nvCxnSpPr>
          <p:cNvPr id="38" name="Connector 37"/>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5687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41" name="TextBox 40"/>
          <p:cNvSpPr txBox="1"/>
          <p:nvPr/>
        </p:nvSpPr>
        <p:spPr>
          <a:xfrm>
            <a:off x="2844800" y="35687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 tune</a:t>
            </a:r>
          </a:p>
        </p:txBody>
      </p:sp>
      <p:sp>
        <p:nvSpPr>
          <p:cNvPr id="42" name="TextBox 41"/>
          <p:cNvSpPr txBox="1"/>
          <p:nvPr/>
        </p:nvSpPr>
        <p:spPr>
          <a:xfrm>
            <a:off x="4419600" y="35687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0.652</a:t>
            </a:r>
          </a:p>
        </p:txBody>
      </p:sp>
      <p:sp>
        <p:nvSpPr>
          <p:cNvPr id="43" name="TextBox 42"/>
          <p:cNvSpPr txBox="1"/>
          <p:nvPr/>
        </p:nvSpPr>
        <p:spPr>
          <a:xfrm>
            <a:off x="5486400" y="35687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0.848</a:t>
            </a:r>
          </a:p>
        </p:txBody>
      </p:sp>
      <p:sp>
        <p:nvSpPr>
          <p:cNvPr id="44" name="TextBox 43"/>
          <p:cNvSpPr txBox="1"/>
          <p:nvPr/>
        </p:nvSpPr>
        <p:spPr>
          <a:xfrm>
            <a:off x="6819900" y="35687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0.408</a:t>
            </a:r>
          </a:p>
        </p:txBody>
      </p:sp>
      <p:sp>
        <p:nvSpPr>
          <p:cNvPr id="45" name="TextBox 44"/>
          <p:cNvSpPr txBox="1"/>
          <p:nvPr/>
        </p:nvSpPr>
        <p:spPr>
          <a:xfrm>
            <a:off x="78359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25.6%</a:t>
            </a:r>
          </a:p>
        </p:txBody>
      </p:sp>
      <p:sp>
        <p:nvSpPr>
          <p:cNvPr id="46" name="TextBox 45"/>
          <p:cNvSpPr txBox="1"/>
          <p:nvPr/>
        </p:nvSpPr>
        <p:spPr>
          <a:xfrm>
            <a:off x="91440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47" name="TextBox 46"/>
          <p:cNvSpPr txBox="1"/>
          <p:nvPr/>
        </p:nvSpPr>
        <p:spPr>
          <a:xfrm>
            <a:off x="104521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97.6%</a:t>
            </a:r>
          </a:p>
        </p:txBody>
      </p:sp>
      <p:cxnSp>
        <p:nvCxnSpPr>
          <p:cNvPr id="48" name="Connector 4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0513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51" name="TextBox 50"/>
          <p:cNvSpPr txBox="1"/>
          <p:nvPr/>
        </p:nvSpPr>
        <p:spPr>
          <a:xfrm>
            <a:off x="2844800" y="40513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Zero-shot</a:t>
            </a:r>
          </a:p>
        </p:txBody>
      </p:sp>
      <p:sp>
        <p:nvSpPr>
          <p:cNvPr id="52" name="TextBox 51"/>
          <p:cNvSpPr txBox="1"/>
          <p:nvPr/>
        </p:nvSpPr>
        <p:spPr>
          <a:xfrm>
            <a:off x="4419600" y="40513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0.309</a:t>
            </a:r>
          </a:p>
        </p:txBody>
      </p:sp>
      <p:sp>
        <p:nvSpPr>
          <p:cNvPr id="53" name="TextBox 52"/>
          <p:cNvSpPr txBox="1"/>
          <p:nvPr/>
        </p:nvSpPr>
        <p:spPr>
          <a:xfrm>
            <a:off x="5486400" y="40513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0.675</a:t>
            </a:r>
          </a:p>
        </p:txBody>
      </p:sp>
      <p:sp>
        <p:nvSpPr>
          <p:cNvPr id="54" name="TextBox 53"/>
          <p:cNvSpPr txBox="1"/>
          <p:nvPr/>
        </p:nvSpPr>
        <p:spPr>
          <a:xfrm>
            <a:off x="6819900" y="40513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0.090</a:t>
            </a:r>
          </a:p>
        </p:txBody>
      </p:sp>
      <p:sp>
        <p:nvSpPr>
          <p:cNvPr id="55" name="TextBox 54"/>
          <p:cNvSpPr txBox="1"/>
          <p:nvPr/>
        </p:nvSpPr>
        <p:spPr>
          <a:xfrm>
            <a:off x="78359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9.3%</a:t>
            </a:r>
          </a:p>
        </p:txBody>
      </p:sp>
      <p:sp>
        <p:nvSpPr>
          <p:cNvPr id="56" name="TextBox 55"/>
          <p:cNvSpPr txBox="1"/>
          <p:nvPr/>
        </p:nvSpPr>
        <p:spPr>
          <a:xfrm>
            <a:off x="91440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8.7%</a:t>
            </a:r>
          </a:p>
        </p:txBody>
      </p:sp>
      <p:sp>
        <p:nvSpPr>
          <p:cNvPr id="57" name="TextBox 56"/>
          <p:cNvSpPr txBox="1"/>
          <p:nvPr/>
        </p:nvSpPr>
        <p:spPr>
          <a:xfrm>
            <a:off x="104521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28.5%</a:t>
            </a:r>
          </a:p>
        </p:txBody>
      </p:sp>
      <p:cxnSp>
        <p:nvCxnSpPr>
          <p:cNvPr id="58" name="Connector 5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000" y="45339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61" name="TextBox 60"/>
          <p:cNvSpPr txBox="1"/>
          <p:nvPr/>
        </p:nvSpPr>
        <p:spPr>
          <a:xfrm>
            <a:off x="2844800" y="45339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Linear probe</a:t>
            </a:r>
          </a:p>
        </p:txBody>
      </p:sp>
      <p:sp>
        <p:nvSpPr>
          <p:cNvPr id="62" name="TextBox 61"/>
          <p:cNvSpPr txBox="1"/>
          <p:nvPr/>
        </p:nvSpPr>
        <p:spPr>
          <a:xfrm>
            <a:off x="4419600" y="45339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0.855</a:t>
            </a:r>
          </a:p>
        </p:txBody>
      </p:sp>
      <p:sp>
        <p:nvSpPr>
          <p:cNvPr id="63" name="TextBox 62"/>
          <p:cNvSpPr txBox="1"/>
          <p:nvPr/>
        </p:nvSpPr>
        <p:spPr>
          <a:xfrm>
            <a:off x="5486400" y="45339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0.911</a:t>
            </a:r>
          </a:p>
        </p:txBody>
      </p:sp>
      <p:sp>
        <p:nvSpPr>
          <p:cNvPr id="64" name="TextBox 63"/>
          <p:cNvSpPr txBox="1"/>
          <p:nvPr/>
        </p:nvSpPr>
        <p:spPr>
          <a:xfrm>
            <a:off x="6819900" y="45339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0.402</a:t>
            </a:r>
          </a:p>
        </p:txBody>
      </p:sp>
      <p:sp>
        <p:nvSpPr>
          <p:cNvPr id="65" name="TextBox 64"/>
          <p:cNvSpPr txBox="1"/>
          <p:nvPr/>
        </p:nvSpPr>
        <p:spPr>
          <a:xfrm>
            <a:off x="78359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25.2%</a:t>
            </a:r>
          </a:p>
        </p:txBody>
      </p:sp>
      <p:sp>
        <p:nvSpPr>
          <p:cNvPr id="66" name="TextBox 65"/>
          <p:cNvSpPr txBox="1"/>
          <p:nvPr/>
        </p:nvSpPr>
        <p:spPr>
          <a:xfrm>
            <a:off x="91440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67" name="TextBox 66"/>
          <p:cNvSpPr txBox="1"/>
          <p:nvPr/>
        </p:nvSpPr>
        <p:spPr>
          <a:xfrm>
            <a:off x="104521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cxnSp>
        <p:nvCxnSpPr>
          <p:cNvPr id="68" name="Connector 6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000" y="5016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71" name="TextBox 70"/>
          <p:cNvSpPr txBox="1"/>
          <p:nvPr/>
        </p:nvSpPr>
        <p:spPr>
          <a:xfrm>
            <a:off x="2844800" y="5016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 tune</a:t>
            </a:r>
          </a:p>
        </p:txBody>
      </p:sp>
      <p:sp>
        <p:nvSpPr>
          <p:cNvPr id="72" name="TextBox 71"/>
          <p:cNvSpPr txBox="1"/>
          <p:nvPr/>
        </p:nvSpPr>
        <p:spPr>
          <a:xfrm>
            <a:off x="4419600" y="5016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0.896</a:t>
            </a:r>
          </a:p>
        </p:txBody>
      </p:sp>
      <p:sp>
        <p:nvSpPr>
          <p:cNvPr id="73" name="TextBox 72"/>
          <p:cNvSpPr txBox="1"/>
          <p:nvPr/>
        </p:nvSpPr>
        <p:spPr>
          <a:xfrm>
            <a:off x="5486400" y="5016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0.933</a:t>
            </a:r>
          </a:p>
        </p:txBody>
      </p:sp>
      <p:sp>
        <p:nvSpPr>
          <p:cNvPr id="74" name="TextBox 73"/>
          <p:cNvSpPr txBox="1"/>
          <p:nvPr/>
        </p:nvSpPr>
        <p:spPr>
          <a:xfrm>
            <a:off x="6819900" y="5016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0.403</a:t>
            </a:r>
          </a:p>
        </p:txBody>
      </p:sp>
      <p:sp>
        <p:nvSpPr>
          <p:cNvPr id="75" name="TextBox 74"/>
          <p:cNvSpPr txBox="1"/>
          <p:nvPr/>
        </p:nvSpPr>
        <p:spPr>
          <a:xfrm>
            <a:off x="78359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25.2%</a:t>
            </a:r>
          </a:p>
        </p:txBody>
      </p:sp>
      <p:sp>
        <p:nvSpPr>
          <p:cNvPr id="76" name="TextBox 75"/>
          <p:cNvSpPr txBox="1"/>
          <p:nvPr/>
        </p:nvSpPr>
        <p:spPr>
          <a:xfrm>
            <a:off x="91440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77" name="TextBox 76"/>
          <p:cNvSpPr txBox="1"/>
          <p:nvPr/>
        </p:nvSpPr>
        <p:spPr>
          <a:xfrm>
            <a:off x="104521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99.6%</a:t>
            </a:r>
          </a:p>
        </p:txBody>
      </p:sp>
      <p:cxnSp>
        <p:nvCxnSpPr>
          <p:cNvPr id="78" name="Connector 77"/>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All stages are shown, including regressions. These are candidate results, not test-selected routes.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Smoking / Stanford40 photos: zero-shot → probe →</a:t>
            </a:r>
          </a:p>
          <a:p>
            <a:pPr algn="l">
              <a:lnSpc>
                <a:spcPts val="3690"/>
              </a:lnSpc>
              <a:spcBef>
                <a:spcPts val="0"/>
              </a:spcBef>
              <a:spcAft>
                <a:spcPts val="0"/>
              </a:spcAft>
              <a:defRPr sz="3000" b="1">
                <a:solidFill>
                  <a:srgbClr val="142C40"/>
                </a:solidFill>
                <a:latin typeface="DejaVu Sans"/>
              </a:defRPr>
            </a:pPr>
            <a:r>
              <a:t>visual tune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 held-out cohort: n=806; positives=140; negatives=666 • dev-max-F1 cutoffs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21</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21" name="TextBox 20"/>
          <p:cNvSpPr txBox="1"/>
          <p:nvPr/>
        </p:nvSpPr>
        <p:spPr>
          <a:xfrm>
            <a:off x="2844800" y="2603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Zero-shot</a:t>
            </a:r>
          </a:p>
        </p:txBody>
      </p:sp>
      <p:sp>
        <p:nvSpPr>
          <p:cNvPr id="22" name="TextBox 21"/>
          <p:cNvSpPr txBox="1"/>
          <p:nvPr/>
        </p:nvSpPr>
        <p:spPr>
          <a:xfrm>
            <a:off x="4419600" y="2603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0.220</a:t>
            </a:r>
          </a:p>
        </p:txBody>
      </p:sp>
      <p:sp>
        <p:nvSpPr>
          <p:cNvPr id="23" name="TextBox 22"/>
          <p:cNvSpPr txBox="1"/>
          <p:nvPr/>
        </p:nvSpPr>
        <p:spPr>
          <a:xfrm>
            <a:off x="5486400" y="2603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0.578</a:t>
            </a:r>
          </a:p>
        </p:txBody>
      </p:sp>
      <p:sp>
        <p:nvSpPr>
          <p:cNvPr id="24" name="TextBox 23"/>
          <p:cNvSpPr txBox="1"/>
          <p:nvPr/>
        </p:nvSpPr>
        <p:spPr>
          <a:xfrm>
            <a:off x="6819900" y="2603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0.297</a:t>
            </a:r>
          </a:p>
        </p:txBody>
      </p:sp>
      <p:sp>
        <p:nvSpPr>
          <p:cNvPr id="25" name="TextBox 24"/>
          <p:cNvSpPr txBox="1"/>
          <p:nvPr/>
        </p:nvSpPr>
        <p:spPr>
          <a:xfrm>
            <a:off x="78359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17.4%</a:t>
            </a:r>
          </a:p>
        </p:txBody>
      </p:sp>
      <p:sp>
        <p:nvSpPr>
          <p:cNvPr id="26" name="TextBox 25"/>
          <p:cNvSpPr txBox="1"/>
          <p:nvPr/>
        </p:nvSpPr>
        <p:spPr>
          <a:xfrm>
            <a:off x="91440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27" name="TextBox 26"/>
          <p:cNvSpPr txBox="1"/>
          <p:nvPr/>
        </p:nvSpPr>
        <p:spPr>
          <a:xfrm>
            <a:off x="104521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99.7%</a:t>
            </a:r>
          </a:p>
        </p:txBody>
      </p:sp>
      <p:cxnSp>
        <p:nvCxnSpPr>
          <p:cNvPr id="28" name="Connector 2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0861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31" name="TextBox 30"/>
          <p:cNvSpPr txBox="1"/>
          <p:nvPr/>
        </p:nvSpPr>
        <p:spPr>
          <a:xfrm>
            <a:off x="2844800" y="30861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Linear probe</a:t>
            </a:r>
          </a:p>
        </p:txBody>
      </p:sp>
      <p:sp>
        <p:nvSpPr>
          <p:cNvPr id="32" name="TextBox 31"/>
          <p:cNvSpPr txBox="1"/>
          <p:nvPr/>
        </p:nvSpPr>
        <p:spPr>
          <a:xfrm>
            <a:off x="4419600" y="30861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0.851</a:t>
            </a:r>
          </a:p>
        </p:txBody>
      </p:sp>
      <p:sp>
        <p:nvSpPr>
          <p:cNvPr id="33" name="TextBox 32"/>
          <p:cNvSpPr txBox="1"/>
          <p:nvPr/>
        </p:nvSpPr>
        <p:spPr>
          <a:xfrm>
            <a:off x="5486400" y="30861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0.960</a:t>
            </a:r>
          </a:p>
        </p:txBody>
      </p:sp>
      <p:sp>
        <p:nvSpPr>
          <p:cNvPr id="34" name="TextBox 33"/>
          <p:cNvSpPr txBox="1"/>
          <p:nvPr/>
        </p:nvSpPr>
        <p:spPr>
          <a:xfrm>
            <a:off x="6819900" y="30861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0.587</a:t>
            </a:r>
          </a:p>
        </p:txBody>
      </p:sp>
      <p:sp>
        <p:nvSpPr>
          <p:cNvPr id="35" name="TextBox 34"/>
          <p:cNvSpPr txBox="1"/>
          <p:nvPr/>
        </p:nvSpPr>
        <p:spPr>
          <a:xfrm>
            <a:off x="78359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42.1%</a:t>
            </a:r>
          </a:p>
        </p:txBody>
      </p:sp>
      <p:sp>
        <p:nvSpPr>
          <p:cNvPr id="36" name="TextBox 35"/>
          <p:cNvSpPr txBox="1"/>
          <p:nvPr/>
        </p:nvSpPr>
        <p:spPr>
          <a:xfrm>
            <a:off x="91440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97.1%</a:t>
            </a:r>
          </a:p>
        </p:txBody>
      </p:sp>
      <p:sp>
        <p:nvSpPr>
          <p:cNvPr id="37" name="TextBox 36"/>
          <p:cNvSpPr txBox="1"/>
          <p:nvPr/>
        </p:nvSpPr>
        <p:spPr>
          <a:xfrm>
            <a:off x="104521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28.1%</a:t>
            </a:r>
          </a:p>
        </p:txBody>
      </p:sp>
      <p:cxnSp>
        <p:nvCxnSpPr>
          <p:cNvPr id="38" name="Connector 37"/>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5687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41" name="TextBox 40"/>
          <p:cNvSpPr txBox="1"/>
          <p:nvPr/>
        </p:nvSpPr>
        <p:spPr>
          <a:xfrm>
            <a:off x="2844800" y="35687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 tune</a:t>
            </a:r>
          </a:p>
        </p:txBody>
      </p:sp>
      <p:sp>
        <p:nvSpPr>
          <p:cNvPr id="42" name="TextBox 41"/>
          <p:cNvSpPr txBox="1"/>
          <p:nvPr/>
        </p:nvSpPr>
        <p:spPr>
          <a:xfrm>
            <a:off x="4419600" y="35687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0.901</a:t>
            </a:r>
          </a:p>
        </p:txBody>
      </p:sp>
      <p:sp>
        <p:nvSpPr>
          <p:cNvPr id="43" name="TextBox 42"/>
          <p:cNvSpPr txBox="1"/>
          <p:nvPr/>
        </p:nvSpPr>
        <p:spPr>
          <a:xfrm>
            <a:off x="5486400" y="35687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0.972</a:t>
            </a:r>
          </a:p>
        </p:txBody>
      </p:sp>
      <p:sp>
        <p:nvSpPr>
          <p:cNvPr id="44" name="TextBox 43"/>
          <p:cNvSpPr txBox="1"/>
          <p:nvPr/>
        </p:nvSpPr>
        <p:spPr>
          <a:xfrm>
            <a:off x="6819900" y="35687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0.678</a:t>
            </a:r>
          </a:p>
        </p:txBody>
      </p:sp>
      <p:sp>
        <p:nvSpPr>
          <p:cNvPr id="45" name="TextBox 44"/>
          <p:cNvSpPr txBox="1"/>
          <p:nvPr/>
        </p:nvSpPr>
        <p:spPr>
          <a:xfrm>
            <a:off x="78359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52.3%</a:t>
            </a:r>
          </a:p>
        </p:txBody>
      </p:sp>
      <p:sp>
        <p:nvSpPr>
          <p:cNvPr id="46" name="TextBox 45"/>
          <p:cNvSpPr txBox="1"/>
          <p:nvPr/>
        </p:nvSpPr>
        <p:spPr>
          <a:xfrm>
            <a:off x="91440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96.4%</a:t>
            </a:r>
          </a:p>
        </p:txBody>
      </p:sp>
      <p:sp>
        <p:nvSpPr>
          <p:cNvPr id="47" name="TextBox 46"/>
          <p:cNvSpPr txBox="1"/>
          <p:nvPr/>
        </p:nvSpPr>
        <p:spPr>
          <a:xfrm>
            <a:off x="104521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18.5%</a:t>
            </a:r>
          </a:p>
        </p:txBody>
      </p:sp>
      <p:cxnSp>
        <p:nvCxnSpPr>
          <p:cNvPr id="48" name="Connector 4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0513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51" name="TextBox 50"/>
          <p:cNvSpPr txBox="1"/>
          <p:nvPr/>
        </p:nvSpPr>
        <p:spPr>
          <a:xfrm>
            <a:off x="2844800" y="40513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Zero-shot</a:t>
            </a:r>
          </a:p>
        </p:txBody>
      </p:sp>
      <p:sp>
        <p:nvSpPr>
          <p:cNvPr id="52" name="TextBox 51"/>
          <p:cNvSpPr txBox="1"/>
          <p:nvPr/>
        </p:nvSpPr>
        <p:spPr>
          <a:xfrm>
            <a:off x="4419600" y="40513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0.499</a:t>
            </a:r>
          </a:p>
        </p:txBody>
      </p:sp>
      <p:sp>
        <p:nvSpPr>
          <p:cNvPr id="53" name="TextBox 52"/>
          <p:cNvSpPr txBox="1"/>
          <p:nvPr/>
        </p:nvSpPr>
        <p:spPr>
          <a:xfrm>
            <a:off x="5486400" y="40513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0.794</a:t>
            </a:r>
          </a:p>
        </p:txBody>
      </p:sp>
      <p:sp>
        <p:nvSpPr>
          <p:cNvPr id="54" name="TextBox 53"/>
          <p:cNvSpPr txBox="1"/>
          <p:nvPr/>
        </p:nvSpPr>
        <p:spPr>
          <a:xfrm>
            <a:off x="6819900" y="40513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0.390</a:t>
            </a:r>
          </a:p>
        </p:txBody>
      </p:sp>
      <p:sp>
        <p:nvSpPr>
          <p:cNvPr id="55" name="TextBox 54"/>
          <p:cNvSpPr txBox="1"/>
          <p:nvPr/>
        </p:nvSpPr>
        <p:spPr>
          <a:xfrm>
            <a:off x="78359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25.0%</a:t>
            </a:r>
          </a:p>
        </p:txBody>
      </p:sp>
      <p:sp>
        <p:nvSpPr>
          <p:cNvPr id="56" name="TextBox 55"/>
          <p:cNvSpPr txBox="1"/>
          <p:nvPr/>
        </p:nvSpPr>
        <p:spPr>
          <a:xfrm>
            <a:off x="91440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88.6%</a:t>
            </a:r>
          </a:p>
        </p:txBody>
      </p:sp>
      <p:sp>
        <p:nvSpPr>
          <p:cNvPr id="57" name="TextBox 56"/>
          <p:cNvSpPr txBox="1"/>
          <p:nvPr/>
        </p:nvSpPr>
        <p:spPr>
          <a:xfrm>
            <a:off x="104521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55.9%</a:t>
            </a:r>
          </a:p>
        </p:txBody>
      </p:sp>
      <p:cxnSp>
        <p:nvCxnSpPr>
          <p:cNvPr id="58" name="Connector 5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000" y="45339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61" name="TextBox 60"/>
          <p:cNvSpPr txBox="1"/>
          <p:nvPr/>
        </p:nvSpPr>
        <p:spPr>
          <a:xfrm>
            <a:off x="2844800" y="45339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Linear probe</a:t>
            </a:r>
          </a:p>
        </p:txBody>
      </p:sp>
      <p:sp>
        <p:nvSpPr>
          <p:cNvPr id="62" name="TextBox 61"/>
          <p:cNvSpPr txBox="1"/>
          <p:nvPr/>
        </p:nvSpPr>
        <p:spPr>
          <a:xfrm>
            <a:off x="4419600" y="45339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0.928</a:t>
            </a:r>
          </a:p>
        </p:txBody>
      </p:sp>
      <p:sp>
        <p:nvSpPr>
          <p:cNvPr id="63" name="TextBox 62"/>
          <p:cNvSpPr txBox="1"/>
          <p:nvPr/>
        </p:nvSpPr>
        <p:spPr>
          <a:xfrm>
            <a:off x="5486400" y="45339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0.977</a:t>
            </a:r>
          </a:p>
        </p:txBody>
      </p:sp>
      <p:sp>
        <p:nvSpPr>
          <p:cNvPr id="64" name="TextBox 63"/>
          <p:cNvSpPr txBox="1"/>
          <p:nvPr/>
        </p:nvSpPr>
        <p:spPr>
          <a:xfrm>
            <a:off x="6819900" y="45339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0.617</a:t>
            </a:r>
          </a:p>
        </p:txBody>
      </p:sp>
      <p:sp>
        <p:nvSpPr>
          <p:cNvPr id="65" name="TextBox 64"/>
          <p:cNvSpPr txBox="1"/>
          <p:nvPr/>
        </p:nvSpPr>
        <p:spPr>
          <a:xfrm>
            <a:off x="78359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45.1%</a:t>
            </a:r>
          </a:p>
        </p:txBody>
      </p:sp>
      <p:sp>
        <p:nvSpPr>
          <p:cNvPr id="66" name="TextBox 65"/>
          <p:cNvSpPr txBox="1"/>
          <p:nvPr/>
        </p:nvSpPr>
        <p:spPr>
          <a:xfrm>
            <a:off x="91440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97.9%</a:t>
            </a:r>
          </a:p>
        </p:txBody>
      </p:sp>
      <p:sp>
        <p:nvSpPr>
          <p:cNvPr id="67" name="TextBox 66"/>
          <p:cNvSpPr txBox="1"/>
          <p:nvPr/>
        </p:nvSpPr>
        <p:spPr>
          <a:xfrm>
            <a:off x="104521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25.1%</a:t>
            </a:r>
          </a:p>
        </p:txBody>
      </p:sp>
      <p:cxnSp>
        <p:nvCxnSpPr>
          <p:cNvPr id="68" name="Connector 6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000" y="5016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71" name="TextBox 70"/>
          <p:cNvSpPr txBox="1"/>
          <p:nvPr/>
        </p:nvSpPr>
        <p:spPr>
          <a:xfrm>
            <a:off x="2844800" y="5016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 tune</a:t>
            </a:r>
          </a:p>
        </p:txBody>
      </p:sp>
      <p:sp>
        <p:nvSpPr>
          <p:cNvPr id="72" name="TextBox 71"/>
          <p:cNvSpPr txBox="1"/>
          <p:nvPr/>
        </p:nvSpPr>
        <p:spPr>
          <a:xfrm>
            <a:off x="4419600" y="5016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0.954</a:t>
            </a:r>
          </a:p>
        </p:txBody>
      </p:sp>
      <p:sp>
        <p:nvSpPr>
          <p:cNvPr id="73" name="TextBox 72"/>
          <p:cNvSpPr txBox="1"/>
          <p:nvPr/>
        </p:nvSpPr>
        <p:spPr>
          <a:xfrm>
            <a:off x="5486400" y="5016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0.988</a:t>
            </a:r>
          </a:p>
        </p:txBody>
      </p:sp>
      <p:sp>
        <p:nvSpPr>
          <p:cNvPr id="74" name="TextBox 73"/>
          <p:cNvSpPr txBox="1"/>
          <p:nvPr/>
        </p:nvSpPr>
        <p:spPr>
          <a:xfrm>
            <a:off x="6819900" y="5016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0.777</a:t>
            </a:r>
          </a:p>
        </p:txBody>
      </p:sp>
      <p:sp>
        <p:nvSpPr>
          <p:cNvPr id="75" name="TextBox 74"/>
          <p:cNvSpPr txBox="1"/>
          <p:nvPr/>
        </p:nvSpPr>
        <p:spPr>
          <a:xfrm>
            <a:off x="78359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64.8%</a:t>
            </a:r>
          </a:p>
        </p:txBody>
      </p:sp>
      <p:sp>
        <p:nvSpPr>
          <p:cNvPr id="76" name="TextBox 75"/>
          <p:cNvSpPr txBox="1"/>
          <p:nvPr/>
        </p:nvSpPr>
        <p:spPr>
          <a:xfrm>
            <a:off x="91440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97.1%</a:t>
            </a:r>
          </a:p>
        </p:txBody>
      </p:sp>
      <p:sp>
        <p:nvSpPr>
          <p:cNvPr id="77" name="TextBox 76"/>
          <p:cNvSpPr txBox="1"/>
          <p:nvPr/>
        </p:nvSpPr>
        <p:spPr>
          <a:xfrm>
            <a:off x="104521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11.1%</a:t>
            </a:r>
          </a:p>
        </p:txBody>
      </p:sp>
      <p:cxnSp>
        <p:nvCxnSpPr>
          <p:cNvPr id="78" name="Connector 77"/>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All stages are shown, including regressions. These are candidate results, not test-selected routes.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DEVELOPMENT-SELECTED PRIMARY ROUTES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The chosen route is not always the most fine-tuned</a:t>
            </a:r>
          </a:p>
          <a:p>
            <a:pPr algn="l">
              <a:lnSpc>
                <a:spcPts val="3690"/>
              </a:lnSpc>
              <a:spcBef>
                <a:spcPts val="0"/>
              </a:spcBef>
              <a:spcAft>
                <a:spcPts val="0"/>
              </a:spcAft>
              <a:defRPr sz="3000" b="1">
                <a:solidFill>
                  <a:srgbClr val="142C40"/>
                </a:solidFill>
                <a:latin typeface="DejaVu Sans"/>
              </a:defRPr>
            </a:pPr>
            <a:r>
              <a:t>model</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Selection uses development mean source AP per target; simpler methods win ties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22</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844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Target</a:t>
            </a:r>
          </a:p>
        </p:txBody>
      </p:sp>
      <p:sp>
        <p:nvSpPr>
          <p:cNvPr id="12" name="TextBox 11"/>
          <p:cNvSpPr txBox="1"/>
          <p:nvPr/>
        </p:nvSpPr>
        <p:spPr>
          <a:xfrm>
            <a:off x="3683000" y="2171700"/>
            <a:ext cx="208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MobileCLIP route</a:t>
            </a:r>
          </a:p>
        </p:txBody>
      </p:sp>
      <p:sp>
        <p:nvSpPr>
          <p:cNvPr id="13" name="TextBox 12"/>
          <p:cNvSpPr txBox="1"/>
          <p:nvPr/>
        </p:nvSpPr>
        <p:spPr>
          <a:xfrm>
            <a:off x="5969000" y="2171700"/>
            <a:ext cx="208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SigLIP2 route</a:t>
            </a:r>
          </a:p>
        </p:txBody>
      </p:sp>
      <p:sp>
        <p:nvSpPr>
          <p:cNvPr id="14" name="TextBox 13"/>
          <p:cNvSpPr txBox="1"/>
          <p:nvPr/>
        </p:nvSpPr>
        <p:spPr>
          <a:xfrm>
            <a:off x="8255000" y="2171700"/>
            <a:ext cx="15494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Mobile AP</a:t>
            </a:r>
          </a:p>
        </p:txBody>
      </p:sp>
      <p:sp>
        <p:nvSpPr>
          <p:cNvPr id="15" name="TextBox 14"/>
          <p:cNvSpPr txBox="1"/>
          <p:nvPr/>
        </p:nvSpPr>
        <p:spPr>
          <a:xfrm>
            <a:off x="10007600" y="2171700"/>
            <a:ext cx="15494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SigLIP AP</a:t>
            </a:r>
          </a:p>
        </p:txBody>
      </p:sp>
      <p:sp>
        <p:nvSpPr>
          <p:cNvPr id="16" name="Rectangle 15"/>
          <p:cNvSpPr/>
          <p:nvPr/>
        </p:nvSpPr>
        <p:spPr>
          <a:xfrm>
            <a:off x="533400" y="25654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 y="26035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Smoking / CCTV</a:t>
            </a:r>
          </a:p>
        </p:txBody>
      </p:sp>
      <p:sp>
        <p:nvSpPr>
          <p:cNvPr id="18" name="TextBox 17"/>
          <p:cNvSpPr txBox="1"/>
          <p:nvPr/>
        </p:nvSpPr>
        <p:spPr>
          <a:xfrm>
            <a:off x="3683000" y="2603500"/>
            <a:ext cx="208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Visual tune</a:t>
            </a:r>
          </a:p>
        </p:txBody>
      </p:sp>
      <p:sp>
        <p:nvSpPr>
          <p:cNvPr id="19" name="TextBox 18"/>
          <p:cNvSpPr txBox="1"/>
          <p:nvPr/>
        </p:nvSpPr>
        <p:spPr>
          <a:xfrm>
            <a:off x="5969000" y="2603500"/>
            <a:ext cx="208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Visual tune</a:t>
            </a:r>
          </a:p>
        </p:txBody>
      </p:sp>
      <p:sp>
        <p:nvSpPr>
          <p:cNvPr id="20" name="TextBox 19"/>
          <p:cNvSpPr txBox="1"/>
          <p:nvPr/>
        </p:nvSpPr>
        <p:spPr>
          <a:xfrm>
            <a:off x="8255000" y="26035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0.564</a:t>
            </a:r>
          </a:p>
        </p:txBody>
      </p:sp>
      <p:sp>
        <p:nvSpPr>
          <p:cNvPr id="21" name="TextBox 20"/>
          <p:cNvSpPr txBox="1"/>
          <p:nvPr/>
        </p:nvSpPr>
        <p:spPr>
          <a:xfrm>
            <a:off x="10007600" y="26035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0.650</a:t>
            </a:r>
          </a:p>
        </p:txBody>
      </p:sp>
      <p:cxnSp>
        <p:nvCxnSpPr>
          <p:cNvPr id="22" name="Connector 21"/>
          <p:cNvCxnSpPr/>
          <p:nvPr/>
        </p:nvCxnSpPr>
        <p:spPr>
          <a:xfrm>
            <a:off x="533400" y="3098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098800"/>
            <a:ext cx="11125200" cy="533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000" y="31369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Littering / IWDD</a:t>
            </a:r>
          </a:p>
        </p:txBody>
      </p:sp>
      <p:sp>
        <p:nvSpPr>
          <p:cNvPr id="25" name="TextBox 24"/>
          <p:cNvSpPr txBox="1"/>
          <p:nvPr/>
        </p:nvSpPr>
        <p:spPr>
          <a:xfrm>
            <a:off x="3683000" y="3136900"/>
            <a:ext cx="208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Visual tune</a:t>
            </a:r>
          </a:p>
        </p:txBody>
      </p:sp>
      <p:sp>
        <p:nvSpPr>
          <p:cNvPr id="26" name="TextBox 25"/>
          <p:cNvSpPr txBox="1"/>
          <p:nvPr/>
        </p:nvSpPr>
        <p:spPr>
          <a:xfrm>
            <a:off x="5969000" y="3136900"/>
            <a:ext cx="208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Linear probe</a:t>
            </a:r>
          </a:p>
        </p:txBody>
      </p:sp>
      <p:sp>
        <p:nvSpPr>
          <p:cNvPr id="27" name="TextBox 26"/>
          <p:cNvSpPr txBox="1"/>
          <p:nvPr/>
        </p:nvSpPr>
        <p:spPr>
          <a:xfrm>
            <a:off x="8255000" y="31369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0.858</a:t>
            </a:r>
          </a:p>
        </p:txBody>
      </p:sp>
      <p:sp>
        <p:nvSpPr>
          <p:cNvPr id="28" name="TextBox 27"/>
          <p:cNvSpPr txBox="1"/>
          <p:nvPr/>
        </p:nvSpPr>
        <p:spPr>
          <a:xfrm>
            <a:off x="10007600" y="31369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0.885</a:t>
            </a:r>
          </a:p>
        </p:txBody>
      </p:sp>
      <p:cxnSp>
        <p:nvCxnSpPr>
          <p:cNvPr id="29" name="Connector 28"/>
          <p:cNvCxnSpPr/>
          <p:nvPr/>
        </p:nvCxnSpPr>
        <p:spPr>
          <a:xfrm>
            <a:off x="533400" y="3632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6322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000" y="36703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Loitering</a:t>
            </a:r>
          </a:p>
        </p:txBody>
      </p:sp>
      <p:sp>
        <p:nvSpPr>
          <p:cNvPr id="32" name="TextBox 31"/>
          <p:cNvSpPr txBox="1"/>
          <p:nvPr/>
        </p:nvSpPr>
        <p:spPr>
          <a:xfrm>
            <a:off x="3683000" y="3670300"/>
            <a:ext cx="208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Visual tune</a:t>
            </a:r>
          </a:p>
        </p:txBody>
      </p:sp>
      <p:sp>
        <p:nvSpPr>
          <p:cNvPr id="33" name="TextBox 32"/>
          <p:cNvSpPr txBox="1"/>
          <p:nvPr/>
        </p:nvSpPr>
        <p:spPr>
          <a:xfrm>
            <a:off x="5969000" y="3670300"/>
            <a:ext cx="208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Zero-shot</a:t>
            </a:r>
          </a:p>
        </p:txBody>
      </p:sp>
      <p:sp>
        <p:nvSpPr>
          <p:cNvPr id="34" name="TextBox 33"/>
          <p:cNvSpPr txBox="1"/>
          <p:nvPr/>
        </p:nvSpPr>
        <p:spPr>
          <a:xfrm>
            <a:off x="8255000" y="36703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0.093</a:t>
            </a:r>
          </a:p>
        </p:txBody>
      </p:sp>
      <p:sp>
        <p:nvSpPr>
          <p:cNvPr id="35" name="TextBox 34"/>
          <p:cNvSpPr txBox="1"/>
          <p:nvPr/>
        </p:nvSpPr>
        <p:spPr>
          <a:xfrm>
            <a:off x="10007600" y="36703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0.097</a:t>
            </a:r>
          </a:p>
        </p:txBody>
      </p:sp>
      <p:cxnSp>
        <p:nvCxnSpPr>
          <p:cNvPr id="36" name="Connector 35"/>
          <p:cNvCxnSpPr/>
          <p:nvPr/>
        </p:nvCxnSpPr>
        <p:spPr>
          <a:xfrm>
            <a:off x="533400" y="4165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4165600"/>
            <a:ext cx="11125200" cy="533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000" y="42037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Public sleep</a:t>
            </a:r>
          </a:p>
        </p:txBody>
      </p:sp>
      <p:sp>
        <p:nvSpPr>
          <p:cNvPr id="39" name="TextBox 38"/>
          <p:cNvSpPr txBox="1"/>
          <p:nvPr/>
        </p:nvSpPr>
        <p:spPr>
          <a:xfrm>
            <a:off x="3683000" y="4203700"/>
            <a:ext cx="208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Visual tune</a:t>
            </a:r>
          </a:p>
        </p:txBody>
      </p:sp>
      <p:sp>
        <p:nvSpPr>
          <p:cNvPr id="40" name="TextBox 39"/>
          <p:cNvSpPr txBox="1"/>
          <p:nvPr/>
        </p:nvSpPr>
        <p:spPr>
          <a:xfrm>
            <a:off x="5969000" y="4203700"/>
            <a:ext cx="208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Linear probe</a:t>
            </a:r>
          </a:p>
        </p:txBody>
      </p:sp>
      <p:sp>
        <p:nvSpPr>
          <p:cNvPr id="41" name="TextBox 40"/>
          <p:cNvSpPr txBox="1"/>
          <p:nvPr/>
        </p:nvSpPr>
        <p:spPr>
          <a:xfrm>
            <a:off x="8255000" y="42037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0.976</a:t>
            </a:r>
          </a:p>
        </p:txBody>
      </p:sp>
      <p:sp>
        <p:nvSpPr>
          <p:cNvPr id="42" name="TextBox 41"/>
          <p:cNvSpPr txBox="1"/>
          <p:nvPr/>
        </p:nvSpPr>
        <p:spPr>
          <a:xfrm>
            <a:off x="10007600" y="42037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0.915</a:t>
            </a:r>
          </a:p>
        </p:txBody>
      </p:sp>
      <p:cxnSp>
        <p:nvCxnSpPr>
          <p:cNvPr id="43" name="Connector 42"/>
          <p:cNvCxnSpPr/>
          <p:nvPr/>
        </p:nvCxnSpPr>
        <p:spPr>
          <a:xfrm>
            <a:off x="533400" y="4699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46990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000" y="47371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Unattended</a:t>
            </a:r>
          </a:p>
        </p:txBody>
      </p:sp>
      <p:sp>
        <p:nvSpPr>
          <p:cNvPr id="46" name="TextBox 45"/>
          <p:cNvSpPr txBox="1"/>
          <p:nvPr/>
        </p:nvSpPr>
        <p:spPr>
          <a:xfrm>
            <a:off x="3683000" y="4737100"/>
            <a:ext cx="208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Visual tune</a:t>
            </a:r>
          </a:p>
        </p:txBody>
      </p:sp>
      <p:sp>
        <p:nvSpPr>
          <p:cNvPr id="47" name="TextBox 46"/>
          <p:cNvSpPr txBox="1"/>
          <p:nvPr/>
        </p:nvSpPr>
        <p:spPr>
          <a:xfrm>
            <a:off x="5969000" y="4737100"/>
            <a:ext cx="208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Visual tune</a:t>
            </a:r>
          </a:p>
        </p:txBody>
      </p:sp>
      <p:sp>
        <p:nvSpPr>
          <p:cNvPr id="48" name="TextBox 47"/>
          <p:cNvSpPr txBox="1"/>
          <p:nvPr/>
        </p:nvSpPr>
        <p:spPr>
          <a:xfrm>
            <a:off x="8255000" y="47371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0.652</a:t>
            </a:r>
          </a:p>
        </p:txBody>
      </p:sp>
      <p:sp>
        <p:nvSpPr>
          <p:cNvPr id="49" name="TextBox 48"/>
          <p:cNvSpPr txBox="1"/>
          <p:nvPr/>
        </p:nvSpPr>
        <p:spPr>
          <a:xfrm>
            <a:off x="10007600" y="47371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0.896</a:t>
            </a:r>
          </a:p>
        </p:txBody>
      </p:sp>
      <p:cxnSp>
        <p:nvCxnSpPr>
          <p:cNvPr id="50" name="Connector 49"/>
          <p:cNvCxnSpPr/>
          <p:nvPr/>
        </p:nvCxnSpPr>
        <p:spPr>
          <a:xfrm>
            <a:off x="533400" y="5232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SigLIP keeps the probe for dumping/sleep and zero-shot for loitering, even where a test alternative scores</a:t>
            </a:r>
          </a:p>
          <a:p>
            <a:pPr algn="l">
              <a:lnSpc>
                <a:spcPts val="1660"/>
              </a:lnSpc>
              <a:spcBef>
                <a:spcPts val="0"/>
              </a:spcBef>
              <a:spcAft>
                <a:spcPts val="0"/>
              </a:spcAft>
              <a:defRPr sz="1350" b="1">
                <a:solidFill>
                  <a:srgbClr val="007E80"/>
                </a:solidFill>
                <a:latin typeface="DejaVu Sans"/>
              </a:defRPr>
            </a:pPr>
            <a:r>
              <a:t>higher.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Unattended items: the cutoff changes the</a:t>
            </a:r>
          </a:p>
          <a:p>
            <a:pPr algn="l">
              <a:lnSpc>
                <a:spcPts val="3690"/>
              </a:lnSpc>
              <a:spcBef>
                <a:spcPts val="0"/>
              </a:spcBef>
              <a:spcAft>
                <a:spcPts val="0"/>
              </a:spcAft>
              <a:defRPr sz="3000" b="1">
                <a:solidFill>
                  <a:srgbClr val="142C40"/>
                </a:solidFill>
                <a:latin typeface="DejaVu Sans"/>
              </a:defRPr>
            </a:pPr>
            <a:r>
              <a:t>conclusion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Primary development-selected routes • same 962 endpoints, 242 positive / 720 normal</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23</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21" name="TextBox 20"/>
          <p:cNvSpPr txBox="1"/>
          <p:nvPr/>
        </p:nvSpPr>
        <p:spPr>
          <a:xfrm>
            <a:off x="2844800" y="2603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Raw zero</a:t>
            </a:r>
          </a:p>
        </p:txBody>
      </p:sp>
      <p:sp>
        <p:nvSpPr>
          <p:cNvPr id="22" name="TextBox 21"/>
          <p:cNvSpPr txBox="1"/>
          <p:nvPr/>
        </p:nvSpPr>
        <p:spPr>
          <a:xfrm>
            <a:off x="4419600" y="2603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0.652</a:t>
            </a:r>
          </a:p>
        </p:txBody>
      </p:sp>
      <p:sp>
        <p:nvSpPr>
          <p:cNvPr id="23" name="TextBox 22"/>
          <p:cNvSpPr txBox="1"/>
          <p:nvPr/>
        </p:nvSpPr>
        <p:spPr>
          <a:xfrm>
            <a:off x="5486400" y="2603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0.848</a:t>
            </a:r>
          </a:p>
        </p:txBody>
      </p:sp>
      <p:sp>
        <p:nvSpPr>
          <p:cNvPr id="24" name="TextBox 23"/>
          <p:cNvSpPr txBox="1"/>
          <p:nvPr/>
        </p:nvSpPr>
        <p:spPr>
          <a:xfrm>
            <a:off x="6819900" y="2603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0.408</a:t>
            </a:r>
          </a:p>
        </p:txBody>
      </p:sp>
      <p:sp>
        <p:nvSpPr>
          <p:cNvPr id="25" name="TextBox 24"/>
          <p:cNvSpPr txBox="1"/>
          <p:nvPr/>
        </p:nvSpPr>
        <p:spPr>
          <a:xfrm>
            <a:off x="78359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26" name="TextBox 25"/>
          <p:cNvSpPr txBox="1"/>
          <p:nvPr/>
        </p:nvSpPr>
        <p:spPr>
          <a:xfrm>
            <a:off x="91440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25.6%</a:t>
            </a:r>
          </a:p>
        </p:txBody>
      </p:sp>
      <p:sp>
        <p:nvSpPr>
          <p:cNvPr id="27" name="TextBox 26"/>
          <p:cNvSpPr txBox="1"/>
          <p:nvPr/>
        </p:nvSpPr>
        <p:spPr>
          <a:xfrm>
            <a:off x="104521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28" name="Connector 2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0861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31" name="TextBox 30"/>
          <p:cNvSpPr txBox="1"/>
          <p:nvPr/>
        </p:nvSpPr>
        <p:spPr>
          <a:xfrm>
            <a:off x="2844800" y="30861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Dev max-F1</a:t>
            </a:r>
          </a:p>
        </p:txBody>
      </p:sp>
      <p:sp>
        <p:nvSpPr>
          <p:cNvPr id="32" name="TextBox 31"/>
          <p:cNvSpPr txBox="1"/>
          <p:nvPr/>
        </p:nvSpPr>
        <p:spPr>
          <a:xfrm>
            <a:off x="4419600" y="30861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0.652</a:t>
            </a:r>
          </a:p>
        </p:txBody>
      </p:sp>
      <p:sp>
        <p:nvSpPr>
          <p:cNvPr id="33" name="TextBox 32"/>
          <p:cNvSpPr txBox="1"/>
          <p:nvPr/>
        </p:nvSpPr>
        <p:spPr>
          <a:xfrm>
            <a:off x="5486400" y="30861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0.848</a:t>
            </a:r>
          </a:p>
        </p:txBody>
      </p:sp>
      <p:sp>
        <p:nvSpPr>
          <p:cNvPr id="34" name="TextBox 33"/>
          <p:cNvSpPr txBox="1"/>
          <p:nvPr/>
        </p:nvSpPr>
        <p:spPr>
          <a:xfrm>
            <a:off x="6819900" y="30861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0.408</a:t>
            </a:r>
          </a:p>
        </p:txBody>
      </p:sp>
      <p:sp>
        <p:nvSpPr>
          <p:cNvPr id="35" name="TextBox 34"/>
          <p:cNvSpPr txBox="1"/>
          <p:nvPr/>
        </p:nvSpPr>
        <p:spPr>
          <a:xfrm>
            <a:off x="78359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25.6%</a:t>
            </a:r>
          </a:p>
        </p:txBody>
      </p:sp>
      <p:sp>
        <p:nvSpPr>
          <p:cNvPr id="36" name="TextBox 35"/>
          <p:cNvSpPr txBox="1"/>
          <p:nvPr/>
        </p:nvSpPr>
        <p:spPr>
          <a:xfrm>
            <a:off x="91440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37" name="TextBox 36"/>
          <p:cNvSpPr txBox="1"/>
          <p:nvPr/>
        </p:nvSpPr>
        <p:spPr>
          <a:xfrm>
            <a:off x="104521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97.6%</a:t>
            </a:r>
          </a:p>
        </p:txBody>
      </p:sp>
      <p:cxnSp>
        <p:nvCxnSpPr>
          <p:cNvPr id="38" name="Connector 37"/>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5687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41" name="TextBox 40"/>
          <p:cNvSpPr txBox="1"/>
          <p:nvPr/>
        </p:nvSpPr>
        <p:spPr>
          <a:xfrm>
            <a:off x="2844800" y="35687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Dev ≤5% FPR</a:t>
            </a:r>
          </a:p>
        </p:txBody>
      </p:sp>
      <p:sp>
        <p:nvSpPr>
          <p:cNvPr id="42" name="TextBox 41"/>
          <p:cNvSpPr txBox="1"/>
          <p:nvPr/>
        </p:nvSpPr>
        <p:spPr>
          <a:xfrm>
            <a:off x="4419600" y="35687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0.652</a:t>
            </a:r>
          </a:p>
        </p:txBody>
      </p:sp>
      <p:sp>
        <p:nvSpPr>
          <p:cNvPr id="43" name="TextBox 42"/>
          <p:cNvSpPr txBox="1"/>
          <p:nvPr/>
        </p:nvSpPr>
        <p:spPr>
          <a:xfrm>
            <a:off x="5486400" y="35687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0.848</a:t>
            </a:r>
          </a:p>
        </p:txBody>
      </p:sp>
      <p:sp>
        <p:nvSpPr>
          <p:cNvPr id="44" name="TextBox 43"/>
          <p:cNvSpPr txBox="1"/>
          <p:nvPr/>
        </p:nvSpPr>
        <p:spPr>
          <a:xfrm>
            <a:off x="6819900" y="35687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0.631</a:t>
            </a:r>
          </a:p>
        </p:txBody>
      </p:sp>
      <p:sp>
        <p:nvSpPr>
          <p:cNvPr id="45" name="TextBox 44"/>
          <p:cNvSpPr txBox="1"/>
          <p:nvPr/>
        </p:nvSpPr>
        <p:spPr>
          <a:xfrm>
            <a:off x="78359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47.0%</a:t>
            </a:r>
          </a:p>
        </p:txBody>
      </p:sp>
      <p:sp>
        <p:nvSpPr>
          <p:cNvPr id="46" name="TextBox 45"/>
          <p:cNvSpPr txBox="1"/>
          <p:nvPr/>
        </p:nvSpPr>
        <p:spPr>
          <a:xfrm>
            <a:off x="91440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96.3%</a:t>
            </a:r>
          </a:p>
        </p:txBody>
      </p:sp>
      <p:sp>
        <p:nvSpPr>
          <p:cNvPr id="47" name="TextBox 46"/>
          <p:cNvSpPr txBox="1"/>
          <p:nvPr/>
        </p:nvSpPr>
        <p:spPr>
          <a:xfrm>
            <a:off x="104521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36.5%</a:t>
            </a:r>
          </a:p>
        </p:txBody>
      </p:sp>
      <p:cxnSp>
        <p:nvCxnSpPr>
          <p:cNvPr id="48" name="Connector 4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0513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51" name="TextBox 50"/>
          <p:cNvSpPr txBox="1"/>
          <p:nvPr/>
        </p:nvSpPr>
        <p:spPr>
          <a:xfrm>
            <a:off x="2844800" y="40513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Raw zero</a:t>
            </a:r>
          </a:p>
        </p:txBody>
      </p:sp>
      <p:sp>
        <p:nvSpPr>
          <p:cNvPr id="52" name="TextBox 51"/>
          <p:cNvSpPr txBox="1"/>
          <p:nvPr/>
        </p:nvSpPr>
        <p:spPr>
          <a:xfrm>
            <a:off x="4419600" y="40513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0.896</a:t>
            </a:r>
          </a:p>
        </p:txBody>
      </p:sp>
      <p:sp>
        <p:nvSpPr>
          <p:cNvPr id="53" name="TextBox 52"/>
          <p:cNvSpPr txBox="1"/>
          <p:nvPr/>
        </p:nvSpPr>
        <p:spPr>
          <a:xfrm>
            <a:off x="5486400" y="40513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0.933</a:t>
            </a:r>
          </a:p>
        </p:txBody>
      </p:sp>
      <p:sp>
        <p:nvSpPr>
          <p:cNvPr id="54" name="TextBox 53"/>
          <p:cNvSpPr txBox="1"/>
          <p:nvPr/>
        </p:nvSpPr>
        <p:spPr>
          <a:xfrm>
            <a:off x="6819900" y="40513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0.749</a:t>
            </a:r>
          </a:p>
        </p:txBody>
      </p:sp>
      <p:sp>
        <p:nvSpPr>
          <p:cNvPr id="55" name="TextBox 54"/>
          <p:cNvSpPr txBox="1"/>
          <p:nvPr/>
        </p:nvSpPr>
        <p:spPr>
          <a:xfrm>
            <a:off x="78359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96.7%</a:t>
            </a:r>
          </a:p>
        </p:txBody>
      </p:sp>
      <p:sp>
        <p:nvSpPr>
          <p:cNvPr id="56" name="TextBox 55"/>
          <p:cNvSpPr txBox="1"/>
          <p:nvPr/>
        </p:nvSpPr>
        <p:spPr>
          <a:xfrm>
            <a:off x="91440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61.2%</a:t>
            </a:r>
          </a:p>
        </p:txBody>
      </p:sp>
      <p:sp>
        <p:nvSpPr>
          <p:cNvPr id="57" name="TextBox 56"/>
          <p:cNvSpPr txBox="1"/>
          <p:nvPr/>
        </p:nvSpPr>
        <p:spPr>
          <a:xfrm>
            <a:off x="104521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a:t>
            </a:r>
          </a:p>
        </p:txBody>
      </p:sp>
      <p:cxnSp>
        <p:nvCxnSpPr>
          <p:cNvPr id="58" name="Connector 5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000" y="45339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61" name="TextBox 60"/>
          <p:cNvSpPr txBox="1"/>
          <p:nvPr/>
        </p:nvSpPr>
        <p:spPr>
          <a:xfrm>
            <a:off x="2844800" y="45339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Dev max-F1</a:t>
            </a:r>
          </a:p>
        </p:txBody>
      </p:sp>
      <p:sp>
        <p:nvSpPr>
          <p:cNvPr id="62" name="TextBox 61"/>
          <p:cNvSpPr txBox="1"/>
          <p:nvPr/>
        </p:nvSpPr>
        <p:spPr>
          <a:xfrm>
            <a:off x="4419600" y="45339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0.896</a:t>
            </a:r>
          </a:p>
        </p:txBody>
      </p:sp>
      <p:sp>
        <p:nvSpPr>
          <p:cNvPr id="63" name="TextBox 62"/>
          <p:cNvSpPr txBox="1"/>
          <p:nvPr/>
        </p:nvSpPr>
        <p:spPr>
          <a:xfrm>
            <a:off x="5486400" y="45339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0.933</a:t>
            </a:r>
          </a:p>
        </p:txBody>
      </p:sp>
      <p:sp>
        <p:nvSpPr>
          <p:cNvPr id="64" name="TextBox 63"/>
          <p:cNvSpPr txBox="1"/>
          <p:nvPr/>
        </p:nvSpPr>
        <p:spPr>
          <a:xfrm>
            <a:off x="6819900" y="45339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0.403</a:t>
            </a:r>
          </a:p>
        </p:txBody>
      </p:sp>
      <p:sp>
        <p:nvSpPr>
          <p:cNvPr id="65" name="TextBox 64"/>
          <p:cNvSpPr txBox="1"/>
          <p:nvPr/>
        </p:nvSpPr>
        <p:spPr>
          <a:xfrm>
            <a:off x="78359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25.2%</a:t>
            </a:r>
          </a:p>
        </p:txBody>
      </p:sp>
      <p:sp>
        <p:nvSpPr>
          <p:cNvPr id="66" name="TextBox 65"/>
          <p:cNvSpPr txBox="1"/>
          <p:nvPr/>
        </p:nvSpPr>
        <p:spPr>
          <a:xfrm>
            <a:off x="91440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67" name="TextBox 66"/>
          <p:cNvSpPr txBox="1"/>
          <p:nvPr/>
        </p:nvSpPr>
        <p:spPr>
          <a:xfrm>
            <a:off x="104521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99.6%</a:t>
            </a:r>
          </a:p>
        </p:txBody>
      </p:sp>
      <p:cxnSp>
        <p:nvCxnSpPr>
          <p:cNvPr id="68" name="Connector 6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000" y="5016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71" name="TextBox 70"/>
          <p:cNvSpPr txBox="1"/>
          <p:nvPr/>
        </p:nvSpPr>
        <p:spPr>
          <a:xfrm>
            <a:off x="2844800" y="5016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Dev ≤5% FPR</a:t>
            </a:r>
          </a:p>
        </p:txBody>
      </p:sp>
      <p:sp>
        <p:nvSpPr>
          <p:cNvPr id="72" name="TextBox 71"/>
          <p:cNvSpPr txBox="1"/>
          <p:nvPr/>
        </p:nvSpPr>
        <p:spPr>
          <a:xfrm>
            <a:off x="4419600" y="5016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0.896</a:t>
            </a:r>
          </a:p>
        </p:txBody>
      </p:sp>
      <p:sp>
        <p:nvSpPr>
          <p:cNvPr id="73" name="TextBox 72"/>
          <p:cNvSpPr txBox="1"/>
          <p:nvPr/>
        </p:nvSpPr>
        <p:spPr>
          <a:xfrm>
            <a:off x="5486400" y="5016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0.933</a:t>
            </a:r>
          </a:p>
        </p:txBody>
      </p:sp>
      <p:sp>
        <p:nvSpPr>
          <p:cNvPr id="74" name="TextBox 73"/>
          <p:cNvSpPr txBox="1"/>
          <p:nvPr/>
        </p:nvSpPr>
        <p:spPr>
          <a:xfrm>
            <a:off x="6819900" y="5016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0.403</a:t>
            </a:r>
          </a:p>
        </p:txBody>
      </p:sp>
      <p:sp>
        <p:nvSpPr>
          <p:cNvPr id="75" name="TextBox 74"/>
          <p:cNvSpPr txBox="1"/>
          <p:nvPr/>
        </p:nvSpPr>
        <p:spPr>
          <a:xfrm>
            <a:off x="78359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25.3%</a:t>
            </a:r>
          </a:p>
        </p:txBody>
      </p:sp>
      <p:sp>
        <p:nvSpPr>
          <p:cNvPr id="76" name="TextBox 75"/>
          <p:cNvSpPr txBox="1"/>
          <p:nvPr/>
        </p:nvSpPr>
        <p:spPr>
          <a:xfrm>
            <a:off x="91440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77" name="TextBox 76"/>
          <p:cNvSpPr txBox="1"/>
          <p:nvPr/>
        </p:nvSpPr>
        <p:spPr>
          <a:xfrm>
            <a:off x="104521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99.4%</a:t>
            </a:r>
          </a:p>
        </p:txBody>
      </p:sp>
      <p:cxnSp>
        <p:nvCxnSpPr>
          <p:cNvPr id="78" name="Connector 77"/>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SigLIP raw F1 ≈0.749 and FPR ≈0.7%; its development-selected cutoffs produce ≈99% test FPR.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REPEATED OPTIMIZATION SEEDS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Keep seed 42 primary and report the other seeds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Each seed has its development-selected target route • same test sources in every repetition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24</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844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Target</a:t>
            </a:r>
          </a:p>
        </p:txBody>
      </p:sp>
      <p:sp>
        <p:nvSpPr>
          <p:cNvPr id="12" name="TextBox 11"/>
          <p:cNvSpPr txBox="1"/>
          <p:nvPr/>
        </p:nvSpPr>
        <p:spPr>
          <a:xfrm>
            <a:off x="3683000" y="2171700"/>
            <a:ext cx="18161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Mobile primary</a:t>
            </a:r>
          </a:p>
        </p:txBody>
      </p:sp>
      <p:sp>
        <p:nvSpPr>
          <p:cNvPr id="13" name="TextBox 12"/>
          <p:cNvSpPr txBox="1"/>
          <p:nvPr/>
        </p:nvSpPr>
        <p:spPr>
          <a:xfrm>
            <a:off x="5702300" y="2171700"/>
            <a:ext cx="18161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Mobile range</a:t>
            </a:r>
          </a:p>
        </p:txBody>
      </p:sp>
      <p:sp>
        <p:nvSpPr>
          <p:cNvPr id="14" name="TextBox 13"/>
          <p:cNvSpPr txBox="1"/>
          <p:nvPr/>
        </p:nvSpPr>
        <p:spPr>
          <a:xfrm>
            <a:off x="7721600" y="2171700"/>
            <a:ext cx="18161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SigLIP primary</a:t>
            </a:r>
          </a:p>
        </p:txBody>
      </p:sp>
      <p:sp>
        <p:nvSpPr>
          <p:cNvPr id="15" name="TextBox 14"/>
          <p:cNvSpPr txBox="1"/>
          <p:nvPr/>
        </p:nvSpPr>
        <p:spPr>
          <a:xfrm>
            <a:off x="9740900" y="2171700"/>
            <a:ext cx="18161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SigLIP range</a:t>
            </a:r>
          </a:p>
        </p:txBody>
      </p:sp>
      <p:sp>
        <p:nvSpPr>
          <p:cNvPr id="16" name="Rectangle 15"/>
          <p:cNvSpPr/>
          <p:nvPr/>
        </p:nvSpPr>
        <p:spPr>
          <a:xfrm>
            <a:off x="533400" y="25654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 y="26035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Smoking / CCTV</a:t>
            </a:r>
          </a:p>
        </p:txBody>
      </p:sp>
      <p:sp>
        <p:nvSpPr>
          <p:cNvPr id="18" name="TextBox 17"/>
          <p:cNvSpPr txBox="1"/>
          <p:nvPr/>
        </p:nvSpPr>
        <p:spPr>
          <a:xfrm>
            <a:off x="3683000" y="26035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0.564</a:t>
            </a:r>
          </a:p>
        </p:txBody>
      </p:sp>
      <p:sp>
        <p:nvSpPr>
          <p:cNvPr id="19" name="TextBox 18"/>
          <p:cNvSpPr txBox="1"/>
          <p:nvPr/>
        </p:nvSpPr>
        <p:spPr>
          <a:xfrm>
            <a:off x="5702300" y="26035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0.564–0.594</a:t>
            </a:r>
          </a:p>
        </p:txBody>
      </p:sp>
      <p:sp>
        <p:nvSpPr>
          <p:cNvPr id="20" name="TextBox 19"/>
          <p:cNvSpPr txBox="1"/>
          <p:nvPr/>
        </p:nvSpPr>
        <p:spPr>
          <a:xfrm>
            <a:off x="7721600" y="26035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0.650</a:t>
            </a:r>
          </a:p>
        </p:txBody>
      </p:sp>
      <p:sp>
        <p:nvSpPr>
          <p:cNvPr id="21" name="TextBox 20"/>
          <p:cNvSpPr txBox="1"/>
          <p:nvPr/>
        </p:nvSpPr>
        <p:spPr>
          <a:xfrm>
            <a:off x="9740900" y="26035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0.650–0.692</a:t>
            </a:r>
          </a:p>
        </p:txBody>
      </p:sp>
      <p:cxnSp>
        <p:nvCxnSpPr>
          <p:cNvPr id="22" name="Connector 21"/>
          <p:cNvCxnSpPr/>
          <p:nvPr/>
        </p:nvCxnSpPr>
        <p:spPr>
          <a:xfrm>
            <a:off x="533400" y="3098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098800"/>
            <a:ext cx="11125200" cy="533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000" y="31369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Littering / IWDD</a:t>
            </a:r>
          </a:p>
        </p:txBody>
      </p:sp>
      <p:sp>
        <p:nvSpPr>
          <p:cNvPr id="25" name="TextBox 24"/>
          <p:cNvSpPr txBox="1"/>
          <p:nvPr/>
        </p:nvSpPr>
        <p:spPr>
          <a:xfrm>
            <a:off x="3683000" y="31369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0.858</a:t>
            </a:r>
          </a:p>
        </p:txBody>
      </p:sp>
      <p:sp>
        <p:nvSpPr>
          <p:cNvPr id="26" name="TextBox 25"/>
          <p:cNvSpPr txBox="1"/>
          <p:nvPr/>
        </p:nvSpPr>
        <p:spPr>
          <a:xfrm>
            <a:off x="5702300" y="31369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0.799–0.861</a:t>
            </a:r>
          </a:p>
        </p:txBody>
      </p:sp>
      <p:sp>
        <p:nvSpPr>
          <p:cNvPr id="27" name="TextBox 26"/>
          <p:cNvSpPr txBox="1"/>
          <p:nvPr/>
        </p:nvSpPr>
        <p:spPr>
          <a:xfrm>
            <a:off x="7721600" y="31369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0.885</a:t>
            </a:r>
          </a:p>
        </p:txBody>
      </p:sp>
      <p:sp>
        <p:nvSpPr>
          <p:cNvPr id="28" name="TextBox 27"/>
          <p:cNvSpPr txBox="1"/>
          <p:nvPr/>
        </p:nvSpPr>
        <p:spPr>
          <a:xfrm>
            <a:off x="9740900" y="31369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0.885–0.885</a:t>
            </a:r>
          </a:p>
        </p:txBody>
      </p:sp>
      <p:cxnSp>
        <p:nvCxnSpPr>
          <p:cNvPr id="29" name="Connector 28"/>
          <p:cNvCxnSpPr/>
          <p:nvPr/>
        </p:nvCxnSpPr>
        <p:spPr>
          <a:xfrm>
            <a:off x="533400" y="3632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6322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000" y="36703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Loitering</a:t>
            </a:r>
          </a:p>
        </p:txBody>
      </p:sp>
      <p:sp>
        <p:nvSpPr>
          <p:cNvPr id="32" name="TextBox 31"/>
          <p:cNvSpPr txBox="1"/>
          <p:nvPr/>
        </p:nvSpPr>
        <p:spPr>
          <a:xfrm>
            <a:off x="3683000" y="36703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0.093</a:t>
            </a:r>
          </a:p>
        </p:txBody>
      </p:sp>
      <p:sp>
        <p:nvSpPr>
          <p:cNvPr id="33" name="TextBox 32"/>
          <p:cNvSpPr txBox="1"/>
          <p:nvPr/>
        </p:nvSpPr>
        <p:spPr>
          <a:xfrm>
            <a:off x="5702300" y="36703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0.093–0.111</a:t>
            </a:r>
          </a:p>
        </p:txBody>
      </p:sp>
      <p:sp>
        <p:nvSpPr>
          <p:cNvPr id="34" name="TextBox 33"/>
          <p:cNvSpPr txBox="1"/>
          <p:nvPr/>
        </p:nvSpPr>
        <p:spPr>
          <a:xfrm>
            <a:off x="7721600" y="36703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0.097</a:t>
            </a:r>
          </a:p>
        </p:txBody>
      </p:sp>
      <p:sp>
        <p:nvSpPr>
          <p:cNvPr id="35" name="TextBox 34"/>
          <p:cNvSpPr txBox="1"/>
          <p:nvPr/>
        </p:nvSpPr>
        <p:spPr>
          <a:xfrm>
            <a:off x="9740900" y="36703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0.095–0.097</a:t>
            </a:r>
          </a:p>
        </p:txBody>
      </p:sp>
      <p:cxnSp>
        <p:nvCxnSpPr>
          <p:cNvPr id="36" name="Connector 35"/>
          <p:cNvCxnSpPr/>
          <p:nvPr/>
        </p:nvCxnSpPr>
        <p:spPr>
          <a:xfrm>
            <a:off x="533400" y="4165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4165600"/>
            <a:ext cx="11125200" cy="533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000" y="42037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Public sleep</a:t>
            </a:r>
          </a:p>
        </p:txBody>
      </p:sp>
      <p:sp>
        <p:nvSpPr>
          <p:cNvPr id="39" name="TextBox 38"/>
          <p:cNvSpPr txBox="1"/>
          <p:nvPr/>
        </p:nvSpPr>
        <p:spPr>
          <a:xfrm>
            <a:off x="3683000" y="42037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0.976</a:t>
            </a:r>
          </a:p>
        </p:txBody>
      </p:sp>
      <p:sp>
        <p:nvSpPr>
          <p:cNvPr id="40" name="TextBox 39"/>
          <p:cNvSpPr txBox="1"/>
          <p:nvPr/>
        </p:nvSpPr>
        <p:spPr>
          <a:xfrm>
            <a:off x="5702300" y="42037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0.976–1.000</a:t>
            </a:r>
          </a:p>
        </p:txBody>
      </p:sp>
      <p:sp>
        <p:nvSpPr>
          <p:cNvPr id="41" name="TextBox 40"/>
          <p:cNvSpPr txBox="1"/>
          <p:nvPr/>
        </p:nvSpPr>
        <p:spPr>
          <a:xfrm>
            <a:off x="7721600" y="42037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0.915</a:t>
            </a:r>
          </a:p>
        </p:txBody>
      </p:sp>
      <p:sp>
        <p:nvSpPr>
          <p:cNvPr id="42" name="TextBox 41"/>
          <p:cNvSpPr txBox="1"/>
          <p:nvPr/>
        </p:nvSpPr>
        <p:spPr>
          <a:xfrm>
            <a:off x="9740900" y="42037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0.915–0.915</a:t>
            </a:r>
          </a:p>
        </p:txBody>
      </p:sp>
      <p:cxnSp>
        <p:nvCxnSpPr>
          <p:cNvPr id="43" name="Connector 42"/>
          <p:cNvCxnSpPr/>
          <p:nvPr/>
        </p:nvCxnSpPr>
        <p:spPr>
          <a:xfrm>
            <a:off x="533400" y="4699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46990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000" y="4737100"/>
            <a:ext cx="28448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Unattended</a:t>
            </a:r>
          </a:p>
        </p:txBody>
      </p:sp>
      <p:sp>
        <p:nvSpPr>
          <p:cNvPr id="46" name="TextBox 45"/>
          <p:cNvSpPr txBox="1"/>
          <p:nvPr/>
        </p:nvSpPr>
        <p:spPr>
          <a:xfrm>
            <a:off x="3683000" y="47371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0.652</a:t>
            </a:r>
          </a:p>
        </p:txBody>
      </p:sp>
      <p:sp>
        <p:nvSpPr>
          <p:cNvPr id="47" name="TextBox 46"/>
          <p:cNvSpPr txBox="1"/>
          <p:nvPr/>
        </p:nvSpPr>
        <p:spPr>
          <a:xfrm>
            <a:off x="5702300" y="47371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0.513–0.697</a:t>
            </a:r>
          </a:p>
        </p:txBody>
      </p:sp>
      <p:sp>
        <p:nvSpPr>
          <p:cNvPr id="48" name="TextBox 47"/>
          <p:cNvSpPr txBox="1"/>
          <p:nvPr/>
        </p:nvSpPr>
        <p:spPr>
          <a:xfrm>
            <a:off x="7721600" y="47371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0.896</a:t>
            </a:r>
          </a:p>
        </p:txBody>
      </p:sp>
      <p:sp>
        <p:nvSpPr>
          <p:cNvPr id="49" name="TextBox 48"/>
          <p:cNvSpPr txBox="1"/>
          <p:nvPr/>
        </p:nvSpPr>
        <p:spPr>
          <a:xfrm>
            <a:off x="9740900" y="4737100"/>
            <a:ext cx="1816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0.855–0.902</a:t>
            </a:r>
          </a:p>
        </p:txBody>
      </p:sp>
      <p:cxnSp>
        <p:nvCxnSpPr>
          <p:cNvPr id="50" name="Connector 49"/>
          <p:cNvCxnSpPr/>
          <p:nvPr/>
        </p:nvCxnSpPr>
        <p:spPr>
          <a:xfrm>
            <a:off x="533400" y="5232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These ranges measure optimization and route variation, not confidence intervals over unseen cameras.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TRAINING / EXPANDED REPRESENTATION STUDY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After backbone training: regions, geometry and</a:t>
            </a:r>
          </a:p>
          <a:p>
            <a:pPr algn="l">
              <a:lnSpc>
                <a:spcPts val="3690"/>
              </a:lnSpc>
              <a:spcBef>
                <a:spcPts val="0"/>
              </a:spcBef>
              <a:spcAft>
                <a:spcPts val="0"/>
              </a:spcAft>
              <a:defRPr sz="3000" b="1">
                <a:solidFill>
                  <a:srgbClr val="142C40"/>
                </a:solidFill>
                <a:latin typeface="DejaVu Sans"/>
              </a:defRPr>
            </a:pPr>
            <a:r>
              <a:t>new heads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16 Oct expanded corpus • 330 configurations = 320 classifier fits + 10 text references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25</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336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Candidate family</a:t>
            </a:r>
          </a:p>
        </p:txBody>
      </p:sp>
      <p:sp>
        <p:nvSpPr>
          <p:cNvPr id="12" name="TextBox 11"/>
          <p:cNvSpPr txBox="1"/>
          <p:nvPr/>
        </p:nvSpPr>
        <p:spPr>
          <a:xfrm>
            <a:off x="3175000" y="2171700"/>
            <a:ext cx="4114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What changes</a:t>
            </a:r>
          </a:p>
        </p:txBody>
      </p:sp>
      <p:sp>
        <p:nvSpPr>
          <p:cNvPr id="13" name="TextBox 12"/>
          <p:cNvSpPr txBox="1"/>
          <p:nvPr/>
        </p:nvSpPr>
        <p:spPr>
          <a:xfrm>
            <a:off x="7493000" y="2171700"/>
            <a:ext cx="40640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What stays controlled</a:t>
            </a:r>
          </a:p>
        </p:txBody>
      </p:sp>
      <p:sp>
        <p:nvSpPr>
          <p:cNvPr id="14" name="Rectangle 13"/>
          <p:cNvSpPr/>
          <p:nvPr/>
        </p:nvSpPr>
        <p:spPr>
          <a:xfrm>
            <a:off x="533400" y="2565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000" y="2603500"/>
            <a:ext cx="2336800" cy="4699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Scene / predicted crop</a:t>
            </a:r>
          </a:p>
        </p:txBody>
      </p:sp>
      <p:sp>
        <p:nvSpPr>
          <p:cNvPr id="16" name="TextBox 15"/>
          <p:cNvSpPr txBox="1"/>
          <p:nvPr/>
        </p:nvSpPr>
        <p:spPr>
          <a:xfrm>
            <a:off x="3175000" y="2603500"/>
            <a:ext cx="41148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Full scene plus contextual person/item crop</a:t>
            </a:r>
          </a:p>
        </p:txBody>
      </p:sp>
      <p:sp>
        <p:nvSpPr>
          <p:cNvPr id="17" name="TextBox 16"/>
          <p:cNvSpPr txBox="1"/>
          <p:nvPr/>
        </p:nvSpPr>
        <p:spPr>
          <a:xfrm>
            <a:off x="7493000" y="2603500"/>
            <a:ext cx="40640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No source boxes select test crops</a:t>
            </a:r>
          </a:p>
        </p:txBody>
      </p:sp>
      <p:cxnSp>
        <p:nvCxnSpPr>
          <p:cNvPr id="18" name="Connector 17"/>
          <p:cNvCxnSpPr/>
          <p:nvPr/>
        </p:nvCxnSpPr>
        <p:spPr>
          <a:xfrm>
            <a:off x="533400" y="3111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1115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3149600"/>
            <a:ext cx="2336800" cy="4699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Ordered / geometry</a:t>
            </a:r>
          </a:p>
        </p:txBody>
      </p:sp>
      <p:sp>
        <p:nvSpPr>
          <p:cNvPr id="21" name="TextBox 20"/>
          <p:cNvSpPr txBox="1"/>
          <p:nvPr/>
        </p:nvSpPr>
        <p:spPr>
          <a:xfrm>
            <a:off x="3175000" y="3149600"/>
            <a:ext cx="41148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Chronological views; sparse automatic box features</a:t>
            </a:r>
          </a:p>
        </p:txBody>
      </p:sp>
      <p:sp>
        <p:nvSpPr>
          <p:cNvPr id="22" name="TextBox 21"/>
          <p:cNvSpPr txBox="1"/>
          <p:nvPr/>
        </p:nvSpPr>
        <p:spPr>
          <a:xfrm>
            <a:off x="7493000" y="3149600"/>
            <a:ext cx="40640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Timing and source splits retained</a:t>
            </a:r>
          </a:p>
        </p:txBody>
      </p:sp>
      <p:cxnSp>
        <p:nvCxnSpPr>
          <p:cNvPr id="23" name="Connector 22"/>
          <p:cNvCxnSpPr/>
          <p:nvPr/>
        </p:nvCxnSpPr>
        <p:spPr>
          <a:xfrm>
            <a:off x="533400" y="3657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6576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000" y="3695700"/>
            <a:ext cx="2336800" cy="4699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Weight interpolation</a:t>
            </a:r>
          </a:p>
        </p:txBody>
      </p:sp>
      <p:sp>
        <p:nvSpPr>
          <p:cNvPr id="26" name="TextBox 25"/>
          <p:cNvSpPr txBox="1"/>
          <p:nvPr/>
        </p:nvSpPr>
        <p:spPr>
          <a:xfrm>
            <a:off x="3175000" y="3695700"/>
            <a:ext cx="41148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Pretrained ↔ earlier tuned visual weights</a:t>
            </a:r>
          </a:p>
        </p:txBody>
      </p:sp>
      <p:sp>
        <p:nvSpPr>
          <p:cNvPr id="27" name="TextBox 26"/>
          <p:cNvSpPr txBox="1"/>
          <p:nvPr/>
        </p:nvSpPr>
        <p:spPr>
          <a:xfrm>
            <a:off x="7493000" y="3695700"/>
            <a:ext cx="40640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Alpha = 0, .25, .5, 1; selected on dev</a:t>
            </a:r>
          </a:p>
        </p:txBody>
      </p:sp>
      <p:cxnSp>
        <p:nvCxnSpPr>
          <p:cNvPr id="28" name="Connector 27"/>
          <p:cNvCxnSpPr/>
          <p:nvPr/>
        </p:nvCxnSpPr>
        <p:spPr>
          <a:xfrm>
            <a:off x="533400" y="4203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2037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4241800"/>
            <a:ext cx="2336800" cy="4699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Linear / MLP classifier</a:t>
            </a:r>
          </a:p>
        </p:txBody>
      </p:sp>
      <p:sp>
        <p:nvSpPr>
          <p:cNvPr id="31" name="TextBox 30"/>
          <p:cNvSpPr txBox="1"/>
          <p:nvPr/>
        </p:nvSpPr>
        <p:spPr>
          <a:xfrm>
            <a:off x="3175000" y="4241800"/>
            <a:ext cx="41148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LBFGS probes or 64-unit ReLU / dropout .3</a:t>
            </a:r>
          </a:p>
        </p:txBody>
      </p:sp>
      <p:sp>
        <p:nvSpPr>
          <p:cNvPr id="32" name="TextBox 31"/>
          <p:cNvSpPr txBox="1"/>
          <p:nvPr/>
        </p:nvSpPr>
        <p:spPr>
          <a:xfrm>
            <a:off x="7493000" y="4241800"/>
            <a:ext cx="40640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Same expanded training labels; source balancing</a:t>
            </a:r>
          </a:p>
        </p:txBody>
      </p:sp>
      <p:cxnSp>
        <p:nvCxnSpPr>
          <p:cNvPr id="33" name="Connector 32"/>
          <p:cNvCxnSpPr/>
          <p:nvPr/>
        </p:nvCxnSpPr>
        <p:spPr>
          <a:xfrm>
            <a:off x="533400" y="4749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7498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000" y="4787900"/>
            <a:ext cx="2336800" cy="4699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Selection</a:t>
            </a:r>
          </a:p>
        </p:txBody>
      </p:sp>
      <p:sp>
        <p:nvSpPr>
          <p:cNvPr id="36" name="TextBox 35"/>
          <p:cNvSpPr txBox="1"/>
          <p:nvPr/>
        </p:nvSpPr>
        <p:spPr>
          <a:xfrm>
            <a:off x="3175000" y="4787900"/>
            <a:ext cx="41148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Per-target mean development-source AP</a:t>
            </a:r>
          </a:p>
        </p:txBody>
      </p:sp>
      <p:sp>
        <p:nvSpPr>
          <p:cNvPr id="37" name="TextBox 36"/>
          <p:cNvSpPr txBox="1"/>
          <p:nvPr/>
        </p:nvSpPr>
        <p:spPr>
          <a:xfrm>
            <a:off x="7493000" y="4787900"/>
            <a:ext cx="4064000" cy="4699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Primary seed 42; no best-test route replacement</a:t>
            </a:r>
          </a:p>
        </p:txBody>
      </p:sp>
      <p:cxnSp>
        <p:nvCxnSpPr>
          <p:cNvPr id="38" name="Connector 37"/>
          <p:cNvCxnSpPr/>
          <p:nvPr/>
        </p:nvCxnSpPr>
        <p:spPr>
          <a:xfrm>
            <a:off x="533400" y="52959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Fitting a new classifier or blending saved weights is distinct from a new visual-backbone fine-tune.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MATCHED THREE-MODEL PIPELINES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Five-target comparison on identical held-out cases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16 Oct CLIP strategies vs 19 Oct SmolVLM routed • same expanded train/dev and held-out labels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26</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34290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Cohort</a:t>
            </a:r>
          </a:p>
        </p:txBody>
      </p:sp>
      <p:sp>
        <p:nvSpPr>
          <p:cNvPr id="12" name="TextBox 11"/>
          <p:cNvSpPr txBox="1"/>
          <p:nvPr/>
        </p:nvSpPr>
        <p:spPr>
          <a:xfrm>
            <a:off x="42672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n</a:t>
            </a:r>
          </a:p>
        </p:txBody>
      </p:sp>
      <p:sp>
        <p:nvSpPr>
          <p:cNvPr id="13" name="TextBox 12"/>
          <p:cNvSpPr txBox="1"/>
          <p:nvPr/>
        </p:nvSpPr>
        <p:spPr>
          <a:xfrm>
            <a:off x="5283200" y="2171700"/>
            <a:ext cx="1003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Positive</a:t>
            </a:r>
          </a:p>
        </p:txBody>
      </p:sp>
      <p:sp>
        <p:nvSpPr>
          <p:cNvPr id="14" name="TextBox 13"/>
          <p:cNvSpPr txBox="1"/>
          <p:nvPr/>
        </p:nvSpPr>
        <p:spPr>
          <a:xfrm>
            <a:off x="6489700" y="2171700"/>
            <a:ext cx="15494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Mobile AP</a:t>
            </a:r>
          </a:p>
        </p:txBody>
      </p:sp>
      <p:sp>
        <p:nvSpPr>
          <p:cNvPr id="15" name="TextBox 14"/>
          <p:cNvSpPr txBox="1"/>
          <p:nvPr/>
        </p:nvSpPr>
        <p:spPr>
          <a:xfrm>
            <a:off x="8242300" y="2171700"/>
            <a:ext cx="15494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SigLIP AP</a:t>
            </a:r>
          </a:p>
        </p:txBody>
      </p:sp>
      <p:sp>
        <p:nvSpPr>
          <p:cNvPr id="16" name="TextBox 15"/>
          <p:cNvSpPr txBox="1"/>
          <p:nvPr/>
        </p:nvSpPr>
        <p:spPr>
          <a:xfrm>
            <a:off x="9994900" y="2171700"/>
            <a:ext cx="15621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Smol AP</a:t>
            </a:r>
          </a:p>
        </p:txBody>
      </p:sp>
      <p:sp>
        <p:nvSpPr>
          <p:cNvPr id="17" name="Rectangle 16"/>
          <p:cNvSpPr/>
          <p:nvPr/>
        </p:nvSpPr>
        <p:spPr>
          <a:xfrm>
            <a:off x="533400" y="25654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000" y="2603500"/>
            <a:ext cx="34290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Smoking / CCTV</a:t>
            </a:r>
          </a:p>
        </p:txBody>
      </p:sp>
      <p:sp>
        <p:nvSpPr>
          <p:cNvPr id="19" name="TextBox 18"/>
          <p:cNvSpPr txBox="1"/>
          <p:nvPr/>
        </p:nvSpPr>
        <p:spPr>
          <a:xfrm>
            <a:off x="4267200" y="2603500"/>
            <a:ext cx="81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646</a:t>
            </a:r>
          </a:p>
        </p:txBody>
      </p:sp>
      <p:sp>
        <p:nvSpPr>
          <p:cNvPr id="20" name="TextBox 19"/>
          <p:cNvSpPr txBox="1"/>
          <p:nvPr/>
        </p:nvSpPr>
        <p:spPr>
          <a:xfrm>
            <a:off x="5283200" y="2603500"/>
            <a:ext cx="100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393</a:t>
            </a:r>
          </a:p>
        </p:txBody>
      </p:sp>
      <p:sp>
        <p:nvSpPr>
          <p:cNvPr id="21" name="TextBox 20"/>
          <p:cNvSpPr txBox="1"/>
          <p:nvPr/>
        </p:nvSpPr>
        <p:spPr>
          <a:xfrm>
            <a:off x="6489700" y="26035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0.690</a:t>
            </a:r>
          </a:p>
        </p:txBody>
      </p:sp>
      <p:sp>
        <p:nvSpPr>
          <p:cNvPr id="22" name="TextBox 21"/>
          <p:cNvSpPr txBox="1"/>
          <p:nvPr/>
        </p:nvSpPr>
        <p:spPr>
          <a:xfrm>
            <a:off x="8242300" y="26035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0.722</a:t>
            </a:r>
          </a:p>
        </p:txBody>
      </p:sp>
      <p:sp>
        <p:nvSpPr>
          <p:cNvPr id="23" name="TextBox 22"/>
          <p:cNvSpPr txBox="1"/>
          <p:nvPr/>
        </p:nvSpPr>
        <p:spPr>
          <a:xfrm>
            <a:off x="9994900" y="2603500"/>
            <a:ext cx="1562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0.623</a:t>
            </a:r>
          </a:p>
        </p:txBody>
      </p:sp>
      <p:cxnSp>
        <p:nvCxnSpPr>
          <p:cNvPr id="24" name="Connector 23"/>
          <p:cNvCxnSpPr/>
          <p:nvPr/>
        </p:nvCxnSpPr>
        <p:spPr>
          <a:xfrm>
            <a:off x="533400" y="3098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33400" y="3098800"/>
            <a:ext cx="11125200" cy="533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000" y="3136900"/>
            <a:ext cx="34290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Littering / IWDD</a:t>
            </a:r>
          </a:p>
        </p:txBody>
      </p:sp>
      <p:sp>
        <p:nvSpPr>
          <p:cNvPr id="27" name="TextBox 26"/>
          <p:cNvSpPr txBox="1"/>
          <p:nvPr/>
        </p:nvSpPr>
        <p:spPr>
          <a:xfrm>
            <a:off x="4267200" y="3136900"/>
            <a:ext cx="81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100</a:t>
            </a:r>
          </a:p>
        </p:txBody>
      </p:sp>
      <p:sp>
        <p:nvSpPr>
          <p:cNvPr id="28" name="TextBox 27"/>
          <p:cNvSpPr txBox="1"/>
          <p:nvPr/>
        </p:nvSpPr>
        <p:spPr>
          <a:xfrm>
            <a:off x="5283200" y="3136900"/>
            <a:ext cx="100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50</a:t>
            </a:r>
          </a:p>
        </p:txBody>
      </p:sp>
      <p:sp>
        <p:nvSpPr>
          <p:cNvPr id="29" name="TextBox 28"/>
          <p:cNvSpPr txBox="1"/>
          <p:nvPr/>
        </p:nvSpPr>
        <p:spPr>
          <a:xfrm>
            <a:off x="6489700" y="31369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0.806</a:t>
            </a:r>
          </a:p>
        </p:txBody>
      </p:sp>
      <p:sp>
        <p:nvSpPr>
          <p:cNvPr id="30" name="TextBox 29"/>
          <p:cNvSpPr txBox="1"/>
          <p:nvPr/>
        </p:nvSpPr>
        <p:spPr>
          <a:xfrm>
            <a:off x="8242300" y="31369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0.893</a:t>
            </a:r>
          </a:p>
        </p:txBody>
      </p:sp>
      <p:sp>
        <p:nvSpPr>
          <p:cNvPr id="31" name="TextBox 30"/>
          <p:cNvSpPr txBox="1"/>
          <p:nvPr/>
        </p:nvSpPr>
        <p:spPr>
          <a:xfrm>
            <a:off x="9994900" y="3136900"/>
            <a:ext cx="1562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0.766</a:t>
            </a:r>
          </a:p>
        </p:txBody>
      </p:sp>
      <p:cxnSp>
        <p:nvCxnSpPr>
          <p:cNvPr id="32" name="Connector 31"/>
          <p:cNvCxnSpPr/>
          <p:nvPr/>
        </p:nvCxnSpPr>
        <p:spPr>
          <a:xfrm>
            <a:off x="533400" y="3632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36322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000" y="3670300"/>
            <a:ext cx="34290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Loitering</a:t>
            </a:r>
          </a:p>
        </p:txBody>
      </p:sp>
      <p:sp>
        <p:nvSpPr>
          <p:cNvPr id="35" name="TextBox 34"/>
          <p:cNvSpPr txBox="1"/>
          <p:nvPr/>
        </p:nvSpPr>
        <p:spPr>
          <a:xfrm>
            <a:off x="4267200" y="3670300"/>
            <a:ext cx="81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75</a:t>
            </a:r>
          </a:p>
        </p:txBody>
      </p:sp>
      <p:sp>
        <p:nvSpPr>
          <p:cNvPr id="36" name="TextBox 35"/>
          <p:cNvSpPr txBox="1"/>
          <p:nvPr/>
        </p:nvSpPr>
        <p:spPr>
          <a:xfrm>
            <a:off x="5283200" y="3670300"/>
            <a:ext cx="100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11</a:t>
            </a:r>
          </a:p>
        </p:txBody>
      </p:sp>
      <p:sp>
        <p:nvSpPr>
          <p:cNvPr id="37" name="TextBox 36"/>
          <p:cNvSpPr txBox="1"/>
          <p:nvPr/>
        </p:nvSpPr>
        <p:spPr>
          <a:xfrm>
            <a:off x="6489700" y="36703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0.489</a:t>
            </a:r>
          </a:p>
        </p:txBody>
      </p:sp>
      <p:sp>
        <p:nvSpPr>
          <p:cNvPr id="38" name="TextBox 37"/>
          <p:cNvSpPr txBox="1"/>
          <p:nvPr/>
        </p:nvSpPr>
        <p:spPr>
          <a:xfrm>
            <a:off x="8242300" y="36703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0.550</a:t>
            </a:r>
          </a:p>
        </p:txBody>
      </p:sp>
      <p:sp>
        <p:nvSpPr>
          <p:cNvPr id="39" name="TextBox 38"/>
          <p:cNvSpPr txBox="1"/>
          <p:nvPr/>
        </p:nvSpPr>
        <p:spPr>
          <a:xfrm>
            <a:off x="9994900" y="3670300"/>
            <a:ext cx="1562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0.182</a:t>
            </a:r>
          </a:p>
        </p:txBody>
      </p:sp>
      <p:cxnSp>
        <p:nvCxnSpPr>
          <p:cNvPr id="40" name="Connector 39"/>
          <p:cNvCxnSpPr/>
          <p:nvPr/>
        </p:nvCxnSpPr>
        <p:spPr>
          <a:xfrm>
            <a:off x="533400" y="4165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33400" y="4165600"/>
            <a:ext cx="11125200" cy="533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000" y="4203700"/>
            <a:ext cx="34290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Public sleep</a:t>
            </a:r>
          </a:p>
        </p:txBody>
      </p:sp>
      <p:sp>
        <p:nvSpPr>
          <p:cNvPr id="43" name="TextBox 42"/>
          <p:cNvSpPr txBox="1"/>
          <p:nvPr/>
        </p:nvSpPr>
        <p:spPr>
          <a:xfrm>
            <a:off x="4267200" y="4203700"/>
            <a:ext cx="81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18</a:t>
            </a:r>
          </a:p>
        </p:txBody>
      </p:sp>
      <p:sp>
        <p:nvSpPr>
          <p:cNvPr id="44" name="TextBox 43"/>
          <p:cNvSpPr txBox="1"/>
          <p:nvPr/>
        </p:nvSpPr>
        <p:spPr>
          <a:xfrm>
            <a:off x="5283200" y="4203700"/>
            <a:ext cx="100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6</a:t>
            </a:r>
          </a:p>
        </p:txBody>
      </p:sp>
      <p:sp>
        <p:nvSpPr>
          <p:cNvPr id="45" name="TextBox 44"/>
          <p:cNvSpPr txBox="1"/>
          <p:nvPr/>
        </p:nvSpPr>
        <p:spPr>
          <a:xfrm>
            <a:off x="6489700" y="42037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0.931</a:t>
            </a:r>
          </a:p>
        </p:txBody>
      </p:sp>
      <p:sp>
        <p:nvSpPr>
          <p:cNvPr id="46" name="TextBox 45"/>
          <p:cNvSpPr txBox="1"/>
          <p:nvPr/>
        </p:nvSpPr>
        <p:spPr>
          <a:xfrm>
            <a:off x="8242300" y="42037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0.883</a:t>
            </a:r>
          </a:p>
        </p:txBody>
      </p:sp>
      <p:sp>
        <p:nvSpPr>
          <p:cNvPr id="47" name="TextBox 46"/>
          <p:cNvSpPr txBox="1"/>
          <p:nvPr/>
        </p:nvSpPr>
        <p:spPr>
          <a:xfrm>
            <a:off x="9994900" y="4203700"/>
            <a:ext cx="1562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0.788</a:t>
            </a:r>
          </a:p>
        </p:txBody>
      </p:sp>
      <p:cxnSp>
        <p:nvCxnSpPr>
          <p:cNvPr id="48" name="Connector 47"/>
          <p:cNvCxnSpPr/>
          <p:nvPr/>
        </p:nvCxnSpPr>
        <p:spPr>
          <a:xfrm>
            <a:off x="533400" y="4699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6990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737100"/>
            <a:ext cx="34290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Unattended</a:t>
            </a:r>
          </a:p>
        </p:txBody>
      </p:sp>
      <p:sp>
        <p:nvSpPr>
          <p:cNvPr id="51" name="TextBox 50"/>
          <p:cNvSpPr txBox="1"/>
          <p:nvPr/>
        </p:nvSpPr>
        <p:spPr>
          <a:xfrm>
            <a:off x="4267200" y="4737100"/>
            <a:ext cx="81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962</a:t>
            </a:r>
          </a:p>
        </p:txBody>
      </p:sp>
      <p:sp>
        <p:nvSpPr>
          <p:cNvPr id="52" name="TextBox 51"/>
          <p:cNvSpPr txBox="1"/>
          <p:nvPr/>
        </p:nvSpPr>
        <p:spPr>
          <a:xfrm>
            <a:off x="5283200" y="4737100"/>
            <a:ext cx="100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242</a:t>
            </a:r>
          </a:p>
        </p:txBody>
      </p:sp>
      <p:sp>
        <p:nvSpPr>
          <p:cNvPr id="53" name="TextBox 52"/>
          <p:cNvSpPr txBox="1"/>
          <p:nvPr/>
        </p:nvSpPr>
        <p:spPr>
          <a:xfrm>
            <a:off x="6489700" y="47371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0.980</a:t>
            </a:r>
          </a:p>
        </p:txBody>
      </p:sp>
      <p:sp>
        <p:nvSpPr>
          <p:cNvPr id="54" name="TextBox 53"/>
          <p:cNvSpPr txBox="1"/>
          <p:nvPr/>
        </p:nvSpPr>
        <p:spPr>
          <a:xfrm>
            <a:off x="8242300" y="47371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0.925</a:t>
            </a:r>
          </a:p>
        </p:txBody>
      </p:sp>
      <p:sp>
        <p:nvSpPr>
          <p:cNvPr id="55" name="TextBox 54"/>
          <p:cNvSpPr txBox="1"/>
          <p:nvPr/>
        </p:nvSpPr>
        <p:spPr>
          <a:xfrm>
            <a:off x="9994900" y="4737100"/>
            <a:ext cx="1562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0.693</a:t>
            </a:r>
          </a:p>
        </p:txBody>
      </p:sp>
      <p:cxnSp>
        <p:nvCxnSpPr>
          <p:cNvPr id="56" name="Connector 55"/>
          <p:cNvCxnSpPr/>
          <p:nvPr/>
        </p:nvCxnSpPr>
        <p:spPr>
          <a:xfrm>
            <a:off x="533400" y="5232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This is a pipeline comparison: encoders, crops, resolution and adaptation methods differ.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MATCHED THREE-MODEL PIPELINES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Photo and action-transfer comparison on matched</a:t>
            </a:r>
          </a:p>
          <a:p>
            <a:pPr algn="l">
              <a:lnSpc>
                <a:spcPts val="3690"/>
              </a:lnSpc>
              <a:spcBef>
                <a:spcPts val="0"/>
              </a:spcBef>
              <a:spcAft>
                <a:spcPts val="0"/>
              </a:spcAft>
              <a:defRPr sz="3000" b="1">
                <a:solidFill>
                  <a:srgbClr val="142C40"/>
                </a:solidFill>
                <a:latin typeface="DejaVu Sans"/>
              </a:defRPr>
            </a:pPr>
            <a:r>
              <a:t>cases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16 Oct CLIP strategies vs 19 Oct SmolVLM routed • same expanded train/dev and held-out labels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27</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34290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Cohort</a:t>
            </a:r>
          </a:p>
        </p:txBody>
      </p:sp>
      <p:sp>
        <p:nvSpPr>
          <p:cNvPr id="12" name="TextBox 11"/>
          <p:cNvSpPr txBox="1"/>
          <p:nvPr/>
        </p:nvSpPr>
        <p:spPr>
          <a:xfrm>
            <a:off x="42672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n</a:t>
            </a:r>
          </a:p>
        </p:txBody>
      </p:sp>
      <p:sp>
        <p:nvSpPr>
          <p:cNvPr id="13" name="TextBox 12"/>
          <p:cNvSpPr txBox="1"/>
          <p:nvPr/>
        </p:nvSpPr>
        <p:spPr>
          <a:xfrm>
            <a:off x="5283200" y="2171700"/>
            <a:ext cx="1003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Positive</a:t>
            </a:r>
          </a:p>
        </p:txBody>
      </p:sp>
      <p:sp>
        <p:nvSpPr>
          <p:cNvPr id="14" name="TextBox 13"/>
          <p:cNvSpPr txBox="1"/>
          <p:nvPr/>
        </p:nvSpPr>
        <p:spPr>
          <a:xfrm>
            <a:off x="6489700" y="2171700"/>
            <a:ext cx="15494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Mobile AP</a:t>
            </a:r>
          </a:p>
        </p:txBody>
      </p:sp>
      <p:sp>
        <p:nvSpPr>
          <p:cNvPr id="15" name="TextBox 14"/>
          <p:cNvSpPr txBox="1"/>
          <p:nvPr/>
        </p:nvSpPr>
        <p:spPr>
          <a:xfrm>
            <a:off x="8242300" y="2171700"/>
            <a:ext cx="15494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SigLIP AP</a:t>
            </a:r>
          </a:p>
        </p:txBody>
      </p:sp>
      <p:sp>
        <p:nvSpPr>
          <p:cNvPr id="16" name="TextBox 15"/>
          <p:cNvSpPr txBox="1"/>
          <p:nvPr/>
        </p:nvSpPr>
        <p:spPr>
          <a:xfrm>
            <a:off x="9994900" y="2171700"/>
            <a:ext cx="15621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Smol AP</a:t>
            </a:r>
          </a:p>
        </p:txBody>
      </p:sp>
      <p:sp>
        <p:nvSpPr>
          <p:cNvPr id="17" name="Rectangle 16"/>
          <p:cNvSpPr/>
          <p:nvPr/>
        </p:nvSpPr>
        <p:spPr>
          <a:xfrm>
            <a:off x="533400" y="25654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000" y="2603500"/>
            <a:ext cx="34290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Smoking / Kaggle photos</a:t>
            </a:r>
          </a:p>
        </p:txBody>
      </p:sp>
      <p:sp>
        <p:nvSpPr>
          <p:cNvPr id="19" name="TextBox 18"/>
          <p:cNvSpPr txBox="1"/>
          <p:nvPr/>
        </p:nvSpPr>
        <p:spPr>
          <a:xfrm>
            <a:off x="4267200" y="2603500"/>
            <a:ext cx="81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224</a:t>
            </a:r>
          </a:p>
        </p:txBody>
      </p:sp>
      <p:sp>
        <p:nvSpPr>
          <p:cNvPr id="20" name="TextBox 19"/>
          <p:cNvSpPr txBox="1"/>
          <p:nvPr/>
        </p:nvSpPr>
        <p:spPr>
          <a:xfrm>
            <a:off x="5283200" y="2603500"/>
            <a:ext cx="100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112</a:t>
            </a:r>
          </a:p>
        </p:txBody>
      </p:sp>
      <p:sp>
        <p:nvSpPr>
          <p:cNvPr id="21" name="TextBox 20"/>
          <p:cNvSpPr txBox="1"/>
          <p:nvPr/>
        </p:nvSpPr>
        <p:spPr>
          <a:xfrm>
            <a:off x="6489700" y="26035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0.997</a:t>
            </a:r>
          </a:p>
        </p:txBody>
      </p:sp>
      <p:sp>
        <p:nvSpPr>
          <p:cNvPr id="22" name="TextBox 21"/>
          <p:cNvSpPr txBox="1"/>
          <p:nvPr/>
        </p:nvSpPr>
        <p:spPr>
          <a:xfrm>
            <a:off x="8242300" y="26035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1.000</a:t>
            </a:r>
          </a:p>
        </p:txBody>
      </p:sp>
      <p:sp>
        <p:nvSpPr>
          <p:cNvPr id="23" name="TextBox 22"/>
          <p:cNvSpPr txBox="1"/>
          <p:nvPr/>
        </p:nvSpPr>
        <p:spPr>
          <a:xfrm>
            <a:off x="9994900" y="2603500"/>
            <a:ext cx="1562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0.984</a:t>
            </a:r>
          </a:p>
        </p:txBody>
      </p:sp>
      <p:cxnSp>
        <p:nvCxnSpPr>
          <p:cNvPr id="24" name="Connector 23"/>
          <p:cNvCxnSpPr/>
          <p:nvPr/>
        </p:nvCxnSpPr>
        <p:spPr>
          <a:xfrm>
            <a:off x="533400" y="3098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33400" y="3098800"/>
            <a:ext cx="11125200" cy="533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000" y="3136900"/>
            <a:ext cx="34290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Smoking / Stanford40</a:t>
            </a:r>
          </a:p>
        </p:txBody>
      </p:sp>
      <p:sp>
        <p:nvSpPr>
          <p:cNvPr id="27" name="TextBox 26"/>
          <p:cNvSpPr txBox="1"/>
          <p:nvPr/>
        </p:nvSpPr>
        <p:spPr>
          <a:xfrm>
            <a:off x="4267200" y="3136900"/>
            <a:ext cx="81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806</a:t>
            </a:r>
          </a:p>
        </p:txBody>
      </p:sp>
      <p:sp>
        <p:nvSpPr>
          <p:cNvPr id="28" name="TextBox 27"/>
          <p:cNvSpPr txBox="1"/>
          <p:nvPr/>
        </p:nvSpPr>
        <p:spPr>
          <a:xfrm>
            <a:off x="5283200" y="3136900"/>
            <a:ext cx="100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140</a:t>
            </a:r>
          </a:p>
        </p:txBody>
      </p:sp>
      <p:sp>
        <p:nvSpPr>
          <p:cNvPr id="29" name="TextBox 28"/>
          <p:cNvSpPr txBox="1"/>
          <p:nvPr/>
        </p:nvSpPr>
        <p:spPr>
          <a:xfrm>
            <a:off x="6489700" y="31369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0.880</a:t>
            </a:r>
          </a:p>
        </p:txBody>
      </p:sp>
      <p:sp>
        <p:nvSpPr>
          <p:cNvPr id="30" name="TextBox 29"/>
          <p:cNvSpPr txBox="1"/>
          <p:nvPr/>
        </p:nvSpPr>
        <p:spPr>
          <a:xfrm>
            <a:off x="8242300" y="31369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0.937</a:t>
            </a:r>
          </a:p>
        </p:txBody>
      </p:sp>
      <p:sp>
        <p:nvSpPr>
          <p:cNvPr id="31" name="TextBox 30"/>
          <p:cNvSpPr txBox="1"/>
          <p:nvPr/>
        </p:nvSpPr>
        <p:spPr>
          <a:xfrm>
            <a:off x="9994900" y="3136900"/>
            <a:ext cx="1562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0.890</a:t>
            </a:r>
          </a:p>
        </p:txBody>
      </p:sp>
      <p:cxnSp>
        <p:nvCxnSpPr>
          <p:cNvPr id="32" name="Connector 31"/>
          <p:cNvCxnSpPr/>
          <p:nvPr/>
        </p:nvCxnSpPr>
        <p:spPr>
          <a:xfrm>
            <a:off x="533400" y="3632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36322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000" y="3670300"/>
            <a:ext cx="34290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Smoking / HMDB action</a:t>
            </a:r>
          </a:p>
        </p:txBody>
      </p:sp>
      <p:sp>
        <p:nvSpPr>
          <p:cNvPr id="35" name="TextBox 34"/>
          <p:cNvSpPr txBox="1"/>
          <p:nvPr/>
        </p:nvSpPr>
        <p:spPr>
          <a:xfrm>
            <a:off x="4267200" y="3670300"/>
            <a:ext cx="81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906</a:t>
            </a:r>
          </a:p>
        </p:txBody>
      </p:sp>
      <p:sp>
        <p:nvSpPr>
          <p:cNvPr id="36" name="TextBox 35"/>
          <p:cNvSpPr txBox="1"/>
          <p:nvPr/>
        </p:nvSpPr>
        <p:spPr>
          <a:xfrm>
            <a:off x="5283200" y="3670300"/>
            <a:ext cx="100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109</a:t>
            </a:r>
          </a:p>
        </p:txBody>
      </p:sp>
      <p:sp>
        <p:nvSpPr>
          <p:cNvPr id="37" name="TextBox 36"/>
          <p:cNvSpPr txBox="1"/>
          <p:nvPr/>
        </p:nvSpPr>
        <p:spPr>
          <a:xfrm>
            <a:off x="6489700" y="36703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0.576</a:t>
            </a:r>
          </a:p>
        </p:txBody>
      </p:sp>
      <p:sp>
        <p:nvSpPr>
          <p:cNvPr id="38" name="TextBox 37"/>
          <p:cNvSpPr txBox="1"/>
          <p:nvPr/>
        </p:nvSpPr>
        <p:spPr>
          <a:xfrm>
            <a:off x="8242300" y="36703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0.664</a:t>
            </a:r>
          </a:p>
        </p:txBody>
      </p:sp>
      <p:sp>
        <p:nvSpPr>
          <p:cNvPr id="39" name="TextBox 38"/>
          <p:cNvSpPr txBox="1"/>
          <p:nvPr/>
        </p:nvSpPr>
        <p:spPr>
          <a:xfrm>
            <a:off x="9994900" y="3670300"/>
            <a:ext cx="1562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0.784</a:t>
            </a:r>
          </a:p>
        </p:txBody>
      </p:sp>
      <p:cxnSp>
        <p:nvCxnSpPr>
          <p:cNvPr id="40" name="Connector 39"/>
          <p:cNvCxnSpPr/>
          <p:nvPr/>
        </p:nvCxnSpPr>
        <p:spPr>
          <a:xfrm>
            <a:off x="533400" y="4165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33400" y="4165600"/>
            <a:ext cx="11125200" cy="533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000" y="4203700"/>
            <a:ext cx="34290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Sleep / new authors</a:t>
            </a:r>
          </a:p>
        </p:txBody>
      </p:sp>
      <p:sp>
        <p:nvSpPr>
          <p:cNvPr id="43" name="TextBox 42"/>
          <p:cNvSpPr txBox="1"/>
          <p:nvPr/>
        </p:nvSpPr>
        <p:spPr>
          <a:xfrm>
            <a:off x="4267200" y="4203700"/>
            <a:ext cx="81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28</a:t>
            </a:r>
          </a:p>
        </p:txBody>
      </p:sp>
      <p:sp>
        <p:nvSpPr>
          <p:cNvPr id="44" name="TextBox 43"/>
          <p:cNvSpPr txBox="1"/>
          <p:nvPr/>
        </p:nvSpPr>
        <p:spPr>
          <a:xfrm>
            <a:off x="5283200" y="4203700"/>
            <a:ext cx="100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17</a:t>
            </a:r>
          </a:p>
        </p:txBody>
      </p:sp>
      <p:sp>
        <p:nvSpPr>
          <p:cNvPr id="45" name="TextBox 44"/>
          <p:cNvSpPr txBox="1"/>
          <p:nvPr/>
        </p:nvSpPr>
        <p:spPr>
          <a:xfrm>
            <a:off x="6489700" y="42037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0.952</a:t>
            </a:r>
          </a:p>
        </p:txBody>
      </p:sp>
      <p:sp>
        <p:nvSpPr>
          <p:cNvPr id="46" name="TextBox 45"/>
          <p:cNvSpPr txBox="1"/>
          <p:nvPr/>
        </p:nvSpPr>
        <p:spPr>
          <a:xfrm>
            <a:off x="8242300" y="42037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0.933</a:t>
            </a:r>
          </a:p>
        </p:txBody>
      </p:sp>
      <p:sp>
        <p:nvSpPr>
          <p:cNvPr id="47" name="TextBox 46"/>
          <p:cNvSpPr txBox="1"/>
          <p:nvPr/>
        </p:nvSpPr>
        <p:spPr>
          <a:xfrm>
            <a:off x="9994900" y="4203700"/>
            <a:ext cx="1562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0.890</a:t>
            </a:r>
          </a:p>
        </p:txBody>
      </p:sp>
      <p:cxnSp>
        <p:nvCxnSpPr>
          <p:cNvPr id="48" name="Connector 47"/>
          <p:cNvCxnSpPr/>
          <p:nvPr/>
        </p:nvCxnSpPr>
        <p:spPr>
          <a:xfrm>
            <a:off x="533400" y="4699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6990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737100"/>
            <a:ext cx="34290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MEVA abandon action</a:t>
            </a:r>
          </a:p>
        </p:txBody>
      </p:sp>
      <p:sp>
        <p:nvSpPr>
          <p:cNvPr id="51" name="TextBox 50"/>
          <p:cNvSpPr txBox="1"/>
          <p:nvPr/>
        </p:nvSpPr>
        <p:spPr>
          <a:xfrm>
            <a:off x="4267200" y="4737100"/>
            <a:ext cx="8128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27</a:t>
            </a:r>
          </a:p>
        </p:txBody>
      </p:sp>
      <p:sp>
        <p:nvSpPr>
          <p:cNvPr id="52" name="TextBox 51"/>
          <p:cNvSpPr txBox="1"/>
          <p:nvPr/>
        </p:nvSpPr>
        <p:spPr>
          <a:xfrm>
            <a:off x="5283200" y="4737100"/>
            <a:ext cx="100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15</a:t>
            </a:r>
          </a:p>
        </p:txBody>
      </p:sp>
      <p:sp>
        <p:nvSpPr>
          <p:cNvPr id="53" name="TextBox 52"/>
          <p:cNvSpPr txBox="1"/>
          <p:nvPr/>
        </p:nvSpPr>
        <p:spPr>
          <a:xfrm>
            <a:off x="6489700" y="47371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0.545</a:t>
            </a:r>
          </a:p>
        </p:txBody>
      </p:sp>
      <p:sp>
        <p:nvSpPr>
          <p:cNvPr id="54" name="TextBox 53"/>
          <p:cNvSpPr txBox="1"/>
          <p:nvPr/>
        </p:nvSpPr>
        <p:spPr>
          <a:xfrm>
            <a:off x="8242300" y="4737100"/>
            <a:ext cx="15494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0.621</a:t>
            </a:r>
          </a:p>
        </p:txBody>
      </p:sp>
      <p:sp>
        <p:nvSpPr>
          <p:cNvPr id="55" name="TextBox 54"/>
          <p:cNvSpPr txBox="1"/>
          <p:nvPr/>
        </p:nvSpPr>
        <p:spPr>
          <a:xfrm>
            <a:off x="9994900" y="4737100"/>
            <a:ext cx="15621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0.646</a:t>
            </a:r>
          </a:p>
        </p:txBody>
      </p:sp>
      <p:cxnSp>
        <p:nvCxnSpPr>
          <p:cNvPr id="56" name="Connector 55"/>
          <p:cNvCxnSpPr/>
          <p:nvPr/>
        </p:nvCxnSpPr>
        <p:spPr>
          <a:xfrm>
            <a:off x="533400" y="5232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This is a pipeline comparison: encoders, crops, resolution and adaptation methods differ.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Matched cohorts: ranking gains versus operating</a:t>
            </a:r>
          </a:p>
          <a:p>
            <a:pPr algn="l">
              <a:lnSpc>
                <a:spcPts val="3690"/>
              </a:lnSpc>
              <a:spcBef>
                <a:spcPts val="0"/>
              </a:spcBef>
              <a:spcAft>
                <a:spcPts val="0"/>
              </a:spcAft>
              <a:defRPr sz="3000" b="1">
                <a:solidFill>
                  <a:srgbClr val="142C40"/>
                </a:solidFill>
                <a:latin typeface="DejaVu Sans"/>
              </a:defRPr>
            </a:pPr>
            <a:r>
              <a:t>errors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16 Oct selected CLIP strategies / 19 Oct routed SmolVLM • development-budget cutoffs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28</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21" name="TextBox 20"/>
          <p:cNvSpPr txBox="1"/>
          <p:nvPr/>
        </p:nvSpPr>
        <p:spPr>
          <a:xfrm>
            <a:off x="2844800" y="2603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CCTV</a:t>
            </a:r>
          </a:p>
        </p:txBody>
      </p:sp>
      <p:sp>
        <p:nvSpPr>
          <p:cNvPr id="22" name="TextBox 21"/>
          <p:cNvSpPr txBox="1"/>
          <p:nvPr/>
        </p:nvSpPr>
        <p:spPr>
          <a:xfrm>
            <a:off x="4419600" y="2603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0.690</a:t>
            </a:r>
          </a:p>
        </p:txBody>
      </p:sp>
      <p:sp>
        <p:nvSpPr>
          <p:cNvPr id="23" name="TextBox 22"/>
          <p:cNvSpPr txBox="1"/>
          <p:nvPr/>
        </p:nvSpPr>
        <p:spPr>
          <a:xfrm>
            <a:off x="5486400" y="2603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0.596</a:t>
            </a:r>
          </a:p>
        </p:txBody>
      </p:sp>
      <p:sp>
        <p:nvSpPr>
          <p:cNvPr id="24" name="TextBox 23"/>
          <p:cNvSpPr txBox="1"/>
          <p:nvPr/>
        </p:nvSpPr>
        <p:spPr>
          <a:xfrm>
            <a:off x="6819900" y="2603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0.228</a:t>
            </a:r>
          </a:p>
        </p:txBody>
      </p:sp>
      <p:sp>
        <p:nvSpPr>
          <p:cNvPr id="25" name="TextBox 24"/>
          <p:cNvSpPr txBox="1"/>
          <p:nvPr/>
        </p:nvSpPr>
        <p:spPr>
          <a:xfrm>
            <a:off x="78359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73.6%</a:t>
            </a:r>
          </a:p>
        </p:txBody>
      </p:sp>
      <p:sp>
        <p:nvSpPr>
          <p:cNvPr id="26" name="TextBox 25"/>
          <p:cNvSpPr txBox="1"/>
          <p:nvPr/>
        </p:nvSpPr>
        <p:spPr>
          <a:xfrm>
            <a:off x="91440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13.5%</a:t>
            </a:r>
          </a:p>
        </p:txBody>
      </p:sp>
      <p:sp>
        <p:nvSpPr>
          <p:cNvPr id="27" name="TextBox 26"/>
          <p:cNvSpPr txBox="1"/>
          <p:nvPr/>
        </p:nvSpPr>
        <p:spPr>
          <a:xfrm>
            <a:off x="104521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7.5%</a:t>
            </a:r>
          </a:p>
        </p:txBody>
      </p:sp>
      <p:cxnSp>
        <p:nvCxnSpPr>
          <p:cNvPr id="28" name="Connector 2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0861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31" name="TextBox 30"/>
          <p:cNvSpPr txBox="1"/>
          <p:nvPr/>
        </p:nvSpPr>
        <p:spPr>
          <a:xfrm>
            <a:off x="2844800" y="30861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CCTV</a:t>
            </a:r>
          </a:p>
        </p:txBody>
      </p:sp>
      <p:sp>
        <p:nvSpPr>
          <p:cNvPr id="32" name="TextBox 31"/>
          <p:cNvSpPr txBox="1"/>
          <p:nvPr/>
        </p:nvSpPr>
        <p:spPr>
          <a:xfrm>
            <a:off x="4419600" y="30861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0.722</a:t>
            </a:r>
          </a:p>
        </p:txBody>
      </p:sp>
      <p:sp>
        <p:nvSpPr>
          <p:cNvPr id="33" name="TextBox 32"/>
          <p:cNvSpPr txBox="1"/>
          <p:nvPr/>
        </p:nvSpPr>
        <p:spPr>
          <a:xfrm>
            <a:off x="5486400" y="30861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0.647</a:t>
            </a:r>
          </a:p>
        </p:txBody>
      </p:sp>
      <p:sp>
        <p:nvSpPr>
          <p:cNvPr id="34" name="TextBox 33"/>
          <p:cNvSpPr txBox="1"/>
          <p:nvPr/>
        </p:nvSpPr>
        <p:spPr>
          <a:xfrm>
            <a:off x="6819900" y="30861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0.086</a:t>
            </a:r>
          </a:p>
        </p:txBody>
      </p:sp>
      <p:sp>
        <p:nvSpPr>
          <p:cNvPr id="35" name="TextBox 34"/>
          <p:cNvSpPr txBox="1"/>
          <p:nvPr/>
        </p:nvSpPr>
        <p:spPr>
          <a:xfrm>
            <a:off x="78359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75.0%</a:t>
            </a:r>
          </a:p>
        </p:txBody>
      </p:sp>
      <p:sp>
        <p:nvSpPr>
          <p:cNvPr id="36" name="TextBox 35"/>
          <p:cNvSpPr txBox="1"/>
          <p:nvPr/>
        </p:nvSpPr>
        <p:spPr>
          <a:xfrm>
            <a:off x="91440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4.6%</a:t>
            </a:r>
          </a:p>
        </p:txBody>
      </p:sp>
      <p:sp>
        <p:nvSpPr>
          <p:cNvPr id="37" name="TextBox 36"/>
          <p:cNvSpPr txBox="1"/>
          <p:nvPr/>
        </p:nvSpPr>
        <p:spPr>
          <a:xfrm>
            <a:off x="104521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2.4%</a:t>
            </a:r>
          </a:p>
        </p:txBody>
      </p:sp>
      <p:cxnSp>
        <p:nvCxnSpPr>
          <p:cNvPr id="38" name="Connector 37"/>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5687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SmolVLM</a:t>
            </a:r>
          </a:p>
        </p:txBody>
      </p:sp>
      <p:sp>
        <p:nvSpPr>
          <p:cNvPr id="41" name="TextBox 40"/>
          <p:cNvSpPr txBox="1"/>
          <p:nvPr/>
        </p:nvSpPr>
        <p:spPr>
          <a:xfrm>
            <a:off x="2844800" y="35687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CCTV</a:t>
            </a:r>
          </a:p>
        </p:txBody>
      </p:sp>
      <p:sp>
        <p:nvSpPr>
          <p:cNvPr id="42" name="TextBox 41"/>
          <p:cNvSpPr txBox="1"/>
          <p:nvPr/>
        </p:nvSpPr>
        <p:spPr>
          <a:xfrm>
            <a:off x="4419600" y="35687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0.623</a:t>
            </a:r>
          </a:p>
        </p:txBody>
      </p:sp>
      <p:sp>
        <p:nvSpPr>
          <p:cNvPr id="43" name="TextBox 42"/>
          <p:cNvSpPr txBox="1"/>
          <p:nvPr/>
        </p:nvSpPr>
        <p:spPr>
          <a:xfrm>
            <a:off x="5486400" y="35687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0.502</a:t>
            </a:r>
          </a:p>
        </p:txBody>
      </p:sp>
      <p:sp>
        <p:nvSpPr>
          <p:cNvPr id="44" name="TextBox 43"/>
          <p:cNvSpPr txBox="1"/>
          <p:nvPr/>
        </p:nvSpPr>
        <p:spPr>
          <a:xfrm>
            <a:off x="6819900" y="35687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0.035</a:t>
            </a:r>
          </a:p>
        </p:txBody>
      </p:sp>
      <p:sp>
        <p:nvSpPr>
          <p:cNvPr id="45" name="TextBox 44"/>
          <p:cNvSpPr txBox="1"/>
          <p:nvPr/>
        </p:nvSpPr>
        <p:spPr>
          <a:xfrm>
            <a:off x="78359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46" name="TextBox 45"/>
          <p:cNvSpPr txBox="1"/>
          <p:nvPr/>
        </p:nvSpPr>
        <p:spPr>
          <a:xfrm>
            <a:off x="91440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1.8%</a:t>
            </a:r>
          </a:p>
        </p:txBody>
      </p:sp>
      <p:sp>
        <p:nvSpPr>
          <p:cNvPr id="47" name="TextBox 46"/>
          <p:cNvSpPr txBox="1"/>
          <p:nvPr/>
        </p:nvSpPr>
        <p:spPr>
          <a:xfrm>
            <a:off x="104521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48" name="Connector 4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0513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51" name="TextBox 50"/>
          <p:cNvSpPr txBox="1"/>
          <p:nvPr/>
        </p:nvSpPr>
        <p:spPr>
          <a:xfrm>
            <a:off x="2844800" y="40513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Unattended</a:t>
            </a:r>
          </a:p>
        </p:txBody>
      </p:sp>
      <p:sp>
        <p:nvSpPr>
          <p:cNvPr id="52" name="TextBox 51"/>
          <p:cNvSpPr txBox="1"/>
          <p:nvPr/>
        </p:nvSpPr>
        <p:spPr>
          <a:xfrm>
            <a:off x="4419600" y="40513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0.980</a:t>
            </a:r>
          </a:p>
        </p:txBody>
      </p:sp>
      <p:sp>
        <p:nvSpPr>
          <p:cNvPr id="53" name="TextBox 52"/>
          <p:cNvSpPr txBox="1"/>
          <p:nvPr/>
        </p:nvSpPr>
        <p:spPr>
          <a:xfrm>
            <a:off x="5486400" y="40513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0.991</a:t>
            </a:r>
          </a:p>
        </p:txBody>
      </p:sp>
      <p:sp>
        <p:nvSpPr>
          <p:cNvPr id="54" name="TextBox 53"/>
          <p:cNvSpPr txBox="1"/>
          <p:nvPr/>
        </p:nvSpPr>
        <p:spPr>
          <a:xfrm>
            <a:off x="6819900" y="40513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0.513</a:t>
            </a:r>
          </a:p>
        </p:txBody>
      </p:sp>
      <p:sp>
        <p:nvSpPr>
          <p:cNvPr id="55" name="TextBox 54"/>
          <p:cNvSpPr txBox="1"/>
          <p:nvPr/>
        </p:nvSpPr>
        <p:spPr>
          <a:xfrm>
            <a:off x="78359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34.5%</a:t>
            </a:r>
          </a:p>
        </p:txBody>
      </p:sp>
      <p:sp>
        <p:nvSpPr>
          <p:cNvPr id="56" name="TextBox 55"/>
          <p:cNvSpPr txBox="1"/>
          <p:nvPr/>
        </p:nvSpPr>
        <p:spPr>
          <a:xfrm>
            <a:off x="91440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57" name="TextBox 56"/>
          <p:cNvSpPr txBox="1"/>
          <p:nvPr/>
        </p:nvSpPr>
        <p:spPr>
          <a:xfrm>
            <a:off x="104521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63.7%</a:t>
            </a:r>
          </a:p>
        </p:txBody>
      </p:sp>
      <p:cxnSp>
        <p:nvCxnSpPr>
          <p:cNvPr id="58" name="Connector 5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000" y="45339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61" name="TextBox 60"/>
          <p:cNvSpPr txBox="1"/>
          <p:nvPr/>
        </p:nvSpPr>
        <p:spPr>
          <a:xfrm>
            <a:off x="2844800" y="45339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Unattended</a:t>
            </a:r>
          </a:p>
        </p:txBody>
      </p:sp>
      <p:sp>
        <p:nvSpPr>
          <p:cNvPr id="62" name="TextBox 61"/>
          <p:cNvSpPr txBox="1"/>
          <p:nvPr/>
        </p:nvSpPr>
        <p:spPr>
          <a:xfrm>
            <a:off x="4419600" y="45339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0.925</a:t>
            </a:r>
          </a:p>
        </p:txBody>
      </p:sp>
      <p:sp>
        <p:nvSpPr>
          <p:cNvPr id="63" name="TextBox 62"/>
          <p:cNvSpPr txBox="1"/>
          <p:nvPr/>
        </p:nvSpPr>
        <p:spPr>
          <a:xfrm>
            <a:off x="5486400" y="45339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0.965</a:t>
            </a:r>
          </a:p>
        </p:txBody>
      </p:sp>
      <p:sp>
        <p:nvSpPr>
          <p:cNvPr id="64" name="TextBox 63"/>
          <p:cNvSpPr txBox="1"/>
          <p:nvPr/>
        </p:nvSpPr>
        <p:spPr>
          <a:xfrm>
            <a:off x="6819900" y="45339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0.403</a:t>
            </a:r>
          </a:p>
        </p:txBody>
      </p:sp>
      <p:sp>
        <p:nvSpPr>
          <p:cNvPr id="65" name="TextBox 64"/>
          <p:cNvSpPr txBox="1"/>
          <p:nvPr/>
        </p:nvSpPr>
        <p:spPr>
          <a:xfrm>
            <a:off x="78359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25.3%</a:t>
            </a:r>
          </a:p>
        </p:txBody>
      </p:sp>
      <p:sp>
        <p:nvSpPr>
          <p:cNvPr id="66" name="TextBox 65"/>
          <p:cNvSpPr txBox="1"/>
          <p:nvPr/>
        </p:nvSpPr>
        <p:spPr>
          <a:xfrm>
            <a:off x="91440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67" name="TextBox 66"/>
          <p:cNvSpPr txBox="1"/>
          <p:nvPr/>
        </p:nvSpPr>
        <p:spPr>
          <a:xfrm>
            <a:off x="104521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99.4%</a:t>
            </a:r>
          </a:p>
        </p:txBody>
      </p:sp>
      <p:cxnSp>
        <p:nvCxnSpPr>
          <p:cNvPr id="68" name="Connector 6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000" y="5016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SmolVLM</a:t>
            </a:r>
          </a:p>
        </p:txBody>
      </p:sp>
      <p:sp>
        <p:nvSpPr>
          <p:cNvPr id="71" name="TextBox 70"/>
          <p:cNvSpPr txBox="1"/>
          <p:nvPr/>
        </p:nvSpPr>
        <p:spPr>
          <a:xfrm>
            <a:off x="2844800" y="5016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Unattended</a:t>
            </a:r>
          </a:p>
        </p:txBody>
      </p:sp>
      <p:sp>
        <p:nvSpPr>
          <p:cNvPr id="72" name="TextBox 71"/>
          <p:cNvSpPr txBox="1"/>
          <p:nvPr/>
        </p:nvSpPr>
        <p:spPr>
          <a:xfrm>
            <a:off x="4419600" y="5016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0.693</a:t>
            </a:r>
          </a:p>
        </p:txBody>
      </p:sp>
      <p:sp>
        <p:nvSpPr>
          <p:cNvPr id="73" name="TextBox 72"/>
          <p:cNvSpPr txBox="1"/>
          <p:nvPr/>
        </p:nvSpPr>
        <p:spPr>
          <a:xfrm>
            <a:off x="5486400" y="5016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0.813</a:t>
            </a:r>
          </a:p>
        </p:txBody>
      </p:sp>
      <p:sp>
        <p:nvSpPr>
          <p:cNvPr id="74" name="TextBox 73"/>
          <p:cNvSpPr txBox="1"/>
          <p:nvPr/>
        </p:nvSpPr>
        <p:spPr>
          <a:xfrm>
            <a:off x="6819900" y="5016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0.467</a:t>
            </a:r>
          </a:p>
        </p:txBody>
      </p:sp>
      <p:sp>
        <p:nvSpPr>
          <p:cNvPr id="75" name="TextBox 74"/>
          <p:cNvSpPr txBox="1"/>
          <p:nvPr/>
        </p:nvSpPr>
        <p:spPr>
          <a:xfrm>
            <a:off x="78359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31.0%</a:t>
            </a:r>
          </a:p>
        </p:txBody>
      </p:sp>
      <p:sp>
        <p:nvSpPr>
          <p:cNvPr id="76" name="TextBox 75"/>
          <p:cNvSpPr txBox="1"/>
          <p:nvPr/>
        </p:nvSpPr>
        <p:spPr>
          <a:xfrm>
            <a:off x="91440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94.6%</a:t>
            </a:r>
          </a:p>
        </p:txBody>
      </p:sp>
      <p:sp>
        <p:nvSpPr>
          <p:cNvPr id="77" name="TextBox 76"/>
          <p:cNvSpPr txBox="1"/>
          <p:nvPr/>
        </p:nvSpPr>
        <p:spPr>
          <a:xfrm>
            <a:off x="104521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70.8%</a:t>
            </a:r>
          </a:p>
        </p:txBody>
      </p:sp>
      <p:cxnSp>
        <p:nvCxnSpPr>
          <p:cNvPr id="78" name="Connector 77"/>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High unattended AP still coexists with high normal FPR. The development 5% budget does not transfer.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TRAINING / SMOLVLM LANGUAGE ADAPTATION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LoRA adapts the answer function while vision stays</a:t>
            </a:r>
          </a:p>
          <a:p>
            <a:pPr algn="l">
              <a:lnSpc>
                <a:spcPts val="3690"/>
              </a:lnSpc>
              <a:spcBef>
                <a:spcPts val="0"/>
              </a:spcBef>
              <a:spcAft>
                <a:spcPts val="0"/>
              </a:spcAft>
              <a:defRPr sz="3000" b="1">
                <a:solidFill>
                  <a:srgbClr val="142C40"/>
                </a:solidFill>
                <a:latin typeface="DejaVu Sans"/>
              </a:defRPr>
            </a:pPr>
            <a:r>
              <a:t>frozen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SmolVLM-500M-Instruct • 3,973 training examples • five task-conditioned binary queries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29</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40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Setting</a:t>
            </a:r>
          </a:p>
        </p:txBody>
      </p:sp>
      <p:sp>
        <p:nvSpPr>
          <p:cNvPr id="12" name="TextBox 11"/>
          <p:cNvSpPr txBox="1"/>
          <p:nvPr/>
        </p:nvSpPr>
        <p:spPr>
          <a:xfrm>
            <a:off x="3238500" y="2171700"/>
            <a:ext cx="83185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Executed configuration</a:t>
            </a:r>
          </a:p>
        </p:txBody>
      </p:sp>
      <p:sp>
        <p:nvSpPr>
          <p:cNvPr id="13" name="Rectangle 12"/>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000" y="2603500"/>
            <a:ext cx="2400300" cy="4064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Updated weights</a:t>
            </a:r>
          </a:p>
        </p:txBody>
      </p:sp>
      <p:sp>
        <p:nvSpPr>
          <p:cNvPr id="15" name="TextBox 14"/>
          <p:cNvSpPr txBox="1"/>
          <p:nvPr/>
        </p:nvSpPr>
        <p:spPr>
          <a:xfrm>
            <a:off x="3238500" y="2603500"/>
            <a:ext cx="8318500" cy="4064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4,341,760 language-projection parameters; q/k/v/o and gate/up/down</a:t>
            </a:r>
          </a:p>
        </p:txBody>
      </p:sp>
      <p:cxnSp>
        <p:nvCxnSpPr>
          <p:cNvPr id="16" name="Connector 15"/>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000" y="3086100"/>
            <a:ext cx="2400300" cy="4064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LoRA setup</a:t>
            </a:r>
          </a:p>
        </p:txBody>
      </p:sp>
      <p:sp>
        <p:nvSpPr>
          <p:cNvPr id="19" name="TextBox 18"/>
          <p:cNvSpPr txBox="1"/>
          <p:nvPr/>
        </p:nvSpPr>
        <p:spPr>
          <a:xfrm>
            <a:off x="3238500" y="3086100"/>
            <a:ext cx="8318500" cy="4064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Rank 8; alpha 16; dropout 0.05; vision/connector/embeddings/output head frozen</a:t>
            </a:r>
          </a:p>
        </p:txBody>
      </p:sp>
      <p:cxnSp>
        <p:nvCxnSpPr>
          <p:cNvPr id="20" name="Connector 19"/>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000" y="3568700"/>
            <a:ext cx="2400300" cy="4064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Objective</a:t>
            </a:r>
          </a:p>
        </p:txBody>
      </p:sp>
      <p:sp>
        <p:nvSpPr>
          <p:cNvPr id="23" name="TextBox 22"/>
          <p:cNvSpPr txBox="1"/>
          <p:nvPr/>
        </p:nvSpPr>
        <p:spPr>
          <a:xfrm>
            <a:off x="3238500" y="3568700"/>
            <a:ext cx="8318500" cy="4064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Full-vocabulary first-answer-token CE for Yes / No; mask every input token</a:t>
            </a:r>
          </a:p>
        </p:txBody>
      </p:sp>
      <p:cxnSp>
        <p:nvCxnSpPr>
          <p:cNvPr id="24" name="Connector 23"/>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000" y="4051300"/>
            <a:ext cx="2400300" cy="4064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Optimizer</a:t>
            </a:r>
          </a:p>
        </p:txBody>
      </p:sp>
      <p:sp>
        <p:nvSpPr>
          <p:cNvPr id="27" name="TextBox 26"/>
          <p:cNvSpPr txBox="1"/>
          <p:nvPr/>
        </p:nvSpPr>
        <p:spPr>
          <a:xfrm>
            <a:off x="3238500" y="4051300"/>
            <a:ext cx="8318500" cy="4064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AdamW; LR 3e-5 or1e-4; weight decay .01; warmup 5%; gradient clip1.0</a:t>
            </a:r>
          </a:p>
        </p:txBody>
      </p:sp>
      <p:cxnSp>
        <p:nvCxnSpPr>
          <p:cNvPr id="28" name="Connector 2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4533900"/>
            <a:ext cx="2400300" cy="4064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Effective batch</a:t>
            </a:r>
          </a:p>
        </p:txBody>
      </p:sp>
      <p:sp>
        <p:nvSpPr>
          <p:cNvPr id="31" name="TextBox 30"/>
          <p:cNvSpPr txBox="1"/>
          <p:nvPr/>
        </p:nvSpPr>
        <p:spPr>
          <a:xfrm>
            <a:off x="3238500" y="4533900"/>
            <a:ext cx="8318500" cy="4064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Microbatch 8 × accumulation 4 =32 examples; max 6 epochs; patience 2</a:t>
            </a:r>
          </a:p>
        </p:txBody>
      </p:sp>
      <p:cxnSp>
        <p:nvCxnSpPr>
          <p:cNvPr id="32" name="Connector 31"/>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000" y="5016500"/>
            <a:ext cx="2400300" cy="4064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Sampling / precision</a:t>
            </a:r>
          </a:p>
        </p:txBody>
      </p:sp>
      <p:sp>
        <p:nvSpPr>
          <p:cNvPr id="35" name="TextBox 34"/>
          <p:cNvSpPr txBox="1"/>
          <p:nvPr/>
        </p:nvSpPr>
        <p:spPr>
          <a:xfrm>
            <a:off x="3238500" y="5016500"/>
            <a:ext cx="8318500" cy="4064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Each train case once + equal balanced resample; BF16 train, float32 eval</a:t>
            </a:r>
          </a:p>
        </p:txBody>
      </p:sp>
      <p:cxnSp>
        <p:nvCxnSpPr>
          <p:cNvPr id="36" name="Connector 35"/>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No SmolVLM linear probe or full-parameter fine-tune was run; LoRA is the actual weight-adaptation stage.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TRAINING / SMOLVLM CHECKPOINT SELECTION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All three adapter runs select epoch one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Primary seed 42 compares two learning rates; seed 43 repeats only the primary winning LR</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30</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3606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Run / visual tower frozen</a:t>
            </a:r>
          </a:p>
        </p:txBody>
      </p:sp>
      <p:sp>
        <p:nvSpPr>
          <p:cNvPr id="12" name="TextBox 11"/>
          <p:cNvSpPr txBox="1"/>
          <p:nvPr/>
        </p:nvSpPr>
        <p:spPr>
          <a:xfrm>
            <a:off x="4445000" y="2171700"/>
            <a:ext cx="1447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Epochs run</a:t>
            </a:r>
          </a:p>
        </p:txBody>
      </p:sp>
      <p:sp>
        <p:nvSpPr>
          <p:cNvPr id="13" name="TextBox 12"/>
          <p:cNvSpPr txBox="1"/>
          <p:nvPr/>
        </p:nvSpPr>
        <p:spPr>
          <a:xfrm>
            <a:off x="6096000" y="2171700"/>
            <a:ext cx="1447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Best epoch</a:t>
            </a:r>
          </a:p>
        </p:txBody>
      </p:sp>
      <p:sp>
        <p:nvSpPr>
          <p:cNvPr id="14" name="TextBox 13"/>
          <p:cNvSpPr txBox="1"/>
          <p:nvPr/>
        </p:nvSpPr>
        <p:spPr>
          <a:xfrm>
            <a:off x="7747000" y="2171700"/>
            <a:ext cx="18034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Best dev AP</a:t>
            </a:r>
          </a:p>
        </p:txBody>
      </p:sp>
      <p:sp>
        <p:nvSpPr>
          <p:cNvPr id="15" name="TextBox 14"/>
          <p:cNvSpPr txBox="1"/>
          <p:nvPr/>
        </p:nvSpPr>
        <p:spPr>
          <a:xfrm>
            <a:off x="9753600" y="2171700"/>
            <a:ext cx="18034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Last train loss</a:t>
            </a:r>
          </a:p>
        </p:txBody>
      </p:sp>
      <p:sp>
        <p:nvSpPr>
          <p:cNvPr id="16" name="Rectangle 15"/>
          <p:cNvSpPr/>
          <p:nvPr/>
        </p:nvSpPr>
        <p:spPr>
          <a:xfrm>
            <a:off x="533400" y="2565400"/>
            <a:ext cx="11125200" cy="622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 y="2603500"/>
            <a:ext cx="3606800" cy="5461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s42 / 3e-05</a:t>
            </a:r>
          </a:p>
        </p:txBody>
      </p:sp>
      <p:sp>
        <p:nvSpPr>
          <p:cNvPr id="18" name="TextBox 17"/>
          <p:cNvSpPr txBox="1"/>
          <p:nvPr/>
        </p:nvSpPr>
        <p:spPr>
          <a:xfrm>
            <a:off x="4445000" y="2603500"/>
            <a:ext cx="1447800" cy="546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a:t>
            </a:r>
          </a:p>
        </p:txBody>
      </p:sp>
      <p:sp>
        <p:nvSpPr>
          <p:cNvPr id="19" name="TextBox 18"/>
          <p:cNvSpPr txBox="1"/>
          <p:nvPr/>
        </p:nvSpPr>
        <p:spPr>
          <a:xfrm>
            <a:off x="6096000" y="2603500"/>
            <a:ext cx="1447800" cy="546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a:t>
            </a:r>
          </a:p>
        </p:txBody>
      </p:sp>
      <p:sp>
        <p:nvSpPr>
          <p:cNvPr id="20" name="TextBox 19"/>
          <p:cNvSpPr txBox="1"/>
          <p:nvPr/>
        </p:nvSpPr>
        <p:spPr>
          <a:xfrm>
            <a:off x="7747000" y="2603500"/>
            <a:ext cx="1803400" cy="546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0.658</a:t>
            </a:r>
          </a:p>
        </p:txBody>
      </p:sp>
      <p:sp>
        <p:nvSpPr>
          <p:cNvPr id="21" name="TextBox 20"/>
          <p:cNvSpPr txBox="1"/>
          <p:nvPr/>
        </p:nvSpPr>
        <p:spPr>
          <a:xfrm>
            <a:off x="9753600" y="2603500"/>
            <a:ext cx="1803400" cy="546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0.319</a:t>
            </a:r>
          </a:p>
        </p:txBody>
      </p:sp>
      <p:cxnSp>
        <p:nvCxnSpPr>
          <p:cNvPr id="22" name="Connector 21"/>
          <p:cNvCxnSpPr/>
          <p:nvPr/>
        </p:nvCxnSpPr>
        <p:spPr>
          <a:xfrm>
            <a:off x="533400" y="3187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187700"/>
            <a:ext cx="11125200" cy="6223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000" y="3225800"/>
            <a:ext cx="3606800" cy="5461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s42 / 0.0001</a:t>
            </a:r>
          </a:p>
        </p:txBody>
      </p:sp>
      <p:sp>
        <p:nvSpPr>
          <p:cNvPr id="25" name="TextBox 24"/>
          <p:cNvSpPr txBox="1"/>
          <p:nvPr/>
        </p:nvSpPr>
        <p:spPr>
          <a:xfrm>
            <a:off x="4445000" y="3225800"/>
            <a:ext cx="1447800" cy="546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a:t>
            </a:r>
          </a:p>
        </p:txBody>
      </p:sp>
      <p:sp>
        <p:nvSpPr>
          <p:cNvPr id="26" name="TextBox 25"/>
          <p:cNvSpPr txBox="1"/>
          <p:nvPr/>
        </p:nvSpPr>
        <p:spPr>
          <a:xfrm>
            <a:off x="6096000" y="3225800"/>
            <a:ext cx="1447800" cy="546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a:t>
            </a:r>
          </a:p>
        </p:txBody>
      </p:sp>
      <p:sp>
        <p:nvSpPr>
          <p:cNvPr id="27" name="TextBox 26"/>
          <p:cNvSpPr txBox="1"/>
          <p:nvPr/>
        </p:nvSpPr>
        <p:spPr>
          <a:xfrm>
            <a:off x="7747000" y="3225800"/>
            <a:ext cx="1803400" cy="546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0.703</a:t>
            </a:r>
          </a:p>
        </p:txBody>
      </p:sp>
      <p:sp>
        <p:nvSpPr>
          <p:cNvPr id="28" name="TextBox 27"/>
          <p:cNvSpPr txBox="1"/>
          <p:nvPr/>
        </p:nvSpPr>
        <p:spPr>
          <a:xfrm>
            <a:off x="9753600" y="3225800"/>
            <a:ext cx="1803400" cy="546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0.223</a:t>
            </a:r>
          </a:p>
        </p:txBody>
      </p:sp>
      <p:cxnSp>
        <p:nvCxnSpPr>
          <p:cNvPr id="29" name="Connector 28"/>
          <p:cNvCxnSpPr/>
          <p:nvPr/>
        </p:nvCxnSpPr>
        <p:spPr>
          <a:xfrm>
            <a:off x="533400" y="3810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810000"/>
            <a:ext cx="11125200" cy="622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000" y="3848100"/>
            <a:ext cx="3606800" cy="5461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s43 / 0.0001</a:t>
            </a:r>
          </a:p>
        </p:txBody>
      </p:sp>
      <p:sp>
        <p:nvSpPr>
          <p:cNvPr id="32" name="TextBox 31"/>
          <p:cNvSpPr txBox="1"/>
          <p:nvPr/>
        </p:nvSpPr>
        <p:spPr>
          <a:xfrm>
            <a:off x="4445000" y="3848100"/>
            <a:ext cx="1447800" cy="546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a:t>
            </a:r>
          </a:p>
        </p:txBody>
      </p:sp>
      <p:sp>
        <p:nvSpPr>
          <p:cNvPr id="33" name="TextBox 32"/>
          <p:cNvSpPr txBox="1"/>
          <p:nvPr/>
        </p:nvSpPr>
        <p:spPr>
          <a:xfrm>
            <a:off x="6096000" y="3848100"/>
            <a:ext cx="1447800" cy="546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a:t>
            </a:r>
          </a:p>
        </p:txBody>
      </p:sp>
      <p:sp>
        <p:nvSpPr>
          <p:cNvPr id="34" name="TextBox 33"/>
          <p:cNvSpPr txBox="1"/>
          <p:nvPr/>
        </p:nvSpPr>
        <p:spPr>
          <a:xfrm>
            <a:off x="7747000" y="3848100"/>
            <a:ext cx="1803400" cy="546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0.655</a:t>
            </a:r>
          </a:p>
        </p:txBody>
      </p:sp>
      <p:sp>
        <p:nvSpPr>
          <p:cNvPr id="35" name="TextBox 34"/>
          <p:cNvSpPr txBox="1"/>
          <p:nvPr/>
        </p:nvSpPr>
        <p:spPr>
          <a:xfrm>
            <a:off x="9753600" y="3848100"/>
            <a:ext cx="1803400" cy="546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0.215</a:t>
            </a:r>
          </a:p>
        </p:txBody>
      </p:sp>
      <p:cxnSp>
        <p:nvCxnSpPr>
          <p:cNvPr id="36" name="Connector 35"/>
          <p:cNvCxnSpPr/>
          <p:nvPr/>
        </p:nvCxnSpPr>
        <p:spPr>
          <a:xfrm>
            <a:off x="533400" y="4432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More completed epochs do not imply a better selected model. Checkpoints maximize development macro</a:t>
            </a:r>
          </a:p>
          <a:p>
            <a:pPr algn="l">
              <a:lnSpc>
                <a:spcPts val="1660"/>
              </a:lnSpc>
              <a:spcBef>
                <a:spcPts val="0"/>
              </a:spcBef>
              <a:spcAft>
                <a:spcPts val="0"/>
              </a:spcAft>
              <a:defRPr sz="1350" b="1">
                <a:solidFill>
                  <a:srgbClr val="007E80"/>
                </a:solidFill>
                <a:latin typeface="DejaVu Sans"/>
              </a:defRPr>
            </a:pPr>
            <a:r>
              <a:t>source AP.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SMOLVLM STAGES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Original model → one joint LoRA → per-target</a:t>
            </a:r>
          </a:p>
          <a:p>
            <a:pPr algn="l">
              <a:lnSpc>
                <a:spcPts val="3690"/>
              </a:lnSpc>
              <a:spcBef>
                <a:spcPts val="0"/>
              </a:spcBef>
              <a:spcAft>
                <a:spcPts val="0"/>
              </a:spcAft>
              <a:defRPr sz="3000" b="1">
                <a:solidFill>
                  <a:srgbClr val="142C40"/>
                </a:solidFill>
                <a:latin typeface="DejaVu Sans"/>
              </a:defRPr>
            </a:pPr>
            <a:r>
              <a:t>routing</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 images, prompt and first-answer score within SmolVLM • primary seed 42</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31</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908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Cohort</a:t>
            </a:r>
          </a:p>
        </p:txBody>
      </p:sp>
      <p:sp>
        <p:nvSpPr>
          <p:cNvPr id="12" name="TextBox 11"/>
          <p:cNvSpPr txBox="1"/>
          <p:nvPr/>
        </p:nvSpPr>
        <p:spPr>
          <a:xfrm>
            <a:off x="3746500" y="2171700"/>
            <a:ext cx="685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n</a:t>
            </a:r>
          </a:p>
        </p:txBody>
      </p:sp>
      <p:sp>
        <p:nvSpPr>
          <p:cNvPr id="13" name="TextBox 12"/>
          <p:cNvSpPr txBox="1"/>
          <p:nvPr/>
        </p:nvSpPr>
        <p:spPr>
          <a:xfrm>
            <a:off x="4635500" y="2171700"/>
            <a:ext cx="1511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Original AP</a:t>
            </a:r>
          </a:p>
        </p:txBody>
      </p:sp>
      <p:sp>
        <p:nvSpPr>
          <p:cNvPr id="14" name="TextBox 13"/>
          <p:cNvSpPr txBox="1"/>
          <p:nvPr/>
        </p:nvSpPr>
        <p:spPr>
          <a:xfrm>
            <a:off x="6350000" y="2171700"/>
            <a:ext cx="1384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Joint AP</a:t>
            </a:r>
          </a:p>
        </p:txBody>
      </p:sp>
      <p:sp>
        <p:nvSpPr>
          <p:cNvPr id="15" name="TextBox 14"/>
          <p:cNvSpPr txBox="1"/>
          <p:nvPr/>
        </p:nvSpPr>
        <p:spPr>
          <a:xfrm>
            <a:off x="7937500" y="2171700"/>
            <a:ext cx="1384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Routed AP</a:t>
            </a:r>
          </a:p>
        </p:txBody>
      </p:sp>
      <p:sp>
        <p:nvSpPr>
          <p:cNvPr id="16" name="TextBox 15"/>
          <p:cNvSpPr txBox="1"/>
          <p:nvPr/>
        </p:nvSpPr>
        <p:spPr>
          <a:xfrm>
            <a:off x="9525000" y="2171700"/>
            <a:ext cx="20320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Routed weights</a:t>
            </a:r>
          </a:p>
        </p:txBody>
      </p:sp>
      <p:sp>
        <p:nvSpPr>
          <p:cNvPr id="17" name="Rectangle 16"/>
          <p:cNvSpPr/>
          <p:nvPr/>
        </p:nvSpPr>
        <p:spPr>
          <a:xfrm>
            <a:off x="533400" y="2565400"/>
            <a:ext cx="11125200" cy="469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000" y="2603500"/>
            <a:ext cx="2908300" cy="393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Smoking / CCTV</a:t>
            </a:r>
          </a:p>
        </p:txBody>
      </p:sp>
      <p:sp>
        <p:nvSpPr>
          <p:cNvPr id="19" name="TextBox 18"/>
          <p:cNvSpPr txBox="1"/>
          <p:nvPr/>
        </p:nvSpPr>
        <p:spPr>
          <a:xfrm>
            <a:off x="3746500" y="2603500"/>
            <a:ext cx="6858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646</a:t>
            </a:r>
          </a:p>
        </p:txBody>
      </p:sp>
      <p:sp>
        <p:nvSpPr>
          <p:cNvPr id="20" name="TextBox 19"/>
          <p:cNvSpPr txBox="1"/>
          <p:nvPr/>
        </p:nvSpPr>
        <p:spPr>
          <a:xfrm>
            <a:off x="4635500" y="2603500"/>
            <a:ext cx="1511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0.600</a:t>
            </a:r>
          </a:p>
        </p:txBody>
      </p:sp>
      <p:sp>
        <p:nvSpPr>
          <p:cNvPr id="21" name="TextBox 20"/>
          <p:cNvSpPr txBox="1"/>
          <p:nvPr/>
        </p:nvSpPr>
        <p:spPr>
          <a:xfrm>
            <a:off x="6350000" y="2603500"/>
            <a:ext cx="1384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0.623</a:t>
            </a:r>
          </a:p>
        </p:txBody>
      </p:sp>
      <p:sp>
        <p:nvSpPr>
          <p:cNvPr id="22" name="TextBox 21"/>
          <p:cNvSpPr txBox="1"/>
          <p:nvPr/>
        </p:nvSpPr>
        <p:spPr>
          <a:xfrm>
            <a:off x="7937500" y="2603500"/>
            <a:ext cx="1384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0.623</a:t>
            </a:r>
          </a:p>
        </p:txBody>
      </p:sp>
      <p:sp>
        <p:nvSpPr>
          <p:cNvPr id="23" name="TextBox 22"/>
          <p:cNvSpPr txBox="1"/>
          <p:nvPr/>
        </p:nvSpPr>
        <p:spPr>
          <a:xfrm>
            <a:off x="9525000" y="2603500"/>
            <a:ext cx="20320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LoRA high LR</a:t>
            </a:r>
          </a:p>
        </p:txBody>
      </p:sp>
      <p:cxnSp>
        <p:nvCxnSpPr>
          <p:cNvPr id="24" name="Connector 23"/>
          <p:cNvCxnSpPr/>
          <p:nvPr/>
        </p:nvCxnSpPr>
        <p:spPr>
          <a:xfrm>
            <a:off x="533400" y="303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33400" y="3035300"/>
            <a:ext cx="11125200" cy="469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000" y="3073400"/>
            <a:ext cx="2908300" cy="393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Littering / IWDD</a:t>
            </a:r>
          </a:p>
        </p:txBody>
      </p:sp>
      <p:sp>
        <p:nvSpPr>
          <p:cNvPr id="27" name="TextBox 26"/>
          <p:cNvSpPr txBox="1"/>
          <p:nvPr/>
        </p:nvSpPr>
        <p:spPr>
          <a:xfrm>
            <a:off x="3746500" y="3073400"/>
            <a:ext cx="6858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100</a:t>
            </a:r>
          </a:p>
        </p:txBody>
      </p:sp>
      <p:sp>
        <p:nvSpPr>
          <p:cNvPr id="28" name="TextBox 27"/>
          <p:cNvSpPr txBox="1"/>
          <p:nvPr/>
        </p:nvSpPr>
        <p:spPr>
          <a:xfrm>
            <a:off x="4635500" y="3073400"/>
            <a:ext cx="1511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0.592</a:t>
            </a:r>
          </a:p>
        </p:txBody>
      </p:sp>
      <p:sp>
        <p:nvSpPr>
          <p:cNvPr id="29" name="TextBox 28"/>
          <p:cNvSpPr txBox="1"/>
          <p:nvPr/>
        </p:nvSpPr>
        <p:spPr>
          <a:xfrm>
            <a:off x="6350000" y="3073400"/>
            <a:ext cx="1384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0.766</a:t>
            </a:r>
          </a:p>
        </p:txBody>
      </p:sp>
      <p:sp>
        <p:nvSpPr>
          <p:cNvPr id="30" name="TextBox 29"/>
          <p:cNvSpPr txBox="1"/>
          <p:nvPr/>
        </p:nvSpPr>
        <p:spPr>
          <a:xfrm>
            <a:off x="7937500" y="3073400"/>
            <a:ext cx="1384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0.766</a:t>
            </a:r>
          </a:p>
        </p:txBody>
      </p:sp>
      <p:sp>
        <p:nvSpPr>
          <p:cNvPr id="31" name="TextBox 30"/>
          <p:cNvSpPr txBox="1"/>
          <p:nvPr/>
        </p:nvSpPr>
        <p:spPr>
          <a:xfrm>
            <a:off x="9525000" y="3073400"/>
            <a:ext cx="20320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LoRA high LR</a:t>
            </a:r>
          </a:p>
        </p:txBody>
      </p:sp>
      <p:cxnSp>
        <p:nvCxnSpPr>
          <p:cNvPr id="32" name="Connector 31"/>
          <p:cNvCxnSpPr/>
          <p:nvPr/>
        </p:nvCxnSpPr>
        <p:spPr>
          <a:xfrm>
            <a:off x="533400" y="3505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3505200"/>
            <a:ext cx="11125200" cy="469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000" y="3543300"/>
            <a:ext cx="2908300" cy="393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Loitering</a:t>
            </a:r>
          </a:p>
        </p:txBody>
      </p:sp>
      <p:sp>
        <p:nvSpPr>
          <p:cNvPr id="35" name="TextBox 34"/>
          <p:cNvSpPr txBox="1"/>
          <p:nvPr/>
        </p:nvSpPr>
        <p:spPr>
          <a:xfrm>
            <a:off x="3746500" y="3543300"/>
            <a:ext cx="6858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75</a:t>
            </a:r>
          </a:p>
        </p:txBody>
      </p:sp>
      <p:sp>
        <p:nvSpPr>
          <p:cNvPr id="36" name="TextBox 35"/>
          <p:cNvSpPr txBox="1"/>
          <p:nvPr/>
        </p:nvSpPr>
        <p:spPr>
          <a:xfrm>
            <a:off x="4635500" y="3543300"/>
            <a:ext cx="1511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0.425</a:t>
            </a:r>
          </a:p>
        </p:txBody>
      </p:sp>
      <p:sp>
        <p:nvSpPr>
          <p:cNvPr id="37" name="TextBox 36"/>
          <p:cNvSpPr txBox="1"/>
          <p:nvPr/>
        </p:nvSpPr>
        <p:spPr>
          <a:xfrm>
            <a:off x="6350000" y="3543300"/>
            <a:ext cx="1384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0.182</a:t>
            </a:r>
          </a:p>
        </p:txBody>
      </p:sp>
      <p:sp>
        <p:nvSpPr>
          <p:cNvPr id="38" name="TextBox 37"/>
          <p:cNvSpPr txBox="1"/>
          <p:nvPr/>
        </p:nvSpPr>
        <p:spPr>
          <a:xfrm>
            <a:off x="7937500" y="3543300"/>
            <a:ext cx="1384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0.182</a:t>
            </a:r>
          </a:p>
        </p:txBody>
      </p:sp>
      <p:sp>
        <p:nvSpPr>
          <p:cNvPr id="39" name="TextBox 38"/>
          <p:cNvSpPr txBox="1"/>
          <p:nvPr/>
        </p:nvSpPr>
        <p:spPr>
          <a:xfrm>
            <a:off x="9525000" y="3543300"/>
            <a:ext cx="20320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LoRA high LR</a:t>
            </a:r>
          </a:p>
        </p:txBody>
      </p:sp>
      <p:cxnSp>
        <p:nvCxnSpPr>
          <p:cNvPr id="40" name="Connector 39"/>
          <p:cNvCxnSpPr/>
          <p:nvPr/>
        </p:nvCxnSpPr>
        <p:spPr>
          <a:xfrm>
            <a:off x="533400" y="3975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33400" y="3975100"/>
            <a:ext cx="11125200" cy="469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000" y="4013200"/>
            <a:ext cx="2908300" cy="393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Public sleep</a:t>
            </a:r>
          </a:p>
        </p:txBody>
      </p:sp>
      <p:sp>
        <p:nvSpPr>
          <p:cNvPr id="43" name="TextBox 42"/>
          <p:cNvSpPr txBox="1"/>
          <p:nvPr/>
        </p:nvSpPr>
        <p:spPr>
          <a:xfrm>
            <a:off x="3746500" y="4013200"/>
            <a:ext cx="6858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18</a:t>
            </a:r>
          </a:p>
        </p:txBody>
      </p:sp>
      <p:sp>
        <p:nvSpPr>
          <p:cNvPr id="44" name="TextBox 43"/>
          <p:cNvSpPr txBox="1"/>
          <p:nvPr/>
        </p:nvSpPr>
        <p:spPr>
          <a:xfrm>
            <a:off x="4635500" y="4013200"/>
            <a:ext cx="1511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0.744</a:t>
            </a:r>
          </a:p>
        </p:txBody>
      </p:sp>
      <p:sp>
        <p:nvSpPr>
          <p:cNvPr id="45" name="TextBox 44"/>
          <p:cNvSpPr txBox="1"/>
          <p:nvPr/>
        </p:nvSpPr>
        <p:spPr>
          <a:xfrm>
            <a:off x="6350000" y="4013200"/>
            <a:ext cx="1384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0.633</a:t>
            </a:r>
          </a:p>
        </p:txBody>
      </p:sp>
      <p:sp>
        <p:nvSpPr>
          <p:cNvPr id="46" name="TextBox 45"/>
          <p:cNvSpPr txBox="1"/>
          <p:nvPr/>
        </p:nvSpPr>
        <p:spPr>
          <a:xfrm>
            <a:off x="7937500" y="4013200"/>
            <a:ext cx="1384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0.788</a:t>
            </a:r>
          </a:p>
        </p:txBody>
      </p:sp>
      <p:sp>
        <p:nvSpPr>
          <p:cNvPr id="47" name="TextBox 46"/>
          <p:cNvSpPr txBox="1"/>
          <p:nvPr/>
        </p:nvSpPr>
        <p:spPr>
          <a:xfrm>
            <a:off x="9525000" y="4013200"/>
            <a:ext cx="20320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LoRA low LR</a:t>
            </a:r>
          </a:p>
        </p:txBody>
      </p:sp>
      <p:cxnSp>
        <p:nvCxnSpPr>
          <p:cNvPr id="48" name="Connector 47"/>
          <p:cNvCxnSpPr/>
          <p:nvPr/>
        </p:nvCxnSpPr>
        <p:spPr>
          <a:xfrm>
            <a:off x="533400" y="4445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445000"/>
            <a:ext cx="11125200" cy="469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483100"/>
            <a:ext cx="2908300" cy="393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Unattended</a:t>
            </a:r>
          </a:p>
        </p:txBody>
      </p:sp>
      <p:sp>
        <p:nvSpPr>
          <p:cNvPr id="51" name="TextBox 50"/>
          <p:cNvSpPr txBox="1"/>
          <p:nvPr/>
        </p:nvSpPr>
        <p:spPr>
          <a:xfrm>
            <a:off x="3746500" y="4483100"/>
            <a:ext cx="6858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962</a:t>
            </a:r>
          </a:p>
        </p:txBody>
      </p:sp>
      <p:sp>
        <p:nvSpPr>
          <p:cNvPr id="52" name="TextBox 51"/>
          <p:cNvSpPr txBox="1"/>
          <p:nvPr/>
        </p:nvSpPr>
        <p:spPr>
          <a:xfrm>
            <a:off x="4635500" y="4483100"/>
            <a:ext cx="1511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0.476</a:t>
            </a:r>
          </a:p>
        </p:txBody>
      </p:sp>
      <p:sp>
        <p:nvSpPr>
          <p:cNvPr id="53" name="TextBox 52"/>
          <p:cNvSpPr txBox="1"/>
          <p:nvPr/>
        </p:nvSpPr>
        <p:spPr>
          <a:xfrm>
            <a:off x="6350000" y="4483100"/>
            <a:ext cx="1384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0.693</a:t>
            </a:r>
          </a:p>
        </p:txBody>
      </p:sp>
      <p:sp>
        <p:nvSpPr>
          <p:cNvPr id="54" name="TextBox 53"/>
          <p:cNvSpPr txBox="1"/>
          <p:nvPr/>
        </p:nvSpPr>
        <p:spPr>
          <a:xfrm>
            <a:off x="7937500" y="4483100"/>
            <a:ext cx="1384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0.693</a:t>
            </a:r>
          </a:p>
        </p:txBody>
      </p:sp>
      <p:sp>
        <p:nvSpPr>
          <p:cNvPr id="55" name="TextBox 54"/>
          <p:cNvSpPr txBox="1"/>
          <p:nvPr/>
        </p:nvSpPr>
        <p:spPr>
          <a:xfrm>
            <a:off x="9525000" y="4483100"/>
            <a:ext cx="20320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LoRA high LR</a:t>
            </a:r>
          </a:p>
        </p:txBody>
      </p:sp>
      <p:cxnSp>
        <p:nvCxnSpPr>
          <p:cNvPr id="56" name="Connector 55"/>
          <p:cNvCxnSpPr/>
          <p:nvPr/>
        </p:nvCxnSpPr>
        <p:spPr>
          <a:xfrm>
            <a:off x="533400" y="49149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533400" y="4914900"/>
            <a:ext cx="11125200" cy="469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5000" y="4953000"/>
            <a:ext cx="2908300" cy="3937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Smoking / Stanford40</a:t>
            </a:r>
          </a:p>
        </p:txBody>
      </p:sp>
      <p:sp>
        <p:nvSpPr>
          <p:cNvPr id="59" name="TextBox 58"/>
          <p:cNvSpPr txBox="1"/>
          <p:nvPr/>
        </p:nvSpPr>
        <p:spPr>
          <a:xfrm>
            <a:off x="3746500" y="4953000"/>
            <a:ext cx="6858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806</a:t>
            </a:r>
          </a:p>
        </p:txBody>
      </p:sp>
      <p:sp>
        <p:nvSpPr>
          <p:cNvPr id="60" name="TextBox 59"/>
          <p:cNvSpPr txBox="1"/>
          <p:nvPr/>
        </p:nvSpPr>
        <p:spPr>
          <a:xfrm>
            <a:off x="4635500" y="4953000"/>
            <a:ext cx="1511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0.583</a:t>
            </a:r>
          </a:p>
        </p:txBody>
      </p:sp>
      <p:sp>
        <p:nvSpPr>
          <p:cNvPr id="61" name="TextBox 60"/>
          <p:cNvSpPr txBox="1"/>
          <p:nvPr/>
        </p:nvSpPr>
        <p:spPr>
          <a:xfrm>
            <a:off x="6350000" y="4953000"/>
            <a:ext cx="1384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0.890</a:t>
            </a:r>
          </a:p>
        </p:txBody>
      </p:sp>
      <p:sp>
        <p:nvSpPr>
          <p:cNvPr id="62" name="TextBox 61"/>
          <p:cNvSpPr txBox="1"/>
          <p:nvPr/>
        </p:nvSpPr>
        <p:spPr>
          <a:xfrm>
            <a:off x="7937500" y="4953000"/>
            <a:ext cx="13843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0.890</a:t>
            </a:r>
          </a:p>
        </p:txBody>
      </p:sp>
      <p:sp>
        <p:nvSpPr>
          <p:cNvPr id="63" name="TextBox 62"/>
          <p:cNvSpPr txBox="1"/>
          <p:nvPr/>
        </p:nvSpPr>
        <p:spPr>
          <a:xfrm>
            <a:off x="9525000" y="4953000"/>
            <a:ext cx="2032000" cy="393700"/>
          </a:xfrm>
          <a:prstGeom prst="rect">
            <a:avLst/>
          </a:prstGeom>
          <a:noFill/>
        </p:spPr>
        <p:txBody>
          <a:bodyPr wrap="none" lIns="0" rIns="0" tIns="0" bIns="0" anchor="t">
            <a:spAutoFit/>
          </a:bodyPr>
          <a:lstStyle/>
          <a:p>
            <a:pPr algn="l">
              <a:lnSpc>
                <a:spcPts val="1476"/>
              </a:lnSpc>
              <a:spcBef>
                <a:spcPts val="0"/>
              </a:spcBef>
              <a:spcAft>
                <a:spcPts val="0"/>
              </a:spcAft>
              <a:defRPr sz="1200" b="0">
                <a:solidFill>
                  <a:srgbClr val="142C40"/>
                </a:solidFill>
                <a:latin typeface="DejaVu Sans"/>
              </a:defRPr>
            </a:pPr>
            <a:r>
              <a:t>LoRA high LR</a:t>
            </a:r>
          </a:p>
        </p:txBody>
      </p:sp>
      <p:cxnSp>
        <p:nvCxnSpPr>
          <p:cNvPr id="64" name="Connector 63"/>
          <p:cNvCxnSpPr/>
          <p:nvPr/>
        </p:nvCxnSpPr>
        <p:spPr>
          <a:xfrm>
            <a:off x="533400" y="5384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Routing improves the public-sleep choice; loitering ranking still falls below the original model.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SmolVLM: full decision metrics after adaptation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Primary per-target routes • maximum-development-F1 cutoffs • all five target cohorts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32</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Smoking / CCTV</a:t>
            </a:r>
          </a:p>
        </p:txBody>
      </p:sp>
      <p:sp>
        <p:nvSpPr>
          <p:cNvPr id="21" name="TextBox 20"/>
          <p:cNvSpPr txBox="1"/>
          <p:nvPr/>
        </p:nvSpPr>
        <p:spPr>
          <a:xfrm>
            <a:off x="2844800" y="2603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Routed LoRA</a:t>
            </a:r>
          </a:p>
        </p:txBody>
      </p:sp>
      <p:sp>
        <p:nvSpPr>
          <p:cNvPr id="22" name="TextBox 21"/>
          <p:cNvSpPr txBox="1"/>
          <p:nvPr/>
        </p:nvSpPr>
        <p:spPr>
          <a:xfrm>
            <a:off x="4419600" y="2603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0.623</a:t>
            </a:r>
          </a:p>
        </p:txBody>
      </p:sp>
      <p:sp>
        <p:nvSpPr>
          <p:cNvPr id="23" name="TextBox 22"/>
          <p:cNvSpPr txBox="1"/>
          <p:nvPr/>
        </p:nvSpPr>
        <p:spPr>
          <a:xfrm>
            <a:off x="5486400" y="2603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0.502</a:t>
            </a:r>
          </a:p>
        </p:txBody>
      </p:sp>
      <p:sp>
        <p:nvSpPr>
          <p:cNvPr id="24" name="TextBox 23"/>
          <p:cNvSpPr txBox="1"/>
          <p:nvPr/>
        </p:nvSpPr>
        <p:spPr>
          <a:xfrm>
            <a:off x="6819900" y="2603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0.754</a:t>
            </a:r>
          </a:p>
        </p:txBody>
      </p:sp>
      <p:sp>
        <p:nvSpPr>
          <p:cNvPr id="25" name="TextBox 24"/>
          <p:cNvSpPr txBox="1"/>
          <p:nvPr/>
        </p:nvSpPr>
        <p:spPr>
          <a:xfrm>
            <a:off x="78359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62.0%</a:t>
            </a:r>
          </a:p>
        </p:txBody>
      </p:sp>
      <p:sp>
        <p:nvSpPr>
          <p:cNvPr id="26" name="TextBox 25"/>
          <p:cNvSpPr txBox="1"/>
          <p:nvPr/>
        </p:nvSpPr>
        <p:spPr>
          <a:xfrm>
            <a:off x="91440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96.2%</a:t>
            </a:r>
          </a:p>
        </p:txBody>
      </p:sp>
      <p:sp>
        <p:nvSpPr>
          <p:cNvPr id="27" name="TextBox 26"/>
          <p:cNvSpPr txBox="1"/>
          <p:nvPr/>
        </p:nvSpPr>
        <p:spPr>
          <a:xfrm>
            <a:off x="104521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91.7%</a:t>
            </a:r>
          </a:p>
        </p:txBody>
      </p:sp>
      <p:cxnSp>
        <p:nvCxnSpPr>
          <p:cNvPr id="28" name="Connector 2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0861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Littering / IWDD</a:t>
            </a:r>
          </a:p>
        </p:txBody>
      </p:sp>
      <p:sp>
        <p:nvSpPr>
          <p:cNvPr id="31" name="TextBox 30"/>
          <p:cNvSpPr txBox="1"/>
          <p:nvPr/>
        </p:nvSpPr>
        <p:spPr>
          <a:xfrm>
            <a:off x="2844800" y="30861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Routed LoRA</a:t>
            </a:r>
          </a:p>
        </p:txBody>
      </p:sp>
      <p:sp>
        <p:nvSpPr>
          <p:cNvPr id="32" name="TextBox 31"/>
          <p:cNvSpPr txBox="1"/>
          <p:nvPr/>
        </p:nvSpPr>
        <p:spPr>
          <a:xfrm>
            <a:off x="4419600" y="30861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0.766</a:t>
            </a:r>
          </a:p>
        </p:txBody>
      </p:sp>
      <p:sp>
        <p:nvSpPr>
          <p:cNvPr id="33" name="TextBox 32"/>
          <p:cNvSpPr txBox="1"/>
          <p:nvPr/>
        </p:nvSpPr>
        <p:spPr>
          <a:xfrm>
            <a:off x="5486400" y="30861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0.803</a:t>
            </a:r>
          </a:p>
        </p:txBody>
      </p:sp>
      <p:sp>
        <p:nvSpPr>
          <p:cNvPr id="34" name="TextBox 33"/>
          <p:cNvSpPr txBox="1"/>
          <p:nvPr/>
        </p:nvSpPr>
        <p:spPr>
          <a:xfrm>
            <a:off x="6819900" y="30861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0.789</a:t>
            </a:r>
          </a:p>
        </p:txBody>
      </p:sp>
      <p:sp>
        <p:nvSpPr>
          <p:cNvPr id="35" name="TextBox 34"/>
          <p:cNvSpPr txBox="1"/>
          <p:nvPr/>
        </p:nvSpPr>
        <p:spPr>
          <a:xfrm>
            <a:off x="78359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70.3%</a:t>
            </a:r>
          </a:p>
        </p:txBody>
      </p:sp>
      <p:sp>
        <p:nvSpPr>
          <p:cNvPr id="36" name="TextBox 35"/>
          <p:cNvSpPr txBox="1"/>
          <p:nvPr/>
        </p:nvSpPr>
        <p:spPr>
          <a:xfrm>
            <a:off x="91440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90.0%</a:t>
            </a:r>
          </a:p>
        </p:txBody>
      </p:sp>
      <p:sp>
        <p:nvSpPr>
          <p:cNvPr id="37" name="TextBox 36"/>
          <p:cNvSpPr txBox="1"/>
          <p:nvPr/>
        </p:nvSpPr>
        <p:spPr>
          <a:xfrm>
            <a:off x="104521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38.0%</a:t>
            </a:r>
          </a:p>
        </p:txBody>
      </p:sp>
      <p:cxnSp>
        <p:nvCxnSpPr>
          <p:cNvPr id="38" name="Connector 37"/>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5687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Loitering</a:t>
            </a:r>
          </a:p>
        </p:txBody>
      </p:sp>
      <p:sp>
        <p:nvSpPr>
          <p:cNvPr id="41" name="TextBox 40"/>
          <p:cNvSpPr txBox="1"/>
          <p:nvPr/>
        </p:nvSpPr>
        <p:spPr>
          <a:xfrm>
            <a:off x="2844800" y="35687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Routed LoRA</a:t>
            </a:r>
          </a:p>
        </p:txBody>
      </p:sp>
      <p:sp>
        <p:nvSpPr>
          <p:cNvPr id="42" name="TextBox 41"/>
          <p:cNvSpPr txBox="1"/>
          <p:nvPr/>
        </p:nvSpPr>
        <p:spPr>
          <a:xfrm>
            <a:off x="4419600" y="35687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0.182</a:t>
            </a:r>
          </a:p>
        </p:txBody>
      </p:sp>
      <p:sp>
        <p:nvSpPr>
          <p:cNvPr id="43" name="TextBox 42"/>
          <p:cNvSpPr txBox="1"/>
          <p:nvPr/>
        </p:nvSpPr>
        <p:spPr>
          <a:xfrm>
            <a:off x="5486400" y="35687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0.415</a:t>
            </a:r>
          </a:p>
        </p:txBody>
      </p:sp>
      <p:sp>
        <p:nvSpPr>
          <p:cNvPr id="44" name="TextBox 43"/>
          <p:cNvSpPr txBox="1"/>
          <p:nvPr/>
        </p:nvSpPr>
        <p:spPr>
          <a:xfrm>
            <a:off x="6819900" y="35687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0.182</a:t>
            </a:r>
          </a:p>
        </p:txBody>
      </p:sp>
      <p:sp>
        <p:nvSpPr>
          <p:cNvPr id="45" name="TextBox 44"/>
          <p:cNvSpPr txBox="1"/>
          <p:nvPr/>
        </p:nvSpPr>
        <p:spPr>
          <a:xfrm>
            <a:off x="78359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11.4%</a:t>
            </a:r>
          </a:p>
        </p:txBody>
      </p:sp>
      <p:sp>
        <p:nvSpPr>
          <p:cNvPr id="46" name="TextBox 45"/>
          <p:cNvSpPr txBox="1"/>
          <p:nvPr/>
        </p:nvSpPr>
        <p:spPr>
          <a:xfrm>
            <a:off x="91440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45.5%</a:t>
            </a:r>
          </a:p>
        </p:txBody>
      </p:sp>
      <p:sp>
        <p:nvSpPr>
          <p:cNvPr id="47" name="TextBox 46"/>
          <p:cNvSpPr txBox="1"/>
          <p:nvPr/>
        </p:nvSpPr>
        <p:spPr>
          <a:xfrm>
            <a:off x="104521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60.9%</a:t>
            </a:r>
          </a:p>
        </p:txBody>
      </p:sp>
      <p:cxnSp>
        <p:nvCxnSpPr>
          <p:cNvPr id="48" name="Connector 4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0513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Public sleep</a:t>
            </a:r>
          </a:p>
        </p:txBody>
      </p:sp>
      <p:sp>
        <p:nvSpPr>
          <p:cNvPr id="51" name="TextBox 50"/>
          <p:cNvSpPr txBox="1"/>
          <p:nvPr/>
        </p:nvSpPr>
        <p:spPr>
          <a:xfrm>
            <a:off x="2844800" y="40513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Routed LoRA</a:t>
            </a:r>
          </a:p>
        </p:txBody>
      </p:sp>
      <p:sp>
        <p:nvSpPr>
          <p:cNvPr id="52" name="TextBox 51"/>
          <p:cNvSpPr txBox="1"/>
          <p:nvPr/>
        </p:nvSpPr>
        <p:spPr>
          <a:xfrm>
            <a:off x="4419600" y="40513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0.788</a:t>
            </a:r>
          </a:p>
        </p:txBody>
      </p:sp>
      <p:sp>
        <p:nvSpPr>
          <p:cNvPr id="53" name="TextBox 52"/>
          <p:cNvSpPr txBox="1"/>
          <p:nvPr/>
        </p:nvSpPr>
        <p:spPr>
          <a:xfrm>
            <a:off x="5486400" y="40513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0.889</a:t>
            </a:r>
          </a:p>
        </p:txBody>
      </p:sp>
      <p:sp>
        <p:nvSpPr>
          <p:cNvPr id="54" name="TextBox 53"/>
          <p:cNvSpPr txBox="1"/>
          <p:nvPr/>
        </p:nvSpPr>
        <p:spPr>
          <a:xfrm>
            <a:off x="6819900" y="40513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0.444</a:t>
            </a:r>
          </a:p>
        </p:txBody>
      </p:sp>
      <p:sp>
        <p:nvSpPr>
          <p:cNvPr id="55" name="TextBox 54"/>
          <p:cNvSpPr txBox="1"/>
          <p:nvPr/>
        </p:nvSpPr>
        <p:spPr>
          <a:xfrm>
            <a:off x="78359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66.7%</a:t>
            </a:r>
          </a:p>
        </p:txBody>
      </p:sp>
      <p:sp>
        <p:nvSpPr>
          <p:cNvPr id="56" name="TextBox 55"/>
          <p:cNvSpPr txBox="1"/>
          <p:nvPr/>
        </p:nvSpPr>
        <p:spPr>
          <a:xfrm>
            <a:off x="91440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33.3%</a:t>
            </a:r>
          </a:p>
        </p:txBody>
      </p:sp>
      <p:sp>
        <p:nvSpPr>
          <p:cNvPr id="57" name="TextBox 56"/>
          <p:cNvSpPr txBox="1"/>
          <p:nvPr/>
        </p:nvSpPr>
        <p:spPr>
          <a:xfrm>
            <a:off x="104521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8.3%</a:t>
            </a:r>
          </a:p>
        </p:txBody>
      </p:sp>
      <p:cxnSp>
        <p:nvCxnSpPr>
          <p:cNvPr id="58" name="Connector 5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000" y="45339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Unattended</a:t>
            </a:r>
          </a:p>
        </p:txBody>
      </p:sp>
      <p:sp>
        <p:nvSpPr>
          <p:cNvPr id="61" name="TextBox 60"/>
          <p:cNvSpPr txBox="1"/>
          <p:nvPr/>
        </p:nvSpPr>
        <p:spPr>
          <a:xfrm>
            <a:off x="2844800" y="45339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Routed LoRA</a:t>
            </a:r>
          </a:p>
        </p:txBody>
      </p:sp>
      <p:sp>
        <p:nvSpPr>
          <p:cNvPr id="62" name="TextBox 61"/>
          <p:cNvSpPr txBox="1"/>
          <p:nvPr/>
        </p:nvSpPr>
        <p:spPr>
          <a:xfrm>
            <a:off x="4419600" y="45339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0.693</a:t>
            </a:r>
          </a:p>
        </p:txBody>
      </p:sp>
      <p:sp>
        <p:nvSpPr>
          <p:cNvPr id="63" name="TextBox 62"/>
          <p:cNvSpPr txBox="1"/>
          <p:nvPr/>
        </p:nvSpPr>
        <p:spPr>
          <a:xfrm>
            <a:off x="5486400" y="45339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0.813</a:t>
            </a:r>
          </a:p>
        </p:txBody>
      </p:sp>
      <p:sp>
        <p:nvSpPr>
          <p:cNvPr id="64" name="TextBox 63"/>
          <p:cNvSpPr txBox="1"/>
          <p:nvPr/>
        </p:nvSpPr>
        <p:spPr>
          <a:xfrm>
            <a:off x="6819900" y="45339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0.459</a:t>
            </a:r>
          </a:p>
        </p:txBody>
      </p:sp>
      <p:sp>
        <p:nvSpPr>
          <p:cNvPr id="65" name="TextBox 64"/>
          <p:cNvSpPr txBox="1"/>
          <p:nvPr/>
        </p:nvSpPr>
        <p:spPr>
          <a:xfrm>
            <a:off x="78359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29.8%</a:t>
            </a:r>
          </a:p>
        </p:txBody>
      </p:sp>
      <p:sp>
        <p:nvSpPr>
          <p:cNvPr id="66" name="TextBox 65"/>
          <p:cNvSpPr txBox="1"/>
          <p:nvPr/>
        </p:nvSpPr>
        <p:spPr>
          <a:xfrm>
            <a:off x="91440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67" name="TextBox 66"/>
          <p:cNvSpPr txBox="1"/>
          <p:nvPr/>
        </p:nvSpPr>
        <p:spPr>
          <a:xfrm>
            <a:off x="104521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79.3%</a:t>
            </a:r>
          </a:p>
        </p:txBody>
      </p:sp>
      <p:cxnSp>
        <p:nvCxnSpPr>
          <p:cNvPr id="68" name="Connector 6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000" y="5016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Stanford40</a:t>
            </a:r>
          </a:p>
        </p:txBody>
      </p:sp>
      <p:sp>
        <p:nvSpPr>
          <p:cNvPr id="71" name="TextBox 70"/>
          <p:cNvSpPr txBox="1"/>
          <p:nvPr/>
        </p:nvSpPr>
        <p:spPr>
          <a:xfrm>
            <a:off x="2844800" y="5016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Routed LoRA</a:t>
            </a:r>
          </a:p>
        </p:txBody>
      </p:sp>
      <p:sp>
        <p:nvSpPr>
          <p:cNvPr id="72" name="TextBox 71"/>
          <p:cNvSpPr txBox="1"/>
          <p:nvPr/>
        </p:nvSpPr>
        <p:spPr>
          <a:xfrm>
            <a:off x="4419600" y="5016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0.890</a:t>
            </a:r>
          </a:p>
        </p:txBody>
      </p:sp>
      <p:sp>
        <p:nvSpPr>
          <p:cNvPr id="73" name="TextBox 72"/>
          <p:cNvSpPr txBox="1"/>
          <p:nvPr/>
        </p:nvSpPr>
        <p:spPr>
          <a:xfrm>
            <a:off x="5486400" y="5016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0.959</a:t>
            </a:r>
          </a:p>
        </p:txBody>
      </p:sp>
      <p:sp>
        <p:nvSpPr>
          <p:cNvPr id="74" name="TextBox 73"/>
          <p:cNvSpPr txBox="1"/>
          <p:nvPr/>
        </p:nvSpPr>
        <p:spPr>
          <a:xfrm>
            <a:off x="6819900" y="5016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0.731</a:t>
            </a:r>
          </a:p>
        </p:txBody>
      </p:sp>
      <p:sp>
        <p:nvSpPr>
          <p:cNvPr id="75" name="TextBox 74"/>
          <p:cNvSpPr txBox="1"/>
          <p:nvPr/>
        </p:nvSpPr>
        <p:spPr>
          <a:xfrm>
            <a:off x="78359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63.4%</a:t>
            </a:r>
          </a:p>
        </p:txBody>
      </p:sp>
      <p:sp>
        <p:nvSpPr>
          <p:cNvPr id="76" name="TextBox 75"/>
          <p:cNvSpPr txBox="1"/>
          <p:nvPr/>
        </p:nvSpPr>
        <p:spPr>
          <a:xfrm>
            <a:off x="91440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86.4%</a:t>
            </a:r>
          </a:p>
        </p:txBody>
      </p:sp>
      <p:sp>
        <p:nvSpPr>
          <p:cNvPr id="77" name="TextBox 76"/>
          <p:cNvSpPr txBox="1"/>
          <p:nvPr/>
        </p:nvSpPr>
        <p:spPr>
          <a:xfrm>
            <a:off x="104521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10.5%</a:t>
            </a:r>
          </a:p>
        </p:txBody>
      </p:sp>
      <p:cxnSp>
        <p:nvCxnSpPr>
          <p:cNvPr id="78" name="Connector 77"/>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Full-vocabulary Yes-minus-No margins support ranking; these are not calibrated event probabilities.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SmolVLM: high endpoint recall can mean many</a:t>
            </a:r>
          </a:p>
          <a:p>
            <a:pPr algn="l">
              <a:lnSpc>
                <a:spcPts val="3690"/>
              </a:lnSpc>
              <a:spcBef>
                <a:spcPts val="0"/>
              </a:spcBef>
              <a:spcAft>
                <a:spcPts val="0"/>
              </a:spcAft>
              <a:defRPr sz="3000" b="1">
                <a:solidFill>
                  <a:srgbClr val="142C40"/>
                </a:solidFill>
                <a:latin typeface="DejaVu Sans"/>
              </a:defRPr>
            </a:pPr>
            <a:r>
              <a:t>false positives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Primary routed model • compare three frozen operating points on the same cases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33</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Smoking / CCTV</a:t>
            </a:r>
          </a:p>
        </p:txBody>
      </p:sp>
      <p:sp>
        <p:nvSpPr>
          <p:cNvPr id="21" name="TextBox 20"/>
          <p:cNvSpPr txBox="1"/>
          <p:nvPr/>
        </p:nvSpPr>
        <p:spPr>
          <a:xfrm>
            <a:off x="2844800" y="2603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Raw zero</a:t>
            </a:r>
          </a:p>
        </p:txBody>
      </p:sp>
      <p:sp>
        <p:nvSpPr>
          <p:cNvPr id="22" name="TextBox 21"/>
          <p:cNvSpPr txBox="1"/>
          <p:nvPr/>
        </p:nvSpPr>
        <p:spPr>
          <a:xfrm>
            <a:off x="4419600" y="2603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0.623</a:t>
            </a:r>
          </a:p>
        </p:txBody>
      </p:sp>
      <p:sp>
        <p:nvSpPr>
          <p:cNvPr id="23" name="TextBox 22"/>
          <p:cNvSpPr txBox="1"/>
          <p:nvPr/>
        </p:nvSpPr>
        <p:spPr>
          <a:xfrm>
            <a:off x="5486400" y="2603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0.502</a:t>
            </a:r>
          </a:p>
        </p:txBody>
      </p:sp>
      <p:sp>
        <p:nvSpPr>
          <p:cNvPr id="24" name="TextBox 23"/>
          <p:cNvSpPr txBox="1"/>
          <p:nvPr/>
        </p:nvSpPr>
        <p:spPr>
          <a:xfrm>
            <a:off x="6819900" y="2603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0.000</a:t>
            </a:r>
          </a:p>
        </p:txBody>
      </p:sp>
      <p:sp>
        <p:nvSpPr>
          <p:cNvPr id="25" name="TextBox 24"/>
          <p:cNvSpPr txBox="1"/>
          <p:nvPr/>
        </p:nvSpPr>
        <p:spPr>
          <a:xfrm>
            <a:off x="78359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26" name="TextBox 25"/>
          <p:cNvSpPr txBox="1"/>
          <p:nvPr/>
        </p:nvSpPr>
        <p:spPr>
          <a:xfrm>
            <a:off x="91440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27" name="TextBox 26"/>
          <p:cNvSpPr txBox="1"/>
          <p:nvPr/>
        </p:nvSpPr>
        <p:spPr>
          <a:xfrm>
            <a:off x="104521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28" name="Connector 2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0861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Smoking / CCTV</a:t>
            </a:r>
          </a:p>
        </p:txBody>
      </p:sp>
      <p:sp>
        <p:nvSpPr>
          <p:cNvPr id="31" name="TextBox 30"/>
          <p:cNvSpPr txBox="1"/>
          <p:nvPr/>
        </p:nvSpPr>
        <p:spPr>
          <a:xfrm>
            <a:off x="2844800" y="30861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Dev max-F1</a:t>
            </a:r>
          </a:p>
        </p:txBody>
      </p:sp>
      <p:sp>
        <p:nvSpPr>
          <p:cNvPr id="32" name="TextBox 31"/>
          <p:cNvSpPr txBox="1"/>
          <p:nvPr/>
        </p:nvSpPr>
        <p:spPr>
          <a:xfrm>
            <a:off x="4419600" y="30861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0.623</a:t>
            </a:r>
          </a:p>
        </p:txBody>
      </p:sp>
      <p:sp>
        <p:nvSpPr>
          <p:cNvPr id="33" name="TextBox 32"/>
          <p:cNvSpPr txBox="1"/>
          <p:nvPr/>
        </p:nvSpPr>
        <p:spPr>
          <a:xfrm>
            <a:off x="5486400" y="30861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0.502</a:t>
            </a:r>
          </a:p>
        </p:txBody>
      </p:sp>
      <p:sp>
        <p:nvSpPr>
          <p:cNvPr id="34" name="TextBox 33"/>
          <p:cNvSpPr txBox="1"/>
          <p:nvPr/>
        </p:nvSpPr>
        <p:spPr>
          <a:xfrm>
            <a:off x="6819900" y="30861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0.754</a:t>
            </a:r>
          </a:p>
        </p:txBody>
      </p:sp>
      <p:sp>
        <p:nvSpPr>
          <p:cNvPr id="35" name="TextBox 34"/>
          <p:cNvSpPr txBox="1"/>
          <p:nvPr/>
        </p:nvSpPr>
        <p:spPr>
          <a:xfrm>
            <a:off x="78359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62.0%</a:t>
            </a:r>
          </a:p>
        </p:txBody>
      </p:sp>
      <p:sp>
        <p:nvSpPr>
          <p:cNvPr id="36" name="TextBox 35"/>
          <p:cNvSpPr txBox="1"/>
          <p:nvPr/>
        </p:nvSpPr>
        <p:spPr>
          <a:xfrm>
            <a:off x="91440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96.2%</a:t>
            </a:r>
          </a:p>
        </p:txBody>
      </p:sp>
      <p:sp>
        <p:nvSpPr>
          <p:cNvPr id="37" name="TextBox 36"/>
          <p:cNvSpPr txBox="1"/>
          <p:nvPr/>
        </p:nvSpPr>
        <p:spPr>
          <a:xfrm>
            <a:off x="104521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91.7%</a:t>
            </a:r>
          </a:p>
        </p:txBody>
      </p:sp>
      <p:cxnSp>
        <p:nvCxnSpPr>
          <p:cNvPr id="38" name="Connector 37"/>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5687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Smoking / CCTV</a:t>
            </a:r>
          </a:p>
        </p:txBody>
      </p:sp>
      <p:sp>
        <p:nvSpPr>
          <p:cNvPr id="41" name="TextBox 40"/>
          <p:cNvSpPr txBox="1"/>
          <p:nvPr/>
        </p:nvSpPr>
        <p:spPr>
          <a:xfrm>
            <a:off x="2844800" y="35687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Dev ≤5% FPR</a:t>
            </a:r>
          </a:p>
        </p:txBody>
      </p:sp>
      <p:sp>
        <p:nvSpPr>
          <p:cNvPr id="42" name="TextBox 41"/>
          <p:cNvSpPr txBox="1"/>
          <p:nvPr/>
        </p:nvSpPr>
        <p:spPr>
          <a:xfrm>
            <a:off x="4419600" y="35687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0.623</a:t>
            </a:r>
          </a:p>
        </p:txBody>
      </p:sp>
      <p:sp>
        <p:nvSpPr>
          <p:cNvPr id="43" name="TextBox 42"/>
          <p:cNvSpPr txBox="1"/>
          <p:nvPr/>
        </p:nvSpPr>
        <p:spPr>
          <a:xfrm>
            <a:off x="5486400" y="35687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0.502</a:t>
            </a:r>
          </a:p>
        </p:txBody>
      </p:sp>
      <p:sp>
        <p:nvSpPr>
          <p:cNvPr id="44" name="TextBox 43"/>
          <p:cNvSpPr txBox="1"/>
          <p:nvPr/>
        </p:nvSpPr>
        <p:spPr>
          <a:xfrm>
            <a:off x="6819900" y="35687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0.035</a:t>
            </a:r>
          </a:p>
        </p:txBody>
      </p:sp>
      <p:sp>
        <p:nvSpPr>
          <p:cNvPr id="45" name="TextBox 44"/>
          <p:cNvSpPr txBox="1"/>
          <p:nvPr/>
        </p:nvSpPr>
        <p:spPr>
          <a:xfrm>
            <a:off x="78359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46" name="TextBox 45"/>
          <p:cNvSpPr txBox="1"/>
          <p:nvPr/>
        </p:nvSpPr>
        <p:spPr>
          <a:xfrm>
            <a:off x="91440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1.8%</a:t>
            </a:r>
          </a:p>
        </p:txBody>
      </p:sp>
      <p:sp>
        <p:nvSpPr>
          <p:cNvPr id="47" name="TextBox 46"/>
          <p:cNvSpPr txBox="1"/>
          <p:nvPr/>
        </p:nvSpPr>
        <p:spPr>
          <a:xfrm>
            <a:off x="104521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48" name="Connector 4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0513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Unattended</a:t>
            </a:r>
          </a:p>
        </p:txBody>
      </p:sp>
      <p:sp>
        <p:nvSpPr>
          <p:cNvPr id="51" name="TextBox 50"/>
          <p:cNvSpPr txBox="1"/>
          <p:nvPr/>
        </p:nvSpPr>
        <p:spPr>
          <a:xfrm>
            <a:off x="2844800" y="40513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Raw zero</a:t>
            </a:r>
          </a:p>
        </p:txBody>
      </p:sp>
      <p:sp>
        <p:nvSpPr>
          <p:cNvPr id="52" name="TextBox 51"/>
          <p:cNvSpPr txBox="1"/>
          <p:nvPr/>
        </p:nvSpPr>
        <p:spPr>
          <a:xfrm>
            <a:off x="4419600" y="40513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0.693</a:t>
            </a:r>
          </a:p>
        </p:txBody>
      </p:sp>
      <p:sp>
        <p:nvSpPr>
          <p:cNvPr id="53" name="TextBox 52"/>
          <p:cNvSpPr txBox="1"/>
          <p:nvPr/>
        </p:nvSpPr>
        <p:spPr>
          <a:xfrm>
            <a:off x="5486400" y="40513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0.813</a:t>
            </a:r>
          </a:p>
        </p:txBody>
      </p:sp>
      <p:sp>
        <p:nvSpPr>
          <p:cNvPr id="54" name="TextBox 53"/>
          <p:cNvSpPr txBox="1"/>
          <p:nvPr/>
        </p:nvSpPr>
        <p:spPr>
          <a:xfrm>
            <a:off x="6819900" y="40513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0.537</a:t>
            </a:r>
          </a:p>
        </p:txBody>
      </p:sp>
      <p:sp>
        <p:nvSpPr>
          <p:cNvPr id="55" name="TextBox 54"/>
          <p:cNvSpPr txBox="1"/>
          <p:nvPr/>
        </p:nvSpPr>
        <p:spPr>
          <a:xfrm>
            <a:off x="78359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45.8%</a:t>
            </a:r>
          </a:p>
        </p:txBody>
      </p:sp>
      <p:sp>
        <p:nvSpPr>
          <p:cNvPr id="56" name="TextBox 55"/>
          <p:cNvSpPr txBox="1"/>
          <p:nvPr/>
        </p:nvSpPr>
        <p:spPr>
          <a:xfrm>
            <a:off x="91440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64.9%</a:t>
            </a:r>
          </a:p>
        </p:txBody>
      </p:sp>
      <p:sp>
        <p:nvSpPr>
          <p:cNvPr id="57" name="TextBox 56"/>
          <p:cNvSpPr txBox="1"/>
          <p:nvPr/>
        </p:nvSpPr>
        <p:spPr>
          <a:xfrm>
            <a:off x="104521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25.8%</a:t>
            </a:r>
          </a:p>
        </p:txBody>
      </p:sp>
      <p:cxnSp>
        <p:nvCxnSpPr>
          <p:cNvPr id="58" name="Connector 5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000" y="45339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Unattended</a:t>
            </a:r>
          </a:p>
        </p:txBody>
      </p:sp>
      <p:sp>
        <p:nvSpPr>
          <p:cNvPr id="61" name="TextBox 60"/>
          <p:cNvSpPr txBox="1"/>
          <p:nvPr/>
        </p:nvSpPr>
        <p:spPr>
          <a:xfrm>
            <a:off x="2844800" y="45339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Dev max-F1</a:t>
            </a:r>
          </a:p>
        </p:txBody>
      </p:sp>
      <p:sp>
        <p:nvSpPr>
          <p:cNvPr id="62" name="TextBox 61"/>
          <p:cNvSpPr txBox="1"/>
          <p:nvPr/>
        </p:nvSpPr>
        <p:spPr>
          <a:xfrm>
            <a:off x="4419600" y="45339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0.693</a:t>
            </a:r>
          </a:p>
        </p:txBody>
      </p:sp>
      <p:sp>
        <p:nvSpPr>
          <p:cNvPr id="63" name="TextBox 62"/>
          <p:cNvSpPr txBox="1"/>
          <p:nvPr/>
        </p:nvSpPr>
        <p:spPr>
          <a:xfrm>
            <a:off x="5486400" y="45339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0.813</a:t>
            </a:r>
          </a:p>
        </p:txBody>
      </p:sp>
      <p:sp>
        <p:nvSpPr>
          <p:cNvPr id="64" name="TextBox 63"/>
          <p:cNvSpPr txBox="1"/>
          <p:nvPr/>
        </p:nvSpPr>
        <p:spPr>
          <a:xfrm>
            <a:off x="6819900" y="45339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0.459</a:t>
            </a:r>
          </a:p>
        </p:txBody>
      </p:sp>
      <p:sp>
        <p:nvSpPr>
          <p:cNvPr id="65" name="TextBox 64"/>
          <p:cNvSpPr txBox="1"/>
          <p:nvPr/>
        </p:nvSpPr>
        <p:spPr>
          <a:xfrm>
            <a:off x="78359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29.8%</a:t>
            </a:r>
          </a:p>
        </p:txBody>
      </p:sp>
      <p:sp>
        <p:nvSpPr>
          <p:cNvPr id="66" name="TextBox 65"/>
          <p:cNvSpPr txBox="1"/>
          <p:nvPr/>
        </p:nvSpPr>
        <p:spPr>
          <a:xfrm>
            <a:off x="91440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67" name="TextBox 66"/>
          <p:cNvSpPr txBox="1"/>
          <p:nvPr/>
        </p:nvSpPr>
        <p:spPr>
          <a:xfrm>
            <a:off x="104521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79.3%</a:t>
            </a:r>
          </a:p>
        </p:txBody>
      </p:sp>
      <p:cxnSp>
        <p:nvCxnSpPr>
          <p:cNvPr id="68" name="Connector 6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000" y="5016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Unattended</a:t>
            </a:r>
          </a:p>
        </p:txBody>
      </p:sp>
      <p:sp>
        <p:nvSpPr>
          <p:cNvPr id="71" name="TextBox 70"/>
          <p:cNvSpPr txBox="1"/>
          <p:nvPr/>
        </p:nvSpPr>
        <p:spPr>
          <a:xfrm>
            <a:off x="2844800" y="5016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Dev ≤5% FPR</a:t>
            </a:r>
          </a:p>
        </p:txBody>
      </p:sp>
      <p:sp>
        <p:nvSpPr>
          <p:cNvPr id="72" name="TextBox 71"/>
          <p:cNvSpPr txBox="1"/>
          <p:nvPr/>
        </p:nvSpPr>
        <p:spPr>
          <a:xfrm>
            <a:off x="4419600" y="5016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0.693</a:t>
            </a:r>
          </a:p>
        </p:txBody>
      </p:sp>
      <p:sp>
        <p:nvSpPr>
          <p:cNvPr id="73" name="TextBox 72"/>
          <p:cNvSpPr txBox="1"/>
          <p:nvPr/>
        </p:nvSpPr>
        <p:spPr>
          <a:xfrm>
            <a:off x="5486400" y="5016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0.813</a:t>
            </a:r>
          </a:p>
        </p:txBody>
      </p:sp>
      <p:sp>
        <p:nvSpPr>
          <p:cNvPr id="74" name="TextBox 73"/>
          <p:cNvSpPr txBox="1"/>
          <p:nvPr/>
        </p:nvSpPr>
        <p:spPr>
          <a:xfrm>
            <a:off x="6819900" y="5016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0.467</a:t>
            </a:r>
          </a:p>
        </p:txBody>
      </p:sp>
      <p:sp>
        <p:nvSpPr>
          <p:cNvPr id="75" name="TextBox 74"/>
          <p:cNvSpPr txBox="1"/>
          <p:nvPr/>
        </p:nvSpPr>
        <p:spPr>
          <a:xfrm>
            <a:off x="78359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31.0%</a:t>
            </a:r>
          </a:p>
        </p:txBody>
      </p:sp>
      <p:sp>
        <p:nvSpPr>
          <p:cNvPr id="76" name="TextBox 75"/>
          <p:cNvSpPr txBox="1"/>
          <p:nvPr/>
        </p:nvSpPr>
        <p:spPr>
          <a:xfrm>
            <a:off x="91440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94.6%</a:t>
            </a:r>
          </a:p>
        </p:txBody>
      </p:sp>
      <p:sp>
        <p:nvSpPr>
          <p:cNvPr id="77" name="TextBox 76"/>
          <p:cNvSpPr txBox="1"/>
          <p:nvPr/>
        </p:nvSpPr>
        <p:spPr>
          <a:xfrm>
            <a:off x="104521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70.8%</a:t>
            </a:r>
          </a:p>
        </p:txBody>
      </p:sp>
      <p:cxnSp>
        <p:nvCxnSpPr>
          <p:cNvPr id="78" name="Connector 77"/>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Unattended at the dev-budget cutoff: 229/242 positives found, but 510/720 normals flagged.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SMOLVLM SEED REPLICATION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A second seed exposes unstable task gains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 high-rate joint architecture and source cohort • primary route remains seed 42</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34</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34925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Cohort</a:t>
            </a:r>
          </a:p>
        </p:txBody>
      </p:sp>
      <p:sp>
        <p:nvSpPr>
          <p:cNvPr id="12" name="TextBox 11"/>
          <p:cNvSpPr txBox="1"/>
          <p:nvPr/>
        </p:nvSpPr>
        <p:spPr>
          <a:xfrm>
            <a:off x="4330700" y="2171700"/>
            <a:ext cx="2273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Original AP</a:t>
            </a:r>
          </a:p>
        </p:txBody>
      </p:sp>
      <p:sp>
        <p:nvSpPr>
          <p:cNvPr id="13" name="TextBox 12"/>
          <p:cNvSpPr txBox="1"/>
          <p:nvPr/>
        </p:nvSpPr>
        <p:spPr>
          <a:xfrm>
            <a:off x="6807200" y="2171700"/>
            <a:ext cx="2273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Joint seed42</a:t>
            </a:r>
          </a:p>
        </p:txBody>
      </p:sp>
      <p:sp>
        <p:nvSpPr>
          <p:cNvPr id="14" name="TextBox 13"/>
          <p:cNvSpPr txBox="1"/>
          <p:nvPr/>
        </p:nvSpPr>
        <p:spPr>
          <a:xfrm>
            <a:off x="9283700" y="2171700"/>
            <a:ext cx="2273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Joint seed43</a:t>
            </a:r>
          </a:p>
        </p:txBody>
      </p:sp>
      <p:sp>
        <p:nvSpPr>
          <p:cNvPr id="15" name="Rectangle 14"/>
          <p:cNvSpPr/>
          <p:nvPr/>
        </p:nvSpPr>
        <p:spPr>
          <a:xfrm>
            <a:off x="533400" y="25654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000" y="2603500"/>
            <a:ext cx="34925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Smoking / CCTV</a:t>
            </a:r>
          </a:p>
        </p:txBody>
      </p:sp>
      <p:sp>
        <p:nvSpPr>
          <p:cNvPr id="17" name="TextBox 16"/>
          <p:cNvSpPr txBox="1"/>
          <p:nvPr/>
        </p:nvSpPr>
        <p:spPr>
          <a:xfrm>
            <a:off x="4330700" y="26035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0.600</a:t>
            </a:r>
          </a:p>
        </p:txBody>
      </p:sp>
      <p:sp>
        <p:nvSpPr>
          <p:cNvPr id="18" name="TextBox 17"/>
          <p:cNvSpPr txBox="1"/>
          <p:nvPr/>
        </p:nvSpPr>
        <p:spPr>
          <a:xfrm>
            <a:off x="6807200" y="26035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0.623</a:t>
            </a:r>
          </a:p>
        </p:txBody>
      </p:sp>
      <p:sp>
        <p:nvSpPr>
          <p:cNvPr id="19" name="TextBox 18"/>
          <p:cNvSpPr txBox="1"/>
          <p:nvPr/>
        </p:nvSpPr>
        <p:spPr>
          <a:xfrm>
            <a:off x="9283700" y="26035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0.629</a:t>
            </a:r>
          </a:p>
        </p:txBody>
      </p:sp>
      <p:cxnSp>
        <p:nvCxnSpPr>
          <p:cNvPr id="20" name="Connector 19"/>
          <p:cNvCxnSpPr/>
          <p:nvPr/>
        </p:nvCxnSpPr>
        <p:spPr>
          <a:xfrm>
            <a:off x="533400" y="3098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098800"/>
            <a:ext cx="11125200" cy="533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000" y="3136900"/>
            <a:ext cx="34925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Littering / IWDD</a:t>
            </a:r>
          </a:p>
        </p:txBody>
      </p:sp>
      <p:sp>
        <p:nvSpPr>
          <p:cNvPr id="23" name="TextBox 22"/>
          <p:cNvSpPr txBox="1"/>
          <p:nvPr/>
        </p:nvSpPr>
        <p:spPr>
          <a:xfrm>
            <a:off x="4330700" y="31369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0.592</a:t>
            </a:r>
          </a:p>
        </p:txBody>
      </p:sp>
      <p:sp>
        <p:nvSpPr>
          <p:cNvPr id="24" name="TextBox 23"/>
          <p:cNvSpPr txBox="1"/>
          <p:nvPr/>
        </p:nvSpPr>
        <p:spPr>
          <a:xfrm>
            <a:off x="6807200" y="31369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0.766</a:t>
            </a:r>
          </a:p>
        </p:txBody>
      </p:sp>
      <p:sp>
        <p:nvSpPr>
          <p:cNvPr id="25" name="TextBox 24"/>
          <p:cNvSpPr txBox="1"/>
          <p:nvPr/>
        </p:nvSpPr>
        <p:spPr>
          <a:xfrm>
            <a:off x="9283700" y="31369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0.766</a:t>
            </a:r>
          </a:p>
        </p:txBody>
      </p:sp>
      <p:cxnSp>
        <p:nvCxnSpPr>
          <p:cNvPr id="26" name="Connector 25"/>
          <p:cNvCxnSpPr/>
          <p:nvPr/>
        </p:nvCxnSpPr>
        <p:spPr>
          <a:xfrm>
            <a:off x="533400" y="3632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6322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000" y="3670300"/>
            <a:ext cx="34925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Loitering</a:t>
            </a:r>
          </a:p>
        </p:txBody>
      </p:sp>
      <p:sp>
        <p:nvSpPr>
          <p:cNvPr id="29" name="TextBox 28"/>
          <p:cNvSpPr txBox="1"/>
          <p:nvPr/>
        </p:nvSpPr>
        <p:spPr>
          <a:xfrm>
            <a:off x="4330700" y="36703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0.425</a:t>
            </a:r>
          </a:p>
        </p:txBody>
      </p:sp>
      <p:sp>
        <p:nvSpPr>
          <p:cNvPr id="30" name="TextBox 29"/>
          <p:cNvSpPr txBox="1"/>
          <p:nvPr/>
        </p:nvSpPr>
        <p:spPr>
          <a:xfrm>
            <a:off x="6807200" y="36703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0.182</a:t>
            </a:r>
          </a:p>
        </p:txBody>
      </p:sp>
      <p:sp>
        <p:nvSpPr>
          <p:cNvPr id="31" name="TextBox 30"/>
          <p:cNvSpPr txBox="1"/>
          <p:nvPr/>
        </p:nvSpPr>
        <p:spPr>
          <a:xfrm>
            <a:off x="9283700" y="36703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0.131</a:t>
            </a:r>
          </a:p>
        </p:txBody>
      </p:sp>
      <p:cxnSp>
        <p:nvCxnSpPr>
          <p:cNvPr id="32" name="Connector 31"/>
          <p:cNvCxnSpPr/>
          <p:nvPr/>
        </p:nvCxnSpPr>
        <p:spPr>
          <a:xfrm>
            <a:off x="533400" y="4165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165600"/>
            <a:ext cx="11125200" cy="533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000" y="4203700"/>
            <a:ext cx="34925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Public sleep</a:t>
            </a:r>
          </a:p>
        </p:txBody>
      </p:sp>
      <p:sp>
        <p:nvSpPr>
          <p:cNvPr id="35" name="TextBox 34"/>
          <p:cNvSpPr txBox="1"/>
          <p:nvPr/>
        </p:nvSpPr>
        <p:spPr>
          <a:xfrm>
            <a:off x="4330700" y="42037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0.744</a:t>
            </a:r>
          </a:p>
        </p:txBody>
      </p:sp>
      <p:sp>
        <p:nvSpPr>
          <p:cNvPr id="36" name="TextBox 35"/>
          <p:cNvSpPr txBox="1"/>
          <p:nvPr/>
        </p:nvSpPr>
        <p:spPr>
          <a:xfrm>
            <a:off x="6807200" y="42037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0.633</a:t>
            </a:r>
          </a:p>
        </p:txBody>
      </p:sp>
      <p:sp>
        <p:nvSpPr>
          <p:cNvPr id="37" name="TextBox 36"/>
          <p:cNvSpPr txBox="1"/>
          <p:nvPr/>
        </p:nvSpPr>
        <p:spPr>
          <a:xfrm>
            <a:off x="9283700" y="42037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0.917</a:t>
            </a:r>
          </a:p>
        </p:txBody>
      </p:sp>
      <p:cxnSp>
        <p:nvCxnSpPr>
          <p:cNvPr id="38" name="Connector 37"/>
          <p:cNvCxnSpPr/>
          <p:nvPr/>
        </p:nvCxnSpPr>
        <p:spPr>
          <a:xfrm>
            <a:off x="533400" y="4699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699000"/>
            <a:ext cx="11125200" cy="53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4737100"/>
            <a:ext cx="3492500" cy="4572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Unattended</a:t>
            </a:r>
          </a:p>
        </p:txBody>
      </p:sp>
      <p:sp>
        <p:nvSpPr>
          <p:cNvPr id="41" name="TextBox 40"/>
          <p:cNvSpPr txBox="1"/>
          <p:nvPr/>
        </p:nvSpPr>
        <p:spPr>
          <a:xfrm>
            <a:off x="4330700" y="47371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0.476</a:t>
            </a:r>
          </a:p>
        </p:txBody>
      </p:sp>
      <p:sp>
        <p:nvSpPr>
          <p:cNvPr id="42" name="TextBox 41"/>
          <p:cNvSpPr txBox="1"/>
          <p:nvPr/>
        </p:nvSpPr>
        <p:spPr>
          <a:xfrm>
            <a:off x="6807200" y="47371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0.693</a:t>
            </a:r>
          </a:p>
        </p:txBody>
      </p:sp>
      <p:sp>
        <p:nvSpPr>
          <p:cNvPr id="43" name="TextBox 42"/>
          <p:cNvSpPr txBox="1"/>
          <p:nvPr/>
        </p:nvSpPr>
        <p:spPr>
          <a:xfrm>
            <a:off x="9283700" y="4737100"/>
            <a:ext cx="2273300" cy="4572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0.705</a:t>
            </a:r>
          </a:p>
        </p:txBody>
      </p:sp>
      <p:cxnSp>
        <p:nvCxnSpPr>
          <p:cNvPr id="44" name="Connector 43"/>
          <p:cNvCxnSpPr/>
          <p:nvPr/>
        </p:nvCxnSpPr>
        <p:spPr>
          <a:xfrm>
            <a:off x="533400" y="5232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Loitering regresses in both joint seeds; public-sleep AP varies strongly on only six positive test photos.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TRAINING / VADCLIP TEMPORAL ADAPTER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VadCLIP learns a sequence model on frozen</a:t>
            </a:r>
          </a:p>
          <a:p>
            <a:pPr algn="l">
              <a:lnSpc>
                <a:spcPts val="3690"/>
              </a:lnSpc>
              <a:spcBef>
                <a:spcPts val="0"/>
              </a:spcBef>
              <a:spcAft>
                <a:spcPts val="0"/>
              </a:spcAft>
              <a:defRPr sz="3000" b="1">
                <a:solidFill>
                  <a:srgbClr val="142C40"/>
                </a:solidFill>
                <a:latin typeface="DejaVu Sans"/>
              </a:defRPr>
            </a:pPr>
            <a:r>
              <a:t>CLIP-B/16</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Corrected offline supervised smoking study • 1,910 train / 312 dev / 1,056 test frames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35</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Frozen-feature controls</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Two fixed text prompts</a:t>
            </a:r>
          </a:p>
          <a:p>
            <a:pPr algn="l">
              <a:lnSpc>
                <a:spcPts val="1968"/>
              </a:lnSpc>
              <a:spcBef>
                <a:spcPts val="0"/>
              </a:spcBef>
              <a:spcAft>
                <a:spcPts val="0"/>
              </a:spcAft>
              <a:defRPr sz="1600" b="0">
                <a:solidFill>
                  <a:srgbClr val="142C40"/>
                </a:solidFill>
                <a:latin typeface="DejaVu Sans"/>
              </a:defRPr>
            </a:pPr>
            <a:r>
              <a:t>CLIP-B/16 image embeddings</a:t>
            </a:r>
          </a:p>
          <a:p>
            <a:pPr algn="l">
              <a:lnSpc>
                <a:spcPts val="1968"/>
              </a:lnSpc>
              <a:spcBef>
                <a:spcPts val="0"/>
              </a:spcBef>
              <a:spcAft>
                <a:spcPts val="0"/>
              </a:spcAft>
              <a:defRPr sz="1600" b="0">
                <a:solidFill>
                  <a:srgbClr val="142C40"/>
                </a:solidFill>
                <a:latin typeface="DejaVu Sans"/>
              </a:defRPr>
            </a:pPr>
            <a:r>
              <a:t>Logistic probe C1, max 2,000 steps</a:t>
            </a:r>
          </a:p>
          <a:p>
            <a:pPr algn="l">
              <a:lnSpc>
                <a:spcPts val="1968"/>
              </a:lnSpc>
              <a:spcBef>
                <a:spcPts val="0"/>
              </a:spcBef>
              <a:spcAft>
                <a:spcPts val="0"/>
              </a:spcAft>
              <a:defRPr sz="1600" b="0">
                <a:solidFill>
                  <a:srgbClr val="142C40"/>
                </a:solidFill>
                <a:latin typeface="DejaVu Sans"/>
              </a:defRPr>
            </a:pPr>
            <a:r>
              <a:t>Same training/test frames as adapter</a:t>
            </a:r>
          </a:p>
          <a:p>
            <a:pPr algn="l">
              <a:lnSpc>
                <a:spcPts val="1968"/>
              </a:lnSpc>
              <a:spcBef>
                <a:spcPts val="0"/>
              </a:spcBef>
              <a:spcAft>
                <a:spcPts val="0"/>
              </a:spcAft>
              <a:defRPr sz="1600" b="0">
                <a:solidFill>
                  <a:srgbClr val="142C40"/>
                </a:solidFill>
                <a:latin typeface="DejaVu Sans"/>
              </a:defRPr>
            </a:pPr>
            <a:r>
              <a:t>Development-only F1 cutoffs</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Actual adapter training</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About12.642M trainable parameters</a:t>
            </a:r>
          </a:p>
          <a:p>
            <a:pPr algn="l">
              <a:lnSpc>
                <a:spcPts val="1968"/>
              </a:lnSpc>
              <a:spcBef>
                <a:spcPts val="0"/>
              </a:spcBef>
              <a:spcAft>
                <a:spcPts val="0"/>
              </a:spcAft>
              <a:defRPr sz="1600" b="0">
                <a:solidFill>
                  <a:srgbClr val="142C40"/>
                </a:solidFill>
                <a:latin typeface="DejaVu Sans"/>
              </a:defRPr>
            </a:pPr>
            <a:r>
              <a:t>Two temporal layers + graph branches</a:t>
            </a:r>
          </a:p>
          <a:p>
            <a:pPr algn="l">
              <a:lnSpc>
                <a:spcPts val="1968"/>
              </a:lnSpc>
              <a:spcBef>
                <a:spcPts val="0"/>
              </a:spcBef>
              <a:spcAft>
                <a:spcPts val="0"/>
              </a:spcAft>
              <a:defRPr sz="1600" b="0">
                <a:solidFill>
                  <a:srgbClr val="142C40"/>
                </a:solidFill>
                <a:latin typeface="DejaVu Sans"/>
              </a:defRPr>
            </a:pPr>
            <a:r>
              <a:t>Length 256; attention window 8</a:t>
            </a:r>
          </a:p>
          <a:p>
            <a:pPr algn="l">
              <a:lnSpc>
                <a:spcPts val="1968"/>
              </a:lnSpc>
              <a:spcBef>
                <a:spcPts val="0"/>
              </a:spcBef>
              <a:spcAft>
                <a:spcPts val="0"/>
              </a:spcAft>
              <a:defRPr sz="1600" b="0">
                <a:solidFill>
                  <a:srgbClr val="142C40"/>
                </a:solidFill>
                <a:latin typeface="DejaVu Sans"/>
              </a:defRPr>
            </a:pPr>
            <a:r>
              <a:t>AdamW LR.001, decay.01; batch 4</a:t>
            </a:r>
          </a:p>
          <a:p>
            <a:pPr algn="l">
              <a:lnSpc>
                <a:spcPts val="1968"/>
              </a:lnSpc>
              <a:spcBef>
                <a:spcPts val="0"/>
              </a:spcBef>
              <a:spcAft>
                <a:spcPts val="0"/>
              </a:spcAft>
              <a:defRPr sz="1600" b="0">
                <a:solidFill>
                  <a:srgbClr val="142C40"/>
                </a:solidFill>
                <a:latin typeface="DejaVu Sans"/>
              </a:defRPr>
            </a:pPr>
            <a:r>
              <a:t>Seed 234; max 100 epochs, patience 50</a:t>
            </a:r>
          </a:p>
        </p:txBody>
      </p:sp>
      <p:sp>
        <p:nvSpPr>
          <p:cNvPr id="18" name="Rectangle 17"/>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This is offline sequence-context evaluation. It does not establish a causal five-anomaly event detector.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VadCLIP: zero-shot → probe → temporal adapter</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 1,056 held-out frames: 560 positive / 496 normal • per-stage dev-max-F1 cutoffs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36</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826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VadCLIP</a:t>
            </a:r>
          </a:p>
        </p:txBody>
      </p:sp>
      <p:sp>
        <p:nvSpPr>
          <p:cNvPr id="21" name="TextBox 20"/>
          <p:cNvSpPr txBox="1"/>
          <p:nvPr/>
        </p:nvSpPr>
        <p:spPr>
          <a:xfrm>
            <a:off x="2844800" y="2603500"/>
            <a:ext cx="1371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CLIP text</a:t>
            </a:r>
          </a:p>
        </p:txBody>
      </p:sp>
      <p:sp>
        <p:nvSpPr>
          <p:cNvPr id="22" name="TextBox 21"/>
          <p:cNvSpPr txBox="1"/>
          <p:nvPr/>
        </p:nvSpPr>
        <p:spPr>
          <a:xfrm>
            <a:off x="4419600" y="2603500"/>
            <a:ext cx="863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0.482</a:t>
            </a:r>
          </a:p>
        </p:txBody>
      </p:sp>
      <p:sp>
        <p:nvSpPr>
          <p:cNvPr id="23" name="TextBox 22"/>
          <p:cNvSpPr txBox="1"/>
          <p:nvPr/>
        </p:nvSpPr>
        <p:spPr>
          <a:xfrm>
            <a:off x="5486400" y="2603500"/>
            <a:ext cx="11303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0.410</a:t>
            </a:r>
          </a:p>
        </p:txBody>
      </p:sp>
      <p:sp>
        <p:nvSpPr>
          <p:cNvPr id="24" name="TextBox 23"/>
          <p:cNvSpPr txBox="1"/>
          <p:nvPr/>
        </p:nvSpPr>
        <p:spPr>
          <a:xfrm>
            <a:off x="6819900" y="2603500"/>
            <a:ext cx="8128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0.693</a:t>
            </a:r>
          </a:p>
        </p:txBody>
      </p:sp>
      <p:sp>
        <p:nvSpPr>
          <p:cNvPr id="25" name="TextBox 24"/>
          <p:cNvSpPr txBox="1"/>
          <p:nvPr/>
        </p:nvSpPr>
        <p:spPr>
          <a:xfrm>
            <a:off x="7835900" y="26035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53.0%</a:t>
            </a:r>
          </a:p>
        </p:txBody>
      </p:sp>
      <p:sp>
        <p:nvSpPr>
          <p:cNvPr id="26" name="TextBox 25"/>
          <p:cNvSpPr txBox="1"/>
          <p:nvPr/>
        </p:nvSpPr>
        <p:spPr>
          <a:xfrm>
            <a:off x="9144000" y="26035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27" name="TextBox 26"/>
          <p:cNvSpPr txBox="1"/>
          <p:nvPr/>
        </p:nvSpPr>
        <p:spPr>
          <a:xfrm>
            <a:off x="10452100" y="26035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cxnSp>
        <p:nvCxnSpPr>
          <p:cNvPr id="28" name="Connector 27"/>
          <p:cNvCxnSpPr/>
          <p:nvPr/>
        </p:nvCxnSpPr>
        <p:spPr>
          <a:xfrm>
            <a:off x="533400" y="3124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124200"/>
            <a:ext cx="11125200" cy="558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162300"/>
            <a:ext cx="2006600" cy="4826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VadCLIP</a:t>
            </a:r>
          </a:p>
        </p:txBody>
      </p:sp>
      <p:sp>
        <p:nvSpPr>
          <p:cNvPr id="31" name="TextBox 30"/>
          <p:cNvSpPr txBox="1"/>
          <p:nvPr/>
        </p:nvSpPr>
        <p:spPr>
          <a:xfrm>
            <a:off x="2844800" y="3162300"/>
            <a:ext cx="1371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Linear probe</a:t>
            </a:r>
          </a:p>
        </p:txBody>
      </p:sp>
      <p:sp>
        <p:nvSpPr>
          <p:cNvPr id="32" name="TextBox 31"/>
          <p:cNvSpPr txBox="1"/>
          <p:nvPr/>
        </p:nvSpPr>
        <p:spPr>
          <a:xfrm>
            <a:off x="4419600" y="3162300"/>
            <a:ext cx="863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0.544</a:t>
            </a:r>
          </a:p>
        </p:txBody>
      </p:sp>
      <p:sp>
        <p:nvSpPr>
          <p:cNvPr id="33" name="TextBox 32"/>
          <p:cNvSpPr txBox="1"/>
          <p:nvPr/>
        </p:nvSpPr>
        <p:spPr>
          <a:xfrm>
            <a:off x="5486400" y="3162300"/>
            <a:ext cx="11303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0.487</a:t>
            </a:r>
          </a:p>
        </p:txBody>
      </p:sp>
      <p:sp>
        <p:nvSpPr>
          <p:cNvPr id="34" name="TextBox 33"/>
          <p:cNvSpPr txBox="1"/>
          <p:nvPr/>
        </p:nvSpPr>
        <p:spPr>
          <a:xfrm>
            <a:off x="6819900" y="3162300"/>
            <a:ext cx="8128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0.685</a:t>
            </a:r>
          </a:p>
        </p:txBody>
      </p:sp>
      <p:sp>
        <p:nvSpPr>
          <p:cNvPr id="35" name="TextBox 34"/>
          <p:cNvSpPr txBox="1"/>
          <p:nvPr/>
        </p:nvSpPr>
        <p:spPr>
          <a:xfrm>
            <a:off x="7835900" y="31623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52.9%</a:t>
            </a:r>
          </a:p>
        </p:txBody>
      </p:sp>
      <p:sp>
        <p:nvSpPr>
          <p:cNvPr id="36" name="TextBox 35"/>
          <p:cNvSpPr txBox="1"/>
          <p:nvPr/>
        </p:nvSpPr>
        <p:spPr>
          <a:xfrm>
            <a:off x="9144000" y="31623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97.1%</a:t>
            </a:r>
          </a:p>
        </p:txBody>
      </p:sp>
      <p:sp>
        <p:nvSpPr>
          <p:cNvPr id="37" name="TextBox 36"/>
          <p:cNvSpPr txBox="1"/>
          <p:nvPr/>
        </p:nvSpPr>
        <p:spPr>
          <a:xfrm>
            <a:off x="10452100" y="31623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97.8%</a:t>
            </a:r>
          </a:p>
        </p:txBody>
      </p:sp>
      <p:cxnSp>
        <p:nvCxnSpPr>
          <p:cNvPr id="38" name="Connector 37"/>
          <p:cNvCxnSpPr/>
          <p:nvPr/>
        </p:nvCxnSpPr>
        <p:spPr>
          <a:xfrm>
            <a:off x="533400" y="3683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683000"/>
            <a:ext cx="111252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721100"/>
            <a:ext cx="2006600" cy="4826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VadCLIP</a:t>
            </a:r>
          </a:p>
        </p:txBody>
      </p:sp>
      <p:sp>
        <p:nvSpPr>
          <p:cNvPr id="41" name="TextBox 40"/>
          <p:cNvSpPr txBox="1"/>
          <p:nvPr/>
        </p:nvSpPr>
        <p:spPr>
          <a:xfrm>
            <a:off x="2844800" y="3721100"/>
            <a:ext cx="1371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Temporal adapter</a:t>
            </a:r>
          </a:p>
        </p:txBody>
      </p:sp>
      <p:sp>
        <p:nvSpPr>
          <p:cNvPr id="42" name="TextBox 41"/>
          <p:cNvSpPr txBox="1"/>
          <p:nvPr/>
        </p:nvSpPr>
        <p:spPr>
          <a:xfrm>
            <a:off x="4419600" y="3721100"/>
            <a:ext cx="863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0.633</a:t>
            </a:r>
          </a:p>
        </p:txBody>
      </p:sp>
      <p:sp>
        <p:nvSpPr>
          <p:cNvPr id="43" name="TextBox 42"/>
          <p:cNvSpPr txBox="1"/>
          <p:nvPr/>
        </p:nvSpPr>
        <p:spPr>
          <a:xfrm>
            <a:off x="5486400" y="3721100"/>
            <a:ext cx="11303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0.587</a:t>
            </a:r>
          </a:p>
        </p:txBody>
      </p:sp>
      <p:sp>
        <p:nvSpPr>
          <p:cNvPr id="44" name="TextBox 43"/>
          <p:cNvSpPr txBox="1"/>
          <p:nvPr/>
        </p:nvSpPr>
        <p:spPr>
          <a:xfrm>
            <a:off x="6819900" y="3721100"/>
            <a:ext cx="8128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0.565</a:t>
            </a:r>
          </a:p>
        </p:txBody>
      </p:sp>
      <p:sp>
        <p:nvSpPr>
          <p:cNvPr id="45" name="TextBox 44"/>
          <p:cNvSpPr txBox="1"/>
          <p:nvPr/>
        </p:nvSpPr>
        <p:spPr>
          <a:xfrm>
            <a:off x="7835900" y="37211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62.1%</a:t>
            </a:r>
          </a:p>
        </p:txBody>
      </p:sp>
      <p:sp>
        <p:nvSpPr>
          <p:cNvPr id="46" name="TextBox 45"/>
          <p:cNvSpPr txBox="1"/>
          <p:nvPr/>
        </p:nvSpPr>
        <p:spPr>
          <a:xfrm>
            <a:off x="9144000" y="37211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51.8%</a:t>
            </a:r>
          </a:p>
        </p:txBody>
      </p:sp>
      <p:sp>
        <p:nvSpPr>
          <p:cNvPr id="47" name="TextBox 46"/>
          <p:cNvSpPr txBox="1"/>
          <p:nvPr/>
        </p:nvSpPr>
        <p:spPr>
          <a:xfrm>
            <a:off x="10452100" y="37211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35.7%</a:t>
            </a:r>
          </a:p>
        </p:txBody>
      </p:sp>
      <p:cxnSp>
        <p:nvCxnSpPr>
          <p:cNvPr id="48" name="Connector 47"/>
          <p:cNvCxnSpPr/>
          <p:nvPr/>
        </p:nvCxnSpPr>
        <p:spPr>
          <a:xfrm>
            <a:off x="533400" y="4241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241800"/>
            <a:ext cx="11125200" cy="558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279900"/>
            <a:ext cx="2006600" cy="4826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Reference</a:t>
            </a:r>
          </a:p>
        </p:txBody>
      </p:sp>
      <p:sp>
        <p:nvSpPr>
          <p:cNvPr id="51" name="TextBox 50"/>
          <p:cNvSpPr txBox="1"/>
          <p:nvPr/>
        </p:nvSpPr>
        <p:spPr>
          <a:xfrm>
            <a:off x="2844800" y="4279900"/>
            <a:ext cx="1371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Always positive</a:t>
            </a:r>
          </a:p>
        </p:txBody>
      </p:sp>
      <p:sp>
        <p:nvSpPr>
          <p:cNvPr id="52" name="TextBox 51"/>
          <p:cNvSpPr txBox="1"/>
          <p:nvPr/>
        </p:nvSpPr>
        <p:spPr>
          <a:xfrm>
            <a:off x="4419600" y="4279900"/>
            <a:ext cx="863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0.530</a:t>
            </a:r>
          </a:p>
        </p:txBody>
      </p:sp>
      <p:sp>
        <p:nvSpPr>
          <p:cNvPr id="53" name="TextBox 52"/>
          <p:cNvSpPr txBox="1"/>
          <p:nvPr/>
        </p:nvSpPr>
        <p:spPr>
          <a:xfrm>
            <a:off x="5486400" y="4279900"/>
            <a:ext cx="11303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0.500</a:t>
            </a:r>
          </a:p>
        </p:txBody>
      </p:sp>
      <p:sp>
        <p:nvSpPr>
          <p:cNvPr id="54" name="TextBox 53"/>
          <p:cNvSpPr txBox="1"/>
          <p:nvPr/>
        </p:nvSpPr>
        <p:spPr>
          <a:xfrm>
            <a:off x="6819900" y="4279900"/>
            <a:ext cx="8128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0.693</a:t>
            </a:r>
          </a:p>
        </p:txBody>
      </p:sp>
      <p:sp>
        <p:nvSpPr>
          <p:cNvPr id="55" name="TextBox 54"/>
          <p:cNvSpPr txBox="1"/>
          <p:nvPr/>
        </p:nvSpPr>
        <p:spPr>
          <a:xfrm>
            <a:off x="7835900" y="42799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53.0%</a:t>
            </a:r>
          </a:p>
        </p:txBody>
      </p:sp>
      <p:sp>
        <p:nvSpPr>
          <p:cNvPr id="56" name="TextBox 55"/>
          <p:cNvSpPr txBox="1"/>
          <p:nvPr/>
        </p:nvSpPr>
        <p:spPr>
          <a:xfrm>
            <a:off x="9144000" y="42799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sp>
        <p:nvSpPr>
          <p:cNvPr id="57" name="TextBox 56"/>
          <p:cNvSpPr txBox="1"/>
          <p:nvPr/>
        </p:nvSpPr>
        <p:spPr>
          <a:xfrm>
            <a:off x="10452100" y="42799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100.0%</a:t>
            </a:r>
          </a:p>
        </p:txBody>
      </p:sp>
      <p:cxnSp>
        <p:nvCxnSpPr>
          <p:cNvPr id="58" name="Connector 57"/>
          <p:cNvCxnSpPr/>
          <p:nvPr/>
        </p:nvCxnSpPr>
        <p:spPr>
          <a:xfrm>
            <a:off x="533400" y="480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Adapter AP rises from0.482 to0.633, but FPR remains35.7% and recall51.8% at its frozen cutoff.</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Four adapted models: metrics with their protocol</a:t>
            </a:r>
          </a:p>
          <a:p>
            <a:pPr algn="l">
              <a:lnSpc>
                <a:spcPts val="3690"/>
              </a:lnSpc>
              <a:spcBef>
                <a:spcPts val="0"/>
              </a:spcBef>
              <a:spcAft>
                <a:spcPts val="0"/>
              </a:spcAft>
              <a:defRPr sz="3000" b="1">
                <a:solidFill>
                  <a:srgbClr val="142C40"/>
                </a:solidFill>
                <a:latin typeface="DejaVu Sans"/>
              </a:defRPr>
            </a:pPr>
            <a:r>
              <a:t>labels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 646-frame camera holdout (393+) • B: 1,056-frame session holdout (560+) • dev-max-F1</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37</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826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 • A</a:t>
            </a:r>
          </a:p>
        </p:txBody>
      </p:sp>
      <p:sp>
        <p:nvSpPr>
          <p:cNvPr id="21" name="TextBox 20"/>
          <p:cNvSpPr txBox="1"/>
          <p:nvPr/>
        </p:nvSpPr>
        <p:spPr>
          <a:xfrm>
            <a:off x="2844800" y="2603500"/>
            <a:ext cx="1371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 tune</a:t>
            </a:r>
          </a:p>
        </p:txBody>
      </p:sp>
      <p:sp>
        <p:nvSpPr>
          <p:cNvPr id="22" name="TextBox 21"/>
          <p:cNvSpPr txBox="1"/>
          <p:nvPr/>
        </p:nvSpPr>
        <p:spPr>
          <a:xfrm>
            <a:off x="4419600" y="2603500"/>
            <a:ext cx="863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0.564</a:t>
            </a:r>
          </a:p>
        </p:txBody>
      </p:sp>
      <p:sp>
        <p:nvSpPr>
          <p:cNvPr id="23" name="TextBox 22"/>
          <p:cNvSpPr txBox="1"/>
          <p:nvPr/>
        </p:nvSpPr>
        <p:spPr>
          <a:xfrm>
            <a:off x="5486400" y="2603500"/>
            <a:ext cx="11303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0.440</a:t>
            </a:r>
          </a:p>
        </p:txBody>
      </p:sp>
      <p:sp>
        <p:nvSpPr>
          <p:cNvPr id="24" name="TextBox 23"/>
          <p:cNvSpPr txBox="1"/>
          <p:nvPr/>
        </p:nvSpPr>
        <p:spPr>
          <a:xfrm>
            <a:off x="6819900" y="2603500"/>
            <a:ext cx="8128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0.735</a:t>
            </a:r>
          </a:p>
        </p:txBody>
      </p:sp>
      <p:sp>
        <p:nvSpPr>
          <p:cNvPr id="25" name="TextBox 24"/>
          <p:cNvSpPr txBox="1"/>
          <p:nvPr/>
        </p:nvSpPr>
        <p:spPr>
          <a:xfrm>
            <a:off x="7835900" y="26035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60.7%</a:t>
            </a:r>
          </a:p>
        </p:txBody>
      </p:sp>
      <p:sp>
        <p:nvSpPr>
          <p:cNvPr id="26" name="TextBox 25"/>
          <p:cNvSpPr txBox="1"/>
          <p:nvPr/>
        </p:nvSpPr>
        <p:spPr>
          <a:xfrm>
            <a:off x="9144000" y="26035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93.1%</a:t>
            </a:r>
          </a:p>
        </p:txBody>
      </p:sp>
      <p:sp>
        <p:nvSpPr>
          <p:cNvPr id="27" name="TextBox 26"/>
          <p:cNvSpPr txBox="1"/>
          <p:nvPr/>
        </p:nvSpPr>
        <p:spPr>
          <a:xfrm>
            <a:off x="10452100" y="26035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93.7%</a:t>
            </a:r>
          </a:p>
        </p:txBody>
      </p:sp>
      <p:cxnSp>
        <p:nvCxnSpPr>
          <p:cNvPr id="28" name="Connector 27"/>
          <p:cNvCxnSpPr/>
          <p:nvPr/>
        </p:nvCxnSpPr>
        <p:spPr>
          <a:xfrm>
            <a:off x="533400" y="3124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124200"/>
            <a:ext cx="11125200" cy="558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162300"/>
            <a:ext cx="2006600" cy="4826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 • A</a:t>
            </a:r>
          </a:p>
        </p:txBody>
      </p:sp>
      <p:sp>
        <p:nvSpPr>
          <p:cNvPr id="31" name="TextBox 30"/>
          <p:cNvSpPr txBox="1"/>
          <p:nvPr/>
        </p:nvSpPr>
        <p:spPr>
          <a:xfrm>
            <a:off x="2844800" y="3162300"/>
            <a:ext cx="1371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 tune</a:t>
            </a:r>
          </a:p>
        </p:txBody>
      </p:sp>
      <p:sp>
        <p:nvSpPr>
          <p:cNvPr id="32" name="TextBox 31"/>
          <p:cNvSpPr txBox="1"/>
          <p:nvPr/>
        </p:nvSpPr>
        <p:spPr>
          <a:xfrm>
            <a:off x="4419600" y="3162300"/>
            <a:ext cx="863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0.650</a:t>
            </a:r>
          </a:p>
        </p:txBody>
      </p:sp>
      <p:sp>
        <p:nvSpPr>
          <p:cNvPr id="33" name="TextBox 32"/>
          <p:cNvSpPr txBox="1"/>
          <p:nvPr/>
        </p:nvSpPr>
        <p:spPr>
          <a:xfrm>
            <a:off x="5486400" y="3162300"/>
            <a:ext cx="11303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0.531</a:t>
            </a:r>
          </a:p>
        </p:txBody>
      </p:sp>
      <p:sp>
        <p:nvSpPr>
          <p:cNvPr id="34" name="TextBox 33"/>
          <p:cNvSpPr txBox="1"/>
          <p:nvPr/>
        </p:nvSpPr>
        <p:spPr>
          <a:xfrm>
            <a:off x="6819900" y="3162300"/>
            <a:ext cx="8128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0.727</a:t>
            </a:r>
          </a:p>
        </p:txBody>
      </p:sp>
      <p:sp>
        <p:nvSpPr>
          <p:cNvPr id="35" name="TextBox 34"/>
          <p:cNvSpPr txBox="1"/>
          <p:nvPr/>
        </p:nvSpPr>
        <p:spPr>
          <a:xfrm>
            <a:off x="7835900" y="31623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60.3%</a:t>
            </a:r>
          </a:p>
        </p:txBody>
      </p:sp>
      <p:sp>
        <p:nvSpPr>
          <p:cNvPr id="36" name="TextBox 35"/>
          <p:cNvSpPr txBox="1"/>
          <p:nvPr/>
        </p:nvSpPr>
        <p:spPr>
          <a:xfrm>
            <a:off x="9144000" y="31623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91.3%</a:t>
            </a:r>
          </a:p>
        </p:txBody>
      </p:sp>
      <p:sp>
        <p:nvSpPr>
          <p:cNvPr id="37" name="TextBox 36"/>
          <p:cNvSpPr txBox="1"/>
          <p:nvPr/>
        </p:nvSpPr>
        <p:spPr>
          <a:xfrm>
            <a:off x="10452100" y="31623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93.3%</a:t>
            </a:r>
          </a:p>
        </p:txBody>
      </p:sp>
      <p:cxnSp>
        <p:nvCxnSpPr>
          <p:cNvPr id="38" name="Connector 37"/>
          <p:cNvCxnSpPr/>
          <p:nvPr/>
        </p:nvCxnSpPr>
        <p:spPr>
          <a:xfrm>
            <a:off x="533400" y="3683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683000"/>
            <a:ext cx="111252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721100"/>
            <a:ext cx="2006600" cy="4826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SmolVLM • A</a:t>
            </a:r>
          </a:p>
        </p:txBody>
      </p:sp>
      <p:sp>
        <p:nvSpPr>
          <p:cNvPr id="41" name="TextBox 40"/>
          <p:cNvSpPr txBox="1"/>
          <p:nvPr/>
        </p:nvSpPr>
        <p:spPr>
          <a:xfrm>
            <a:off x="2844800" y="3721100"/>
            <a:ext cx="1371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Joint LoRA</a:t>
            </a:r>
          </a:p>
        </p:txBody>
      </p:sp>
      <p:sp>
        <p:nvSpPr>
          <p:cNvPr id="42" name="TextBox 41"/>
          <p:cNvSpPr txBox="1"/>
          <p:nvPr/>
        </p:nvSpPr>
        <p:spPr>
          <a:xfrm>
            <a:off x="4419600" y="3721100"/>
            <a:ext cx="863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0.623</a:t>
            </a:r>
          </a:p>
        </p:txBody>
      </p:sp>
      <p:sp>
        <p:nvSpPr>
          <p:cNvPr id="43" name="TextBox 42"/>
          <p:cNvSpPr txBox="1"/>
          <p:nvPr/>
        </p:nvSpPr>
        <p:spPr>
          <a:xfrm>
            <a:off x="5486400" y="3721100"/>
            <a:ext cx="11303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0.502</a:t>
            </a:r>
          </a:p>
        </p:txBody>
      </p:sp>
      <p:sp>
        <p:nvSpPr>
          <p:cNvPr id="44" name="TextBox 43"/>
          <p:cNvSpPr txBox="1"/>
          <p:nvPr/>
        </p:nvSpPr>
        <p:spPr>
          <a:xfrm>
            <a:off x="6819900" y="3721100"/>
            <a:ext cx="8128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0.754</a:t>
            </a:r>
          </a:p>
        </p:txBody>
      </p:sp>
      <p:sp>
        <p:nvSpPr>
          <p:cNvPr id="45" name="TextBox 44"/>
          <p:cNvSpPr txBox="1"/>
          <p:nvPr/>
        </p:nvSpPr>
        <p:spPr>
          <a:xfrm>
            <a:off x="7835900" y="37211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62.0%</a:t>
            </a:r>
          </a:p>
        </p:txBody>
      </p:sp>
      <p:sp>
        <p:nvSpPr>
          <p:cNvPr id="46" name="TextBox 45"/>
          <p:cNvSpPr txBox="1"/>
          <p:nvPr/>
        </p:nvSpPr>
        <p:spPr>
          <a:xfrm>
            <a:off x="9144000" y="37211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96.2%</a:t>
            </a:r>
          </a:p>
        </p:txBody>
      </p:sp>
      <p:sp>
        <p:nvSpPr>
          <p:cNvPr id="47" name="TextBox 46"/>
          <p:cNvSpPr txBox="1"/>
          <p:nvPr/>
        </p:nvSpPr>
        <p:spPr>
          <a:xfrm>
            <a:off x="10452100" y="37211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91.7%</a:t>
            </a:r>
          </a:p>
        </p:txBody>
      </p:sp>
      <p:cxnSp>
        <p:nvCxnSpPr>
          <p:cNvPr id="48" name="Connector 47"/>
          <p:cNvCxnSpPr/>
          <p:nvPr/>
        </p:nvCxnSpPr>
        <p:spPr>
          <a:xfrm>
            <a:off x="533400" y="4241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241800"/>
            <a:ext cx="11125200" cy="558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279900"/>
            <a:ext cx="2006600" cy="4826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VadCLIP • B</a:t>
            </a:r>
          </a:p>
        </p:txBody>
      </p:sp>
      <p:sp>
        <p:nvSpPr>
          <p:cNvPr id="51" name="TextBox 50"/>
          <p:cNvSpPr txBox="1"/>
          <p:nvPr/>
        </p:nvSpPr>
        <p:spPr>
          <a:xfrm>
            <a:off x="2844800" y="4279900"/>
            <a:ext cx="1371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Temporal adapter</a:t>
            </a:r>
          </a:p>
        </p:txBody>
      </p:sp>
      <p:sp>
        <p:nvSpPr>
          <p:cNvPr id="52" name="TextBox 51"/>
          <p:cNvSpPr txBox="1"/>
          <p:nvPr/>
        </p:nvSpPr>
        <p:spPr>
          <a:xfrm>
            <a:off x="4419600" y="4279900"/>
            <a:ext cx="863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0.633</a:t>
            </a:r>
          </a:p>
        </p:txBody>
      </p:sp>
      <p:sp>
        <p:nvSpPr>
          <p:cNvPr id="53" name="TextBox 52"/>
          <p:cNvSpPr txBox="1"/>
          <p:nvPr/>
        </p:nvSpPr>
        <p:spPr>
          <a:xfrm>
            <a:off x="5486400" y="4279900"/>
            <a:ext cx="11303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0.587</a:t>
            </a:r>
          </a:p>
        </p:txBody>
      </p:sp>
      <p:sp>
        <p:nvSpPr>
          <p:cNvPr id="54" name="TextBox 53"/>
          <p:cNvSpPr txBox="1"/>
          <p:nvPr/>
        </p:nvSpPr>
        <p:spPr>
          <a:xfrm>
            <a:off x="6819900" y="4279900"/>
            <a:ext cx="8128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0.565</a:t>
            </a:r>
          </a:p>
        </p:txBody>
      </p:sp>
      <p:sp>
        <p:nvSpPr>
          <p:cNvPr id="55" name="TextBox 54"/>
          <p:cNvSpPr txBox="1"/>
          <p:nvPr/>
        </p:nvSpPr>
        <p:spPr>
          <a:xfrm>
            <a:off x="7835900" y="42799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62.1%</a:t>
            </a:r>
          </a:p>
        </p:txBody>
      </p:sp>
      <p:sp>
        <p:nvSpPr>
          <p:cNvPr id="56" name="TextBox 55"/>
          <p:cNvSpPr txBox="1"/>
          <p:nvPr/>
        </p:nvSpPr>
        <p:spPr>
          <a:xfrm>
            <a:off x="9144000" y="42799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51.8%</a:t>
            </a:r>
          </a:p>
        </p:txBody>
      </p:sp>
      <p:sp>
        <p:nvSpPr>
          <p:cNvPr id="57" name="TextBox 56"/>
          <p:cNvSpPr txBox="1"/>
          <p:nvPr/>
        </p:nvSpPr>
        <p:spPr>
          <a:xfrm>
            <a:off x="10452100" y="42799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35.7%</a:t>
            </a:r>
          </a:p>
        </p:txBody>
      </p:sp>
      <p:cxnSp>
        <p:nvCxnSpPr>
          <p:cNvPr id="58" name="Connector 57"/>
          <p:cNvCxnSpPr/>
          <p:nvPr/>
        </p:nvCxnSpPr>
        <p:spPr>
          <a:xfrm>
            <a:off x="533400" y="480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Metric columns are shared; supervision, training size and test split are not equal across all four rows.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TRAINING / PERSON AND TEMPORAL HEADS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Later learning adds automatic regions and</a:t>
            </a:r>
          </a:p>
          <a:p>
            <a:pPr algn="l">
              <a:lnSpc>
                <a:spcPts val="3690"/>
              </a:lnSpc>
              <a:spcBef>
                <a:spcPts val="0"/>
              </a:spcBef>
              <a:spcAft>
                <a:spcPts val="0"/>
              </a:spcAft>
              <a:defRPr sz="3000" b="1">
                <a:solidFill>
                  <a:srgbClr val="142C40"/>
                </a:solidFill>
                <a:latin typeface="DejaVu Sans"/>
              </a:defRPr>
            </a:pPr>
            <a:r>
              <a:t>temporal memory</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16–17 Oct CLIP pilot • frozen pretrained visual encoders • 50 saved candidate heads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38</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8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Component</a:t>
            </a:r>
          </a:p>
        </p:txBody>
      </p:sp>
      <p:sp>
        <p:nvSpPr>
          <p:cNvPr id="12" name="TextBox 11"/>
          <p:cNvSpPr txBox="1"/>
          <p:nvPr/>
        </p:nvSpPr>
        <p:spPr>
          <a:xfrm>
            <a:off x="2921000" y="2171700"/>
            <a:ext cx="494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Executed training / representation</a:t>
            </a:r>
          </a:p>
        </p:txBody>
      </p:sp>
      <p:sp>
        <p:nvSpPr>
          <p:cNvPr id="13" name="TextBox 12"/>
          <p:cNvSpPr txBox="1"/>
          <p:nvPr/>
        </p:nvSpPr>
        <p:spPr>
          <a:xfrm>
            <a:off x="8064500" y="2171700"/>
            <a:ext cx="34925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Evaluation boundary</a:t>
            </a:r>
          </a:p>
        </p:txBody>
      </p:sp>
      <p:sp>
        <p:nvSpPr>
          <p:cNvPr id="14" name="Rectangle 13"/>
          <p:cNvSpPr/>
          <p:nvPr/>
        </p:nvSpPr>
        <p:spPr>
          <a:xfrm>
            <a:off x="533400" y="2565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000" y="2603500"/>
            <a:ext cx="20828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Input evidence</a:t>
            </a:r>
          </a:p>
        </p:txBody>
      </p:sp>
      <p:sp>
        <p:nvSpPr>
          <p:cNvPr id="16" name="TextBox 15"/>
          <p:cNvSpPr txBox="1"/>
          <p:nvPr/>
        </p:nvSpPr>
        <p:spPr>
          <a:xfrm>
            <a:off x="2921000" y="2603500"/>
            <a:ext cx="49403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16 HMDB views; full / body / upper-body crops</a:t>
            </a:r>
          </a:p>
        </p:txBody>
      </p:sp>
      <p:sp>
        <p:nvSpPr>
          <p:cNvPr id="17" name="TextBox 16"/>
          <p:cNvSpPr txBox="1"/>
          <p:nvPr/>
        </p:nvSpPr>
        <p:spPr>
          <a:xfrm>
            <a:off x="8064500" y="2603500"/>
            <a:ext cx="3492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CCTV smoking test remains static</a:t>
            </a:r>
          </a:p>
        </p:txBody>
      </p:sp>
      <p:cxnSp>
        <p:nvCxnSpPr>
          <p:cNvPr id="18" name="Connector 17"/>
          <p:cNvCxnSpPr/>
          <p:nvPr/>
        </p:nvCxnSpPr>
        <p:spPr>
          <a:xfrm>
            <a:off x="533400" y="3111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1115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3149600"/>
            <a:ext cx="20828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Temporal classifier</a:t>
            </a:r>
          </a:p>
        </p:txBody>
      </p:sp>
      <p:sp>
        <p:nvSpPr>
          <p:cNvPr id="21" name="TextBox 20"/>
          <p:cNvSpPr txBox="1"/>
          <p:nvPr/>
        </p:nvSpPr>
        <p:spPr>
          <a:xfrm>
            <a:off x="2921000" y="3149600"/>
            <a:ext cx="49403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128-unit projection; 64-unit causal GRU; optional18geometry</a:t>
            </a:r>
          </a:p>
          <a:p>
            <a:pPr algn="l">
              <a:lnSpc>
                <a:spcPts val="1414"/>
              </a:lnSpc>
              <a:spcBef>
                <a:spcPts val="0"/>
              </a:spcBef>
              <a:spcAft>
                <a:spcPts val="0"/>
              </a:spcAft>
              <a:defRPr sz="1150" b="0">
                <a:solidFill>
                  <a:srgbClr val="142C40"/>
                </a:solidFill>
                <a:latin typeface="DejaVu Sans"/>
              </a:defRPr>
            </a:pPr>
            <a:r>
              <a:t>channels</a:t>
            </a:r>
          </a:p>
        </p:txBody>
      </p:sp>
      <p:sp>
        <p:nvSpPr>
          <p:cNvPr id="22" name="TextBox 21"/>
          <p:cNvSpPr txBox="1"/>
          <p:nvPr/>
        </p:nvSpPr>
        <p:spPr>
          <a:xfrm>
            <a:off x="8064500" y="3149600"/>
            <a:ext cx="3492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Past-only sequence features; no oracle tracks</a:t>
            </a:r>
          </a:p>
        </p:txBody>
      </p:sp>
      <p:cxnSp>
        <p:nvCxnSpPr>
          <p:cNvPr id="23" name="Connector 22"/>
          <p:cNvCxnSpPr/>
          <p:nvPr/>
        </p:nvCxnSpPr>
        <p:spPr>
          <a:xfrm>
            <a:off x="533400" y="3657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6576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000" y="3695700"/>
            <a:ext cx="20828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Person supervision</a:t>
            </a:r>
          </a:p>
        </p:txBody>
      </p:sp>
      <p:sp>
        <p:nvSpPr>
          <p:cNvPr id="26" name="TextBox 25"/>
          <p:cNvSpPr txBox="1"/>
          <p:nvPr/>
        </p:nvSpPr>
        <p:spPr>
          <a:xfrm>
            <a:off x="2921000" y="3695700"/>
            <a:ext cx="49403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1,460 matched train regions,277 positive; scene BCE + .5region</a:t>
            </a:r>
          </a:p>
          <a:p>
            <a:pPr algn="l">
              <a:lnSpc>
                <a:spcPts val="1414"/>
              </a:lnSpc>
              <a:spcBef>
                <a:spcPts val="0"/>
              </a:spcBef>
              <a:spcAft>
                <a:spcPts val="0"/>
              </a:spcAft>
              <a:defRPr sz="1150" b="0">
                <a:solidFill>
                  <a:srgbClr val="142C40"/>
                </a:solidFill>
                <a:latin typeface="DejaVu Sans"/>
              </a:defRPr>
            </a:pPr>
            <a:r>
              <a:t>BCE</a:t>
            </a:r>
          </a:p>
        </p:txBody>
      </p:sp>
      <p:sp>
        <p:nvSpPr>
          <p:cNvPr id="27" name="TextBox 26"/>
          <p:cNvSpPr txBox="1"/>
          <p:nvPr/>
        </p:nvSpPr>
        <p:spPr>
          <a:xfrm>
            <a:off x="8064500" y="3695700"/>
            <a:ext cx="3492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Automatic test regions; no test box selection</a:t>
            </a:r>
          </a:p>
        </p:txBody>
      </p:sp>
      <p:cxnSp>
        <p:nvCxnSpPr>
          <p:cNvPr id="28" name="Connector 27"/>
          <p:cNvCxnSpPr/>
          <p:nvPr/>
        </p:nvCxnSpPr>
        <p:spPr>
          <a:xfrm>
            <a:off x="533400" y="4203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2037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4241800"/>
            <a:ext cx="20828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Optimization</a:t>
            </a:r>
          </a:p>
        </p:txBody>
      </p:sp>
      <p:sp>
        <p:nvSpPr>
          <p:cNvPr id="31" name="TextBox 30"/>
          <p:cNvSpPr txBox="1"/>
          <p:nvPr/>
        </p:nvSpPr>
        <p:spPr>
          <a:xfrm>
            <a:off x="2921000" y="4241800"/>
            <a:ext cx="49403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AdamW LR.0005, decay.01; batch 128; max 60 epochs; patience 8</a:t>
            </a:r>
          </a:p>
        </p:txBody>
      </p:sp>
      <p:sp>
        <p:nvSpPr>
          <p:cNvPr id="32" name="TextBox 31"/>
          <p:cNvSpPr txBox="1"/>
          <p:nvPr/>
        </p:nvSpPr>
        <p:spPr>
          <a:xfrm>
            <a:off x="8064500" y="4241800"/>
            <a:ext cx="3492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Worst dev-source AP, then mean AP</a:t>
            </a:r>
          </a:p>
        </p:txBody>
      </p:sp>
      <p:cxnSp>
        <p:nvCxnSpPr>
          <p:cNvPr id="33" name="Connector 32"/>
          <p:cNvCxnSpPr/>
          <p:nvPr/>
        </p:nvCxnSpPr>
        <p:spPr>
          <a:xfrm>
            <a:off x="533400" y="4749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7498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000" y="4787900"/>
            <a:ext cx="20828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Additional source data</a:t>
            </a:r>
          </a:p>
        </p:txBody>
      </p:sp>
      <p:sp>
        <p:nvSpPr>
          <p:cNvPr id="36" name="TextBox 35"/>
          <p:cNvSpPr txBox="1"/>
          <p:nvPr/>
        </p:nvSpPr>
        <p:spPr>
          <a:xfrm>
            <a:off x="2921000" y="4787900"/>
            <a:ext cx="49403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530 train /161 dev /205 test HMDB clips after title-part purge</a:t>
            </a:r>
          </a:p>
        </p:txBody>
      </p:sp>
      <p:sp>
        <p:nvSpPr>
          <p:cNvPr id="37" name="TextBox 36"/>
          <p:cNvSpPr txBox="1"/>
          <p:nvPr/>
        </p:nvSpPr>
        <p:spPr>
          <a:xfrm>
            <a:off x="8064500" y="4787900"/>
            <a:ext cx="3492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Different cohort from906-clip transfer test</a:t>
            </a:r>
          </a:p>
        </p:txBody>
      </p:sp>
      <p:cxnSp>
        <p:nvCxnSpPr>
          <p:cNvPr id="38" name="Connector 37"/>
          <p:cNvCxnSpPr/>
          <p:nvPr/>
        </p:nvCxnSpPr>
        <p:spPr>
          <a:xfrm>
            <a:off x="533400" y="52959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These are new classifiers and temporal heads; the visual encoders are frozen in this pilot.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Later smoking stages: CCTV frames, n646</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Within-pilot training/control cohort • original pooled budget vs later every-source policy</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39</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21" name="TextBox 20"/>
          <p:cNvSpPr txBox="1"/>
          <p:nvPr/>
        </p:nvSpPr>
        <p:spPr>
          <a:xfrm>
            <a:off x="2844800" y="2603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Scene probe</a:t>
            </a:r>
          </a:p>
        </p:txBody>
      </p:sp>
      <p:sp>
        <p:nvSpPr>
          <p:cNvPr id="22" name="TextBox 21"/>
          <p:cNvSpPr txBox="1"/>
          <p:nvPr/>
        </p:nvSpPr>
        <p:spPr>
          <a:xfrm>
            <a:off x="4419600" y="2603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0.626</a:t>
            </a:r>
          </a:p>
        </p:txBody>
      </p:sp>
      <p:sp>
        <p:nvSpPr>
          <p:cNvPr id="23" name="TextBox 22"/>
          <p:cNvSpPr txBox="1"/>
          <p:nvPr/>
        </p:nvSpPr>
        <p:spPr>
          <a:xfrm>
            <a:off x="5486400" y="2603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0.527</a:t>
            </a:r>
          </a:p>
        </p:txBody>
      </p:sp>
      <p:sp>
        <p:nvSpPr>
          <p:cNvPr id="24" name="TextBox 23"/>
          <p:cNvSpPr txBox="1"/>
          <p:nvPr/>
        </p:nvSpPr>
        <p:spPr>
          <a:xfrm>
            <a:off x="6819900" y="2603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0.000</a:t>
            </a:r>
          </a:p>
        </p:txBody>
      </p:sp>
      <p:sp>
        <p:nvSpPr>
          <p:cNvPr id="25" name="TextBox 24"/>
          <p:cNvSpPr txBox="1"/>
          <p:nvPr/>
        </p:nvSpPr>
        <p:spPr>
          <a:xfrm>
            <a:off x="78359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26" name="TextBox 25"/>
          <p:cNvSpPr txBox="1"/>
          <p:nvPr/>
        </p:nvSpPr>
        <p:spPr>
          <a:xfrm>
            <a:off x="91440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27" name="TextBox 26"/>
          <p:cNvSpPr txBox="1"/>
          <p:nvPr/>
        </p:nvSpPr>
        <p:spPr>
          <a:xfrm>
            <a:off x="104521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28" name="Connector 2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0861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31" name="TextBox 30"/>
          <p:cNvSpPr txBox="1"/>
          <p:nvPr/>
        </p:nvSpPr>
        <p:spPr>
          <a:xfrm>
            <a:off x="2844800" y="30861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Region / person</a:t>
            </a:r>
          </a:p>
        </p:txBody>
      </p:sp>
      <p:sp>
        <p:nvSpPr>
          <p:cNvPr id="32" name="TextBox 31"/>
          <p:cNvSpPr txBox="1"/>
          <p:nvPr/>
        </p:nvSpPr>
        <p:spPr>
          <a:xfrm>
            <a:off x="4419600" y="30861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0.725</a:t>
            </a:r>
          </a:p>
        </p:txBody>
      </p:sp>
      <p:sp>
        <p:nvSpPr>
          <p:cNvPr id="33" name="TextBox 32"/>
          <p:cNvSpPr txBox="1"/>
          <p:nvPr/>
        </p:nvSpPr>
        <p:spPr>
          <a:xfrm>
            <a:off x="5486400" y="30861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0.638</a:t>
            </a:r>
          </a:p>
        </p:txBody>
      </p:sp>
      <p:sp>
        <p:nvSpPr>
          <p:cNvPr id="34" name="TextBox 33"/>
          <p:cNvSpPr txBox="1"/>
          <p:nvPr/>
        </p:nvSpPr>
        <p:spPr>
          <a:xfrm>
            <a:off x="6819900" y="30861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0.272</a:t>
            </a:r>
          </a:p>
        </p:txBody>
      </p:sp>
      <p:sp>
        <p:nvSpPr>
          <p:cNvPr id="35" name="TextBox 34"/>
          <p:cNvSpPr txBox="1"/>
          <p:nvPr/>
        </p:nvSpPr>
        <p:spPr>
          <a:xfrm>
            <a:off x="78359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76.5%</a:t>
            </a:r>
          </a:p>
        </p:txBody>
      </p:sp>
      <p:sp>
        <p:nvSpPr>
          <p:cNvPr id="36" name="TextBox 35"/>
          <p:cNvSpPr txBox="1"/>
          <p:nvPr/>
        </p:nvSpPr>
        <p:spPr>
          <a:xfrm>
            <a:off x="91440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16.5%</a:t>
            </a:r>
          </a:p>
        </p:txBody>
      </p:sp>
      <p:sp>
        <p:nvSpPr>
          <p:cNvPr id="37" name="TextBox 36"/>
          <p:cNvSpPr txBox="1"/>
          <p:nvPr/>
        </p:nvSpPr>
        <p:spPr>
          <a:xfrm>
            <a:off x="104521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7.9%</a:t>
            </a:r>
          </a:p>
        </p:txBody>
      </p:sp>
      <p:cxnSp>
        <p:nvCxnSpPr>
          <p:cNvPr id="38" name="Connector 37"/>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5687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41" name="TextBox 40"/>
          <p:cNvSpPr txBox="1"/>
          <p:nvPr/>
        </p:nvSpPr>
        <p:spPr>
          <a:xfrm>
            <a:off x="2844800" y="35687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Sourcewise policy</a:t>
            </a:r>
          </a:p>
        </p:txBody>
      </p:sp>
      <p:sp>
        <p:nvSpPr>
          <p:cNvPr id="42" name="TextBox 41"/>
          <p:cNvSpPr txBox="1"/>
          <p:nvPr/>
        </p:nvSpPr>
        <p:spPr>
          <a:xfrm>
            <a:off x="4419600" y="35687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0.725</a:t>
            </a:r>
          </a:p>
        </p:txBody>
      </p:sp>
      <p:sp>
        <p:nvSpPr>
          <p:cNvPr id="43" name="TextBox 42"/>
          <p:cNvSpPr txBox="1"/>
          <p:nvPr/>
        </p:nvSpPr>
        <p:spPr>
          <a:xfrm>
            <a:off x="5486400" y="35687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0.638</a:t>
            </a:r>
          </a:p>
        </p:txBody>
      </p:sp>
      <p:sp>
        <p:nvSpPr>
          <p:cNvPr id="44" name="TextBox 43"/>
          <p:cNvSpPr txBox="1"/>
          <p:nvPr/>
        </p:nvSpPr>
        <p:spPr>
          <a:xfrm>
            <a:off x="6819900" y="35687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0.191</a:t>
            </a:r>
          </a:p>
        </p:txBody>
      </p:sp>
      <p:sp>
        <p:nvSpPr>
          <p:cNvPr id="45" name="TextBox 44"/>
          <p:cNvSpPr txBox="1"/>
          <p:nvPr/>
        </p:nvSpPr>
        <p:spPr>
          <a:xfrm>
            <a:off x="78359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75.4%</a:t>
            </a:r>
          </a:p>
        </p:txBody>
      </p:sp>
      <p:sp>
        <p:nvSpPr>
          <p:cNvPr id="46" name="TextBox 45"/>
          <p:cNvSpPr txBox="1"/>
          <p:nvPr/>
        </p:nvSpPr>
        <p:spPr>
          <a:xfrm>
            <a:off x="91440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10.9%</a:t>
            </a:r>
          </a:p>
        </p:txBody>
      </p:sp>
      <p:sp>
        <p:nvSpPr>
          <p:cNvPr id="47" name="TextBox 46"/>
          <p:cNvSpPr txBox="1"/>
          <p:nvPr/>
        </p:nvSpPr>
        <p:spPr>
          <a:xfrm>
            <a:off x="104521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5.5%</a:t>
            </a:r>
          </a:p>
        </p:txBody>
      </p:sp>
      <p:cxnSp>
        <p:nvCxnSpPr>
          <p:cNvPr id="48" name="Connector 4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0513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51" name="TextBox 50"/>
          <p:cNvSpPr txBox="1"/>
          <p:nvPr/>
        </p:nvSpPr>
        <p:spPr>
          <a:xfrm>
            <a:off x="2844800" y="40513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Scene probe</a:t>
            </a:r>
          </a:p>
        </p:txBody>
      </p:sp>
      <p:sp>
        <p:nvSpPr>
          <p:cNvPr id="52" name="TextBox 51"/>
          <p:cNvSpPr txBox="1"/>
          <p:nvPr/>
        </p:nvSpPr>
        <p:spPr>
          <a:xfrm>
            <a:off x="4419600" y="40513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0.717</a:t>
            </a:r>
          </a:p>
        </p:txBody>
      </p:sp>
      <p:sp>
        <p:nvSpPr>
          <p:cNvPr id="53" name="TextBox 52"/>
          <p:cNvSpPr txBox="1"/>
          <p:nvPr/>
        </p:nvSpPr>
        <p:spPr>
          <a:xfrm>
            <a:off x="5486400" y="40513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0.626</a:t>
            </a:r>
          </a:p>
        </p:txBody>
      </p:sp>
      <p:sp>
        <p:nvSpPr>
          <p:cNvPr id="54" name="TextBox 53"/>
          <p:cNvSpPr txBox="1"/>
          <p:nvPr/>
        </p:nvSpPr>
        <p:spPr>
          <a:xfrm>
            <a:off x="6819900" y="40513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0.000</a:t>
            </a:r>
          </a:p>
        </p:txBody>
      </p:sp>
      <p:sp>
        <p:nvSpPr>
          <p:cNvPr id="55" name="TextBox 54"/>
          <p:cNvSpPr txBox="1"/>
          <p:nvPr/>
        </p:nvSpPr>
        <p:spPr>
          <a:xfrm>
            <a:off x="78359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56" name="TextBox 55"/>
          <p:cNvSpPr txBox="1"/>
          <p:nvPr/>
        </p:nvSpPr>
        <p:spPr>
          <a:xfrm>
            <a:off x="91440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57" name="TextBox 56"/>
          <p:cNvSpPr txBox="1"/>
          <p:nvPr/>
        </p:nvSpPr>
        <p:spPr>
          <a:xfrm>
            <a:off x="104521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58" name="Connector 5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000" y="45339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61" name="TextBox 60"/>
          <p:cNvSpPr txBox="1"/>
          <p:nvPr/>
        </p:nvSpPr>
        <p:spPr>
          <a:xfrm>
            <a:off x="2844800" y="45339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Region / person</a:t>
            </a:r>
          </a:p>
        </p:txBody>
      </p:sp>
      <p:sp>
        <p:nvSpPr>
          <p:cNvPr id="62" name="TextBox 61"/>
          <p:cNvSpPr txBox="1"/>
          <p:nvPr/>
        </p:nvSpPr>
        <p:spPr>
          <a:xfrm>
            <a:off x="4419600" y="45339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0.688</a:t>
            </a:r>
          </a:p>
        </p:txBody>
      </p:sp>
      <p:sp>
        <p:nvSpPr>
          <p:cNvPr id="63" name="TextBox 62"/>
          <p:cNvSpPr txBox="1"/>
          <p:nvPr/>
        </p:nvSpPr>
        <p:spPr>
          <a:xfrm>
            <a:off x="5486400" y="45339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0.629</a:t>
            </a:r>
          </a:p>
        </p:txBody>
      </p:sp>
      <p:sp>
        <p:nvSpPr>
          <p:cNvPr id="64" name="TextBox 63"/>
          <p:cNvSpPr txBox="1"/>
          <p:nvPr/>
        </p:nvSpPr>
        <p:spPr>
          <a:xfrm>
            <a:off x="6819900" y="45339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0.044</a:t>
            </a:r>
          </a:p>
        </p:txBody>
      </p:sp>
      <p:sp>
        <p:nvSpPr>
          <p:cNvPr id="65" name="TextBox 64"/>
          <p:cNvSpPr txBox="1"/>
          <p:nvPr/>
        </p:nvSpPr>
        <p:spPr>
          <a:xfrm>
            <a:off x="78359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69.2%</a:t>
            </a:r>
          </a:p>
        </p:txBody>
      </p:sp>
      <p:sp>
        <p:nvSpPr>
          <p:cNvPr id="66" name="TextBox 65"/>
          <p:cNvSpPr txBox="1"/>
          <p:nvPr/>
        </p:nvSpPr>
        <p:spPr>
          <a:xfrm>
            <a:off x="91440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2.3%</a:t>
            </a:r>
          </a:p>
        </p:txBody>
      </p:sp>
      <p:sp>
        <p:nvSpPr>
          <p:cNvPr id="67" name="TextBox 66"/>
          <p:cNvSpPr txBox="1"/>
          <p:nvPr/>
        </p:nvSpPr>
        <p:spPr>
          <a:xfrm>
            <a:off x="104521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1.6%</a:t>
            </a:r>
          </a:p>
        </p:txBody>
      </p:sp>
      <p:cxnSp>
        <p:nvCxnSpPr>
          <p:cNvPr id="68" name="Connector 6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000" y="5016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71" name="TextBox 70"/>
          <p:cNvSpPr txBox="1"/>
          <p:nvPr/>
        </p:nvSpPr>
        <p:spPr>
          <a:xfrm>
            <a:off x="2844800" y="5016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Sourcewise policy</a:t>
            </a:r>
          </a:p>
        </p:txBody>
      </p:sp>
      <p:sp>
        <p:nvSpPr>
          <p:cNvPr id="72" name="TextBox 71"/>
          <p:cNvSpPr txBox="1"/>
          <p:nvPr/>
        </p:nvSpPr>
        <p:spPr>
          <a:xfrm>
            <a:off x="4419600" y="5016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0.720</a:t>
            </a:r>
          </a:p>
        </p:txBody>
      </p:sp>
      <p:sp>
        <p:nvSpPr>
          <p:cNvPr id="73" name="TextBox 72"/>
          <p:cNvSpPr txBox="1"/>
          <p:nvPr/>
        </p:nvSpPr>
        <p:spPr>
          <a:xfrm>
            <a:off x="5486400" y="5016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0.634</a:t>
            </a:r>
          </a:p>
        </p:txBody>
      </p:sp>
      <p:sp>
        <p:nvSpPr>
          <p:cNvPr id="74" name="TextBox 73"/>
          <p:cNvSpPr txBox="1"/>
          <p:nvPr/>
        </p:nvSpPr>
        <p:spPr>
          <a:xfrm>
            <a:off x="6819900" y="5016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0.035</a:t>
            </a:r>
          </a:p>
        </p:txBody>
      </p:sp>
      <p:sp>
        <p:nvSpPr>
          <p:cNvPr id="75" name="TextBox 74"/>
          <p:cNvSpPr txBox="1"/>
          <p:nvPr/>
        </p:nvSpPr>
        <p:spPr>
          <a:xfrm>
            <a:off x="78359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63.6%</a:t>
            </a:r>
          </a:p>
        </p:txBody>
      </p:sp>
      <p:sp>
        <p:nvSpPr>
          <p:cNvPr id="76" name="TextBox 75"/>
          <p:cNvSpPr txBox="1"/>
          <p:nvPr/>
        </p:nvSpPr>
        <p:spPr>
          <a:xfrm>
            <a:off x="91440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1.8%</a:t>
            </a:r>
          </a:p>
        </p:txBody>
      </p:sp>
      <p:sp>
        <p:nvSpPr>
          <p:cNvPr id="77" name="TextBox 76"/>
          <p:cNvSpPr txBox="1"/>
          <p:nvPr/>
        </p:nvSpPr>
        <p:spPr>
          <a:xfrm>
            <a:off x="104521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1.6%</a:t>
            </a:r>
          </a:p>
        </p:txBody>
      </p:sp>
      <p:cxnSp>
        <p:nvCxnSpPr>
          <p:cNvPr id="78" name="Connector 77"/>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Later policies change selection/calibration; the three rows do not isolate only a larger neural network.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Later smoking stages: Adapted HMDB test, n205</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Within-pilot training/control cohort • original pooled budget vs later every-source policy</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40</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21" name="TextBox 20"/>
          <p:cNvSpPr txBox="1"/>
          <p:nvPr/>
        </p:nvSpPr>
        <p:spPr>
          <a:xfrm>
            <a:off x="2844800" y="2603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Scene probe</a:t>
            </a:r>
          </a:p>
        </p:txBody>
      </p:sp>
      <p:sp>
        <p:nvSpPr>
          <p:cNvPr id="22" name="TextBox 21"/>
          <p:cNvSpPr txBox="1"/>
          <p:nvPr/>
        </p:nvSpPr>
        <p:spPr>
          <a:xfrm>
            <a:off x="4419600" y="2603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0.842</a:t>
            </a:r>
          </a:p>
        </p:txBody>
      </p:sp>
      <p:sp>
        <p:nvSpPr>
          <p:cNvPr id="23" name="TextBox 22"/>
          <p:cNvSpPr txBox="1"/>
          <p:nvPr/>
        </p:nvSpPr>
        <p:spPr>
          <a:xfrm>
            <a:off x="5486400" y="2603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0.959</a:t>
            </a:r>
          </a:p>
        </p:txBody>
      </p:sp>
      <p:sp>
        <p:nvSpPr>
          <p:cNvPr id="24" name="TextBox 23"/>
          <p:cNvSpPr txBox="1"/>
          <p:nvPr/>
        </p:nvSpPr>
        <p:spPr>
          <a:xfrm>
            <a:off x="6819900" y="2603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0.685</a:t>
            </a:r>
          </a:p>
        </p:txBody>
      </p:sp>
      <p:sp>
        <p:nvSpPr>
          <p:cNvPr id="25" name="TextBox 24"/>
          <p:cNvSpPr txBox="1"/>
          <p:nvPr/>
        </p:nvSpPr>
        <p:spPr>
          <a:xfrm>
            <a:off x="78359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58.1%</a:t>
            </a:r>
          </a:p>
        </p:txBody>
      </p:sp>
      <p:sp>
        <p:nvSpPr>
          <p:cNvPr id="26" name="TextBox 25"/>
          <p:cNvSpPr txBox="1"/>
          <p:nvPr/>
        </p:nvSpPr>
        <p:spPr>
          <a:xfrm>
            <a:off x="91440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83.3%</a:t>
            </a:r>
          </a:p>
        </p:txBody>
      </p:sp>
      <p:sp>
        <p:nvSpPr>
          <p:cNvPr id="27" name="TextBox 26"/>
          <p:cNvSpPr txBox="1"/>
          <p:nvPr/>
        </p:nvSpPr>
        <p:spPr>
          <a:xfrm>
            <a:off x="104521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10.3%</a:t>
            </a:r>
          </a:p>
        </p:txBody>
      </p:sp>
      <p:cxnSp>
        <p:nvCxnSpPr>
          <p:cNvPr id="28" name="Connector 2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0861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31" name="TextBox 30"/>
          <p:cNvSpPr txBox="1"/>
          <p:nvPr/>
        </p:nvSpPr>
        <p:spPr>
          <a:xfrm>
            <a:off x="2844800" y="30861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Region / person</a:t>
            </a:r>
          </a:p>
        </p:txBody>
      </p:sp>
      <p:sp>
        <p:nvSpPr>
          <p:cNvPr id="32" name="TextBox 31"/>
          <p:cNvSpPr txBox="1"/>
          <p:nvPr/>
        </p:nvSpPr>
        <p:spPr>
          <a:xfrm>
            <a:off x="4419600" y="30861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0.908</a:t>
            </a:r>
          </a:p>
        </p:txBody>
      </p:sp>
      <p:sp>
        <p:nvSpPr>
          <p:cNvPr id="33" name="TextBox 32"/>
          <p:cNvSpPr txBox="1"/>
          <p:nvPr/>
        </p:nvSpPr>
        <p:spPr>
          <a:xfrm>
            <a:off x="5486400" y="30861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0.979</a:t>
            </a:r>
          </a:p>
        </p:txBody>
      </p:sp>
      <p:sp>
        <p:nvSpPr>
          <p:cNvPr id="34" name="TextBox 33"/>
          <p:cNvSpPr txBox="1"/>
          <p:nvPr/>
        </p:nvSpPr>
        <p:spPr>
          <a:xfrm>
            <a:off x="6819900" y="30861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0.852</a:t>
            </a:r>
          </a:p>
        </p:txBody>
      </p:sp>
      <p:sp>
        <p:nvSpPr>
          <p:cNvPr id="35" name="TextBox 34"/>
          <p:cNvSpPr txBox="1"/>
          <p:nvPr/>
        </p:nvSpPr>
        <p:spPr>
          <a:xfrm>
            <a:off x="78359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83.9%</a:t>
            </a:r>
          </a:p>
        </p:txBody>
      </p:sp>
      <p:sp>
        <p:nvSpPr>
          <p:cNvPr id="36" name="TextBox 35"/>
          <p:cNvSpPr txBox="1"/>
          <p:nvPr/>
        </p:nvSpPr>
        <p:spPr>
          <a:xfrm>
            <a:off x="91440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86.7%</a:t>
            </a:r>
          </a:p>
        </p:txBody>
      </p:sp>
      <p:sp>
        <p:nvSpPr>
          <p:cNvPr id="37" name="TextBox 36"/>
          <p:cNvSpPr txBox="1"/>
          <p:nvPr/>
        </p:nvSpPr>
        <p:spPr>
          <a:xfrm>
            <a:off x="104521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2.9%</a:t>
            </a:r>
          </a:p>
        </p:txBody>
      </p:sp>
      <p:cxnSp>
        <p:nvCxnSpPr>
          <p:cNvPr id="38" name="Connector 37"/>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5687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41" name="TextBox 40"/>
          <p:cNvSpPr txBox="1"/>
          <p:nvPr/>
        </p:nvSpPr>
        <p:spPr>
          <a:xfrm>
            <a:off x="2844800" y="35687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Sourcewise policy</a:t>
            </a:r>
          </a:p>
        </p:txBody>
      </p:sp>
      <p:sp>
        <p:nvSpPr>
          <p:cNvPr id="42" name="TextBox 41"/>
          <p:cNvSpPr txBox="1"/>
          <p:nvPr/>
        </p:nvSpPr>
        <p:spPr>
          <a:xfrm>
            <a:off x="4419600" y="35687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0.908</a:t>
            </a:r>
          </a:p>
        </p:txBody>
      </p:sp>
      <p:sp>
        <p:nvSpPr>
          <p:cNvPr id="43" name="TextBox 42"/>
          <p:cNvSpPr txBox="1"/>
          <p:nvPr/>
        </p:nvSpPr>
        <p:spPr>
          <a:xfrm>
            <a:off x="5486400" y="35687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0.979</a:t>
            </a:r>
          </a:p>
        </p:txBody>
      </p:sp>
      <p:sp>
        <p:nvSpPr>
          <p:cNvPr id="44" name="TextBox 43"/>
          <p:cNvSpPr txBox="1"/>
          <p:nvPr/>
        </p:nvSpPr>
        <p:spPr>
          <a:xfrm>
            <a:off x="6819900" y="35687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0.867</a:t>
            </a:r>
          </a:p>
        </p:txBody>
      </p:sp>
      <p:sp>
        <p:nvSpPr>
          <p:cNvPr id="45" name="TextBox 44"/>
          <p:cNvSpPr txBox="1"/>
          <p:nvPr/>
        </p:nvSpPr>
        <p:spPr>
          <a:xfrm>
            <a:off x="78359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86.7%</a:t>
            </a:r>
          </a:p>
        </p:txBody>
      </p:sp>
      <p:sp>
        <p:nvSpPr>
          <p:cNvPr id="46" name="TextBox 45"/>
          <p:cNvSpPr txBox="1"/>
          <p:nvPr/>
        </p:nvSpPr>
        <p:spPr>
          <a:xfrm>
            <a:off x="91440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86.7%</a:t>
            </a:r>
          </a:p>
        </p:txBody>
      </p:sp>
      <p:sp>
        <p:nvSpPr>
          <p:cNvPr id="47" name="TextBox 46"/>
          <p:cNvSpPr txBox="1"/>
          <p:nvPr/>
        </p:nvSpPr>
        <p:spPr>
          <a:xfrm>
            <a:off x="104521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2.3%</a:t>
            </a:r>
          </a:p>
        </p:txBody>
      </p:sp>
      <p:cxnSp>
        <p:nvCxnSpPr>
          <p:cNvPr id="48" name="Connector 4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0513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51" name="TextBox 50"/>
          <p:cNvSpPr txBox="1"/>
          <p:nvPr/>
        </p:nvSpPr>
        <p:spPr>
          <a:xfrm>
            <a:off x="2844800" y="40513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Scene probe</a:t>
            </a:r>
          </a:p>
        </p:txBody>
      </p:sp>
      <p:sp>
        <p:nvSpPr>
          <p:cNvPr id="52" name="TextBox 51"/>
          <p:cNvSpPr txBox="1"/>
          <p:nvPr/>
        </p:nvSpPr>
        <p:spPr>
          <a:xfrm>
            <a:off x="4419600" y="40513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0.888</a:t>
            </a:r>
          </a:p>
        </p:txBody>
      </p:sp>
      <p:sp>
        <p:nvSpPr>
          <p:cNvPr id="53" name="TextBox 52"/>
          <p:cNvSpPr txBox="1"/>
          <p:nvPr/>
        </p:nvSpPr>
        <p:spPr>
          <a:xfrm>
            <a:off x="5486400" y="40513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0.972</a:t>
            </a:r>
          </a:p>
        </p:txBody>
      </p:sp>
      <p:sp>
        <p:nvSpPr>
          <p:cNvPr id="54" name="TextBox 53"/>
          <p:cNvSpPr txBox="1"/>
          <p:nvPr/>
        </p:nvSpPr>
        <p:spPr>
          <a:xfrm>
            <a:off x="6819900" y="40513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0.750</a:t>
            </a:r>
          </a:p>
        </p:txBody>
      </p:sp>
      <p:sp>
        <p:nvSpPr>
          <p:cNvPr id="55" name="TextBox 54"/>
          <p:cNvSpPr txBox="1"/>
          <p:nvPr/>
        </p:nvSpPr>
        <p:spPr>
          <a:xfrm>
            <a:off x="78359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70.6%</a:t>
            </a:r>
          </a:p>
        </p:txBody>
      </p:sp>
      <p:sp>
        <p:nvSpPr>
          <p:cNvPr id="56" name="TextBox 55"/>
          <p:cNvSpPr txBox="1"/>
          <p:nvPr/>
        </p:nvSpPr>
        <p:spPr>
          <a:xfrm>
            <a:off x="91440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80.0%</a:t>
            </a:r>
          </a:p>
        </p:txBody>
      </p:sp>
      <p:sp>
        <p:nvSpPr>
          <p:cNvPr id="57" name="TextBox 56"/>
          <p:cNvSpPr txBox="1"/>
          <p:nvPr/>
        </p:nvSpPr>
        <p:spPr>
          <a:xfrm>
            <a:off x="104521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5.7%</a:t>
            </a:r>
          </a:p>
        </p:txBody>
      </p:sp>
      <p:cxnSp>
        <p:nvCxnSpPr>
          <p:cNvPr id="58" name="Connector 5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000" y="45339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61" name="TextBox 60"/>
          <p:cNvSpPr txBox="1"/>
          <p:nvPr/>
        </p:nvSpPr>
        <p:spPr>
          <a:xfrm>
            <a:off x="2844800" y="45339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Region / person</a:t>
            </a:r>
          </a:p>
        </p:txBody>
      </p:sp>
      <p:sp>
        <p:nvSpPr>
          <p:cNvPr id="62" name="TextBox 61"/>
          <p:cNvSpPr txBox="1"/>
          <p:nvPr/>
        </p:nvSpPr>
        <p:spPr>
          <a:xfrm>
            <a:off x="4419600" y="45339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0.778</a:t>
            </a:r>
          </a:p>
        </p:txBody>
      </p:sp>
      <p:sp>
        <p:nvSpPr>
          <p:cNvPr id="63" name="TextBox 62"/>
          <p:cNvSpPr txBox="1"/>
          <p:nvPr/>
        </p:nvSpPr>
        <p:spPr>
          <a:xfrm>
            <a:off x="5486400" y="45339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0.874</a:t>
            </a:r>
          </a:p>
        </p:txBody>
      </p:sp>
      <p:sp>
        <p:nvSpPr>
          <p:cNvPr id="64" name="TextBox 63"/>
          <p:cNvSpPr txBox="1"/>
          <p:nvPr/>
        </p:nvSpPr>
        <p:spPr>
          <a:xfrm>
            <a:off x="6819900" y="45339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0.755</a:t>
            </a:r>
          </a:p>
        </p:txBody>
      </p:sp>
      <p:sp>
        <p:nvSpPr>
          <p:cNvPr id="65" name="TextBox 64"/>
          <p:cNvSpPr txBox="1"/>
          <p:nvPr/>
        </p:nvSpPr>
        <p:spPr>
          <a:xfrm>
            <a:off x="78359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87.0%</a:t>
            </a:r>
          </a:p>
        </p:txBody>
      </p:sp>
      <p:sp>
        <p:nvSpPr>
          <p:cNvPr id="66" name="TextBox 65"/>
          <p:cNvSpPr txBox="1"/>
          <p:nvPr/>
        </p:nvSpPr>
        <p:spPr>
          <a:xfrm>
            <a:off x="91440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66.7%</a:t>
            </a:r>
          </a:p>
        </p:txBody>
      </p:sp>
      <p:sp>
        <p:nvSpPr>
          <p:cNvPr id="67" name="TextBox 66"/>
          <p:cNvSpPr txBox="1"/>
          <p:nvPr/>
        </p:nvSpPr>
        <p:spPr>
          <a:xfrm>
            <a:off x="104521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1.7%</a:t>
            </a:r>
          </a:p>
        </p:txBody>
      </p:sp>
      <p:cxnSp>
        <p:nvCxnSpPr>
          <p:cNvPr id="68" name="Connector 6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000" y="5016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71" name="TextBox 70"/>
          <p:cNvSpPr txBox="1"/>
          <p:nvPr/>
        </p:nvSpPr>
        <p:spPr>
          <a:xfrm>
            <a:off x="2844800" y="5016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Sourcewise policy</a:t>
            </a:r>
          </a:p>
        </p:txBody>
      </p:sp>
      <p:sp>
        <p:nvSpPr>
          <p:cNvPr id="72" name="TextBox 71"/>
          <p:cNvSpPr txBox="1"/>
          <p:nvPr/>
        </p:nvSpPr>
        <p:spPr>
          <a:xfrm>
            <a:off x="4419600" y="5016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0.964</a:t>
            </a:r>
          </a:p>
        </p:txBody>
      </p:sp>
      <p:sp>
        <p:nvSpPr>
          <p:cNvPr id="73" name="TextBox 72"/>
          <p:cNvSpPr txBox="1"/>
          <p:nvPr/>
        </p:nvSpPr>
        <p:spPr>
          <a:xfrm>
            <a:off x="5486400" y="5016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0.994</a:t>
            </a:r>
          </a:p>
        </p:txBody>
      </p:sp>
      <p:sp>
        <p:nvSpPr>
          <p:cNvPr id="74" name="TextBox 73"/>
          <p:cNvSpPr txBox="1"/>
          <p:nvPr/>
        </p:nvSpPr>
        <p:spPr>
          <a:xfrm>
            <a:off x="6819900" y="5016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0.821</a:t>
            </a:r>
          </a:p>
        </p:txBody>
      </p:sp>
      <p:sp>
        <p:nvSpPr>
          <p:cNvPr id="75" name="TextBox 74"/>
          <p:cNvSpPr txBox="1"/>
          <p:nvPr/>
        </p:nvSpPr>
        <p:spPr>
          <a:xfrm>
            <a:off x="78359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88.5%</a:t>
            </a:r>
          </a:p>
        </p:txBody>
      </p:sp>
      <p:sp>
        <p:nvSpPr>
          <p:cNvPr id="76" name="TextBox 75"/>
          <p:cNvSpPr txBox="1"/>
          <p:nvPr/>
        </p:nvSpPr>
        <p:spPr>
          <a:xfrm>
            <a:off x="91440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76.7%</a:t>
            </a:r>
          </a:p>
        </p:txBody>
      </p:sp>
      <p:sp>
        <p:nvSpPr>
          <p:cNvPr id="77" name="TextBox 76"/>
          <p:cNvSpPr txBox="1"/>
          <p:nvPr/>
        </p:nvSpPr>
        <p:spPr>
          <a:xfrm>
            <a:off x="104521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1.7%</a:t>
            </a:r>
          </a:p>
        </p:txBody>
      </p:sp>
      <p:cxnSp>
        <p:nvCxnSpPr>
          <p:cNvPr id="78" name="Connector 77"/>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Later policies change selection/calibration; the three rows do not isolate only a larger neural network.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TRAINING / SOURCE-DATA ABLATION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20 October: old-only, new-only and mixed training</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740 new scripted-action clips • no new visual-backbone or SmolVLM weight training</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41</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273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Setting</a:t>
            </a:r>
          </a:p>
        </p:txBody>
      </p:sp>
      <p:sp>
        <p:nvSpPr>
          <p:cNvPr id="12" name="TextBox 11"/>
          <p:cNvSpPr txBox="1"/>
          <p:nvPr/>
        </p:nvSpPr>
        <p:spPr>
          <a:xfrm>
            <a:off x="3111500" y="2171700"/>
            <a:ext cx="84455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Frozen experimental design</a:t>
            </a:r>
          </a:p>
        </p:txBody>
      </p:sp>
      <p:sp>
        <p:nvSpPr>
          <p:cNvPr id="13" name="Rectangle 12"/>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000" y="2603500"/>
            <a:ext cx="22733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New labels</a:t>
            </a:r>
          </a:p>
        </p:txBody>
      </p:sp>
      <p:sp>
        <p:nvSpPr>
          <p:cNvPr id="15" name="TextBox 14"/>
          <p:cNvSpPr txBox="1"/>
          <p:nvPr/>
        </p:nvSpPr>
        <p:spPr>
          <a:xfrm>
            <a:off x="3111500" y="2603500"/>
            <a:ext cx="84455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Smoking gesture vs drinking/eating/phone; masked actors; no cigarette confirmation</a:t>
            </a:r>
          </a:p>
        </p:txBody>
      </p:sp>
      <p:cxnSp>
        <p:nvCxnSpPr>
          <p:cNvPr id="16" name="Connector 15"/>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000" y="3086100"/>
            <a:ext cx="22733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Source split</a:t>
            </a:r>
          </a:p>
        </p:txBody>
      </p:sp>
      <p:sp>
        <p:nvSpPr>
          <p:cNvPr id="19" name="TextBox 18"/>
          <p:cNvSpPr txBox="1"/>
          <p:nvPr/>
        </p:nvSpPr>
        <p:spPr>
          <a:xfrm>
            <a:off x="3111500" y="3086100"/>
            <a:ext cx="84455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Train340/dev160/test240; scene blocks and numeric subject aliases disjoint</a:t>
            </a:r>
          </a:p>
        </p:txBody>
      </p:sp>
      <p:cxnSp>
        <p:nvCxnSpPr>
          <p:cNvPr id="20" name="Connector 19"/>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000" y="3568700"/>
            <a:ext cx="22733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Classifier families</a:t>
            </a:r>
          </a:p>
        </p:txBody>
      </p:sp>
      <p:sp>
        <p:nvSpPr>
          <p:cNvPr id="23" name="TextBox 22"/>
          <p:cNvSpPr txBox="1"/>
          <p:nvPr/>
        </p:nvSpPr>
        <p:spPr>
          <a:xfrm>
            <a:off x="3111500" y="3568700"/>
            <a:ext cx="84455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Old-only2,812/new-only340/mixed3,152 training examples</a:t>
            </a:r>
          </a:p>
        </p:txBody>
      </p:sp>
      <p:cxnSp>
        <p:nvCxnSpPr>
          <p:cNvPr id="24" name="Connector 23"/>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000" y="4051300"/>
            <a:ext cx="22733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Candidate budget</a:t>
            </a:r>
          </a:p>
        </p:txBody>
      </p:sp>
      <p:sp>
        <p:nvSpPr>
          <p:cNvPr id="27" name="TextBox 26"/>
          <p:cNvSpPr txBox="1"/>
          <p:nvPr/>
        </p:nvSpPr>
        <p:spPr>
          <a:xfrm>
            <a:off x="3111500" y="4051300"/>
            <a:ext cx="84455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2encoders ×3families ×2full/crop recipes ×3C values =36logistic fits</a:t>
            </a:r>
          </a:p>
        </p:txBody>
      </p:sp>
      <p:cxnSp>
        <p:nvCxnSpPr>
          <p:cNvPr id="28" name="Connector 2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4533900"/>
            <a:ext cx="22733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Selection and views</a:t>
            </a:r>
          </a:p>
        </p:txBody>
      </p:sp>
      <p:sp>
        <p:nvSpPr>
          <p:cNvPr id="31" name="TextBox 30"/>
          <p:cNvSpPr txBox="1"/>
          <p:nvPr/>
        </p:nvSpPr>
        <p:spPr>
          <a:xfrm>
            <a:off x="3111500" y="4533900"/>
            <a:ext cx="84455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Same1,474 dev cases; worst-source recall at every-source≤5% FPR; 16newviews</a:t>
            </a:r>
          </a:p>
        </p:txBody>
      </p:sp>
      <p:cxnSp>
        <p:nvCxnSpPr>
          <p:cNvPr id="32" name="Connector 31"/>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000" y="5016500"/>
            <a:ext cx="22733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Held-out scope</a:t>
            </a:r>
          </a:p>
        </p:txBody>
      </p:sp>
      <p:sp>
        <p:nvSpPr>
          <p:cNvPr id="35" name="TextBox 34"/>
          <p:cNvSpPr txBox="1"/>
          <p:nvPr/>
        </p:nvSpPr>
        <p:spPr>
          <a:xfrm>
            <a:off x="3111500" y="5016500"/>
            <a:ext cx="84455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1,916cases per encoder:historical1,676 + new proxy240</a:t>
            </a:r>
          </a:p>
        </p:txBody>
      </p:sp>
      <p:cxnSp>
        <p:nvCxnSpPr>
          <p:cNvPr id="36" name="Connector 35"/>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More source data is tested as weak supervision. Scene4 has only three held-out subject groups.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Data-addition outcome: Historical CCTV</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Frozen per-family development selection • every-source budget cutoff • same source cohort in all rows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42</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21" name="TextBox 20"/>
          <p:cNvSpPr txBox="1"/>
          <p:nvPr/>
        </p:nvSpPr>
        <p:spPr>
          <a:xfrm>
            <a:off x="2844800" y="2603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old only</a:t>
            </a:r>
          </a:p>
        </p:txBody>
      </p:sp>
      <p:sp>
        <p:nvSpPr>
          <p:cNvPr id="22" name="TextBox 21"/>
          <p:cNvSpPr txBox="1"/>
          <p:nvPr/>
        </p:nvSpPr>
        <p:spPr>
          <a:xfrm>
            <a:off x="4419600" y="2603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0.694</a:t>
            </a:r>
          </a:p>
        </p:txBody>
      </p:sp>
      <p:sp>
        <p:nvSpPr>
          <p:cNvPr id="23" name="TextBox 22"/>
          <p:cNvSpPr txBox="1"/>
          <p:nvPr/>
        </p:nvSpPr>
        <p:spPr>
          <a:xfrm>
            <a:off x="5486400" y="2603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0.599</a:t>
            </a:r>
          </a:p>
        </p:txBody>
      </p:sp>
      <p:sp>
        <p:nvSpPr>
          <p:cNvPr id="24" name="TextBox 23"/>
          <p:cNvSpPr txBox="1"/>
          <p:nvPr/>
        </p:nvSpPr>
        <p:spPr>
          <a:xfrm>
            <a:off x="6819900" y="2603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0.179</a:t>
            </a:r>
          </a:p>
        </p:txBody>
      </p:sp>
      <p:sp>
        <p:nvSpPr>
          <p:cNvPr id="25" name="TextBox 24"/>
          <p:cNvSpPr txBox="1"/>
          <p:nvPr/>
        </p:nvSpPr>
        <p:spPr>
          <a:xfrm>
            <a:off x="78359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74.1%</a:t>
            </a:r>
          </a:p>
        </p:txBody>
      </p:sp>
      <p:sp>
        <p:nvSpPr>
          <p:cNvPr id="26" name="TextBox 25"/>
          <p:cNvSpPr txBox="1"/>
          <p:nvPr/>
        </p:nvSpPr>
        <p:spPr>
          <a:xfrm>
            <a:off x="91440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10.2%</a:t>
            </a:r>
          </a:p>
        </p:txBody>
      </p:sp>
      <p:sp>
        <p:nvSpPr>
          <p:cNvPr id="27" name="TextBox 26"/>
          <p:cNvSpPr txBox="1"/>
          <p:nvPr/>
        </p:nvSpPr>
        <p:spPr>
          <a:xfrm>
            <a:off x="104521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5.5%</a:t>
            </a:r>
          </a:p>
        </p:txBody>
      </p:sp>
      <p:cxnSp>
        <p:nvCxnSpPr>
          <p:cNvPr id="28" name="Connector 2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0861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31" name="TextBox 30"/>
          <p:cNvSpPr txBox="1"/>
          <p:nvPr/>
        </p:nvSpPr>
        <p:spPr>
          <a:xfrm>
            <a:off x="2844800" y="30861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new only</a:t>
            </a:r>
          </a:p>
        </p:txBody>
      </p:sp>
      <p:sp>
        <p:nvSpPr>
          <p:cNvPr id="32" name="TextBox 31"/>
          <p:cNvSpPr txBox="1"/>
          <p:nvPr/>
        </p:nvSpPr>
        <p:spPr>
          <a:xfrm>
            <a:off x="4419600" y="30861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0.610</a:t>
            </a:r>
          </a:p>
        </p:txBody>
      </p:sp>
      <p:sp>
        <p:nvSpPr>
          <p:cNvPr id="33" name="TextBox 32"/>
          <p:cNvSpPr txBox="1"/>
          <p:nvPr/>
        </p:nvSpPr>
        <p:spPr>
          <a:xfrm>
            <a:off x="5486400" y="30861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0.512</a:t>
            </a:r>
          </a:p>
        </p:txBody>
      </p:sp>
      <p:sp>
        <p:nvSpPr>
          <p:cNvPr id="34" name="TextBox 33"/>
          <p:cNvSpPr txBox="1"/>
          <p:nvPr/>
        </p:nvSpPr>
        <p:spPr>
          <a:xfrm>
            <a:off x="6819900" y="30861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0.000</a:t>
            </a:r>
          </a:p>
        </p:txBody>
      </p:sp>
      <p:sp>
        <p:nvSpPr>
          <p:cNvPr id="35" name="TextBox 34"/>
          <p:cNvSpPr txBox="1"/>
          <p:nvPr/>
        </p:nvSpPr>
        <p:spPr>
          <a:xfrm>
            <a:off x="78359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36" name="TextBox 35"/>
          <p:cNvSpPr txBox="1"/>
          <p:nvPr/>
        </p:nvSpPr>
        <p:spPr>
          <a:xfrm>
            <a:off x="91440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37" name="TextBox 36"/>
          <p:cNvSpPr txBox="1"/>
          <p:nvPr/>
        </p:nvSpPr>
        <p:spPr>
          <a:xfrm>
            <a:off x="104521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38" name="Connector 37"/>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5687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41" name="TextBox 40"/>
          <p:cNvSpPr txBox="1"/>
          <p:nvPr/>
        </p:nvSpPr>
        <p:spPr>
          <a:xfrm>
            <a:off x="2844800" y="35687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mixed</a:t>
            </a:r>
          </a:p>
        </p:txBody>
      </p:sp>
      <p:sp>
        <p:nvSpPr>
          <p:cNvPr id="42" name="TextBox 41"/>
          <p:cNvSpPr txBox="1"/>
          <p:nvPr/>
        </p:nvSpPr>
        <p:spPr>
          <a:xfrm>
            <a:off x="4419600" y="35687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0.567</a:t>
            </a:r>
          </a:p>
        </p:txBody>
      </p:sp>
      <p:sp>
        <p:nvSpPr>
          <p:cNvPr id="43" name="TextBox 42"/>
          <p:cNvSpPr txBox="1"/>
          <p:nvPr/>
        </p:nvSpPr>
        <p:spPr>
          <a:xfrm>
            <a:off x="5486400" y="35687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0.417</a:t>
            </a:r>
          </a:p>
        </p:txBody>
      </p:sp>
      <p:sp>
        <p:nvSpPr>
          <p:cNvPr id="44" name="TextBox 43"/>
          <p:cNvSpPr txBox="1"/>
          <p:nvPr/>
        </p:nvSpPr>
        <p:spPr>
          <a:xfrm>
            <a:off x="6819900" y="35687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0.200</a:t>
            </a:r>
          </a:p>
        </p:txBody>
      </p:sp>
      <p:sp>
        <p:nvSpPr>
          <p:cNvPr id="45" name="TextBox 44"/>
          <p:cNvSpPr txBox="1"/>
          <p:nvPr/>
        </p:nvSpPr>
        <p:spPr>
          <a:xfrm>
            <a:off x="78359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54.5%</a:t>
            </a:r>
          </a:p>
        </p:txBody>
      </p:sp>
      <p:sp>
        <p:nvSpPr>
          <p:cNvPr id="46" name="TextBox 45"/>
          <p:cNvSpPr txBox="1"/>
          <p:nvPr/>
        </p:nvSpPr>
        <p:spPr>
          <a:xfrm>
            <a:off x="91440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12.2%</a:t>
            </a:r>
          </a:p>
        </p:txBody>
      </p:sp>
      <p:sp>
        <p:nvSpPr>
          <p:cNvPr id="47" name="TextBox 46"/>
          <p:cNvSpPr txBox="1"/>
          <p:nvPr/>
        </p:nvSpPr>
        <p:spPr>
          <a:xfrm>
            <a:off x="104521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15.8%</a:t>
            </a:r>
          </a:p>
        </p:txBody>
      </p:sp>
      <p:cxnSp>
        <p:nvCxnSpPr>
          <p:cNvPr id="48" name="Connector 4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0513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51" name="TextBox 50"/>
          <p:cNvSpPr txBox="1"/>
          <p:nvPr/>
        </p:nvSpPr>
        <p:spPr>
          <a:xfrm>
            <a:off x="2844800" y="40513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old only</a:t>
            </a:r>
          </a:p>
        </p:txBody>
      </p:sp>
      <p:sp>
        <p:nvSpPr>
          <p:cNvPr id="52" name="TextBox 51"/>
          <p:cNvSpPr txBox="1"/>
          <p:nvPr/>
        </p:nvSpPr>
        <p:spPr>
          <a:xfrm>
            <a:off x="4419600" y="40513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0.731</a:t>
            </a:r>
          </a:p>
        </p:txBody>
      </p:sp>
      <p:sp>
        <p:nvSpPr>
          <p:cNvPr id="53" name="TextBox 52"/>
          <p:cNvSpPr txBox="1"/>
          <p:nvPr/>
        </p:nvSpPr>
        <p:spPr>
          <a:xfrm>
            <a:off x="5486400" y="40513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0.655</a:t>
            </a:r>
          </a:p>
        </p:txBody>
      </p:sp>
      <p:sp>
        <p:nvSpPr>
          <p:cNvPr id="54" name="TextBox 53"/>
          <p:cNvSpPr txBox="1"/>
          <p:nvPr/>
        </p:nvSpPr>
        <p:spPr>
          <a:xfrm>
            <a:off x="6819900" y="40513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0.160</a:t>
            </a:r>
          </a:p>
        </p:txBody>
      </p:sp>
      <p:sp>
        <p:nvSpPr>
          <p:cNvPr id="55" name="TextBox 54"/>
          <p:cNvSpPr txBox="1"/>
          <p:nvPr/>
        </p:nvSpPr>
        <p:spPr>
          <a:xfrm>
            <a:off x="78359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77.8%</a:t>
            </a:r>
          </a:p>
        </p:txBody>
      </p:sp>
      <p:sp>
        <p:nvSpPr>
          <p:cNvPr id="56" name="TextBox 55"/>
          <p:cNvSpPr txBox="1"/>
          <p:nvPr/>
        </p:nvSpPr>
        <p:spPr>
          <a:xfrm>
            <a:off x="91440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8.9%</a:t>
            </a:r>
          </a:p>
        </p:txBody>
      </p:sp>
      <p:sp>
        <p:nvSpPr>
          <p:cNvPr id="57" name="TextBox 56"/>
          <p:cNvSpPr txBox="1"/>
          <p:nvPr/>
        </p:nvSpPr>
        <p:spPr>
          <a:xfrm>
            <a:off x="104521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4.0%</a:t>
            </a:r>
          </a:p>
        </p:txBody>
      </p:sp>
      <p:cxnSp>
        <p:nvCxnSpPr>
          <p:cNvPr id="58" name="Connector 5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000" y="45339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61" name="TextBox 60"/>
          <p:cNvSpPr txBox="1"/>
          <p:nvPr/>
        </p:nvSpPr>
        <p:spPr>
          <a:xfrm>
            <a:off x="2844800" y="45339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new only</a:t>
            </a:r>
          </a:p>
        </p:txBody>
      </p:sp>
      <p:sp>
        <p:nvSpPr>
          <p:cNvPr id="62" name="TextBox 61"/>
          <p:cNvSpPr txBox="1"/>
          <p:nvPr/>
        </p:nvSpPr>
        <p:spPr>
          <a:xfrm>
            <a:off x="4419600" y="45339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0.563</a:t>
            </a:r>
          </a:p>
        </p:txBody>
      </p:sp>
      <p:sp>
        <p:nvSpPr>
          <p:cNvPr id="63" name="TextBox 62"/>
          <p:cNvSpPr txBox="1"/>
          <p:nvPr/>
        </p:nvSpPr>
        <p:spPr>
          <a:xfrm>
            <a:off x="5486400" y="45339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0.446</a:t>
            </a:r>
          </a:p>
        </p:txBody>
      </p:sp>
      <p:sp>
        <p:nvSpPr>
          <p:cNvPr id="64" name="TextBox 63"/>
          <p:cNvSpPr txBox="1"/>
          <p:nvPr/>
        </p:nvSpPr>
        <p:spPr>
          <a:xfrm>
            <a:off x="6819900" y="45339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0.000</a:t>
            </a:r>
          </a:p>
        </p:txBody>
      </p:sp>
      <p:sp>
        <p:nvSpPr>
          <p:cNvPr id="65" name="TextBox 64"/>
          <p:cNvSpPr txBox="1"/>
          <p:nvPr/>
        </p:nvSpPr>
        <p:spPr>
          <a:xfrm>
            <a:off x="78359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66" name="TextBox 65"/>
          <p:cNvSpPr txBox="1"/>
          <p:nvPr/>
        </p:nvSpPr>
        <p:spPr>
          <a:xfrm>
            <a:off x="91440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67" name="TextBox 66"/>
          <p:cNvSpPr txBox="1"/>
          <p:nvPr/>
        </p:nvSpPr>
        <p:spPr>
          <a:xfrm>
            <a:off x="104521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a:t>
            </a:r>
          </a:p>
        </p:txBody>
      </p:sp>
      <p:cxnSp>
        <p:nvCxnSpPr>
          <p:cNvPr id="68" name="Connector 6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000" y="5016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71" name="TextBox 70"/>
          <p:cNvSpPr txBox="1"/>
          <p:nvPr/>
        </p:nvSpPr>
        <p:spPr>
          <a:xfrm>
            <a:off x="2844800" y="5016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mixed</a:t>
            </a:r>
          </a:p>
        </p:txBody>
      </p:sp>
      <p:sp>
        <p:nvSpPr>
          <p:cNvPr id="72" name="TextBox 71"/>
          <p:cNvSpPr txBox="1"/>
          <p:nvPr/>
        </p:nvSpPr>
        <p:spPr>
          <a:xfrm>
            <a:off x="4419600" y="5016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0.623</a:t>
            </a:r>
          </a:p>
        </p:txBody>
      </p:sp>
      <p:sp>
        <p:nvSpPr>
          <p:cNvPr id="73" name="TextBox 72"/>
          <p:cNvSpPr txBox="1"/>
          <p:nvPr/>
        </p:nvSpPr>
        <p:spPr>
          <a:xfrm>
            <a:off x="5486400" y="5016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0.528</a:t>
            </a:r>
          </a:p>
        </p:txBody>
      </p:sp>
      <p:sp>
        <p:nvSpPr>
          <p:cNvPr id="74" name="TextBox 73"/>
          <p:cNvSpPr txBox="1"/>
          <p:nvPr/>
        </p:nvSpPr>
        <p:spPr>
          <a:xfrm>
            <a:off x="6819900" y="5016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0.460</a:t>
            </a:r>
          </a:p>
        </p:txBody>
      </p:sp>
      <p:sp>
        <p:nvSpPr>
          <p:cNvPr id="75" name="TextBox 74"/>
          <p:cNvSpPr txBox="1"/>
          <p:nvPr/>
        </p:nvSpPr>
        <p:spPr>
          <a:xfrm>
            <a:off x="78359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60.9%</a:t>
            </a:r>
          </a:p>
        </p:txBody>
      </p:sp>
      <p:sp>
        <p:nvSpPr>
          <p:cNvPr id="76" name="TextBox 75"/>
          <p:cNvSpPr txBox="1"/>
          <p:nvPr/>
        </p:nvSpPr>
        <p:spPr>
          <a:xfrm>
            <a:off x="91440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36.9%</a:t>
            </a:r>
          </a:p>
        </p:txBody>
      </p:sp>
      <p:sp>
        <p:nvSpPr>
          <p:cNvPr id="77" name="TextBox 76"/>
          <p:cNvSpPr txBox="1"/>
          <p:nvPr/>
        </p:nvSpPr>
        <p:spPr>
          <a:xfrm>
            <a:off x="104521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36.8%</a:t>
            </a:r>
          </a:p>
        </p:txBody>
      </p:sp>
      <p:cxnSp>
        <p:nvCxnSpPr>
          <p:cNvPr id="78" name="Connector 77"/>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SigLIP improves proxy AP but loses CCTV ranking and normal rejection; no new model is promoted.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Data-addition outcome: New action proxy</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Frozen per-family development selection • every-source budget cutoff • same source cohort in all rows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43</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21" name="TextBox 20"/>
          <p:cNvSpPr txBox="1"/>
          <p:nvPr/>
        </p:nvSpPr>
        <p:spPr>
          <a:xfrm>
            <a:off x="2844800" y="2603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old only</a:t>
            </a:r>
          </a:p>
        </p:txBody>
      </p:sp>
      <p:sp>
        <p:nvSpPr>
          <p:cNvPr id="22" name="TextBox 21"/>
          <p:cNvSpPr txBox="1"/>
          <p:nvPr/>
        </p:nvSpPr>
        <p:spPr>
          <a:xfrm>
            <a:off x="4419600" y="2603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0.498</a:t>
            </a:r>
          </a:p>
        </p:txBody>
      </p:sp>
      <p:sp>
        <p:nvSpPr>
          <p:cNvPr id="23" name="TextBox 22"/>
          <p:cNvSpPr txBox="1"/>
          <p:nvPr/>
        </p:nvSpPr>
        <p:spPr>
          <a:xfrm>
            <a:off x="5486400" y="2603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0.783</a:t>
            </a:r>
          </a:p>
        </p:txBody>
      </p:sp>
      <p:sp>
        <p:nvSpPr>
          <p:cNvPr id="24" name="TextBox 23"/>
          <p:cNvSpPr txBox="1"/>
          <p:nvPr/>
        </p:nvSpPr>
        <p:spPr>
          <a:xfrm>
            <a:off x="6819900" y="2603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0.000</a:t>
            </a:r>
          </a:p>
        </p:txBody>
      </p:sp>
      <p:sp>
        <p:nvSpPr>
          <p:cNvPr id="25" name="TextBox 24"/>
          <p:cNvSpPr txBox="1"/>
          <p:nvPr/>
        </p:nvSpPr>
        <p:spPr>
          <a:xfrm>
            <a:off x="78359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26" name="TextBox 25"/>
          <p:cNvSpPr txBox="1"/>
          <p:nvPr/>
        </p:nvSpPr>
        <p:spPr>
          <a:xfrm>
            <a:off x="91440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27" name="TextBox 26"/>
          <p:cNvSpPr txBox="1"/>
          <p:nvPr/>
        </p:nvSpPr>
        <p:spPr>
          <a:xfrm>
            <a:off x="10452100" y="2603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28" name="Connector 27"/>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0480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0861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31" name="TextBox 30"/>
          <p:cNvSpPr txBox="1"/>
          <p:nvPr/>
        </p:nvSpPr>
        <p:spPr>
          <a:xfrm>
            <a:off x="2844800" y="30861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new only</a:t>
            </a:r>
          </a:p>
        </p:txBody>
      </p:sp>
      <p:sp>
        <p:nvSpPr>
          <p:cNvPr id="32" name="TextBox 31"/>
          <p:cNvSpPr txBox="1"/>
          <p:nvPr/>
        </p:nvSpPr>
        <p:spPr>
          <a:xfrm>
            <a:off x="4419600" y="30861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0.455</a:t>
            </a:r>
          </a:p>
        </p:txBody>
      </p:sp>
      <p:sp>
        <p:nvSpPr>
          <p:cNvPr id="33" name="TextBox 32"/>
          <p:cNvSpPr txBox="1"/>
          <p:nvPr/>
        </p:nvSpPr>
        <p:spPr>
          <a:xfrm>
            <a:off x="5486400" y="30861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0.829</a:t>
            </a:r>
          </a:p>
        </p:txBody>
      </p:sp>
      <p:sp>
        <p:nvSpPr>
          <p:cNvPr id="34" name="TextBox 33"/>
          <p:cNvSpPr txBox="1"/>
          <p:nvPr/>
        </p:nvSpPr>
        <p:spPr>
          <a:xfrm>
            <a:off x="6819900" y="30861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0.000</a:t>
            </a:r>
          </a:p>
        </p:txBody>
      </p:sp>
      <p:sp>
        <p:nvSpPr>
          <p:cNvPr id="35" name="TextBox 34"/>
          <p:cNvSpPr txBox="1"/>
          <p:nvPr/>
        </p:nvSpPr>
        <p:spPr>
          <a:xfrm>
            <a:off x="78359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36" name="TextBox 35"/>
          <p:cNvSpPr txBox="1"/>
          <p:nvPr/>
        </p:nvSpPr>
        <p:spPr>
          <a:xfrm>
            <a:off x="91440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37" name="TextBox 36"/>
          <p:cNvSpPr txBox="1"/>
          <p:nvPr/>
        </p:nvSpPr>
        <p:spPr>
          <a:xfrm>
            <a:off x="10452100" y="30861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38" name="Connector 37"/>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5306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5687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MobileCLIP</a:t>
            </a:r>
          </a:p>
        </p:txBody>
      </p:sp>
      <p:sp>
        <p:nvSpPr>
          <p:cNvPr id="41" name="TextBox 40"/>
          <p:cNvSpPr txBox="1"/>
          <p:nvPr/>
        </p:nvSpPr>
        <p:spPr>
          <a:xfrm>
            <a:off x="2844800" y="35687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mixed</a:t>
            </a:r>
          </a:p>
        </p:txBody>
      </p:sp>
      <p:sp>
        <p:nvSpPr>
          <p:cNvPr id="42" name="TextBox 41"/>
          <p:cNvSpPr txBox="1"/>
          <p:nvPr/>
        </p:nvSpPr>
        <p:spPr>
          <a:xfrm>
            <a:off x="4419600" y="35687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0.503</a:t>
            </a:r>
          </a:p>
        </p:txBody>
      </p:sp>
      <p:sp>
        <p:nvSpPr>
          <p:cNvPr id="43" name="TextBox 42"/>
          <p:cNvSpPr txBox="1"/>
          <p:nvPr/>
        </p:nvSpPr>
        <p:spPr>
          <a:xfrm>
            <a:off x="5486400" y="35687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0.860</a:t>
            </a:r>
          </a:p>
        </p:txBody>
      </p:sp>
      <p:sp>
        <p:nvSpPr>
          <p:cNvPr id="44" name="TextBox 43"/>
          <p:cNvSpPr txBox="1"/>
          <p:nvPr/>
        </p:nvSpPr>
        <p:spPr>
          <a:xfrm>
            <a:off x="6819900" y="35687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0.000</a:t>
            </a:r>
          </a:p>
        </p:txBody>
      </p:sp>
      <p:sp>
        <p:nvSpPr>
          <p:cNvPr id="45" name="TextBox 44"/>
          <p:cNvSpPr txBox="1"/>
          <p:nvPr/>
        </p:nvSpPr>
        <p:spPr>
          <a:xfrm>
            <a:off x="78359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46" name="TextBox 45"/>
          <p:cNvSpPr txBox="1"/>
          <p:nvPr/>
        </p:nvSpPr>
        <p:spPr>
          <a:xfrm>
            <a:off x="91440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47" name="TextBox 46"/>
          <p:cNvSpPr txBox="1"/>
          <p:nvPr/>
        </p:nvSpPr>
        <p:spPr>
          <a:xfrm>
            <a:off x="10452100" y="35687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11.1%</a:t>
            </a:r>
          </a:p>
        </p:txBody>
      </p:sp>
      <p:cxnSp>
        <p:nvCxnSpPr>
          <p:cNvPr id="48" name="Connector 47"/>
          <p:cNvCxnSpPr/>
          <p:nvPr/>
        </p:nvCxnSpPr>
        <p:spPr>
          <a:xfrm>
            <a:off x="533400" y="4013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0132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0513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51" name="TextBox 50"/>
          <p:cNvSpPr txBox="1"/>
          <p:nvPr/>
        </p:nvSpPr>
        <p:spPr>
          <a:xfrm>
            <a:off x="2844800" y="40513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old only</a:t>
            </a:r>
          </a:p>
        </p:txBody>
      </p:sp>
      <p:sp>
        <p:nvSpPr>
          <p:cNvPr id="52" name="TextBox 51"/>
          <p:cNvSpPr txBox="1"/>
          <p:nvPr/>
        </p:nvSpPr>
        <p:spPr>
          <a:xfrm>
            <a:off x="4419600" y="40513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0.357</a:t>
            </a:r>
          </a:p>
        </p:txBody>
      </p:sp>
      <p:sp>
        <p:nvSpPr>
          <p:cNvPr id="53" name="TextBox 52"/>
          <p:cNvSpPr txBox="1"/>
          <p:nvPr/>
        </p:nvSpPr>
        <p:spPr>
          <a:xfrm>
            <a:off x="5486400" y="40513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0.697</a:t>
            </a:r>
          </a:p>
        </p:txBody>
      </p:sp>
      <p:sp>
        <p:nvSpPr>
          <p:cNvPr id="54" name="TextBox 53"/>
          <p:cNvSpPr txBox="1"/>
          <p:nvPr/>
        </p:nvSpPr>
        <p:spPr>
          <a:xfrm>
            <a:off x="6819900" y="40513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0.000</a:t>
            </a:r>
          </a:p>
        </p:txBody>
      </p:sp>
      <p:sp>
        <p:nvSpPr>
          <p:cNvPr id="55" name="TextBox 54"/>
          <p:cNvSpPr txBox="1"/>
          <p:nvPr/>
        </p:nvSpPr>
        <p:spPr>
          <a:xfrm>
            <a:off x="78359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56" name="TextBox 55"/>
          <p:cNvSpPr txBox="1"/>
          <p:nvPr/>
        </p:nvSpPr>
        <p:spPr>
          <a:xfrm>
            <a:off x="91440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57" name="TextBox 56"/>
          <p:cNvSpPr txBox="1"/>
          <p:nvPr/>
        </p:nvSpPr>
        <p:spPr>
          <a:xfrm>
            <a:off x="10452100" y="40513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58" name="Connector 57"/>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4495800"/>
            <a:ext cx="111252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5000" y="45339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61" name="TextBox 60"/>
          <p:cNvSpPr txBox="1"/>
          <p:nvPr/>
        </p:nvSpPr>
        <p:spPr>
          <a:xfrm>
            <a:off x="2844800" y="45339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new only</a:t>
            </a:r>
          </a:p>
        </p:txBody>
      </p:sp>
      <p:sp>
        <p:nvSpPr>
          <p:cNvPr id="62" name="TextBox 61"/>
          <p:cNvSpPr txBox="1"/>
          <p:nvPr/>
        </p:nvSpPr>
        <p:spPr>
          <a:xfrm>
            <a:off x="4419600" y="45339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0.631</a:t>
            </a:r>
          </a:p>
        </p:txBody>
      </p:sp>
      <p:sp>
        <p:nvSpPr>
          <p:cNvPr id="63" name="TextBox 62"/>
          <p:cNvSpPr txBox="1"/>
          <p:nvPr/>
        </p:nvSpPr>
        <p:spPr>
          <a:xfrm>
            <a:off x="5486400" y="45339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0.882</a:t>
            </a:r>
          </a:p>
        </p:txBody>
      </p:sp>
      <p:sp>
        <p:nvSpPr>
          <p:cNvPr id="64" name="TextBox 63"/>
          <p:cNvSpPr txBox="1"/>
          <p:nvPr/>
        </p:nvSpPr>
        <p:spPr>
          <a:xfrm>
            <a:off x="6819900" y="45339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0.592</a:t>
            </a:r>
          </a:p>
        </p:txBody>
      </p:sp>
      <p:sp>
        <p:nvSpPr>
          <p:cNvPr id="65" name="TextBox 64"/>
          <p:cNvSpPr txBox="1"/>
          <p:nvPr/>
        </p:nvSpPr>
        <p:spPr>
          <a:xfrm>
            <a:off x="78359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56.9%</a:t>
            </a:r>
          </a:p>
        </p:txBody>
      </p:sp>
      <p:sp>
        <p:nvSpPr>
          <p:cNvPr id="66" name="TextBox 65"/>
          <p:cNvSpPr txBox="1"/>
          <p:nvPr/>
        </p:nvSpPr>
        <p:spPr>
          <a:xfrm>
            <a:off x="91440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61.7%</a:t>
            </a:r>
          </a:p>
        </p:txBody>
      </p:sp>
      <p:sp>
        <p:nvSpPr>
          <p:cNvPr id="67" name="TextBox 66"/>
          <p:cNvSpPr txBox="1"/>
          <p:nvPr/>
        </p:nvSpPr>
        <p:spPr>
          <a:xfrm>
            <a:off x="10452100" y="45339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15.6%</a:t>
            </a:r>
          </a:p>
        </p:txBody>
      </p:sp>
      <p:cxnSp>
        <p:nvCxnSpPr>
          <p:cNvPr id="68" name="Connector 67"/>
          <p:cNvCxnSpPr/>
          <p:nvPr/>
        </p:nvCxnSpPr>
        <p:spPr>
          <a:xfrm>
            <a:off x="533400" y="4978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533400" y="4978400"/>
            <a:ext cx="11125200" cy="482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000" y="5016500"/>
            <a:ext cx="2006600" cy="4064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SigLIP2</a:t>
            </a:r>
          </a:p>
        </p:txBody>
      </p:sp>
      <p:sp>
        <p:nvSpPr>
          <p:cNvPr id="71" name="TextBox 70"/>
          <p:cNvSpPr txBox="1"/>
          <p:nvPr/>
        </p:nvSpPr>
        <p:spPr>
          <a:xfrm>
            <a:off x="2844800" y="5016500"/>
            <a:ext cx="1371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mixed</a:t>
            </a:r>
          </a:p>
        </p:txBody>
      </p:sp>
      <p:sp>
        <p:nvSpPr>
          <p:cNvPr id="72" name="TextBox 71"/>
          <p:cNvSpPr txBox="1"/>
          <p:nvPr/>
        </p:nvSpPr>
        <p:spPr>
          <a:xfrm>
            <a:off x="4419600" y="5016500"/>
            <a:ext cx="8636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0.777</a:t>
            </a:r>
          </a:p>
        </p:txBody>
      </p:sp>
      <p:sp>
        <p:nvSpPr>
          <p:cNvPr id="73" name="TextBox 72"/>
          <p:cNvSpPr txBox="1"/>
          <p:nvPr/>
        </p:nvSpPr>
        <p:spPr>
          <a:xfrm>
            <a:off x="5486400" y="5016500"/>
            <a:ext cx="11303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0.925</a:t>
            </a:r>
          </a:p>
        </p:txBody>
      </p:sp>
      <p:sp>
        <p:nvSpPr>
          <p:cNvPr id="74" name="TextBox 73"/>
          <p:cNvSpPr txBox="1"/>
          <p:nvPr/>
        </p:nvSpPr>
        <p:spPr>
          <a:xfrm>
            <a:off x="6819900" y="5016500"/>
            <a:ext cx="8128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0.342</a:t>
            </a:r>
          </a:p>
        </p:txBody>
      </p:sp>
      <p:sp>
        <p:nvSpPr>
          <p:cNvPr id="75" name="TextBox 74"/>
          <p:cNvSpPr txBox="1"/>
          <p:nvPr/>
        </p:nvSpPr>
        <p:spPr>
          <a:xfrm>
            <a:off x="78359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81.2%</a:t>
            </a:r>
          </a:p>
        </p:txBody>
      </p:sp>
      <p:sp>
        <p:nvSpPr>
          <p:cNvPr id="76" name="TextBox 75"/>
          <p:cNvSpPr txBox="1"/>
          <p:nvPr/>
        </p:nvSpPr>
        <p:spPr>
          <a:xfrm>
            <a:off x="91440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21.7%</a:t>
            </a:r>
          </a:p>
        </p:txBody>
      </p:sp>
      <p:sp>
        <p:nvSpPr>
          <p:cNvPr id="77" name="TextBox 76"/>
          <p:cNvSpPr txBox="1"/>
          <p:nvPr/>
        </p:nvSpPr>
        <p:spPr>
          <a:xfrm>
            <a:off x="10452100" y="5016500"/>
            <a:ext cx="1104900" cy="4064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1.7%</a:t>
            </a:r>
          </a:p>
        </p:txBody>
      </p:sp>
      <p:cxnSp>
        <p:nvCxnSpPr>
          <p:cNvPr id="78" name="Connector 77"/>
          <p:cNvCxnSpPr/>
          <p:nvPr/>
        </p:nvCxnSpPr>
        <p:spPr>
          <a:xfrm>
            <a:off x="533400" y="5461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SigLIP improves proxy AP but loses CCTV ranking and normal rejection; no new model is promoted.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STAGE METRICS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New-source SmolVLM transfer after prior LoRA</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No new training • original vs fixed prior smoking adapter •8 views each; 240 test clips,60 positive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44</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2006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Model / source</a:t>
            </a:r>
          </a:p>
        </p:txBody>
      </p:sp>
      <p:sp>
        <p:nvSpPr>
          <p:cNvPr id="12" name="TextBox 11"/>
          <p:cNvSpPr txBox="1"/>
          <p:nvPr/>
        </p:nvSpPr>
        <p:spPr>
          <a:xfrm>
            <a:off x="2844800" y="2171700"/>
            <a:ext cx="1371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Stage</a:t>
            </a:r>
          </a:p>
        </p:txBody>
      </p:sp>
      <p:sp>
        <p:nvSpPr>
          <p:cNvPr id="13" name="TextBox 12"/>
          <p:cNvSpPr txBox="1"/>
          <p:nvPr/>
        </p:nvSpPr>
        <p:spPr>
          <a:xfrm>
            <a:off x="4419600" y="2171700"/>
            <a:ext cx="8636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AP ↑</a:t>
            </a:r>
          </a:p>
        </p:txBody>
      </p:sp>
      <p:sp>
        <p:nvSpPr>
          <p:cNvPr id="14" name="TextBox 13"/>
          <p:cNvSpPr txBox="1"/>
          <p:nvPr/>
        </p:nvSpPr>
        <p:spPr>
          <a:xfrm>
            <a:off x="5486400" y="2171700"/>
            <a:ext cx="1130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ROC-AUC ↑</a:t>
            </a:r>
          </a:p>
        </p:txBody>
      </p:sp>
      <p:sp>
        <p:nvSpPr>
          <p:cNvPr id="15" name="TextBox 14"/>
          <p:cNvSpPr txBox="1"/>
          <p:nvPr/>
        </p:nvSpPr>
        <p:spPr>
          <a:xfrm>
            <a:off x="6819900" y="2171700"/>
            <a:ext cx="812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F1 ↑</a:t>
            </a:r>
          </a:p>
        </p:txBody>
      </p:sp>
      <p:sp>
        <p:nvSpPr>
          <p:cNvPr id="16" name="TextBox 15"/>
          <p:cNvSpPr txBox="1"/>
          <p:nvPr/>
        </p:nvSpPr>
        <p:spPr>
          <a:xfrm>
            <a:off x="78359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Prec. ↑</a:t>
            </a:r>
          </a:p>
        </p:txBody>
      </p:sp>
      <p:sp>
        <p:nvSpPr>
          <p:cNvPr id="17" name="TextBox 16"/>
          <p:cNvSpPr txBox="1"/>
          <p:nvPr/>
        </p:nvSpPr>
        <p:spPr>
          <a:xfrm>
            <a:off x="91440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Recall ↑</a:t>
            </a:r>
          </a:p>
        </p:txBody>
      </p:sp>
      <p:sp>
        <p:nvSpPr>
          <p:cNvPr id="18" name="TextBox 17"/>
          <p:cNvSpPr txBox="1"/>
          <p:nvPr/>
        </p:nvSpPr>
        <p:spPr>
          <a:xfrm>
            <a:off x="10452100" y="2171700"/>
            <a:ext cx="11049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FPR ↓</a:t>
            </a:r>
          </a:p>
        </p:txBody>
      </p:sp>
      <p:sp>
        <p:nvSpPr>
          <p:cNvPr id="19" name="Rectangle 18"/>
          <p:cNvSpPr/>
          <p:nvPr/>
        </p:nvSpPr>
        <p:spPr>
          <a:xfrm>
            <a:off x="533400" y="2565400"/>
            <a:ext cx="111252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 y="2603500"/>
            <a:ext cx="2006600" cy="4826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Smol original</a:t>
            </a:r>
          </a:p>
        </p:txBody>
      </p:sp>
      <p:sp>
        <p:nvSpPr>
          <p:cNvPr id="21" name="TextBox 20"/>
          <p:cNvSpPr txBox="1"/>
          <p:nvPr/>
        </p:nvSpPr>
        <p:spPr>
          <a:xfrm>
            <a:off x="2844800" y="2603500"/>
            <a:ext cx="1371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New-source dev</a:t>
            </a:r>
          </a:p>
        </p:txBody>
      </p:sp>
      <p:sp>
        <p:nvSpPr>
          <p:cNvPr id="22" name="TextBox 21"/>
          <p:cNvSpPr txBox="1"/>
          <p:nvPr/>
        </p:nvSpPr>
        <p:spPr>
          <a:xfrm>
            <a:off x="4419600" y="2603500"/>
            <a:ext cx="863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0.385</a:t>
            </a:r>
          </a:p>
        </p:txBody>
      </p:sp>
      <p:sp>
        <p:nvSpPr>
          <p:cNvPr id="23" name="TextBox 22"/>
          <p:cNvSpPr txBox="1"/>
          <p:nvPr/>
        </p:nvSpPr>
        <p:spPr>
          <a:xfrm>
            <a:off x="5486400" y="2603500"/>
            <a:ext cx="11303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0.709</a:t>
            </a:r>
          </a:p>
        </p:txBody>
      </p:sp>
      <p:sp>
        <p:nvSpPr>
          <p:cNvPr id="24" name="TextBox 23"/>
          <p:cNvSpPr txBox="1"/>
          <p:nvPr/>
        </p:nvSpPr>
        <p:spPr>
          <a:xfrm>
            <a:off x="6819900" y="2603500"/>
            <a:ext cx="8128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0.454</a:t>
            </a:r>
          </a:p>
        </p:txBody>
      </p:sp>
      <p:sp>
        <p:nvSpPr>
          <p:cNvPr id="25" name="TextBox 24"/>
          <p:cNvSpPr txBox="1"/>
          <p:nvPr/>
        </p:nvSpPr>
        <p:spPr>
          <a:xfrm>
            <a:off x="7835900" y="26035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35.9%</a:t>
            </a:r>
          </a:p>
        </p:txBody>
      </p:sp>
      <p:sp>
        <p:nvSpPr>
          <p:cNvPr id="26" name="TextBox 25"/>
          <p:cNvSpPr txBox="1"/>
          <p:nvPr/>
        </p:nvSpPr>
        <p:spPr>
          <a:xfrm>
            <a:off x="9144000" y="26035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61.7%</a:t>
            </a:r>
          </a:p>
        </p:txBody>
      </p:sp>
      <p:sp>
        <p:nvSpPr>
          <p:cNvPr id="27" name="TextBox 26"/>
          <p:cNvSpPr txBox="1"/>
          <p:nvPr/>
        </p:nvSpPr>
        <p:spPr>
          <a:xfrm>
            <a:off x="10452100" y="26035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36.7%</a:t>
            </a:r>
          </a:p>
        </p:txBody>
      </p:sp>
      <p:cxnSp>
        <p:nvCxnSpPr>
          <p:cNvPr id="28" name="Connector 27"/>
          <p:cNvCxnSpPr/>
          <p:nvPr/>
        </p:nvCxnSpPr>
        <p:spPr>
          <a:xfrm>
            <a:off x="533400" y="3124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124200"/>
            <a:ext cx="11125200" cy="558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3162300"/>
            <a:ext cx="2006600" cy="4826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Smol original</a:t>
            </a:r>
          </a:p>
        </p:txBody>
      </p:sp>
      <p:sp>
        <p:nvSpPr>
          <p:cNvPr id="31" name="TextBox 30"/>
          <p:cNvSpPr txBox="1"/>
          <p:nvPr/>
        </p:nvSpPr>
        <p:spPr>
          <a:xfrm>
            <a:off x="2844800" y="3162300"/>
            <a:ext cx="1371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19 Oct dev</a:t>
            </a:r>
          </a:p>
        </p:txBody>
      </p:sp>
      <p:sp>
        <p:nvSpPr>
          <p:cNvPr id="32" name="TextBox 31"/>
          <p:cNvSpPr txBox="1"/>
          <p:nvPr/>
        </p:nvSpPr>
        <p:spPr>
          <a:xfrm>
            <a:off x="4419600" y="3162300"/>
            <a:ext cx="863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0.385</a:t>
            </a:r>
          </a:p>
        </p:txBody>
      </p:sp>
      <p:sp>
        <p:nvSpPr>
          <p:cNvPr id="33" name="TextBox 32"/>
          <p:cNvSpPr txBox="1"/>
          <p:nvPr/>
        </p:nvSpPr>
        <p:spPr>
          <a:xfrm>
            <a:off x="5486400" y="3162300"/>
            <a:ext cx="11303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0.709</a:t>
            </a:r>
          </a:p>
        </p:txBody>
      </p:sp>
      <p:sp>
        <p:nvSpPr>
          <p:cNvPr id="34" name="TextBox 33"/>
          <p:cNvSpPr txBox="1"/>
          <p:nvPr/>
        </p:nvSpPr>
        <p:spPr>
          <a:xfrm>
            <a:off x="6819900" y="3162300"/>
            <a:ext cx="8128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0.000</a:t>
            </a:r>
          </a:p>
        </p:txBody>
      </p:sp>
      <p:sp>
        <p:nvSpPr>
          <p:cNvPr id="35" name="TextBox 34"/>
          <p:cNvSpPr txBox="1"/>
          <p:nvPr/>
        </p:nvSpPr>
        <p:spPr>
          <a:xfrm>
            <a:off x="7835900" y="31623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36" name="TextBox 35"/>
          <p:cNvSpPr txBox="1"/>
          <p:nvPr/>
        </p:nvSpPr>
        <p:spPr>
          <a:xfrm>
            <a:off x="9144000" y="31623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37" name="TextBox 36"/>
          <p:cNvSpPr txBox="1"/>
          <p:nvPr/>
        </p:nvSpPr>
        <p:spPr>
          <a:xfrm>
            <a:off x="10452100" y="31623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38" name="Connector 37"/>
          <p:cNvCxnSpPr/>
          <p:nvPr/>
        </p:nvCxnSpPr>
        <p:spPr>
          <a:xfrm>
            <a:off x="533400" y="3683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3683000"/>
            <a:ext cx="11125200" cy="55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3721100"/>
            <a:ext cx="2006600" cy="4826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Smol lora</a:t>
            </a:r>
          </a:p>
        </p:txBody>
      </p:sp>
      <p:sp>
        <p:nvSpPr>
          <p:cNvPr id="41" name="TextBox 40"/>
          <p:cNvSpPr txBox="1"/>
          <p:nvPr/>
        </p:nvSpPr>
        <p:spPr>
          <a:xfrm>
            <a:off x="2844800" y="3721100"/>
            <a:ext cx="1371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New-source dev</a:t>
            </a:r>
          </a:p>
        </p:txBody>
      </p:sp>
      <p:sp>
        <p:nvSpPr>
          <p:cNvPr id="42" name="TextBox 41"/>
          <p:cNvSpPr txBox="1"/>
          <p:nvPr/>
        </p:nvSpPr>
        <p:spPr>
          <a:xfrm>
            <a:off x="4419600" y="3721100"/>
            <a:ext cx="863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0.357</a:t>
            </a:r>
          </a:p>
        </p:txBody>
      </p:sp>
      <p:sp>
        <p:nvSpPr>
          <p:cNvPr id="43" name="TextBox 42"/>
          <p:cNvSpPr txBox="1"/>
          <p:nvPr/>
        </p:nvSpPr>
        <p:spPr>
          <a:xfrm>
            <a:off x="5486400" y="3721100"/>
            <a:ext cx="11303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0.647</a:t>
            </a:r>
          </a:p>
        </p:txBody>
      </p:sp>
      <p:sp>
        <p:nvSpPr>
          <p:cNvPr id="44" name="TextBox 43"/>
          <p:cNvSpPr txBox="1"/>
          <p:nvPr/>
        </p:nvSpPr>
        <p:spPr>
          <a:xfrm>
            <a:off x="6819900" y="3721100"/>
            <a:ext cx="8128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0.368</a:t>
            </a:r>
          </a:p>
        </p:txBody>
      </p:sp>
      <p:sp>
        <p:nvSpPr>
          <p:cNvPr id="45" name="TextBox 44"/>
          <p:cNvSpPr txBox="1"/>
          <p:nvPr/>
        </p:nvSpPr>
        <p:spPr>
          <a:xfrm>
            <a:off x="7835900" y="37211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38.9%</a:t>
            </a:r>
          </a:p>
        </p:txBody>
      </p:sp>
      <p:sp>
        <p:nvSpPr>
          <p:cNvPr id="46" name="TextBox 45"/>
          <p:cNvSpPr txBox="1"/>
          <p:nvPr/>
        </p:nvSpPr>
        <p:spPr>
          <a:xfrm>
            <a:off x="9144000" y="37211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35.0%</a:t>
            </a:r>
          </a:p>
        </p:txBody>
      </p:sp>
      <p:sp>
        <p:nvSpPr>
          <p:cNvPr id="47" name="TextBox 46"/>
          <p:cNvSpPr txBox="1"/>
          <p:nvPr/>
        </p:nvSpPr>
        <p:spPr>
          <a:xfrm>
            <a:off x="10452100" y="37211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18.3%</a:t>
            </a:r>
          </a:p>
        </p:txBody>
      </p:sp>
      <p:cxnSp>
        <p:nvCxnSpPr>
          <p:cNvPr id="48" name="Connector 47"/>
          <p:cNvCxnSpPr/>
          <p:nvPr/>
        </p:nvCxnSpPr>
        <p:spPr>
          <a:xfrm>
            <a:off x="533400" y="4241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3400" y="4241800"/>
            <a:ext cx="11125200" cy="558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000" y="4279900"/>
            <a:ext cx="2006600" cy="4826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Smol lora</a:t>
            </a:r>
          </a:p>
        </p:txBody>
      </p:sp>
      <p:sp>
        <p:nvSpPr>
          <p:cNvPr id="51" name="TextBox 50"/>
          <p:cNvSpPr txBox="1"/>
          <p:nvPr/>
        </p:nvSpPr>
        <p:spPr>
          <a:xfrm>
            <a:off x="2844800" y="4279900"/>
            <a:ext cx="1371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19 Oct dev</a:t>
            </a:r>
          </a:p>
        </p:txBody>
      </p:sp>
      <p:sp>
        <p:nvSpPr>
          <p:cNvPr id="52" name="TextBox 51"/>
          <p:cNvSpPr txBox="1"/>
          <p:nvPr/>
        </p:nvSpPr>
        <p:spPr>
          <a:xfrm>
            <a:off x="4419600" y="4279900"/>
            <a:ext cx="8636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0.357</a:t>
            </a:r>
          </a:p>
        </p:txBody>
      </p:sp>
      <p:sp>
        <p:nvSpPr>
          <p:cNvPr id="53" name="TextBox 52"/>
          <p:cNvSpPr txBox="1"/>
          <p:nvPr/>
        </p:nvSpPr>
        <p:spPr>
          <a:xfrm>
            <a:off x="5486400" y="4279900"/>
            <a:ext cx="11303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0.647</a:t>
            </a:r>
          </a:p>
        </p:txBody>
      </p:sp>
      <p:sp>
        <p:nvSpPr>
          <p:cNvPr id="54" name="TextBox 53"/>
          <p:cNvSpPr txBox="1"/>
          <p:nvPr/>
        </p:nvSpPr>
        <p:spPr>
          <a:xfrm>
            <a:off x="6819900" y="4279900"/>
            <a:ext cx="8128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0.000</a:t>
            </a:r>
          </a:p>
        </p:txBody>
      </p:sp>
      <p:sp>
        <p:nvSpPr>
          <p:cNvPr id="55" name="TextBox 54"/>
          <p:cNvSpPr txBox="1"/>
          <p:nvPr/>
        </p:nvSpPr>
        <p:spPr>
          <a:xfrm>
            <a:off x="7835900" y="42799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56" name="TextBox 55"/>
          <p:cNvSpPr txBox="1"/>
          <p:nvPr/>
        </p:nvSpPr>
        <p:spPr>
          <a:xfrm>
            <a:off x="9144000" y="42799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sp>
        <p:nvSpPr>
          <p:cNvPr id="57" name="TextBox 56"/>
          <p:cNvSpPr txBox="1"/>
          <p:nvPr/>
        </p:nvSpPr>
        <p:spPr>
          <a:xfrm>
            <a:off x="10452100" y="4279900"/>
            <a:ext cx="1104900" cy="4826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0.0%</a:t>
            </a:r>
          </a:p>
        </p:txBody>
      </p:sp>
      <p:cxnSp>
        <p:nvCxnSpPr>
          <p:cNvPr id="58" name="Connector 57"/>
          <p:cNvCxnSpPr/>
          <p:nvPr/>
        </p:nvCxnSpPr>
        <p:spPr>
          <a:xfrm>
            <a:off x="533400" y="480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33400" y="5524500"/>
            <a:ext cx="11125200" cy="7239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33400" y="5524500"/>
            <a:ext cx="50800" cy="723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C86535"/>
                </a:solidFill>
                <a:latin typeface="DejaVu Sans"/>
              </a:defRPr>
            </a:pPr>
            <a:r>
              <a:t>Original AP0.386 → LoRA0.357. Both older budget cutoffs miss all new-source positives.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MODEL COVERAGE AND CONCLUSION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What the four-model evidence supports for each</a:t>
            </a:r>
          </a:p>
          <a:p>
            <a:pPr algn="l">
              <a:lnSpc>
                <a:spcPts val="3690"/>
              </a:lnSpc>
              <a:spcBef>
                <a:spcPts val="0"/>
              </a:spcBef>
              <a:spcAft>
                <a:spcPts val="0"/>
              </a:spcAft>
              <a:defRPr sz="3000" b="1">
                <a:solidFill>
                  <a:srgbClr val="142C40"/>
                </a:solidFill>
                <a:latin typeface="DejaVu Sans"/>
              </a:defRPr>
            </a:pPr>
            <a:r>
              <a:t>target</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Compare complete source/metric records; missing supervision cannot be filled with a score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45</a:t>
            </a:r>
          </a:p>
        </p:txBody>
      </p:sp>
      <p:sp>
        <p:nvSpPr>
          <p:cNvPr id="10" name="Rectangle 9"/>
          <p:cNvSpPr/>
          <p:nvPr/>
        </p:nvSpPr>
        <p:spPr>
          <a:xfrm>
            <a:off x="533400" y="2108200"/>
            <a:ext cx="11125200" cy="4572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2171700"/>
            <a:ext cx="16383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Target</a:t>
            </a:r>
          </a:p>
        </p:txBody>
      </p:sp>
      <p:sp>
        <p:nvSpPr>
          <p:cNvPr id="12" name="TextBox 11"/>
          <p:cNvSpPr txBox="1"/>
          <p:nvPr/>
        </p:nvSpPr>
        <p:spPr>
          <a:xfrm>
            <a:off x="2476500" y="2171700"/>
            <a:ext cx="33655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MobileCLIP / SigLIP2</a:t>
            </a:r>
          </a:p>
        </p:txBody>
      </p:sp>
      <p:sp>
        <p:nvSpPr>
          <p:cNvPr id="13" name="TextBox 12"/>
          <p:cNvSpPr txBox="1"/>
          <p:nvPr/>
        </p:nvSpPr>
        <p:spPr>
          <a:xfrm>
            <a:off x="6045200" y="2171700"/>
            <a:ext cx="3098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SmolVLM</a:t>
            </a:r>
          </a:p>
        </p:txBody>
      </p:sp>
      <p:sp>
        <p:nvSpPr>
          <p:cNvPr id="14" name="TextBox 13"/>
          <p:cNvSpPr txBox="1"/>
          <p:nvPr/>
        </p:nvSpPr>
        <p:spPr>
          <a:xfrm>
            <a:off x="9347200" y="2171700"/>
            <a:ext cx="2209800" cy="3810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FFFFFF"/>
                </a:solidFill>
                <a:latin typeface="DejaVu Sans"/>
              </a:defRPr>
            </a:pPr>
            <a:r>
              <a:t>VadCLIP</a:t>
            </a:r>
          </a:p>
        </p:txBody>
      </p:sp>
      <p:sp>
        <p:nvSpPr>
          <p:cNvPr id="15" name="Rectangle 14"/>
          <p:cNvSpPr/>
          <p:nvPr/>
        </p:nvSpPr>
        <p:spPr>
          <a:xfrm>
            <a:off x="533400" y="2565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000" y="2603500"/>
            <a:ext cx="16383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Smoking</a:t>
            </a:r>
          </a:p>
        </p:txBody>
      </p:sp>
      <p:sp>
        <p:nvSpPr>
          <p:cNvPr id="17" name="TextBox 16"/>
          <p:cNvSpPr txBox="1"/>
          <p:nvPr/>
        </p:nvSpPr>
        <p:spPr>
          <a:xfrm>
            <a:off x="2476500" y="2603500"/>
            <a:ext cx="3365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Photo gains; CCTV/source regressions persist</a:t>
            </a:r>
          </a:p>
        </p:txBody>
      </p:sp>
      <p:sp>
        <p:nvSpPr>
          <p:cNvPr id="18" name="TextBox 17"/>
          <p:cNvSpPr txBox="1"/>
          <p:nvPr/>
        </p:nvSpPr>
        <p:spPr>
          <a:xfrm>
            <a:off x="6045200" y="2603500"/>
            <a:ext cx="3098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LoRA mixed CCTV gain; proxy transfer</a:t>
            </a:r>
          </a:p>
          <a:p>
            <a:pPr algn="l">
              <a:lnSpc>
                <a:spcPts val="1414"/>
              </a:lnSpc>
              <a:spcBef>
                <a:spcPts val="0"/>
              </a:spcBef>
              <a:spcAft>
                <a:spcPts val="0"/>
              </a:spcAft>
              <a:defRPr sz="1150" b="0">
                <a:solidFill>
                  <a:srgbClr val="142C40"/>
                </a:solidFill>
                <a:latin typeface="DejaVu Sans"/>
              </a:defRPr>
            </a:pPr>
            <a:r>
              <a:t>regresses</a:t>
            </a:r>
          </a:p>
        </p:txBody>
      </p:sp>
      <p:sp>
        <p:nvSpPr>
          <p:cNvPr id="19" name="TextBox 18"/>
          <p:cNvSpPr txBox="1"/>
          <p:nvPr/>
        </p:nvSpPr>
        <p:spPr>
          <a:xfrm>
            <a:off x="9347200" y="2603500"/>
            <a:ext cx="2209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Temporal adapter AP gain;</a:t>
            </a:r>
          </a:p>
          <a:p>
            <a:pPr algn="l">
              <a:lnSpc>
                <a:spcPts val="1414"/>
              </a:lnSpc>
              <a:spcBef>
                <a:spcPts val="0"/>
              </a:spcBef>
              <a:spcAft>
                <a:spcPts val="0"/>
              </a:spcAft>
              <a:defRPr sz="1150" b="0">
                <a:solidFill>
                  <a:srgbClr val="142C40"/>
                </a:solidFill>
                <a:latin typeface="DejaVu Sans"/>
              </a:defRPr>
            </a:pPr>
            <a:r>
              <a:t>separate sessions</a:t>
            </a:r>
          </a:p>
        </p:txBody>
      </p:sp>
      <p:cxnSp>
        <p:nvCxnSpPr>
          <p:cNvPr id="20" name="Connector 19"/>
          <p:cNvCxnSpPr/>
          <p:nvPr/>
        </p:nvCxnSpPr>
        <p:spPr>
          <a:xfrm>
            <a:off x="533400" y="3111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1115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000" y="3149600"/>
            <a:ext cx="16383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Littering</a:t>
            </a:r>
          </a:p>
        </p:txBody>
      </p:sp>
      <p:sp>
        <p:nvSpPr>
          <p:cNvPr id="23" name="TextBox 22"/>
          <p:cNvSpPr txBox="1"/>
          <p:nvPr/>
        </p:nvSpPr>
        <p:spPr>
          <a:xfrm>
            <a:off x="2476500" y="3149600"/>
            <a:ext cx="3365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Visual/probe ranking improves on IWDD</a:t>
            </a:r>
          </a:p>
        </p:txBody>
      </p:sp>
      <p:sp>
        <p:nvSpPr>
          <p:cNvPr id="24" name="TextBox 23"/>
          <p:cNvSpPr txBox="1"/>
          <p:nvPr/>
        </p:nvSpPr>
        <p:spPr>
          <a:xfrm>
            <a:off x="6045200" y="3149600"/>
            <a:ext cx="3098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LoRA ranking improves on IWDD</a:t>
            </a:r>
          </a:p>
        </p:txBody>
      </p:sp>
      <p:sp>
        <p:nvSpPr>
          <p:cNvPr id="25" name="TextBox 24"/>
          <p:cNvSpPr txBox="1"/>
          <p:nvPr/>
        </p:nvSpPr>
        <p:spPr>
          <a:xfrm>
            <a:off x="9347200" y="3149600"/>
            <a:ext cx="2209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Not trained/evaluated</a:t>
            </a:r>
          </a:p>
        </p:txBody>
      </p:sp>
      <p:cxnSp>
        <p:nvCxnSpPr>
          <p:cNvPr id="26" name="Connector 25"/>
          <p:cNvCxnSpPr/>
          <p:nvPr/>
        </p:nvCxnSpPr>
        <p:spPr>
          <a:xfrm>
            <a:off x="533400" y="3657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6576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000" y="3695700"/>
            <a:ext cx="16383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Loitering</a:t>
            </a:r>
          </a:p>
        </p:txBody>
      </p:sp>
      <p:sp>
        <p:nvSpPr>
          <p:cNvPr id="29" name="TextBox 28"/>
          <p:cNvSpPr txBox="1"/>
          <p:nvPr/>
        </p:nvSpPr>
        <p:spPr>
          <a:xfrm>
            <a:off x="2476500" y="3695700"/>
            <a:ext cx="3365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Later geometry helps historical ranking</a:t>
            </a:r>
          </a:p>
        </p:txBody>
      </p:sp>
      <p:sp>
        <p:nvSpPr>
          <p:cNvPr id="30" name="TextBox 29"/>
          <p:cNvSpPr txBox="1"/>
          <p:nvPr/>
        </p:nvSpPr>
        <p:spPr>
          <a:xfrm>
            <a:off x="6045200" y="3695700"/>
            <a:ext cx="3098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Both joint seeds regress</a:t>
            </a:r>
          </a:p>
        </p:txBody>
      </p:sp>
      <p:sp>
        <p:nvSpPr>
          <p:cNvPr id="31" name="TextBox 30"/>
          <p:cNvSpPr txBox="1"/>
          <p:nvPr/>
        </p:nvSpPr>
        <p:spPr>
          <a:xfrm>
            <a:off x="9347200" y="3695700"/>
            <a:ext cx="2209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Not trained/evaluated</a:t>
            </a:r>
          </a:p>
        </p:txBody>
      </p:sp>
      <p:cxnSp>
        <p:nvCxnSpPr>
          <p:cNvPr id="32" name="Connector 31"/>
          <p:cNvCxnSpPr/>
          <p:nvPr/>
        </p:nvCxnSpPr>
        <p:spPr>
          <a:xfrm>
            <a:off x="533400" y="4203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2037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000" y="4241800"/>
            <a:ext cx="16383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Public sleep</a:t>
            </a:r>
          </a:p>
        </p:txBody>
      </p:sp>
      <p:sp>
        <p:nvSpPr>
          <p:cNvPr id="35" name="TextBox 34"/>
          <p:cNvSpPr txBox="1"/>
          <p:nvPr/>
        </p:nvSpPr>
        <p:spPr>
          <a:xfrm>
            <a:off x="2476500" y="4241800"/>
            <a:ext cx="3365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Strong small-photo diagnostic</a:t>
            </a:r>
          </a:p>
        </p:txBody>
      </p:sp>
      <p:sp>
        <p:nvSpPr>
          <p:cNvPr id="36" name="TextBox 35"/>
          <p:cNvSpPr txBox="1"/>
          <p:nvPr/>
        </p:nvSpPr>
        <p:spPr>
          <a:xfrm>
            <a:off x="6045200" y="4241800"/>
            <a:ext cx="3098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Highly seed/route dependent</a:t>
            </a:r>
          </a:p>
        </p:txBody>
      </p:sp>
      <p:sp>
        <p:nvSpPr>
          <p:cNvPr id="37" name="TextBox 36"/>
          <p:cNvSpPr txBox="1"/>
          <p:nvPr/>
        </p:nvSpPr>
        <p:spPr>
          <a:xfrm>
            <a:off x="9347200" y="4241800"/>
            <a:ext cx="2209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Not trained/evaluated</a:t>
            </a:r>
          </a:p>
        </p:txBody>
      </p:sp>
      <p:cxnSp>
        <p:nvCxnSpPr>
          <p:cNvPr id="38" name="Connector 37"/>
          <p:cNvCxnSpPr/>
          <p:nvPr/>
        </p:nvCxnSpPr>
        <p:spPr>
          <a:xfrm>
            <a:off x="533400" y="4749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7498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000" y="4787900"/>
            <a:ext cx="1638300" cy="469900"/>
          </a:xfrm>
          <a:prstGeom prst="rect">
            <a:avLst/>
          </a:prstGeom>
          <a:noFill/>
        </p:spPr>
        <p:txBody>
          <a:bodyPr wrap="none" lIns="0" rIns="0" tIns="0" bIns="0" anchor="t">
            <a:spAutoFit/>
          </a:bodyPr>
          <a:lstStyle/>
          <a:p>
            <a:pPr algn="l">
              <a:lnSpc>
                <a:spcPts val="1414"/>
              </a:lnSpc>
              <a:spcBef>
                <a:spcPts val="0"/>
              </a:spcBef>
              <a:spcAft>
                <a:spcPts val="0"/>
              </a:spcAft>
              <a:defRPr sz="1150" b="1">
                <a:solidFill>
                  <a:srgbClr val="142C40"/>
                </a:solidFill>
                <a:latin typeface="DejaVu Sans"/>
              </a:defRPr>
            </a:pPr>
            <a:r>
              <a:t>Unattended</a:t>
            </a:r>
          </a:p>
        </p:txBody>
      </p:sp>
      <p:sp>
        <p:nvSpPr>
          <p:cNvPr id="41" name="TextBox 40"/>
          <p:cNvSpPr txBox="1"/>
          <p:nvPr/>
        </p:nvSpPr>
        <p:spPr>
          <a:xfrm>
            <a:off x="2476500" y="4787900"/>
            <a:ext cx="33655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High endpoint AP; threshold transfer poor</a:t>
            </a:r>
          </a:p>
        </p:txBody>
      </p:sp>
      <p:sp>
        <p:nvSpPr>
          <p:cNvPr id="42" name="TextBox 41"/>
          <p:cNvSpPr txBox="1"/>
          <p:nvPr/>
        </p:nvSpPr>
        <p:spPr>
          <a:xfrm>
            <a:off x="6045200" y="4787900"/>
            <a:ext cx="3098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Recall gains with excessive FPR</a:t>
            </a:r>
          </a:p>
        </p:txBody>
      </p:sp>
      <p:sp>
        <p:nvSpPr>
          <p:cNvPr id="43" name="TextBox 42"/>
          <p:cNvSpPr txBox="1"/>
          <p:nvPr/>
        </p:nvSpPr>
        <p:spPr>
          <a:xfrm>
            <a:off x="9347200" y="4787900"/>
            <a:ext cx="2209800" cy="469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142C40"/>
                </a:solidFill>
                <a:latin typeface="DejaVu Sans"/>
              </a:defRPr>
            </a:pPr>
            <a:r>
              <a:t>Not trained/evaluated</a:t>
            </a:r>
          </a:p>
        </p:txBody>
      </p:sp>
      <p:cxnSp>
        <p:nvCxnSpPr>
          <p:cNvPr id="44" name="Connector 43"/>
          <p:cNvCxnSpPr/>
          <p:nvPr/>
        </p:nvCxnSpPr>
        <p:spPr>
          <a:xfrm>
            <a:off x="533400" y="52959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No four-model winner across five real events is established by the current training studies.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TRAINING / ARTIFACT GUIDE</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Detailed numbers and training choices are</a:t>
            </a:r>
          </a:p>
          <a:p>
            <a:pPr algn="l">
              <a:lnSpc>
                <a:spcPts val="3690"/>
              </a:lnSpc>
              <a:spcBef>
                <a:spcPts val="0"/>
              </a:spcBef>
              <a:spcAft>
                <a:spcPts val="0"/>
              </a:spcAft>
              <a:defRPr sz="3000" b="1">
                <a:solidFill>
                  <a:srgbClr val="142C40"/>
                </a:solidFill>
                <a:latin typeface="DejaVu Sans"/>
              </a:defRPr>
            </a:pPr>
            <a:r>
              <a:t>available to review</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Editable slides + vector PDF + complete stage metrics + source identities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TRAINING REVIEW 20 OCT 2026 • Saved training, selection and held-out results • 13–20 Oct 2026</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46</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Slide companion files</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Unrounded metrics and confusion counts</a:t>
            </a:r>
          </a:p>
          <a:p>
            <a:pPr algn="l">
              <a:lnSpc>
                <a:spcPts val="1968"/>
              </a:lnSpc>
              <a:spcBef>
                <a:spcPts val="0"/>
              </a:spcBef>
              <a:spcAft>
                <a:spcPts val="0"/>
              </a:spcAft>
              <a:defRPr sz="1600" b="0">
                <a:solidFill>
                  <a:srgbClr val="142C40"/>
                </a:solidFill>
                <a:latin typeface="DejaVu Sans"/>
              </a:defRPr>
            </a:pPr>
            <a:r>
              <a:t>Per-stage cutoff / seed / source fields</a:t>
            </a:r>
          </a:p>
          <a:p>
            <a:pPr algn="l">
              <a:lnSpc>
                <a:spcPts val="1968"/>
              </a:lnSpc>
              <a:spcBef>
                <a:spcPts val="0"/>
              </a:spcBef>
              <a:spcAft>
                <a:spcPts val="0"/>
              </a:spcAft>
              <a:defRPr sz="1600" b="0">
                <a:solidFill>
                  <a:srgbClr val="142C40"/>
                </a:solidFill>
                <a:latin typeface="DejaVu Sans"/>
              </a:defRPr>
            </a:pPr>
            <a:r>
              <a:t>Dataset counts with positive labels</a:t>
            </a:r>
          </a:p>
          <a:p>
            <a:pPr algn="l">
              <a:lnSpc>
                <a:spcPts val="1968"/>
              </a:lnSpc>
              <a:spcBef>
                <a:spcPts val="0"/>
              </a:spcBef>
              <a:spcAft>
                <a:spcPts val="0"/>
              </a:spcAft>
              <a:defRPr sz="1600" b="0">
                <a:solidFill>
                  <a:srgbClr val="142C40"/>
                </a:solidFill>
                <a:latin typeface="DejaVu Sans"/>
              </a:defRPr>
            </a:pPr>
            <a:r>
              <a:t>Detailed speaker notes per slide</a:t>
            </a:r>
          </a:p>
          <a:p>
            <a:pPr algn="l">
              <a:lnSpc>
                <a:spcPts val="1968"/>
              </a:lnSpc>
              <a:spcBef>
                <a:spcPts val="0"/>
              </a:spcBef>
              <a:spcAft>
                <a:spcPts val="0"/>
              </a:spcAft>
              <a:defRPr sz="1600" b="0">
                <a:solidFill>
                  <a:srgbClr val="142C40"/>
                </a:solidFill>
                <a:latin typeface="DejaVu Sans"/>
              </a:defRPr>
            </a:pPr>
            <a:r>
              <a:t>Source hashes and measured layout</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What remains necessary</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Compatible independent event labels</a:t>
            </a:r>
          </a:p>
          <a:p>
            <a:pPr algn="l">
              <a:lnSpc>
                <a:spcPts val="1968"/>
              </a:lnSpc>
              <a:spcBef>
                <a:spcPts val="0"/>
              </a:spcBef>
              <a:spcAft>
                <a:spcPts val="0"/>
              </a:spcAft>
              <a:defRPr sz="1600" b="0">
                <a:solidFill>
                  <a:srgbClr val="142C40"/>
                </a:solidFill>
                <a:latin typeface="DejaVu Sans"/>
              </a:defRPr>
            </a:pPr>
            <a:r>
              <a:t>New camera/day source blocks</a:t>
            </a:r>
          </a:p>
          <a:p>
            <a:pPr algn="l">
              <a:lnSpc>
                <a:spcPts val="1968"/>
              </a:lnSpc>
              <a:spcBef>
                <a:spcPts val="0"/>
              </a:spcBef>
              <a:spcAft>
                <a:spcPts val="0"/>
              </a:spcAft>
              <a:defRPr sz="1600" b="0">
                <a:solidFill>
                  <a:srgbClr val="142C40"/>
                </a:solidFill>
                <a:latin typeface="DejaVu Sans"/>
              </a:defRPr>
            </a:pPr>
            <a:r>
              <a:t>Drinking / eating / phone controls</a:t>
            </a:r>
          </a:p>
          <a:p>
            <a:pPr algn="l">
              <a:lnSpc>
                <a:spcPts val="1968"/>
              </a:lnSpc>
              <a:spcBef>
                <a:spcPts val="0"/>
              </a:spcBef>
              <a:spcAft>
                <a:spcPts val="0"/>
              </a:spcAft>
              <a:defRPr sz="1600" b="0">
                <a:solidFill>
                  <a:srgbClr val="142C40"/>
                </a:solidFill>
                <a:latin typeface="DejaVu Sans"/>
              </a:defRPr>
            </a:pPr>
            <a:r>
              <a:t>Track duration and owner/item history</a:t>
            </a:r>
          </a:p>
          <a:p>
            <a:pPr algn="l">
              <a:lnSpc>
                <a:spcPts val="1968"/>
              </a:lnSpc>
              <a:spcBef>
                <a:spcPts val="0"/>
              </a:spcBef>
              <a:spcAft>
                <a:spcPts val="0"/>
              </a:spcAft>
              <a:defRPr sz="1600" b="0">
                <a:solidFill>
                  <a:srgbClr val="142C40"/>
                </a:solidFill>
                <a:latin typeface="DejaVu Sans"/>
              </a:defRPr>
            </a:pPr>
            <a:r>
              <a:t>Frozen source-aware acceptance tests</a:t>
            </a:r>
          </a:p>
        </p:txBody>
      </p:sp>
      <p:sp>
        <p:nvSpPr>
          <p:cNvPr id="18" name="Rectangle 17"/>
          <p:cNvSpPr/>
          <p:nvPr/>
        </p:nvSpPr>
        <p:spPr>
          <a:xfrm>
            <a:off x="533400" y="5524500"/>
            <a:ext cx="11125200" cy="723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524500"/>
            <a:ext cx="50800" cy="723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638800"/>
            <a:ext cx="10706100" cy="5715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007E80"/>
                </a:solidFill>
                <a:latin typeface="DejaVu Sans"/>
              </a:defRPr>
            </a:pPr>
            <a:r>
              <a:t>Read stage comparisons alongside source coverage and FPR; more fine-tuning alone has not solved transfer.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Training and evaluation: MobileCLIP, SigLIP2, SmolVLM and VadCLIP</dc:title>
  <dc:subject>Datasets, zero-shot baselines, probes, visual adaptation, LoRA and temporal adapters</dc:subject>
  <dc:creator>Capstone S25</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