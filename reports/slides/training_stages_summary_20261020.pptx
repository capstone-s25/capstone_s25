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compact index to the detailed46-slide training/evaluation deck, which covers all five objectives, complete source/count tables and AP, ROC-AUC, F1, precision, recall, FPR, accuracy/balanced-accuracy exports. Train n is all-target examples for CLIP/Smol and smoking frames for VadCLIP. Primary CLIP uses3,258 train/1,633 dev and partial visual tuning; Smol uses3,973 train/1,812 dev and languageLoRA. Their A smoking test shares646 frames/393 positive but training corpora differ. VadCLIP B uses1,056 frames/560 positive across3session-held-out test groups. No SmolVLM linear probe was run. The main deck provides identical-case three-model comparisons and within-study learning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30200"/>
            <a:ext cx="355600" cy="5080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54000"/>
            <a:ext cx="10642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DejaVu Sans"/>
              </a:defRPr>
            </a:pPr>
            <a:r>
              <a:t>TRAINING / ONE-SLIDE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366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42C40"/>
                </a:solidFill>
                <a:latin typeface="DejaVu Sans"/>
              </a:defRPr>
            </a:pPr>
            <a:r>
              <a:t>Four-model training stages: smoking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256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26471"/>
                </a:solidFill>
                <a:latin typeface="DejaVu Sans"/>
              </a:defRPr>
            </a:pPr>
            <a:r>
              <a:t>Stages use their own development selection • adapted F1/FPR use dev-max-F1 cutoffs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12700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3400" y="6527800"/>
            <a:ext cx="106045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26471"/>
                </a:solidFill>
                <a:latin typeface="DejaVu Sans"/>
              </a:defRPr>
            </a:pPr>
            <a:r>
              <a:t>CAPSTONE S25 / TRAINING REVIEW 20 OCT 2026 • Saved training, selection and held-out results • 13–20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02400"/>
            <a:ext cx="457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108200"/>
            <a:ext cx="11125200" cy="457200"/>
          </a:xfrm>
          <a:prstGeom prst="rect">
            <a:avLst/>
          </a:prstGeom>
          <a:solidFill>
            <a:srgbClr val="14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2171700"/>
            <a:ext cx="22098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Model / adapted 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0" y="2171700"/>
            <a:ext cx="1016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Train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0" y="2171700"/>
            <a:ext cx="11938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Test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4200" y="2171700"/>
            <a:ext cx="1016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Base 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3400" y="2171700"/>
            <a:ext cx="1016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Probe 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2600" y="2171700"/>
            <a:ext cx="1016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Adapt 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1800" y="2171700"/>
            <a:ext cx="1016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Adapt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1000" y="2171700"/>
            <a:ext cx="1016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Adapt FPR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2565400"/>
            <a:ext cx="111252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2603500"/>
            <a:ext cx="22098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42C40"/>
                </a:solidFill>
                <a:latin typeface="DejaVu Sans"/>
              </a:defRPr>
            </a:pPr>
            <a:r>
              <a:t>MobileCLIP • visual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8000" y="26035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3258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7200" y="2603500"/>
            <a:ext cx="11938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A: 646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200" y="26035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0.642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3400" y="26035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0.594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2600" y="26035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0.564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1800" y="26035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0.735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1000" y="26035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93.7%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3400" y="3162300"/>
            <a:ext cx="11125200" cy="0"/>
          </a:xfrm>
          <a:prstGeom prst="line">
            <a:avLst/>
          </a:prstGeom>
          <a:ln w="12700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3400" y="3162300"/>
            <a:ext cx="11125200" cy="596900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3200400"/>
            <a:ext cx="22098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42C40"/>
                </a:solidFill>
                <a:latin typeface="DejaVu Sans"/>
              </a:defRPr>
            </a:pPr>
            <a:r>
              <a:t>SigLIP2 • visual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8000" y="32004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3258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7200" y="3200400"/>
            <a:ext cx="11938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A: 646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4200" y="32004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0.669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3400" y="32004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0.670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2600" y="32004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0.650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1800" y="32004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0.727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1000" y="32004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93.3%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3400" y="3759200"/>
            <a:ext cx="11125200" cy="0"/>
          </a:xfrm>
          <a:prstGeom prst="line">
            <a:avLst/>
          </a:prstGeom>
          <a:ln w="12700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3400" y="3759200"/>
            <a:ext cx="111252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00" y="3797300"/>
            <a:ext cx="22098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42C40"/>
                </a:solidFill>
                <a:latin typeface="DejaVu Sans"/>
              </a:defRPr>
            </a:pPr>
            <a:r>
              <a:t>SmolVLM • LoRA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48000" y="37973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3973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7200" y="3797300"/>
            <a:ext cx="11938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A: 646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4200" y="37973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0.600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83400" y="37973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Not run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2600" y="37973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0.623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1800" y="37973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0.754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41000" y="37973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91.7%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3400" y="4356100"/>
            <a:ext cx="11125200" cy="0"/>
          </a:xfrm>
          <a:prstGeom prst="line">
            <a:avLst/>
          </a:prstGeom>
          <a:ln w="12700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33400" y="4356100"/>
            <a:ext cx="11125200" cy="596900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000" y="4394200"/>
            <a:ext cx="22098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42C40"/>
                </a:solidFill>
                <a:latin typeface="DejaVu Sans"/>
              </a:defRPr>
            </a:pPr>
            <a:r>
              <a:t>VadCLIP • temporal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48000" y="43942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1910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67200" y="4394200"/>
            <a:ext cx="11938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B: 1,056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4200" y="43942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0.482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83400" y="43942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0.544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2600" y="43942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0.633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1800" y="43942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0.565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41000" y="4394200"/>
            <a:ext cx="1016000" cy="520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42C40"/>
                </a:solidFill>
                <a:latin typeface="DejaVu Sans"/>
              </a:defRPr>
            </a:pPr>
            <a:r>
              <a:t>35.7%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33400" y="4953000"/>
            <a:ext cx="11125200" cy="0"/>
          </a:xfrm>
          <a:prstGeom prst="line">
            <a:avLst/>
          </a:prstGeom>
          <a:ln w="12700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33400" y="5524500"/>
            <a:ext cx="11125200" cy="723900"/>
          </a:xfrm>
          <a:prstGeom prst="rect">
            <a:avLst/>
          </a:prstGeom>
          <a:solidFill>
            <a:srgbClr val="F8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3400" y="5524500"/>
            <a:ext cx="50800" cy="723900"/>
          </a:xfrm>
          <a:prstGeom prst="rect">
            <a:avLst/>
          </a:prstGeom>
          <a:solidFill>
            <a:srgbClr val="C86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3900" y="5638800"/>
            <a:ext cx="107061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C86535"/>
                </a:solidFill>
                <a:latin typeface="DejaVu Sans"/>
              </a:defRPr>
            </a:pPr>
            <a:r>
              <a:t>A: camera-c1 test. B: separate session test. Training sizes/units differ; this is not a matched leaderboard.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Four-model training-stage summary: smoking</dc:title>
  <dc:subject>Qualified overview; see the detailed training/evaluation deck for five-target metrics</dc:subject>
  <dc:creator>Capstone S25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