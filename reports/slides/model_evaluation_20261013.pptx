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briefing uses the completed 13 October 2026 runs, not the older report open in the IDE. It summarizes MobileCLIP2-S2, SigLIP2-B/16-224, SmolVLM-500M-Instruct, MiniCPM-V 4.0 and the separate supervised VadCLIP smoking adaptation. No five-task deployment winner is supported. Sources: reports/workflow_review_20261013.md and results/gpu_all_models_20261013/report.md.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Standalone summary slide. Methodology: source review, deduplication, recording-group splits, identical inputs and dev-only thresholds. GPU quality: four models × 3,350 inputs = 13,400 predictions, without pacing. VadCLIP has a different supervised offline split. CPU latency: same eight dev images, three repeats, four logical CPUs, float32, one worker, batch one. Smoking baseline recall: MobileCLIP 0.56%, SigLIP 0%, SmolVLM 5.41%, MiniCPM 0%. The three other tasks need verified event and normal labels; CAVIAR testing has only one positive source sequence per split.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models score image/text similarity, with cached native text features; MobileCLIP2-S2 is loaded through its OpenCLIP checkpoint and reparameterized for inference. SigLIP uses independent sigmoid scores and anomaly-minus-normal raw-logit margins. VLMs use native chat templates and deterministic JSON-label requests. MiniCPM uses the publisher's chat interface, one slice in this baseline. VadCLIP uses a frozen official CLIP-B/16 encoder plus a trained offline adapter. Publisher references: https://github.com/apple-aiml-research/ml-mobileclip ; https://huggingface.co/google/siglip2-base-patch16-224 ; https://huggingface.co/HuggingFaceTB/SmolVLM-500M-Instruct ; https://huggingface.co/openbmb/MiniCPM-V-4 ; https://github.com/nwpu-zxr/VadCLIP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Smoking video COCO: 3,278 confirmed frames, 16 known camera/day groups, 1,422 positives and 1,856 normals; development only. An additional 936 CCTV frames are all positive and need source genealogy and matched controls. CAVIAR supplies 20 dev and 16 test endpoints; window sheets share the same endpoints. There are three source groups and only one positive source sequence per split. Littering action boxes, loitering person boxes and rough-sleeping posture boxes are excluded from confirmed event scoring. Rough sleeping has 224 image files but only 112 unique byte/RGB hashes. Sources: reports/data_readiness_20261013.json, data/evaluation_all/dataset.json and the combined report.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validates annotations and source identity, then deduplicates exact bytes, decoded EXIF-corrected RGB pixels and checksum-qualified source moments. Conflicting labels and source leakage fail validation. Historical benchmark groups are development only. Recording groups remain together across frame/window protocols. Models see the same ordered cohort. Continuous thresholds are chosen on development and frozen for test. Metrics include failures and abstentions; recording-group bootstrap is paired across models. Model revisions, processors, definitions, code hashes, input hashes and raw responses remain in run artifacts.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GPU: RTX 5000 Ada Generation with 32,760 MiB VRAM; isolated CUDA Torch 2.8.0+cu128, no system driver changes. All 3,350 prepared confirmed inputs per model; zero per-group cap and inference limit. No duty-cycle/camera-rate sleeps, no default accuracy RAM cap. CLIP float32 batches of 32; VLM unquantized bf16 single-input calls. Shared letterbox max-side 768 and 64-token deterministic generation. CPU pilot: original Torch 2.14.1+cpu on Threadripper PRO 7975WX, affinity 0–3 and four threads, float32, one worker, batch one. Same eight unattended-item dev images, three measured repeats, three warmups, 24 observations/model. The host budget does not emulate a different processor.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is TP/(TP+FN); precision is TP/(TP+FP); F1 summarizes precision and recall; false-positive rate is FP divided by labeled normal inputs. Unsupported labels are not zero-scored. AP and AUROC use genuine continuous scores, with noninterpolated AP and tied-score handling. VLM categorical outputs do not receive invented AP/AUROC. All failures/abstentions remain in categorical quality denominators; prediction coverage is separate. All main group analyses use 2,000 recording-group bootstrap draws, paired across models. Few CAVIAR groups make uncertainty exploratory. Raw argmax and dev-calibrated operating points are separate.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current-protocol development results, not unseen-camera tests. MobileCLIP TP=8 FP=4 FN=1,414 TN=1,852. SigLIP all normal. SmolVLM TP=77 FP=114 FN=1,345 TN=1,732, with 14 invalid responses (four positive and ten normal); those are included in quality. MiniCPM all normal. Positive prevalence is 0.433801, so constant-score AP is 0.434. MobileCLIP AP 0.424 and SigLIP AP 0.443 are near that reference. Paired AP/AUROC intervals do not distinguish the CLIP models robustly. SmolVLM-minus-MobileCLIP F1 CI crosses zero. These measure the tested prompts/preprocessing, not all native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and past-window protocols share the same endpoints; they are not independent event samples. Every split has only one positive source sequence. Raw frame F1: MobileCLIP 0, SigLIP 0, SmolVLM 0.4, MiniCPM 0. Raw window F1: 0.25, 0, 0.4, 0 respectively. SmolVLM predicts unattended items on all dev/test frame/window inputs. Its 0.4 test F1 equals the always-anomaly baseline, with FPR 1. MiniCPM predicts normal throughout. MobileCLIP window argmax finds one of four positives, with three false positives. MobileCLIP max-dev-F1 frame threshold obtains test recall 1, precision 1/3, F1 0.5, FPR 2/3. Dev FPR-budget thresholds give zero test recall for both CLIPs.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Frozen CLIP-B/16 encoder and supervised temporal adapter with future context. Train 9 sessions/1,910 frames; development 4 sessions/312 frames; test 3 sessions/1,056 frames. Test has 560 positives and 496 normals. Selected branch dual_mean, epoch one, dev-fitted threshold 0.7381770357355234. Test TP290 FP177 FN270 TN319; precision 0.620985, recall 0.517857, F1 0.564752, FPR 0.356855, AP 0.633230, AUROC 0.587403. Visual and dual_max branches are all-positive with AUROC 0.5 and F1 0.693069. Linear probe FPR 0.977823. This is not the official weakly supervised UCF-Crime/XD-Violence task, and historical smoking corpus inspection means the split is a controlled reanalysis, not a fresh external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CPU latency pilot ran separately after quality jobs completed. Native decoding, preprocessing, model inference and parsing are included. Load and three warmups are excluded from the 24 measured timings per model; peak worker RSS includes load/warmup. MobileCLIP p95 0.056316s RSS993.316MiB; SigLIP 0.137628s RSS1248.602MiB; SmolVLM 7.563337s RSS3350.336MiB; MiniCPM 8.176413s RSS18850.168MiB. This is a small replay on Threadripper PRO 7975WX, not a hardware emulator or deployment queue/capture test. Output lengths and alternative image protocols can change costs. Model label abbreviations are used in the chart.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Changes include explicit runtime device/dtype resolution throughout adapters and VadCLIP; preserving GPU visibility instead of forced CUDA_VISIBLE_DEVICES=''; native CLIP batching and isolated concurrent workers; CUDA synchronization and memory peaks; removing default accuracy RAM cap; increasing timeout to four hours; removing the hidden per-recording preparation cap; recording available/retained sampling counts; indexing and invalidating download receipt lookups; AP and richer quality diagnostics; native one-input deployment timing. The old prepared cap produced 308 inputs versus 3,350 uncapped. Both environments passed 144 tests, plus lint/format/shell checks. No additional model inference is performed by this presentation generator.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present configuration has demonstrated useful recall at an acceptable false-alert rate across five anomalies. Next steps are to review littering/loitering/rough-sleeping events and task-specific controls with camera/source genealogy; define operational duration and ownership rules; evaluate detected-person/object crops with detector failures included; investigate native VLM image slicing and video/temporal protocols on development only; freeze prompts/thresholds and test new recordings/cameras; report event detection delay and alerts/hour, then test latency on actual deployment hardware. Historical smoking and already-inspected CAVIAR test inputs are development evidence for subsequent protocol changes. Improvements are proposed experiments, not measured gains.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smoking intervals are recording-group bootstraps over 16 known groups, 2,000 draws. MobileCLIP F1 CI[0.002442,0.027028]; SigLIP[0,0]; SmolVLM[0.006328,0.172909]; MiniCPM[0,0]. SmolVLM-minus-MobileCLIP F1 CI is [-0.012861,0.166235]. The short-definition CPU float32 CLIP experiment changed only text definitions and used all 3,278 smoking dev frames: MobileCLIP recall0.533052 FPR0.493534 F10.489664 AP0.460063; SigLIP remains all normal. VadCLIP CPU-cache development-only LR sweep: 1e-5 AP0.369294, 1e-4 AP0.393464, 1e-3 AP0.424815, selected 1e-3 epoch1 without selecting on test labels. Only selected candidate tested, AP0.631507. Native image preprocessing and numerical environment remain explicit.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 FPR budget is an empirical development constraint. With 16 normal development endpoints, FPR increments are 6.25%, so the constraint requires zero observed dev false positives; it is not a population guarantee. Rows are test outcomes under frozen thresholds. Frame/window cohorts share endpoint labels and have only three source groups per split, with one positive sequence. Both CLIP budget thresholds yield zero test recall. All max-dev-F1 and budget operating points are shown, not only favorable ones. VLM hard label outputs have no score threshold fitting.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evidence: results/gpu_all_models_20261013/report.md and evaluation.json; per-model summary.json and predictions.jsonl; per-cohort improvements.json and calibration.json. Resource pilot: results/cpu_latency_20261013/run.json and per-model summaries. Dataset audit: reports/data_readiness_20261013.json. Interpretation and limitations: reports/workflow_review_20261013.md. Numeric export: reports/model_comparison_20261013.csv. Supplementary experiments: results/clip_prompt_dev_20261013/short_descriptions and results/vadclip_dev_sweep_20261013/selection.json. Reproduction on this workspace uses scripts/evaluate_gpu.sh run --device cuda --per-group 0 --batch-size 32 --vadclip. It creates a new results directory. Future five-task readiness uses --require-all-tasks; currently incomplete. Source hashes and the exact slide data are captured in source_manifest.json. Rendering uses python-pptx and ReportLab; the PDF is built from the same layout specification, not a PowerPoint export.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RESULTS BRIEFING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CLIP &amp; VLM anomaly detection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Findings, methodology, testing approach and evaluation</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Combined GPU comparison + workflow review</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33600"/>
            <a:ext cx="11125200" cy="13843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2349500"/>
            <a:ext cx="10541000" cy="10541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FFFFFF"/>
                </a:solidFill>
                <a:latin typeface="DejaVu Sans"/>
              </a:defRPr>
            </a:pPr>
            <a:r>
              <a:t>Fast inference did not translate into</a:t>
            </a:r>
          </a:p>
          <a:p>
            <a:pPr algn="l">
              <a:lnSpc>
                <a:spcPts val="3690"/>
              </a:lnSpc>
              <a:spcBef>
                <a:spcPts val="0"/>
              </a:spcBef>
              <a:spcAft>
                <a:spcPts val="0"/>
              </a:spcAft>
              <a:defRPr sz="3000" b="1">
                <a:solidFill>
                  <a:srgbClr val="FFFFFF"/>
                </a:solidFill>
                <a:latin typeface="DejaVu Sans"/>
              </a:defRPr>
            </a:pPr>
            <a:r>
              <a:t>reliable event detection.</a:t>
            </a:r>
          </a:p>
        </p:txBody>
      </p:sp>
      <p:sp>
        <p:nvSpPr>
          <p:cNvPr id="12" name="Rectangle 11"/>
          <p:cNvSpPr/>
          <p:nvPr/>
        </p:nvSpPr>
        <p:spPr>
          <a:xfrm>
            <a:off x="533400" y="3784600"/>
            <a:ext cx="3556000" cy="1333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3911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4 + 1</a:t>
            </a:r>
          </a:p>
        </p:txBody>
      </p:sp>
      <p:sp>
        <p:nvSpPr>
          <p:cNvPr id="14" name="TextBox 13"/>
          <p:cNvSpPr txBox="1"/>
          <p:nvPr/>
        </p:nvSpPr>
        <p:spPr>
          <a:xfrm>
            <a:off x="736600" y="4610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Image models + VadCLIP</a:t>
            </a:r>
          </a:p>
        </p:txBody>
      </p:sp>
      <p:sp>
        <p:nvSpPr>
          <p:cNvPr id="15" name="Rectangle 14"/>
          <p:cNvSpPr/>
          <p:nvPr/>
        </p:nvSpPr>
        <p:spPr>
          <a:xfrm>
            <a:off x="4318000" y="3784600"/>
            <a:ext cx="3556000" cy="1333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1200" y="3911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3,350</a:t>
            </a:r>
          </a:p>
        </p:txBody>
      </p:sp>
      <p:sp>
        <p:nvSpPr>
          <p:cNvPr id="17" name="TextBox 16"/>
          <p:cNvSpPr txBox="1"/>
          <p:nvPr/>
        </p:nvSpPr>
        <p:spPr>
          <a:xfrm>
            <a:off x="4521200" y="4610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Confirmed inputs / model</a:t>
            </a:r>
          </a:p>
        </p:txBody>
      </p:sp>
      <p:sp>
        <p:nvSpPr>
          <p:cNvPr id="18" name="Rectangle 17"/>
          <p:cNvSpPr/>
          <p:nvPr/>
        </p:nvSpPr>
        <p:spPr>
          <a:xfrm>
            <a:off x="8102600" y="3784600"/>
            <a:ext cx="3556000" cy="1333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3911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13,400</a:t>
            </a:r>
          </a:p>
        </p:txBody>
      </p:sp>
      <p:sp>
        <p:nvSpPr>
          <p:cNvPr id="20" name="TextBox 19"/>
          <p:cNvSpPr txBox="1"/>
          <p:nvPr/>
        </p:nvSpPr>
        <p:spPr>
          <a:xfrm>
            <a:off x="8305800" y="4610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GPU quality predictions</a:t>
            </a:r>
          </a:p>
        </p:txBody>
      </p:sp>
      <p:sp>
        <p:nvSpPr>
          <p:cNvPr id="21" name="TextBox 20"/>
          <p:cNvSpPr txBox="1"/>
          <p:nvPr/>
        </p:nvSpPr>
        <p:spPr>
          <a:xfrm>
            <a:off x="558800" y="5422900"/>
            <a:ext cx="11074400" cy="6858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526471"/>
                </a:solidFill>
                <a:latin typeface="DejaVu Sans"/>
              </a:defRPr>
            </a:pPr>
            <a:r>
              <a:t>Five target events: smoking, littering, loitering, rough sleeping and unattended items. Only smoking</a:t>
            </a:r>
          </a:p>
          <a:p>
            <a:pPr algn="l">
              <a:lnSpc>
                <a:spcPts val="2091"/>
              </a:lnSpc>
              <a:spcBef>
                <a:spcPts val="0"/>
              </a:spcBef>
              <a:spcAft>
                <a:spcPts val="0"/>
              </a:spcAft>
              <a:defRPr sz="1700" b="0">
                <a:solidFill>
                  <a:srgbClr val="526471"/>
                </a:solidFill>
                <a:latin typeface="DejaVu Sans"/>
              </a:defRPr>
            </a:pPr>
            <a:r>
              <a:t>and unattended items currently have usable confirmed cohorts.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ONE-SLIDE SUMMARY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What we learned — and how we tested it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Current-protocol findings; exploratory evidence, with no deployment winner</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Combined GPU report; CPU latency pilot; dataset audit</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02</a:t>
            </a:r>
          </a:p>
        </p:txBody>
      </p:sp>
      <p:sp>
        <p:nvSpPr>
          <p:cNvPr id="10" name="Rectangle 9"/>
          <p:cNvSpPr/>
          <p:nvPr/>
        </p:nvSpPr>
        <p:spPr>
          <a:xfrm>
            <a:off x="533400" y="2032000"/>
            <a:ext cx="5422900" cy="195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032000"/>
            <a:ext cx="50800" cy="1955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09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Methodology</a:t>
            </a:r>
          </a:p>
        </p:txBody>
      </p:sp>
      <p:sp>
        <p:nvSpPr>
          <p:cNvPr id="13" name="TextBox 12"/>
          <p:cNvSpPr txBox="1"/>
          <p:nvPr/>
        </p:nvSpPr>
        <p:spPr>
          <a:xfrm>
            <a:off x="762000" y="2921000"/>
            <a:ext cx="4991100" cy="93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Review event labels; deduplicate inputs; keep</a:t>
            </a:r>
          </a:p>
          <a:p>
            <a:pPr algn="l">
              <a:lnSpc>
                <a:spcPts val="1968"/>
              </a:lnSpc>
              <a:spcBef>
                <a:spcPts val="0"/>
              </a:spcBef>
              <a:spcAft>
                <a:spcPts val="0"/>
              </a:spcAft>
              <a:defRPr sz="1600" b="0">
                <a:solidFill>
                  <a:srgbClr val="142C40"/>
                </a:solidFill>
                <a:latin typeface="DejaVu Sans"/>
              </a:defRPr>
            </a:pPr>
            <a:r>
              <a:t>recording groups together; fit thresholds on</a:t>
            </a:r>
          </a:p>
          <a:p>
            <a:pPr algn="l">
              <a:lnSpc>
                <a:spcPts val="1968"/>
              </a:lnSpc>
              <a:spcBef>
                <a:spcPts val="0"/>
              </a:spcBef>
              <a:spcAft>
                <a:spcPts val="0"/>
              </a:spcAft>
              <a:defRPr sz="1600" b="0">
                <a:solidFill>
                  <a:srgbClr val="142C40"/>
                </a:solidFill>
                <a:latin typeface="DejaVu Sans"/>
              </a:defRPr>
            </a:pPr>
            <a:r>
              <a:t>development data.</a:t>
            </a:r>
          </a:p>
        </p:txBody>
      </p:sp>
      <p:sp>
        <p:nvSpPr>
          <p:cNvPr id="14" name="Rectangle 13"/>
          <p:cNvSpPr/>
          <p:nvPr/>
        </p:nvSpPr>
        <p:spPr>
          <a:xfrm>
            <a:off x="6235700" y="2032000"/>
            <a:ext cx="5422900" cy="195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032000"/>
            <a:ext cx="50800" cy="1955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09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Testing approach</a:t>
            </a:r>
          </a:p>
        </p:txBody>
      </p:sp>
      <p:sp>
        <p:nvSpPr>
          <p:cNvPr id="17" name="TextBox 16"/>
          <p:cNvSpPr txBox="1"/>
          <p:nvPr/>
        </p:nvSpPr>
        <p:spPr>
          <a:xfrm>
            <a:off x="6464300" y="2921000"/>
            <a:ext cx="4991100" cy="93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GPU quality: 13,400 predictions, no pacing.</a:t>
            </a:r>
          </a:p>
          <a:p>
            <a:pPr algn="l">
              <a:lnSpc>
                <a:spcPts val="1968"/>
              </a:lnSpc>
              <a:spcBef>
                <a:spcPts val="0"/>
              </a:spcBef>
              <a:spcAft>
                <a:spcPts val="0"/>
              </a:spcAft>
              <a:defRPr sz="1600" b="0">
                <a:solidFill>
                  <a:srgbClr val="142C40"/>
                </a:solidFill>
                <a:latin typeface="DejaVu Sans"/>
              </a:defRPr>
            </a:pPr>
            <a:r>
              <a:t>Separate four-core CPU latency pilot. VadCLIP is</a:t>
            </a:r>
          </a:p>
          <a:p>
            <a:pPr algn="l">
              <a:lnSpc>
                <a:spcPts val="1968"/>
              </a:lnSpc>
              <a:spcBef>
                <a:spcPts val="0"/>
              </a:spcBef>
              <a:spcAft>
                <a:spcPts val="0"/>
              </a:spcAft>
              <a:defRPr sz="1600" b="0">
                <a:solidFill>
                  <a:srgbClr val="142C40"/>
                </a:solidFill>
                <a:latin typeface="DejaVu Sans"/>
              </a:defRPr>
            </a:pPr>
            <a:r>
              <a:t>a supervised study.</a:t>
            </a:r>
          </a:p>
        </p:txBody>
      </p:sp>
      <p:sp>
        <p:nvSpPr>
          <p:cNvPr id="18" name="Rectangle 17"/>
          <p:cNvSpPr/>
          <p:nvPr/>
        </p:nvSpPr>
        <p:spPr>
          <a:xfrm>
            <a:off x="533400" y="4216400"/>
            <a:ext cx="5422900" cy="195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4216400"/>
            <a:ext cx="50800" cy="19558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2000" y="43942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Findings</a:t>
            </a:r>
          </a:p>
        </p:txBody>
      </p:sp>
      <p:sp>
        <p:nvSpPr>
          <p:cNvPr id="21" name="TextBox 20"/>
          <p:cNvSpPr txBox="1"/>
          <p:nvPr/>
        </p:nvSpPr>
        <p:spPr>
          <a:xfrm>
            <a:off x="762000" y="5105400"/>
            <a:ext cx="4991100" cy="93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Smoking recall ≤5.41% for current image-model</a:t>
            </a:r>
          </a:p>
          <a:p>
            <a:pPr algn="l">
              <a:lnSpc>
                <a:spcPts val="1968"/>
              </a:lnSpc>
              <a:spcBef>
                <a:spcPts val="0"/>
              </a:spcBef>
              <a:spcAft>
                <a:spcPts val="0"/>
              </a:spcAft>
              <a:defRPr sz="1600" b="0">
                <a:solidFill>
                  <a:srgbClr val="142C40"/>
                </a:solidFill>
                <a:latin typeface="DejaVu Sans"/>
              </a:defRPr>
            </a:pPr>
            <a:r>
              <a:t>prompts. SmolVLM flags every unattended</a:t>
            </a:r>
          </a:p>
          <a:p>
            <a:pPr algn="l">
              <a:lnSpc>
                <a:spcPts val="1968"/>
              </a:lnSpc>
              <a:spcBef>
                <a:spcPts val="0"/>
              </a:spcBef>
              <a:spcAft>
                <a:spcPts val="0"/>
              </a:spcAft>
              <a:defRPr sz="1600" b="0">
                <a:solidFill>
                  <a:srgbClr val="142C40"/>
                </a:solidFill>
                <a:latin typeface="DejaVu Sans"/>
              </a:defRPr>
            </a:pPr>
            <a:r>
              <a:t>input; MiniCPM stays normal.</a:t>
            </a:r>
          </a:p>
        </p:txBody>
      </p:sp>
      <p:sp>
        <p:nvSpPr>
          <p:cNvPr id="22" name="Rectangle 21"/>
          <p:cNvSpPr/>
          <p:nvPr/>
        </p:nvSpPr>
        <p:spPr>
          <a:xfrm>
            <a:off x="6235700" y="4216400"/>
            <a:ext cx="5422900" cy="1955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5700" y="4216400"/>
            <a:ext cx="50800" cy="19558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4300" y="43942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Evaluation limits</a:t>
            </a:r>
          </a:p>
        </p:txBody>
      </p:sp>
      <p:sp>
        <p:nvSpPr>
          <p:cNvPr id="25" name="TextBox 24"/>
          <p:cNvSpPr txBox="1"/>
          <p:nvPr/>
        </p:nvSpPr>
        <p:spPr>
          <a:xfrm>
            <a:off x="6464300" y="5105400"/>
            <a:ext cx="4991100" cy="939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Smoking is development-only. Unattended</a:t>
            </a:r>
          </a:p>
          <a:p>
            <a:pPr algn="l">
              <a:lnSpc>
                <a:spcPts val="1968"/>
              </a:lnSpc>
              <a:spcBef>
                <a:spcPts val="0"/>
              </a:spcBef>
              <a:spcAft>
                <a:spcPts val="0"/>
              </a:spcAft>
              <a:defRPr sz="1600" b="0">
                <a:solidFill>
                  <a:srgbClr val="142C40"/>
                </a:solidFill>
                <a:latin typeface="DejaVu Sans"/>
              </a:defRPr>
            </a:pPr>
            <a:r>
              <a:t>testing is tiny. Three tasks lack verified event</a:t>
            </a:r>
          </a:p>
          <a:p>
            <a:pPr algn="l">
              <a:lnSpc>
                <a:spcPts val="1968"/>
              </a:lnSpc>
              <a:spcBef>
                <a:spcPts val="0"/>
              </a:spcBef>
              <a:spcAft>
                <a:spcPts val="0"/>
              </a:spcAft>
              <a:defRPr sz="1600" b="0">
                <a:solidFill>
                  <a:srgbClr val="142C40"/>
                </a:solidFill>
                <a:latin typeface="DejaVu Sans"/>
              </a:defRPr>
            </a:pPr>
            <a:r>
              <a:t>labels and matched normals.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RESEARCH DESIGN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Compare model families on shared inputs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Four pretrained image models; VadCLIP uses a different supervised protocol</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anomaly_eval/models.py; combined run metadata</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03</a:t>
            </a:r>
          </a:p>
        </p:txBody>
      </p:sp>
      <p:sp>
        <p:nvSpPr>
          <p:cNvPr id="10" name="Rectangle 9"/>
          <p:cNvSpPr/>
          <p:nvPr/>
        </p:nvSpPr>
        <p:spPr>
          <a:xfrm>
            <a:off x="533400" y="2108200"/>
            <a:ext cx="3556000" cy="309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08200"/>
            <a:ext cx="50800" cy="3098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86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CLIP similarity</a:t>
            </a:r>
          </a:p>
        </p:txBody>
      </p:sp>
      <p:sp>
        <p:nvSpPr>
          <p:cNvPr id="13" name="TextBox 12"/>
          <p:cNvSpPr txBox="1"/>
          <p:nvPr/>
        </p:nvSpPr>
        <p:spPr>
          <a:xfrm>
            <a:off x="762000" y="2997200"/>
            <a:ext cx="3124200" cy="20828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MobileCLIP2-S2</a:t>
            </a:r>
          </a:p>
          <a:p>
            <a:pPr algn="l">
              <a:lnSpc>
                <a:spcPts val="2091"/>
              </a:lnSpc>
              <a:spcBef>
                <a:spcPts val="0"/>
              </a:spcBef>
              <a:spcAft>
                <a:spcPts val="0"/>
              </a:spcAft>
              <a:defRPr sz="1700" b="0">
                <a:solidFill>
                  <a:srgbClr val="142C40"/>
                </a:solidFill>
                <a:latin typeface="DejaVu Sans"/>
              </a:defRPr>
            </a:pPr>
            <a:r>
              <a:t>SigLIP2-B/16-224</a:t>
            </a:r>
          </a:p>
          <a:p>
            <a:pPr algn="l">
              <a:lnSpc>
                <a:spcPts val="2091"/>
              </a:lnSpc>
              <a:spcBef>
                <a:spcPts val="0"/>
              </a:spcBef>
              <a:spcAft>
                <a:spcPts val="0"/>
              </a:spcAft>
              <a:defRPr sz="1700" b="0">
                <a:solidFill>
                  <a:srgbClr val="142C40"/>
                </a:solidFill>
                <a:latin typeface="DejaVu Sans"/>
              </a:defRPr>
            </a:pPr>
          </a:p>
          <a:p>
            <a:pPr algn="l">
              <a:lnSpc>
                <a:spcPts val="2091"/>
              </a:lnSpc>
              <a:spcBef>
                <a:spcPts val="0"/>
              </a:spcBef>
              <a:spcAft>
                <a:spcPts val="0"/>
              </a:spcAft>
              <a:defRPr sz="1700" b="0">
                <a:solidFill>
                  <a:srgbClr val="142C40"/>
                </a:solidFill>
                <a:latin typeface="DejaVu Sans"/>
              </a:defRPr>
            </a:pPr>
            <a:r>
              <a:t>Continuous anomaly scores.</a:t>
            </a:r>
          </a:p>
          <a:p>
            <a:pPr algn="l">
              <a:lnSpc>
                <a:spcPts val="2091"/>
              </a:lnSpc>
              <a:spcBef>
                <a:spcPts val="0"/>
              </a:spcBef>
              <a:spcAft>
                <a:spcPts val="0"/>
              </a:spcAft>
              <a:defRPr sz="1700" b="0">
                <a:solidFill>
                  <a:srgbClr val="142C40"/>
                </a:solidFill>
                <a:latin typeface="DejaVu Sans"/>
              </a:defRPr>
            </a:pPr>
            <a:r>
              <a:t>Native image processing</a:t>
            </a:r>
          </a:p>
          <a:p>
            <a:pPr algn="l">
              <a:lnSpc>
                <a:spcPts val="2091"/>
              </a:lnSpc>
              <a:spcBef>
                <a:spcPts val="0"/>
              </a:spcBef>
              <a:spcAft>
                <a:spcPts val="0"/>
              </a:spcAft>
              <a:defRPr sz="1700" b="0">
                <a:solidFill>
                  <a:srgbClr val="142C40"/>
                </a:solidFill>
                <a:latin typeface="DejaVu Sans"/>
              </a:defRPr>
            </a:pPr>
            <a:r>
              <a:t>and cached text features.</a:t>
            </a:r>
          </a:p>
        </p:txBody>
      </p:sp>
      <p:sp>
        <p:nvSpPr>
          <p:cNvPr id="14" name="Rectangle 13"/>
          <p:cNvSpPr/>
          <p:nvPr/>
        </p:nvSpPr>
        <p:spPr>
          <a:xfrm>
            <a:off x="4318000" y="2108200"/>
            <a:ext cx="3556000" cy="309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108200"/>
            <a:ext cx="50800" cy="30988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286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Generative VLMs</a:t>
            </a:r>
          </a:p>
        </p:txBody>
      </p:sp>
      <p:sp>
        <p:nvSpPr>
          <p:cNvPr id="17" name="TextBox 16"/>
          <p:cNvSpPr txBox="1"/>
          <p:nvPr/>
        </p:nvSpPr>
        <p:spPr>
          <a:xfrm>
            <a:off x="4546600" y="2997200"/>
            <a:ext cx="3124200" cy="20828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SmolVLM-500M-Instruct</a:t>
            </a:r>
          </a:p>
          <a:p>
            <a:pPr algn="l">
              <a:lnSpc>
                <a:spcPts val="2091"/>
              </a:lnSpc>
              <a:spcBef>
                <a:spcPts val="0"/>
              </a:spcBef>
              <a:spcAft>
                <a:spcPts val="0"/>
              </a:spcAft>
              <a:defRPr sz="1700" b="0">
                <a:solidFill>
                  <a:srgbClr val="142C40"/>
                </a:solidFill>
                <a:latin typeface="DejaVu Sans"/>
              </a:defRPr>
            </a:pPr>
            <a:r>
              <a:t>MiniCPM-V 4.0</a:t>
            </a:r>
          </a:p>
          <a:p>
            <a:pPr algn="l">
              <a:lnSpc>
                <a:spcPts val="2091"/>
              </a:lnSpc>
              <a:spcBef>
                <a:spcPts val="0"/>
              </a:spcBef>
              <a:spcAft>
                <a:spcPts val="0"/>
              </a:spcAft>
              <a:defRPr sz="1700" b="0">
                <a:solidFill>
                  <a:srgbClr val="142C40"/>
                </a:solidFill>
                <a:latin typeface="DejaVu Sans"/>
              </a:defRPr>
            </a:pPr>
          </a:p>
          <a:p>
            <a:pPr algn="l">
              <a:lnSpc>
                <a:spcPts val="2091"/>
              </a:lnSpc>
              <a:spcBef>
                <a:spcPts val="0"/>
              </a:spcBef>
              <a:spcAft>
                <a:spcPts val="0"/>
              </a:spcAft>
              <a:defRPr sz="1700" b="0">
                <a:solidFill>
                  <a:srgbClr val="142C40"/>
                </a:solidFill>
                <a:latin typeface="DejaVu Sans"/>
              </a:defRPr>
            </a:pPr>
            <a:r>
              <a:t>Native chat formatting. Hard</a:t>
            </a:r>
          </a:p>
          <a:p>
            <a:pPr algn="l">
              <a:lnSpc>
                <a:spcPts val="2091"/>
              </a:lnSpc>
              <a:spcBef>
                <a:spcPts val="0"/>
              </a:spcBef>
              <a:spcAft>
                <a:spcPts val="0"/>
              </a:spcAft>
              <a:defRPr sz="1700" b="0">
                <a:solidFill>
                  <a:srgbClr val="142C40"/>
                </a:solidFill>
                <a:latin typeface="DejaVu Sans"/>
              </a:defRPr>
            </a:pPr>
            <a:r>
              <a:t>labels, raw responses and</a:t>
            </a:r>
          </a:p>
          <a:p>
            <a:pPr algn="l">
              <a:lnSpc>
                <a:spcPts val="2091"/>
              </a:lnSpc>
              <a:spcBef>
                <a:spcPts val="0"/>
              </a:spcBef>
              <a:spcAft>
                <a:spcPts val="0"/>
              </a:spcAft>
              <a:defRPr sz="1700" b="0">
                <a:solidFill>
                  <a:srgbClr val="142C40"/>
                </a:solidFill>
                <a:latin typeface="DejaVu Sans"/>
              </a:defRPr>
            </a:pPr>
            <a:r>
              <a:t>abstention tracking.</a:t>
            </a:r>
          </a:p>
        </p:txBody>
      </p:sp>
      <p:sp>
        <p:nvSpPr>
          <p:cNvPr id="18" name="Rectangle 17"/>
          <p:cNvSpPr/>
          <p:nvPr/>
        </p:nvSpPr>
        <p:spPr>
          <a:xfrm>
            <a:off x="8102600" y="2108200"/>
            <a:ext cx="3556000" cy="309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108200"/>
            <a:ext cx="50800" cy="3098800"/>
          </a:xfrm>
          <a:prstGeom prst="rect">
            <a:avLst/>
          </a:prstGeom>
          <a:solidFill>
            <a:srgbClr val="775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286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775791"/>
                </a:solidFill>
                <a:latin typeface="DejaVu Sans"/>
              </a:defRPr>
            </a:pPr>
            <a:r>
              <a:t>VadCLIP adaptation</a:t>
            </a:r>
          </a:p>
        </p:txBody>
      </p:sp>
      <p:sp>
        <p:nvSpPr>
          <p:cNvPr id="21" name="TextBox 20"/>
          <p:cNvSpPr txBox="1"/>
          <p:nvPr/>
        </p:nvSpPr>
        <p:spPr>
          <a:xfrm>
            <a:off x="8331200" y="2997200"/>
            <a:ext cx="3124200" cy="20828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Frozen CLIP-B/16 features</a:t>
            </a:r>
          </a:p>
          <a:p>
            <a:pPr algn="l">
              <a:lnSpc>
                <a:spcPts val="2091"/>
              </a:lnSpc>
              <a:spcBef>
                <a:spcPts val="0"/>
              </a:spcBef>
              <a:spcAft>
                <a:spcPts val="0"/>
              </a:spcAft>
              <a:defRPr sz="1700" b="0">
                <a:solidFill>
                  <a:srgbClr val="142C40"/>
                </a:solidFill>
                <a:latin typeface="DejaVu Sans"/>
              </a:defRPr>
            </a:pPr>
            <a:r>
              <a:t>plus a trained temporal</a:t>
            </a:r>
          </a:p>
          <a:p>
            <a:pPr algn="l">
              <a:lnSpc>
                <a:spcPts val="2091"/>
              </a:lnSpc>
              <a:spcBef>
                <a:spcPts val="0"/>
              </a:spcBef>
              <a:spcAft>
                <a:spcPts val="0"/>
              </a:spcAft>
              <a:defRPr sz="1700" b="0">
                <a:solidFill>
                  <a:srgbClr val="142C40"/>
                </a:solidFill>
                <a:latin typeface="DejaVu Sans"/>
              </a:defRPr>
            </a:pPr>
            <a:r>
              <a:t>adapter.</a:t>
            </a:r>
          </a:p>
          <a:p>
            <a:pPr algn="l">
              <a:lnSpc>
                <a:spcPts val="2091"/>
              </a:lnSpc>
              <a:spcBef>
                <a:spcPts val="0"/>
              </a:spcBef>
              <a:spcAft>
                <a:spcPts val="0"/>
              </a:spcAft>
              <a:defRPr sz="1700" b="0">
                <a:solidFill>
                  <a:srgbClr val="142C40"/>
                </a:solidFill>
                <a:latin typeface="DejaVu Sans"/>
              </a:defRPr>
            </a:pPr>
          </a:p>
          <a:p>
            <a:pPr algn="l">
              <a:lnSpc>
                <a:spcPts val="2091"/>
              </a:lnSpc>
              <a:spcBef>
                <a:spcPts val="0"/>
              </a:spcBef>
              <a:spcAft>
                <a:spcPts val="0"/>
              </a:spcAft>
              <a:defRPr sz="1700" b="0">
                <a:solidFill>
                  <a:srgbClr val="142C40"/>
                </a:solidFill>
                <a:latin typeface="DejaVu Sans"/>
              </a:defRPr>
            </a:pPr>
            <a:r>
              <a:t>Frame supervision and</a:t>
            </a:r>
          </a:p>
          <a:p>
            <a:pPr algn="l">
              <a:lnSpc>
                <a:spcPts val="2091"/>
              </a:lnSpc>
              <a:spcBef>
                <a:spcPts val="0"/>
              </a:spcBef>
              <a:spcAft>
                <a:spcPts val="0"/>
              </a:spcAft>
              <a:defRPr sz="1700" b="0">
                <a:solidFill>
                  <a:srgbClr val="142C40"/>
                </a:solidFill>
                <a:latin typeface="DejaVu Sans"/>
              </a:defRPr>
            </a:pPr>
            <a:r>
              <a:t>future context; offline</a:t>
            </a:r>
          </a:p>
          <a:p>
            <a:pPr algn="l">
              <a:lnSpc>
                <a:spcPts val="2091"/>
              </a:lnSpc>
              <a:spcBef>
                <a:spcPts val="0"/>
              </a:spcBef>
              <a:spcAft>
                <a:spcPts val="0"/>
              </a:spcAft>
              <a:defRPr sz="1700" b="0">
                <a:solidFill>
                  <a:srgbClr val="142C40"/>
                </a:solidFill>
                <a:latin typeface="DejaVu Sans"/>
              </a:defRPr>
            </a:pPr>
            <a:r>
              <a:t>smoking study.</a:t>
            </a:r>
          </a:p>
        </p:txBody>
      </p:sp>
      <p:sp>
        <p:nvSpPr>
          <p:cNvPr id="22" name="Rectangle 21"/>
          <p:cNvSpPr/>
          <p:nvPr/>
        </p:nvSpPr>
        <p:spPr>
          <a:xfrm>
            <a:off x="533400" y="5473700"/>
            <a:ext cx="11125200" cy="6096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5473700"/>
            <a:ext cx="50800" cy="6096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 y="5588000"/>
            <a:ext cx="10706100" cy="4572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007E80"/>
                </a:solidFill>
                <a:latin typeface="DejaVu Sans"/>
              </a:defRPr>
            </a:pPr>
            <a:r>
              <a:t>Compare image models within a cohort. Keep the supervised VadCLIP results separate.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DATASET READINESS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Only two tasks have usable event labels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Downloaded files do not automatically establish the target anomaly</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reports/data_readiness_20261013.json; dataset preparation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04</a:t>
            </a:r>
          </a:p>
        </p:txBody>
      </p:sp>
      <p:sp>
        <p:nvSpPr>
          <p:cNvPr id="10" name="Rectangle 9"/>
          <p:cNvSpPr/>
          <p:nvPr/>
        </p:nvSpPr>
        <p:spPr>
          <a:xfrm>
            <a:off x="533400" y="20828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197100"/>
            <a:ext cx="1587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Target</a:t>
            </a:r>
          </a:p>
        </p:txBody>
      </p:sp>
      <p:sp>
        <p:nvSpPr>
          <p:cNvPr id="12" name="TextBox 11"/>
          <p:cNvSpPr txBox="1"/>
          <p:nvPr/>
        </p:nvSpPr>
        <p:spPr>
          <a:xfrm>
            <a:off x="2476500" y="21971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Local material</a:t>
            </a:r>
          </a:p>
        </p:txBody>
      </p:sp>
      <p:sp>
        <p:nvSpPr>
          <p:cNvPr id="13" name="TextBox 12"/>
          <p:cNvSpPr txBox="1"/>
          <p:nvPr/>
        </p:nvSpPr>
        <p:spPr>
          <a:xfrm>
            <a:off x="4419600" y="2197100"/>
            <a:ext cx="4114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Annotation meaning</a:t>
            </a:r>
          </a:p>
        </p:txBody>
      </p:sp>
      <p:sp>
        <p:nvSpPr>
          <p:cNvPr id="14" name="TextBox 13"/>
          <p:cNvSpPr txBox="1"/>
          <p:nvPr/>
        </p:nvSpPr>
        <p:spPr>
          <a:xfrm>
            <a:off x="8763000" y="2197100"/>
            <a:ext cx="27940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Scoring readiness</a:t>
            </a:r>
          </a:p>
        </p:txBody>
      </p:sp>
      <p:sp>
        <p:nvSpPr>
          <p:cNvPr id="15" name="Rectangle 14"/>
          <p:cNvSpPr/>
          <p:nvPr/>
        </p:nvSpPr>
        <p:spPr>
          <a:xfrm>
            <a:off x="533400" y="2565400"/>
            <a:ext cx="11125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0400" y="2679700"/>
            <a:ext cx="1587500" cy="5461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Smoking</a:t>
            </a:r>
          </a:p>
        </p:txBody>
      </p:sp>
      <p:sp>
        <p:nvSpPr>
          <p:cNvPr id="17" name="TextBox 16"/>
          <p:cNvSpPr txBox="1"/>
          <p:nvPr/>
        </p:nvSpPr>
        <p:spPr>
          <a:xfrm>
            <a:off x="2476500" y="2679700"/>
            <a:ext cx="17145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3,278 frames</a:t>
            </a:r>
          </a:p>
        </p:txBody>
      </p:sp>
      <p:sp>
        <p:nvSpPr>
          <p:cNvPr id="18" name="TextBox 17"/>
          <p:cNvSpPr txBox="1"/>
          <p:nvPr/>
        </p:nvSpPr>
        <p:spPr>
          <a:xfrm>
            <a:off x="4419600" y="2679700"/>
            <a:ext cx="41148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Smoking / Not Smoking; 16 groups</a:t>
            </a:r>
          </a:p>
        </p:txBody>
      </p:sp>
      <p:sp>
        <p:nvSpPr>
          <p:cNvPr id="19" name="TextBox 18"/>
          <p:cNvSpPr txBox="1"/>
          <p:nvPr/>
        </p:nvSpPr>
        <p:spPr>
          <a:xfrm>
            <a:off x="8763000" y="2679700"/>
            <a:ext cx="27940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Development only</a:t>
            </a:r>
          </a:p>
        </p:txBody>
      </p:sp>
      <p:cxnSp>
        <p:nvCxnSpPr>
          <p:cNvPr id="20" name="Connector 19"/>
          <p:cNvCxnSpPr/>
          <p:nvPr/>
        </p:nvCxnSpPr>
        <p:spPr>
          <a:xfrm>
            <a:off x="533400" y="3251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251200"/>
            <a:ext cx="11125200" cy="685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365500"/>
            <a:ext cx="1587500" cy="5461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Unattended</a:t>
            </a:r>
          </a:p>
          <a:p>
            <a:pPr algn="l">
              <a:lnSpc>
                <a:spcPts val="1660"/>
              </a:lnSpc>
              <a:spcBef>
                <a:spcPts val="0"/>
              </a:spcBef>
              <a:spcAft>
                <a:spcPts val="0"/>
              </a:spcAft>
              <a:defRPr sz="1350" b="1">
                <a:solidFill>
                  <a:srgbClr val="142C40"/>
                </a:solidFill>
                <a:latin typeface="DejaVu Sans"/>
              </a:defRPr>
            </a:pPr>
            <a:r>
              <a:t>items</a:t>
            </a:r>
          </a:p>
        </p:txBody>
      </p:sp>
      <p:sp>
        <p:nvSpPr>
          <p:cNvPr id="23" name="TextBox 22"/>
          <p:cNvSpPr txBox="1"/>
          <p:nvPr/>
        </p:nvSpPr>
        <p:spPr>
          <a:xfrm>
            <a:off x="2476500" y="3365500"/>
            <a:ext cx="17145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36 endpoints</a:t>
            </a:r>
          </a:p>
          <a:p>
            <a:pPr algn="l">
              <a:lnSpc>
                <a:spcPts val="1660"/>
              </a:lnSpc>
              <a:spcBef>
                <a:spcPts val="0"/>
              </a:spcBef>
              <a:spcAft>
                <a:spcPts val="0"/>
              </a:spcAft>
              <a:defRPr sz="1350" b="0">
                <a:solidFill>
                  <a:srgbClr val="142C40"/>
                </a:solidFill>
                <a:latin typeface="DejaVu Sans"/>
              </a:defRPr>
            </a:pPr>
            <a:r>
              <a:t>+ 36 windows</a:t>
            </a:r>
          </a:p>
        </p:txBody>
      </p:sp>
      <p:sp>
        <p:nvSpPr>
          <p:cNvPr id="24" name="TextBox 23"/>
          <p:cNvSpPr txBox="1"/>
          <p:nvPr/>
        </p:nvSpPr>
        <p:spPr>
          <a:xfrm>
            <a:off x="4419600" y="3365500"/>
            <a:ext cx="41148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Reviewed CAVIAR events / controls</a:t>
            </a:r>
          </a:p>
        </p:txBody>
      </p:sp>
      <p:sp>
        <p:nvSpPr>
          <p:cNvPr id="25" name="TextBox 24"/>
          <p:cNvSpPr txBox="1"/>
          <p:nvPr/>
        </p:nvSpPr>
        <p:spPr>
          <a:xfrm>
            <a:off x="8763000" y="3365500"/>
            <a:ext cx="27940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Small dev/test cohort</a:t>
            </a:r>
          </a:p>
        </p:txBody>
      </p:sp>
      <p:cxnSp>
        <p:nvCxnSpPr>
          <p:cNvPr id="26" name="Connector 25"/>
          <p:cNvCxnSpPr/>
          <p:nvPr/>
        </p:nvCxnSpPr>
        <p:spPr>
          <a:xfrm>
            <a:off x="533400" y="3937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937000"/>
            <a:ext cx="11125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4051300"/>
            <a:ext cx="1587500" cy="5461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Littering</a:t>
            </a:r>
          </a:p>
        </p:txBody>
      </p:sp>
      <p:sp>
        <p:nvSpPr>
          <p:cNvPr id="29" name="TextBox 28"/>
          <p:cNvSpPr txBox="1"/>
          <p:nvPr/>
        </p:nvSpPr>
        <p:spPr>
          <a:xfrm>
            <a:off x="2476500" y="4051300"/>
            <a:ext cx="17145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6,721 images</a:t>
            </a:r>
          </a:p>
        </p:txBody>
      </p:sp>
      <p:sp>
        <p:nvSpPr>
          <p:cNvPr id="30" name="TextBox 29"/>
          <p:cNvSpPr txBox="1"/>
          <p:nvPr/>
        </p:nvSpPr>
        <p:spPr>
          <a:xfrm>
            <a:off x="4419600" y="4051300"/>
            <a:ext cx="41148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Action boxes; rubbish disposal unverified</a:t>
            </a:r>
          </a:p>
        </p:txBody>
      </p:sp>
      <p:sp>
        <p:nvSpPr>
          <p:cNvPr id="31" name="TextBox 30"/>
          <p:cNvSpPr txBox="1"/>
          <p:nvPr/>
        </p:nvSpPr>
        <p:spPr>
          <a:xfrm>
            <a:off x="8763000" y="4051300"/>
            <a:ext cx="27940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Needs event / normal review</a:t>
            </a:r>
          </a:p>
        </p:txBody>
      </p:sp>
      <p:cxnSp>
        <p:nvCxnSpPr>
          <p:cNvPr id="32" name="Connector 31"/>
          <p:cNvCxnSpPr/>
          <p:nvPr/>
        </p:nvCxnSpPr>
        <p:spPr>
          <a:xfrm>
            <a:off x="533400" y="46228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33400" y="4622800"/>
            <a:ext cx="11125200" cy="6858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400" y="4737100"/>
            <a:ext cx="1587500" cy="5461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Loitering</a:t>
            </a:r>
          </a:p>
        </p:txBody>
      </p:sp>
      <p:sp>
        <p:nvSpPr>
          <p:cNvPr id="35" name="TextBox 34"/>
          <p:cNvSpPr txBox="1"/>
          <p:nvPr/>
        </p:nvSpPr>
        <p:spPr>
          <a:xfrm>
            <a:off x="2476500" y="4737100"/>
            <a:ext cx="17145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1,675 images</a:t>
            </a:r>
          </a:p>
          <a:p>
            <a:pPr algn="l">
              <a:lnSpc>
                <a:spcPts val="1660"/>
              </a:lnSpc>
              <a:spcBef>
                <a:spcPts val="0"/>
              </a:spcBef>
              <a:spcAft>
                <a:spcPts val="0"/>
              </a:spcAft>
              <a:defRPr sz="1350" b="0">
                <a:solidFill>
                  <a:srgbClr val="142C40"/>
                </a:solidFill>
                <a:latin typeface="DejaVu Sans"/>
              </a:defRPr>
            </a:pPr>
            <a:r>
              <a:t>95 videos</a:t>
            </a:r>
          </a:p>
        </p:txBody>
      </p:sp>
      <p:sp>
        <p:nvSpPr>
          <p:cNvPr id="36" name="TextBox 35"/>
          <p:cNvSpPr txBox="1"/>
          <p:nvPr/>
        </p:nvSpPr>
        <p:spPr>
          <a:xfrm>
            <a:off x="4419600" y="4737100"/>
            <a:ext cx="41148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Person boxes; no duration-event mapping</a:t>
            </a:r>
          </a:p>
        </p:txBody>
      </p:sp>
      <p:sp>
        <p:nvSpPr>
          <p:cNvPr id="37" name="TextBox 36"/>
          <p:cNvSpPr txBox="1"/>
          <p:nvPr/>
        </p:nvSpPr>
        <p:spPr>
          <a:xfrm>
            <a:off x="8763000" y="4737100"/>
            <a:ext cx="27940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Needs event intervals</a:t>
            </a:r>
          </a:p>
        </p:txBody>
      </p:sp>
      <p:cxnSp>
        <p:nvCxnSpPr>
          <p:cNvPr id="38" name="Connector 37"/>
          <p:cNvCxnSpPr/>
          <p:nvPr/>
        </p:nvCxnSpPr>
        <p:spPr>
          <a:xfrm>
            <a:off x="533400" y="5308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308600"/>
            <a:ext cx="111252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0400" y="5422900"/>
            <a:ext cx="1587500" cy="546100"/>
          </a:xfrm>
          <a:prstGeom prst="rect">
            <a:avLst/>
          </a:prstGeom>
          <a:noFill/>
        </p:spPr>
        <p:txBody>
          <a:bodyPr wrap="none" lIns="0" rIns="0" tIns="0" bIns="0" anchor="t">
            <a:spAutoFit/>
          </a:bodyPr>
          <a:lstStyle/>
          <a:p>
            <a:pPr algn="l">
              <a:lnSpc>
                <a:spcPts val="1660"/>
              </a:lnSpc>
              <a:spcBef>
                <a:spcPts val="0"/>
              </a:spcBef>
              <a:spcAft>
                <a:spcPts val="0"/>
              </a:spcAft>
              <a:defRPr sz="1350" b="1">
                <a:solidFill>
                  <a:srgbClr val="142C40"/>
                </a:solidFill>
                <a:latin typeface="DejaVu Sans"/>
              </a:defRPr>
            </a:pPr>
            <a:r>
              <a:t>Rough sleeping</a:t>
            </a:r>
          </a:p>
        </p:txBody>
      </p:sp>
      <p:sp>
        <p:nvSpPr>
          <p:cNvPr id="41" name="TextBox 40"/>
          <p:cNvSpPr txBox="1"/>
          <p:nvPr/>
        </p:nvSpPr>
        <p:spPr>
          <a:xfrm>
            <a:off x="2476500" y="5422900"/>
            <a:ext cx="17145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224 files</a:t>
            </a:r>
          </a:p>
          <a:p>
            <a:pPr algn="l">
              <a:lnSpc>
                <a:spcPts val="1660"/>
              </a:lnSpc>
              <a:spcBef>
                <a:spcPts val="0"/>
              </a:spcBef>
              <a:spcAft>
                <a:spcPts val="0"/>
              </a:spcAft>
              <a:defRPr sz="1350" b="0">
                <a:solidFill>
                  <a:srgbClr val="142C40"/>
                </a:solidFill>
                <a:latin typeface="DejaVu Sans"/>
              </a:defRPr>
            </a:pPr>
            <a:r>
              <a:t>112 unique</a:t>
            </a:r>
          </a:p>
        </p:txBody>
      </p:sp>
      <p:sp>
        <p:nvSpPr>
          <p:cNvPr id="42" name="TextBox 41"/>
          <p:cNvSpPr txBox="1"/>
          <p:nvPr/>
        </p:nvSpPr>
        <p:spPr>
          <a:xfrm>
            <a:off x="4419600" y="5422900"/>
            <a:ext cx="41148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Laying / standing pose proxies</a:t>
            </a:r>
          </a:p>
        </p:txBody>
      </p:sp>
      <p:sp>
        <p:nvSpPr>
          <p:cNvPr id="43" name="TextBox 42"/>
          <p:cNvSpPr txBox="1"/>
          <p:nvPr/>
        </p:nvSpPr>
        <p:spPr>
          <a:xfrm>
            <a:off x="8763000" y="5422900"/>
            <a:ext cx="2794000" cy="5461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142C40"/>
                </a:solidFill>
                <a:latin typeface="DejaVu Sans"/>
              </a:defRPr>
            </a:pPr>
            <a:r>
              <a:t>Needs verified sleeping events</a:t>
            </a:r>
          </a:p>
        </p:txBody>
      </p:sp>
      <p:cxnSp>
        <p:nvCxnSpPr>
          <p:cNvPr id="44" name="Connector 43"/>
          <p:cNvCxnSpPr/>
          <p:nvPr/>
        </p:nvCxnSpPr>
        <p:spPr>
          <a:xfrm>
            <a:off x="533400" y="5994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1500" y="6070600"/>
            <a:ext cx="11049000" cy="2540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C86535"/>
                </a:solidFill>
                <a:latin typeface="DejaVu Sans"/>
              </a:defRPr>
            </a:pPr>
            <a:r>
              <a:t>Missing tasks remain unscored. No proxy labels or missing annotations are converted into event negatives.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METHODOLOGY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Protect the data before measuring quality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repeatable pipeline from source annotations to matched model comparisons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data.py; datasets/prepare.py; analysis.py</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05</a:t>
            </a:r>
          </a:p>
        </p:txBody>
      </p:sp>
      <p:sp>
        <p:nvSpPr>
          <p:cNvPr id="10" name="Rectangle 9"/>
          <p:cNvSpPr/>
          <p:nvPr/>
        </p:nvSpPr>
        <p:spPr>
          <a:xfrm>
            <a:off x="533400" y="2184400"/>
            <a:ext cx="2082800" cy="2616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1200" y="2374900"/>
            <a:ext cx="1727200" cy="533400"/>
          </a:xfrm>
          <a:prstGeom prst="rect">
            <a:avLst/>
          </a:prstGeom>
          <a:noFill/>
        </p:spPr>
        <p:txBody>
          <a:bodyPr wrap="none" lIns="0" rIns="0" tIns="0" bIns="0" anchor="t">
            <a:spAutoFit/>
          </a:bodyPr>
          <a:lstStyle/>
          <a:p>
            <a:pPr algn="l">
              <a:lnSpc>
                <a:spcPts val="3567"/>
              </a:lnSpc>
              <a:spcBef>
                <a:spcPts val="0"/>
              </a:spcBef>
              <a:spcAft>
                <a:spcPts val="0"/>
              </a:spcAft>
              <a:defRPr sz="2900" b="1">
                <a:solidFill>
                  <a:srgbClr val="007E80"/>
                </a:solidFill>
                <a:latin typeface="DejaVu Sans"/>
              </a:defRPr>
            </a:pPr>
            <a:r>
              <a:t>01</a:t>
            </a:r>
          </a:p>
        </p:txBody>
      </p:sp>
      <p:sp>
        <p:nvSpPr>
          <p:cNvPr id="12" name="TextBox 11"/>
          <p:cNvSpPr txBox="1"/>
          <p:nvPr/>
        </p:nvSpPr>
        <p:spPr>
          <a:xfrm>
            <a:off x="711200" y="3035300"/>
            <a:ext cx="1727200" cy="6985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142C40"/>
                </a:solidFill>
                <a:latin typeface="DejaVu Sans"/>
              </a:defRPr>
            </a:pPr>
            <a:r>
              <a:t>Review labels</a:t>
            </a:r>
          </a:p>
        </p:txBody>
      </p:sp>
      <p:sp>
        <p:nvSpPr>
          <p:cNvPr id="13" name="TextBox 12"/>
          <p:cNvSpPr txBox="1"/>
          <p:nvPr/>
        </p:nvSpPr>
        <p:spPr>
          <a:xfrm>
            <a:off x="711200" y="3848100"/>
            <a:ext cx="1727200" cy="889000"/>
          </a:xfrm>
          <a:prstGeom prst="rect">
            <a:avLst/>
          </a:prstGeom>
          <a:noFill/>
        </p:spPr>
        <p:txBody>
          <a:bodyPr wrap="none" lIns="0" rIns="0" tIns="0" bIns="0" anchor="t">
            <a:spAutoFit/>
          </a:bodyPr>
          <a:lstStyle/>
          <a:p>
            <a:pPr algn="l">
              <a:lnSpc>
                <a:spcPts val="1574"/>
              </a:lnSpc>
              <a:spcBef>
                <a:spcPts val="0"/>
              </a:spcBef>
              <a:spcAft>
                <a:spcPts val="0"/>
              </a:spcAft>
              <a:defRPr sz="1280" b="0">
                <a:solidFill>
                  <a:srgbClr val="526471"/>
                </a:solidFill>
                <a:latin typeface="DejaVu Sans"/>
              </a:defRPr>
            </a:pPr>
            <a:r>
              <a:t>Verify events,</a:t>
            </a:r>
          </a:p>
          <a:p>
            <a:pPr algn="l">
              <a:lnSpc>
                <a:spcPts val="1574"/>
              </a:lnSpc>
              <a:spcBef>
                <a:spcPts val="0"/>
              </a:spcBef>
              <a:spcAft>
                <a:spcPts val="0"/>
              </a:spcAft>
              <a:defRPr sz="1280" b="0">
                <a:solidFill>
                  <a:srgbClr val="526471"/>
                </a:solidFill>
                <a:latin typeface="DejaVu Sans"/>
              </a:defRPr>
            </a:pPr>
            <a:r>
              <a:t>normal controls and</a:t>
            </a:r>
          </a:p>
          <a:p>
            <a:pPr algn="l">
              <a:lnSpc>
                <a:spcPts val="1574"/>
              </a:lnSpc>
              <a:spcBef>
                <a:spcPts val="0"/>
              </a:spcBef>
              <a:spcAft>
                <a:spcPts val="0"/>
              </a:spcAft>
              <a:defRPr sz="1280" b="0">
                <a:solidFill>
                  <a:srgbClr val="526471"/>
                </a:solidFill>
                <a:latin typeface="DejaVu Sans"/>
              </a:defRPr>
            </a:pPr>
            <a:r>
              <a:t>recording identity.</a:t>
            </a:r>
          </a:p>
        </p:txBody>
      </p:sp>
      <p:sp>
        <p:nvSpPr>
          <p:cNvPr id="14" name="TextBox 13"/>
          <p:cNvSpPr txBox="1"/>
          <p:nvPr/>
        </p:nvSpPr>
        <p:spPr>
          <a:xfrm>
            <a:off x="2616200" y="3225800"/>
            <a:ext cx="177800" cy="266700"/>
          </a:xfrm>
          <a:prstGeom prst="rect">
            <a:avLst/>
          </a:prstGeom>
          <a:noFill/>
        </p:spPr>
        <p:txBody>
          <a:bodyPr wrap="none" lIns="0" rIns="0" tIns="0" bIns="0" anchor="t">
            <a:spAutoFit/>
          </a:bodyPr>
          <a:lstStyle/>
          <a:p>
            <a:pPr algn="ctr">
              <a:lnSpc>
                <a:spcPts val="2091"/>
              </a:lnSpc>
              <a:spcBef>
                <a:spcPts val="0"/>
              </a:spcBef>
              <a:spcAft>
                <a:spcPts val="0"/>
              </a:spcAft>
              <a:defRPr sz="1700" b="1">
                <a:solidFill>
                  <a:srgbClr val="007E80"/>
                </a:solidFill>
                <a:latin typeface="DejaVu Sans"/>
              </a:defRPr>
            </a:pPr>
            <a:r>
              <a:t>›</a:t>
            </a:r>
          </a:p>
        </p:txBody>
      </p:sp>
      <p:sp>
        <p:nvSpPr>
          <p:cNvPr id="15" name="Rectangle 14"/>
          <p:cNvSpPr/>
          <p:nvPr/>
        </p:nvSpPr>
        <p:spPr>
          <a:xfrm>
            <a:off x="2794000" y="2184400"/>
            <a:ext cx="2082800" cy="2616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374900"/>
            <a:ext cx="1727200" cy="533400"/>
          </a:xfrm>
          <a:prstGeom prst="rect">
            <a:avLst/>
          </a:prstGeom>
          <a:noFill/>
        </p:spPr>
        <p:txBody>
          <a:bodyPr wrap="none" lIns="0" rIns="0" tIns="0" bIns="0" anchor="t">
            <a:spAutoFit/>
          </a:bodyPr>
          <a:lstStyle/>
          <a:p>
            <a:pPr algn="l">
              <a:lnSpc>
                <a:spcPts val="3567"/>
              </a:lnSpc>
              <a:spcBef>
                <a:spcPts val="0"/>
              </a:spcBef>
              <a:spcAft>
                <a:spcPts val="0"/>
              </a:spcAft>
              <a:defRPr sz="2900" b="1">
                <a:solidFill>
                  <a:srgbClr val="007E80"/>
                </a:solidFill>
                <a:latin typeface="DejaVu Sans"/>
              </a:defRPr>
            </a:pPr>
            <a:r>
              <a:t>02</a:t>
            </a:r>
          </a:p>
        </p:txBody>
      </p:sp>
      <p:sp>
        <p:nvSpPr>
          <p:cNvPr id="17" name="TextBox 16"/>
          <p:cNvSpPr txBox="1"/>
          <p:nvPr/>
        </p:nvSpPr>
        <p:spPr>
          <a:xfrm>
            <a:off x="2971800" y="3035300"/>
            <a:ext cx="1727200" cy="6985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142C40"/>
                </a:solidFill>
                <a:latin typeface="DejaVu Sans"/>
              </a:defRPr>
            </a:pPr>
            <a:r>
              <a:t>Standardize</a:t>
            </a:r>
          </a:p>
        </p:txBody>
      </p:sp>
      <p:sp>
        <p:nvSpPr>
          <p:cNvPr id="18" name="TextBox 17"/>
          <p:cNvSpPr txBox="1"/>
          <p:nvPr/>
        </p:nvSpPr>
        <p:spPr>
          <a:xfrm>
            <a:off x="2971800" y="3848100"/>
            <a:ext cx="1727200" cy="889000"/>
          </a:xfrm>
          <a:prstGeom prst="rect">
            <a:avLst/>
          </a:prstGeom>
          <a:noFill/>
        </p:spPr>
        <p:txBody>
          <a:bodyPr wrap="none" lIns="0" rIns="0" tIns="0" bIns="0" anchor="t">
            <a:spAutoFit/>
          </a:bodyPr>
          <a:lstStyle/>
          <a:p>
            <a:pPr algn="l">
              <a:lnSpc>
                <a:spcPts val="1574"/>
              </a:lnSpc>
              <a:spcBef>
                <a:spcPts val="0"/>
              </a:spcBef>
              <a:spcAft>
                <a:spcPts val="0"/>
              </a:spcAft>
              <a:defRPr sz="1280" b="0">
                <a:solidFill>
                  <a:srgbClr val="526471"/>
                </a:solidFill>
                <a:latin typeface="DejaVu Sans"/>
              </a:defRPr>
            </a:pPr>
            <a:r>
              <a:t>Build task-specific</a:t>
            </a:r>
          </a:p>
          <a:p>
            <a:pPr algn="l">
              <a:lnSpc>
                <a:spcPts val="1574"/>
              </a:lnSpc>
              <a:spcBef>
                <a:spcPts val="0"/>
              </a:spcBef>
              <a:spcAft>
                <a:spcPts val="0"/>
              </a:spcAft>
              <a:defRPr sz="1280" b="0">
                <a:solidFill>
                  <a:srgbClr val="526471"/>
                </a:solidFill>
                <a:latin typeface="DejaVu Sans"/>
              </a:defRPr>
            </a:pPr>
            <a:r>
              <a:t>manifests and</a:t>
            </a:r>
          </a:p>
          <a:p>
            <a:pPr algn="l">
              <a:lnSpc>
                <a:spcPts val="1574"/>
              </a:lnSpc>
              <a:spcBef>
                <a:spcPts val="0"/>
              </a:spcBef>
              <a:spcAft>
                <a:spcPts val="0"/>
              </a:spcAft>
              <a:defRPr sz="1280" b="0">
                <a:solidFill>
                  <a:srgbClr val="526471"/>
                </a:solidFill>
                <a:latin typeface="DejaVu Sans"/>
              </a:defRPr>
            </a:pPr>
            <a:r>
              <a:t>frame/window</a:t>
            </a:r>
          </a:p>
          <a:p>
            <a:pPr algn="l">
              <a:lnSpc>
                <a:spcPts val="1574"/>
              </a:lnSpc>
              <a:spcBef>
                <a:spcPts val="0"/>
              </a:spcBef>
              <a:spcAft>
                <a:spcPts val="0"/>
              </a:spcAft>
              <a:defRPr sz="1280" b="0">
                <a:solidFill>
                  <a:srgbClr val="526471"/>
                </a:solidFill>
                <a:latin typeface="DejaVu Sans"/>
              </a:defRPr>
            </a:pPr>
            <a:r>
              <a:t>inputs.</a:t>
            </a:r>
          </a:p>
        </p:txBody>
      </p:sp>
      <p:sp>
        <p:nvSpPr>
          <p:cNvPr id="19" name="TextBox 18"/>
          <p:cNvSpPr txBox="1"/>
          <p:nvPr/>
        </p:nvSpPr>
        <p:spPr>
          <a:xfrm>
            <a:off x="4876800" y="3225800"/>
            <a:ext cx="177800" cy="266700"/>
          </a:xfrm>
          <a:prstGeom prst="rect">
            <a:avLst/>
          </a:prstGeom>
          <a:noFill/>
        </p:spPr>
        <p:txBody>
          <a:bodyPr wrap="none" lIns="0" rIns="0" tIns="0" bIns="0" anchor="t">
            <a:spAutoFit/>
          </a:bodyPr>
          <a:lstStyle/>
          <a:p>
            <a:pPr algn="ctr">
              <a:lnSpc>
                <a:spcPts val="2091"/>
              </a:lnSpc>
              <a:spcBef>
                <a:spcPts val="0"/>
              </a:spcBef>
              <a:spcAft>
                <a:spcPts val="0"/>
              </a:spcAft>
              <a:defRPr sz="1700" b="1">
                <a:solidFill>
                  <a:srgbClr val="007E80"/>
                </a:solidFill>
                <a:latin typeface="DejaVu Sans"/>
              </a:defRPr>
            </a:pPr>
            <a:r>
              <a:t>›</a:t>
            </a:r>
          </a:p>
        </p:txBody>
      </p:sp>
      <p:sp>
        <p:nvSpPr>
          <p:cNvPr id="20" name="Rectangle 19"/>
          <p:cNvSpPr/>
          <p:nvPr/>
        </p:nvSpPr>
        <p:spPr>
          <a:xfrm>
            <a:off x="5054600" y="2184400"/>
            <a:ext cx="2082800" cy="2616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32400" y="2374900"/>
            <a:ext cx="1727200" cy="533400"/>
          </a:xfrm>
          <a:prstGeom prst="rect">
            <a:avLst/>
          </a:prstGeom>
          <a:noFill/>
        </p:spPr>
        <p:txBody>
          <a:bodyPr wrap="none" lIns="0" rIns="0" tIns="0" bIns="0" anchor="t">
            <a:spAutoFit/>
          </a:bodyPr>
          <a:lstStyle/>
          <a:p>
            <a:pPr algn="l">
              <a:lnSpc>
                <a:spcPts val="3567"/>
              </a:lnSpc>
              <a:spcBef>
                <a:spcPts val="0"/>
              </a:spcBef>
              <a:spcAft>
                <a:spcPts val="0"/>
              </a:spcAft>
              <a:defRPr sz="2900" b="1">
                <a:solidFill>
                  <a:srgbClr val="007E80"/>
                </a:solidFill>
                <a:latin typeface="DejaVu Sans"/>
              </a:defRPr>
            </a:pPr>
            <a:r>
              <a:t>03</a:t>
            </a:r>
          </a:p>
        </p:txBody>
      </p:sp>
      <p:sp>
        <p:nvSpPr>
          <p:cNvPr id="22" name="TextBox 21"/>
          <p:cNvSpPr txBox="1"/>
          <p:nvPr/>
        </p:nvSpPr>
        <p:spPr>
          <a:xfrm>
            <a:off x="5232400" y="3035300"/>
            <a:ext cx="1727200" cy="6985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142C40"/>
                </a:solidFill>
                <a:latin typeface="DejaVu Sans"/>
              </a:defRPr>
            </a:pPr>
            <a:r>
              <a:t>Dedup &amp; split</a:t>
            </a:r>
          </a:p>
        </p:txBody>
      </p:sp>
      <p:sp>
        <p:nvSpPr>
          <p:cNvPr id="23" name="TextBox 22"/>
          <p:cNvSpPr txBox="1"/>
          <p:nvPr/>
        </p:nvSpPr>
        <p:spPr>
          <a:xfrm>
            <a:off x="5232400" y="3848100"/>
            <a:ext cx="1727200" cy="889000"/>
          </a:xfrm>
          <a:prstGeom prst="rect">
            <a:avLst/>
          </a:prstGeom>
          <a:noFill/>
        </p:spPr>
        <p:txBody>
          <a:bodyPr wrap="none" lIns="0" rIns="0" tIns="0" bIns="0" anchor="t">
            <a:spAutoFit/>
          </a:bodyPr>
          <a:lstStyle/>
          <a:p>
            <a:pPr algn="l">
              <a:lnSpc>
                <a:spcPts val="1574"/>
              </a:lnSpc>
              <a:spcBef>
                <a:spcPts val="0"/>
              </a:spcBef>
              <a:spcAft>
                <a:spcPts val="0"/>
              </a:spcAft>
              <a:defRPr sz="1280" b="0">
                <a:solidFill>
                  <a:srgbClr val="526471"/>
                </a:solidFill>
                <a:latin typeface="DejaVu Sans"/>
              </a:defRPr>
            </a:pPr>
            <a:r>
              <a:t>Check pixels and</a:t>
            </a:r>
          </a:p>
          <a:p>
            <a:pPr algn="l">
              <a:lnSpc>
                <a:spcPts val="1574"/>
              </a:lnSpc>
              <a:spcBef>
                <a:spcPts val="0"/>
              </a:spcBef>
              <a:spcAft>
                <a:spcPts val="0"/>
              </a:spcAft>
              <a:defRPr sz="1280" b="0">
                <a:solidFill>
                  <a:srgbClr val="526471"/>
                </a:solidFill>
                <a:latin typeface="DejaVu Sans"/>
              </a:defRPr>
            </a:pPr>
            <a:r>
              <a:t>source moments;</a:t>
            </a:r>
          </a:p>
          <a:p>
            <a:pPr algn="l">
              <a:lnSpc>
                <a:spcPts val="1574"/>
              </a:lnSpc>
              <a:spcBef>
                <a:spcPts val="0"/>
              </a:spcBef>
              <a:spcAft>
                <a:spcPts val="0"/>
              </a:spcAft>
              <a:defRPr sz="1280" b="0">
                <a:solidFill>
                  <a:srgbClr val="526471"/>
                </a:solidFill>
                <a:latin typeface="DejaVu Sans"/>
              </a:defRPr>
            </a:pPr>
            <a:r>
              <a:t>hold groups</a:t>
            </a:r>
          </a:p>
          <a:p>
            <a:pPr algn="l">
              <a:lnSpc>
                <a:spcPts val="1574"/>
              </a:lnSpc>
              <a:spcBef>
                <a:spcPts val="0"/>
              </a:spcBef>
              <a:spcAft>
                <a:spcPts val="0"/>
              </a:spcAft>
              <a:defRPr sz="1280" b="0">
                <a:solidFill>
                  <a:srgbClr val="526471"/>
                </a:solidFill>
                <a:latin typeface="DejaVu Sans"/>
              </a:defRPr>
            </a:pPr>
            <a:r>
              <a:t>together.</a:t>
            </a:r>
          </a:p>
        </p:txBody>
      </p:sp>
      <p:sp>
        <p:nvSpPr>
          <p:cNvPr id="24" name="TextBox 23"/>
          <p:cNvSpPr txBox="1"/>
          <p:nvPr/>
        </p:nvSpPr>
        <p:spPr>
          <a:xfrm>
            <a:off x="7137400" y="3225800"/>
            <a:ext cx="177800" cy="266700"/>
          </a:xfrm>
          <a:prstGeom prst="rect">
            <a:avLst/>
          </a:prstGeom>
          <a:noFill/>
        </p:spPr>
        <p:txBody>
          <a:bodyPr wrap="none" lIns="0" rIns="0" tIns="0" bIns="0" anchor="t">
            <a:spAutoFit/>
          </a:bodyPr>
          <a:lstStyle/>
          <a:p>
            <a:pPr algn="ctr">
              <a:lnSpc>
                <a:spcPts val="2091"/>
              </a:lnSpc>
              <a:spcBef>
                <a:spcPts val="0"/>
              </a:spcBef>
              <a:spcAft>
                <a:spcPts val="0"/>
              </a:spcAft>
              <a:defRPr sz="1700" b="1">
                <a:solidFill>
                  <a:srgbClr val="007E80"/>
                </a:solidFill>
                <a:latin typeface="DejaVu Sans"/>
              </a:defRPr>
            </a:pPr>
            <a:r>
              <a:t>›</a:t>
            </a:r>
          </a:p>
        </p:txBody>
      </p:sp>
      <p:sp>
        <p:nvSpPr>
          <p:cNvPr id="25" name="Rectangle 24"/>
          <p:cNvSpPr/>
          <p:nvPr/>
        </p:nvSpPr>
        <p:spPr>
          <a:xfrm>
            <a:off x="7315200" y="2184400"/>
            <a:ext cx="2082800" cy="2616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3000" y="2374900"/>
            <a:ext cx="1727200" cy="533400"/>
          </a:xfrm>
          <a:prstGeom prst="rect">
            <a:avLst/>
          </a:prstGeom>
          <a:noFill/>
        </p:spPr>
        <p:txBody>
          <a:bodyPr wrap="none" lIns="0" rIns="0" tIns="0" bIns="0" anchor="t">
            <a:spAutoFit/>
          </a:bodyPr>
          <a:lstStyle/>
          <a:p>
            <a:pPr algn="l">
              <a:lnSpc>
                <a:spcPts val="3567"/>
              </a:lnSpc>
              <a:spcBef>
                <a:spcPts val="0"/>
              </a:spcBef>
              <a:spcAft>
                <a:spcPts val="0"/>
              </a:spcAft>
              <a:defRPr sz="2900" b="1">
                <a:solidFill>
                  <a:srgbClr val="007E80"/>
                </a:solidFill>
                <a:latin typeface="DejaVu Sans"/>
              </a:defRPr>
            </a:pPr>
            <a:r>
              <a:t>04</a:t>
            </a:r>
          </a:p>
        </p:txBody>
      </p:sp>
      <p:sp>
        <p:nvSpPr>
          <p:cNvPr id="27" name="TextBox 26"/>
          <p:cNvSpPr txBox="1"/>
          <p:nvPr/>
        </p:nvSpPr>
        <p:spPr>
          <a:xfrm>
            <a:off x="7493000" y="3035300"/>
            <a:ext cx="1727200" cy="6985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142C40"/>
                </a:solidFill>
                <a:latin typeface="DejaVu Sans"/>
              </a:defRPr>
            </a:pPr>
            <a:r>
              <a:t>Run models</a:t>
            </a:r>
          </a:p>
        </p:txBody>
      </p:sp>
      <p:sp>
        <p:nvSpPr>
          <p:cNvPr id="28" name="TextBox 27"/>
          <p:cNvSpPr txBox="1"/>
          <p:nvPr/>
        </p:nvSpPr>
        <p:spPr>
          <a:xfrm>
            <a:off x="7493000" y="3848100"/>
            <a:ext cx="1727200" cy="889000"/>
          </a:xfrm>
          <a:prstGeom prst="rect">
            <a:avLst/>
          </a:prstGeom>
          <a:noFill/>
        </p:spPr>
        <p:txBody>
          <a:bodyPr wrap="none" lIns="0" rIns="0" tIns="0" bIns="0" anchor="t">
            <a:spAutoFit/>
          </a:bodyPr>
          <a:lstStyle/>
          <a:p>
            <a:pPr algn="l">
              <a:lnSpc>
                <a:spcPts val="1574"/>
              </a:lnSpc>
              <a:spcBef>
                <a:spcPts val="0"/>
              </a:spcBef>
              <a:spcAft>
                <a:spcPts val="0"/>
              </a:spcAft>
              <a:defRPr sz="1280" b="0">
                <a:solidFill>
                  <a:srgbClr val="526471"/>
                </a:solidFill>
                <a:latin typeface="DejaVu Sans"/>
              </a:defRPr>
            </a:pPr>
            <a:r>
              <a:t>Identical ordered</a:t>
            </a:r>
          </a:p>
          <a:p>
            <a:pPr algn="l">
              <a:lnSpc>
                <a:spcPts val="1574"/>
              </a:lnSpc>
              <a:spcBef>
                <a:spcPts val="0"/>
              </a:spcBef>
              <a:spcAft>
                <a:spcPts val="0"/>
              </a:spcAft>
              <a:defRPr sz="1280" b="0">
                <a:solidFill>
                  <a:srgbClr val="526471"/>
                </a:solidFill>
                <a:latin typeface="DejaVu Sans"/>
              </a:defRPr>
            </a:pPr>
            <a:r>
              <a:t>inputs, native</a:t>
            </a:r>
          </a:p>
          <a:p>
            <a:pPr algn="l">
              <a:lnSpc>
                <a:spcPts val="1574"/>
              </a:lnSpc>
              <a:spcBef>
                <a:spcPts val="0"/>
              </a:spcBef>
              <a:spcAft>
                <a:spcPts val="0"/>
              </a:spcAft>
              <a:defRPr sz="1280" b="0">
                <a:solidFill>
                  <a:srgbClr val="526471"/>
                </a:solidFill>
                <a:latin typeface="DejaVu Sans"/>
              </a:defRPr>
            </a:pPr>
            <a:r>
              <a:t>processors, saved</a:t>
            </a:r>
          </a:p>
          <a:p>
            <a:pPr algn="l">
              <a:lnSpc>
                <a:spcPts val="1574"/>
              </a:lnSpc>
              <a:spcBef>
                <a:spcPts val="0"/>
              </a:spcBef>
              <a:spcAft>
                <a:spcPts val="0"/>
              </a:spcAft>
              <a:defRPr sz="1280" b="0">
                <a:solidFill>
                  <a:srgbClr val="526471"/>
                </a:solidFill>
                <a:latin typeface="DejaVu Sans"/>
              </a:defRPr>
            </a:pPr>
            <a:r>
              <a:t>responses.</a:t>
            </a:r>
          </a:p>
        </p:txBody>
      </p:sp>
      <p:sp>
        <p:nvSpPr>
          <p:cNvPr id="29" name="TextBox 28"/>
          <p:cNvSpPr txBox="1"/>
          <p:nvPr/>
        </p:nvSpPr>
        <p:spPr>
          <a:xfrm>
            <a:off x="9398000" y="3225800"/>
            <a:ext cx="177800" cy="266700"/>
          </a:xfrm>
          <a:prstGeom prst="rect">
            <a:avLst/>
          </a:prstGeom>
          <a:noFill/>
        </p:spPr>
        <p:txBody>
          <a:bodyPr wrap="none" lIns="0" rIns="0" tIns="0" bIns="0" anchor="t">
            <a:spAutoFit/>
          </a:bodyPr>
          <a:lstStyle/>
          <a:p>
            <a:pPr algn="ctr">
              <a:lnSpc>
                <a:spcPts val="2091"/>
              </a:lnSpc>
              <a:spcBef>
                <a:spcPts val="0"/>
              </a:spcBef>
              <a:spcAft>
                <a:spcPts val="0"/>
              </a:spcAft>
              <a:defRPr sz="1700" b="1">
                <a:solidFill>
                  <a:srgbClr val="007E80"/>
                </a:solidFill>
                <a:latin typeface="DejaVu Sans"/>
              </a:defRPr>
            </a:pPr>
            <a:r>
              <a:t>›</a:t>
            </a:r>
          </a:p>
        </p:txBody>
      </p:sp>
      <p:sp>
        <p:nvSpPr>
          <p:cNvPr id="30" name="Rectangle 29"/>
          <p:cNvSpPr/>
          <p:nvPr/>
        </p:nvSpPr>
        <p:spPr>
          <a:xfrm>
            <a:off x="9575800" y="2184400"/>
            <a:ext cx="2082800" cy="2616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53600" y="2374900"/>
            <a:ext cx="1727200" cy="533400"/>
          </a:xfrm>
          <a:prstGeom prst="rect">
            <a:avLst/>
          </a:prstGeom>
          <a:noFill/>
        </p:spPr>
        <p:txBody>
          <a:bodyPr wrap="none" lIns="0" rIns="0" tIns="0" bIns="0" anchor="t">
            <a:spAutoFit/>
          </a:bodyPr>
          <a:lstStyle/>
          <a:p>
            <a:pPr algn="l">
              <a:lnSpc>
                <a:spcPts val="3567"/>
              </a:lnSpc>
              <a:spcBef>
                <a:spcPts val="0"/>
              </a:spcBef>
              <a:spcAft>
                <a:spcPts val="0"/>
              </a:spcAft>
              <a:defRPr sz="2900" b="1">
                <a:solidFill>
                  <a:srgbClr val="007E80"/>
                </a:solidFill>
                <a:latin typeface="DejaVu Sans"/>
              </a:defRPr>
            </a:pPr>
            <a:r>
              <a:t>05</a:t>
            </a:r>
          </a:p>
        </p:txBody>
      </p:sp>
      <p:sp>
        <p:nvSpPr>
          <p:cNvPr id="32" name="TextBox 31"/>
          <p:cNvSpPr txBox="1"/>
          <p:nvPr/>
        </p:nvSpPr>
        <p:spPr>
          <a:xfrm>
            <a:off x="9753600" y="3035300"/>
            <a:ext cx="1727200" cy="6985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142C40"/>
                </a:solidFill>
                <a:latin typeface="DejaVu Sans"/>
              </a:defRPr>
            </a:pPr>
            <a:r>
              <a:t>Calibrate &amp;</a:t>
            </a:r>
          </a:p>
          <a:p>
            <a:pPr algn="l">
              <a:lnSpc>
                <a:spcPts val="2091"/>
              </a:lnSpc>
              <a:spcBef>
                <a:spcPts val="0"/>
              </a:spcBef>
              <a:spcAft>
                <a:spcPts val="0"/>
              </a:spcAft>
              <a:defRPr sz="1700" b="1">
                <a:solidFill>
                  <a:srgbClr val="142C40"/>
                </a:solidFill>
                <a:latin typeface="DejaVu Sans"/>
              </a:defRPr>
            </a:pPr>
            <a:r>
              <a:t>score</a:t>
            </a:r>
          </a:p>
        </p:txBody>
      </p:sp>
      <p:sp>
        <p:nvSpPr>
          <p:cNvPr id="33" name="TextBox 32"/>
          <p:cNvSpPr txBox="1"/>
          <p:nvPr/>
        </p:nvSpPr>
        <p:spPr>
          <a:xfrm>
            <a:off x="9753600" y="3848100"/>
            <a:ext cx="1727200" cy="889000"/>
          </a:xfrm>
          <a:prstGeom prst="rect">
            <a:avLst/>
          </a:prstGeom>
          <a:noFill/>
        </p:spPr>
        <p:txBody>
          <a:bodyPr wrap="none" lIns="0" rIns="0" tIns="0" bIns="0" anchor="t">
            <a:spAutoFit/>
          </a:bodyPr>
          <a:lstStyle/>
          <a:p>
            <a:pPr algn="l">
              <a:lnSpc>
                <a:spcPts val="1574"/>
              </a:lnSpc>
              <a:spcBef>
                <a:spcPts val="0"/>
              </a:spcBef>
              <a:spcAft>
                <a:spcPts val="0"/>
              </a:spcAft>
              <a:defRPr sz="1280" b="0">
                <a:solidFill>
                  <a:srgbClr val="526471"/>
                </a:solidFill>
                <a:latin typeface="DejaVu Sans"/>
              </a:defRPr>
            </a:pPr>
            <a:r>
              <a:t>Choose dev</a:t>
            </a:r>
          </a:p>
          <a:p>
            <a:pPr algn="l">
              <a:lnSpc>
                <a:spcPts val="1574"/>
              </a:lnSpc>
              <a:spcBef>
                <a:spcPts val="0"/>
              </a:spcBef>
              <a:spcAft>
                <a:spcPts val="0"/>
              </a:spcAft>
              <a:defRPr sz="1280" b="0">
                <a:solidFill>
                  <a:srgbClr val="526471"/>
                </a:solidFill>
                <a:latin typeface="DejaVu Sans"/>
              </a:defRPr>
            </a:pPr>
            <a:r>
              <a:t>thresholds; freeze</a:t>
            </a:r>
          </a:p>
          <a:p>
            <a:pPr algn="l">
              <a:lnSpc>
                <a:spcPts val="1574"/>
              </a:lnSpc>
              <a:spcBef>
                <a:spcPts val="0"/>
              </a:spcBef>
              <a:spcAft>
                <a:spcPts val="0"/>
              </a:spcAft>
              <a:defRPr sz="1280" b="0">
                <a:solidFill>
                  <a:srgbClr val="526471"/>
                </a:solidFill>
                <a:latin typeface="DejaVu Sans"/>
              </a:defRPr>
            </a:pPr>
            <a:r>
              <a:t>test; bootstrap</a:t>
            </a:r>
          </a:p>
          <a:p>
            <a:pPr algn="l">
              <a:lnSpc>
                <a:spcPts val="1574"/>
              </a:lnSpc>
              <a:spcBef>
                <a:spcPts val="0"/>
              </a:spcBef>
              <a:spcAft>
                <a:spcPts val="0"/>
              </a:spcAft>
              <a:defRPr sz="1280" b="0">
                <a:solidFill>
                  <a:srgbClr val="526471"/>
                </a:solidFill>
                <a:latin typeface="DejaVu Sans"/>
              </a:defRPr>
            </a:pPr>
            <a:r>
              <a:t>groups.</a:t>
            </a:r>
          </a:p>
        </p:txBody>
      </p:sp>
      <p:sp>
        <p:nvSpPr>
          <p:cNvPr id="34" name="Rectangle 33"/>
          <p:cNvSpPr/>
          <p:nvPr/>
        </p:nvSpPr>
        <p:spPr>
          <a:xfrm>
            <a:off x="533400" y="5219700"/>
            <a:ext cx="11125200" cy="7112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3400" y="5219700"/>
            <a:ext cx="50800" cy="7112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 y="5334000"/>
            <a:ext cx="10706100" cy="558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007E80"/>
                </a:solidFill>
                <a:latin typeface="DejaVu Sans"/>
              </a:defRPr>
            </a:pPr>
            <a:r>
              <a:t>Leakage checks + shared cohorts + recorded provenance make the comparison auditable.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TESTING APPROACH</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Accuracy and latency are separate tests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Use GPU capacity for quality; freeze CPU resources only for the latency pilot</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GPU run metadata; cpu_latency_20261013/run.json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06</a:t>
            </a:r>
          </a:p>
        </p:txBody>
      </p:sp>
      <p:sp>
        <p:nvSpPr>
          <p:cNvPr id="10" name="Rectangle 9"/>
          <p:cNvSpPr/>
          <p:nvPr/>
        </p:nvSpPr>
        <p:spPr>
          <a:xfrm>
            <a:off x="533400" y="2082800"/>
            <a:ext cx="5422900" cy="36449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082800"/>
            <a:ext cx="50800" cy="36449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606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GPU accuracy evaluation</a:t>
            </a:r>
          </a:p>
        </p:txBody>
      </p:sp>
      <p:sp>
        <p:nvSpPr>
          <p:cNvPr id="13" name="TextBox 12"/>
          <p:cNvSpPr txBox="1"/>
          <p:nvPr/>
        </p:nvSpPr>
        <p:spPr>
          <a:xfrm>
            <a:off x="762000" y="2971800"/>
            <a:ext cx="4991100" cy="26289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RTX 5000 Ada • 32 GB VRAM</a:t>
            </a:r>
          </a:p>
          <a:p>
            <a:pPr algn="l">
              <a:lnSpc>
                <a:spcPts val="2091"/>
              </a:lnSpc>
              <a:spcBef>
                <a:spcPts val="0"/>
              </a:spcBef>
              <a:spcAft>
                <a:spcPts val="0"/>
              </a:spcAft>
              <a:defRPr sz="1700" b="0">
                <a:solidFill>
                  <a:srgbClr val="142C40"/>
                </a:solidFill>
                <a:latin typeface="DejaVu Sans"/>
              </a:defRPr>
            </a:pPr>
            <a:r>
              <a:t>All 3,350 confirmed inputs / model</a:t>
            </a:r>
          </a:p>
          <a:p>
            <a:pPr algn="l">
              <a:lnSpc>
                <a:spcPts val="2091"/>
              </a:lnSpc>
              <a:spcBef>
                <a:spcPts val="0"/>
              </a:spcBef>
              <a:spcAft>
                <a:spcPts val="0"/>
              </a:spcAft>
              <a:defRPr sz="1700" b="0">
                <a:solidFill>
                  <a:srgbClr val="142C40"/>
                </a:solidFill>
                <a:latin typeface="DejaVu Sans"/>
              </a:defRPr>
            </a:pPr>
            <a:r>
              <a:t>No pacing sleeps or default RAM cap</a:t>
            </a:r>
          </a:p>
          <a:p>
            <a:pPr algn="l">
              <a:lnSpc>
                <a:spcPts val="2091"/>
              </a:lnSpc>
              <a:spcBef>
                <a:spcPts val="0"/>
              </a:spcBef>
              <a:spcAft>
                <a:spcPts val="0"/>
              </a:spcAft>
              <a:defRPr sz="1700" b="0">
                <a:solidFill>
                  <a:srgbClr val="142C40"/>
                </a:solidFill>
                <a:latin typeface="DejaVu Sans"/>
              </a:defRPr>
            </a:pPr>
            <a:r>
              <a:t>CLIP: float32, batch 32</a:t>
            </a:r>
          </a:p>
          <a:p>
            <a:pPr algn="l">
              <a:lnSpc>
                <a:spcPts val="2091"/>
              </a:lnSpc>
              <a:spcBef>
                <a:spcPts val="0"/>
              </a:spcBef>
              <a:spcAft>
                <a:spcPts val="0"/>
              </a:spcAft>
              <a:defRPr sz="1700" b="0">
                <a:solidFill>
                  <a:srgbClr val="142C40"/>
                </a:solidFill>
                <a:latin typeface="DejaVu Sans"/>
              </a:defRPr>
            </a:pPr>
            <a:r>
              <a:t>VLMs: bfloat16, one input / call</a:t>
            </a:r>
          </a:p>
          <a:p>
            <a:pPr algn="l">
              <a:lnSpc>
                <a:spcPts val="2091"/>
              </a:lnSpc>
              <a:spcBef>
                <a:spcPts val="0"/>
              </a:spcBef>
              <a:spcAft>
                <a:spcPts val="0"/>
              </a:spcAft>
              <a:defRPr sz="1700" b="0">
                <a:solidFill>
                  <a:srgbClr val="142C40"/>
                </a:solidFill>
                <a:latin typeface="DejaVu Sans"/>
              </a:defRPr>
            </a:pPr>
            <a:r>
              <a:t>768-pixel letterbox; 64-token budget</a:t>
            </a:r>
          </a:p>
        </p:txBody>
      </p:sp>
      <p:sp>
        <p:nvSpPr>
          <p:cNvPr id="14" name="Rectangle 13"/>
          <p:cNvSpPr/>
          <p:nvPr/>
        </p:nvSpPr>
        <p:spPr>
          <a:xfrm>
            <a:off x="6235700" y="2082800"/>
            <a:ext cx="5422900" cy="36449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082800"/>
            <a:ext cx="50800" cy="36449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2606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CPU latency pilot</a:t>
            </a:r>
          </a:p>
        </p:txBody>
      </p:sp>
      <p:sp>
        <p:nvSpPr>
          <p:cNvPr id="17" name="TextBox 16"/>
          <p:cNvSpPr txBox="1"/>
          <p:nvPr/>
        </p:nvSpPr>
        <p:spPr>
          <a:xfrm>
            <a:off x="6464300" y="2971800"/>
            <a:ext cx="4991100" cy="2628900"/>
          </a:xfrm>
          <a:prstGeom prst="rect">
            <a:avLst/>
          </a:prstGeom>
          <a:noFill/>
        </p:spPr>
        <p:txBody>
          <a:bodyPr wrap="none" lIns="0" rIns="0" tIns="0" bIns="0" anchor="t">
            <a:spAutoFit/>
          </a:bodyPr>
          <a:lstStyle/>
          <a:p>
            <a:pPr algn="l">
              <a:lnSpc>
                <a:spcPts val="2091"/>
              </a:lnSpc>
              <a:spcBef>
                <a:spcPts val="0"/>
              </a:spcBef>
              <a:spcAft>
                <a:spcPts val="0"/>
              </a:spcAft>
              <a:defRPr sz="1700" b="0">
                <a:solidFill>
                  <a:srgbClr val="142C40"/>
                </a:solidFill>
                <a:latin typeface="DejaVu Sans"/>
              </a:defRPr>
            </a:pPr>
            <a:r>
              <a:t>Threadripper PRO 7975WX</a:t>
            </a:r>
          </a:p>
          <a:p>
            <a:pPr algn="l">
              <a:lnSpc>
                <a:spcPts val="2091"/>
              </a:lnSpc>
              <a:spcBef>
                <a:spcPts val="0"/>
              </a:spcBef>
              <a:spcAft>
                <a:spcPts val="0"/>
              </a:spcAft>
              <a:defRPr sz="1700" b="0">
                <a:solidFill>
                  <a:srgbClr val="142C40"/>
                </a:solidFill>
                <a:latin typeface="DejaVu Sans"/>
              </a:defRPr>
            </a:pPr>
            <a:r>
              <a:t>Four fixed logical CPUs + four threads</a:t>
            </a:r>
          </a:p>
          <a:p>
            <a:pPr algn="l">
              <a:lnSpc>
                <a:spcPts val="2091"/>
              </a:lnSpc>
              <a:spcBef>
                <a:spcPts val="0"/>
              </a:spcBef>
              <a:spcAft>
                <a:spcPts val="0"/>
              </a:spcAft>
              <a:defRPr sz="1700" b="0">
                <a:solidFill>
                  <a:srgbClr val="142C40"/>
                </a:solidFill>
                <a:latin typeface="DejaVu Sans"/>
              </a:defRPr>
            </a:pPr>
            <a:r>
              <a:t>Float32, one worker, batch one</a:t>
            </a:r>
          </a:p>
          <a:p>
            <a:pPr algn="l">
              <a:lnSpc>
                <a:spcPts val="2091"/>
              </a:lnSpc>
              <a:spcBef>
                <a:spcPts val="0"/>
              </a:spcBef>
              <a:spcAft>
                <a:spcPts val="0"/>
              </a:spcAft>
              <a:defRPr sz="1700" b="0">
                <a:solidFill>
                  <a:srgbClr val="142C40"/>
                </a:solidFill>
                <a:latin typeface="DejaVu Sans"/>
              </a:defRPr>
            </a:pPr>
            <a:r>
              <a:t>Same eight dev images, three repeats</a:t>
            </a:r>
          </a:p>
          <a:p>
            <a:pPr algn="l">
              <a:lnSpc>
                <a:spcPts val="2091"/>
              </a:lnSpc>
              <a:spcBef>
                <a:spcPts val="0"/>
              </a:spcBef>
              <a:spcAft>
                <a:spcPts val="0"/>
              </a:spcAft>
              <a:defRPr sz="1700" b="0">
                <a:solidFill>
                  <a:srgbClr val="142C40"/>
                </a:solidFill>
                <a:latin typeface="DejaVu Sans"/>
              </a:defRPr>
            </a:pPr>
            <a:r>
              <a:t>Three warmups; 24 observations / model</a:t>
            </a:r>
          </a:p>
          <a:p>
            <a:pPr algn="l">
              <a:lnSpc>
                <a:spcPts val="2091"/>
              </a:lnSpc>
              <a:spcBef>
                <a:spcPts val="0"/>
              </a:spcBef>
              <a:spcAft>
                <a:spcPts val="0"/>
              </a:spcAft>
              <a:defRPr sz="1700" b="0">
                <a:solidFill>
                  <a:srgbClr val="142C40"/>
                </a:solidFill>
                <a:latin typeface="DejaVu Sans"/>
              </a:defRPr>
            </a:pPr>
            <a:r>
              <a:t>Decode → inference → parse included</a:t>
            </a:r>
          </a:p>
        </p:txBody>
      </p:sp>
      <p:sp>
        <p:nvSpPr>
          <p:cNvPr id="18" name="TextBox 17"/>
          <p:cNvSpPr txBox="1"/>
          <p:nvPr/>
        </p:nvSpPr>
        <p:spPr>
          <a:xfrm>
            <a:off x="571500" y="5969000"/>
            <a:ext cx="11049000" cy="3175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526471"/>
                </a:solidFill>
                <a:latin typeface="DejaVu Sans"/>
              </a:defRPr>
            </a:pPr>
            <a:r>
              <a:t>GPU timings are observational. CPU timing is a small host-specific replay, excluding capture and queueing.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EVALUATION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Measure misses and false alarms together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Accuracy alone can reward a model that always returns normal</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metrics.py; calibration.json; improvements.json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07</a:t>
            </a:r>
          </a:p>
        </p:txBody>
      </p:sp>
      <p:sp>
        <p:nvSpPr>
          <p:cNvPr id="10" name="Rectangle 9"/>
          <p:cNvSpPr/>
          <p:nvPr/>
        </p:nvSpPr>
        <p:spPr>
          <a:xfrm>
            <a:off x="533400" y="20447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044700"/>
            <a:ext cx="50800" cy="189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2225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Recall</a:t>
            </a:r>
          </a:p>
        </p:txBody>
      </p:sp>
      <p:sp>
        <p:nvSpPr>
          <p:cNvPr id="13" name="TextBox 12"/>
          <p:cNvSpPr txBox="1"/>
          <p:nvPr/>
        </p:nvSpPr>
        <p:spPr>
          <a:xfrm>
            <a:off x="762000" y="29337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How many true event inputs</a:t>
            </a:r>
          </a:p>
          <a:p>
            <a:pPr algn="l">
              <a:lnSpc>
                <a:spcPts val="1906"/>
              </a:lnSpc>
              <a:spcBef>
                <a:spcPts val="0"/>
              </a:spcBef>
              <a:spcAft>
                <a:spcPts val="0"/>
              </a:spcAft>
              <a:defRPr sz="1550" b="0">
                <a:solidFill>
                  <a:srgbClr val="142C40"/>
                </a:solidFill>
                <a:latin typeface="DejaVu Sans"/>
              </a:defRPr>
            </a:pPr>
            <a:r>
              <a:t>were detected?</a:t>
            </a:r>
          </a:p>
        </p:txBody>
      </p:sp>
      <p:sp>
        <p:nvSpPr>
          <p:cNvPr id="14" name="Rectangle 13"/>
          <p:cNvSpPr/>
          <p:nvPr/>
        </p:nvSpPr>
        <p:spPr>
          <a:xfrm>
            <a:off x="4318000" y="20447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044700"/>
            <a:ext cx="50800" cy="189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2225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Precision &amp; F1</a:t>
            </a:r>
          </a:p>
        </p:txBody>
      </p:sp>
      <p:sp>
        <p:nvSpPr>
          <p:cNvPr id="17" name="TextBox 16"/>
          <p:cNvSpPr txBox="1"/>
          <p:nvPr/>
        </p:nvSpPr>
        <p:spPr>
          <a:xfrm>
            <a:off x="4546600" y="29337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How reliable are alarms, and</a:t>
            </a:r>
          </a:p>
          <a:p>
            <a:pPr algn="l">
              <a:lnSpc>
                <a:spcPts val="1906"/>
              </a:lnSpc>
              <a:spcBef>
                <a:spcPts val="0"/>
              </a:spcBef>
              <a:spcAft>
                <a:spcPts val="0"/>
              </a:spcAft>
              <a:defRPr sz="1550" b="0">
                <a:solidFill>
                  <a:srgbClr val="142C40"/>
                </a:solidFill>
                <a:latin typeface="DejaVu Sans"/>
              </a:defRPr>
            </a:pPr>
            <a:r>
              <a:t>how well is recall balanced?</a:t>
            </a:r>
          </a:p>
        </p:txBody>
      </p:sp>
      <p:sp>
        <p:nvSpPr>
          <p:cNvPr id="18" name="Rectangle 17"/>
          <p:cNvSpPr/>
          <p:nvPr/>
        </p:nvSpPr>
        <p:spPr>
          <a:xfrm>
            <a:off x="8102600" y="20447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044700"/>
            <a:ext cx="50800" cy="189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2225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False-positive rate</a:t>
            </a:r>
          </a:p>
        </p:txBody>
      </p:sp>
      <p:sp>
        <p:nvSpPr>
          <p:cNvPr id="21" name="TextBox 20"/>
          <p:cNvSpPr txBox="1"/>
          <p:nvPr/>
        </p:nvSpPr>
        <p:spPr>
          <a:xfrm>
            <a:off x="8331200" y="29337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What fraction of normal inputs</a:t>
            </a:r>
          </a:p>
          <a:p>
            <a:pPr algn="l">
              <a:lnSpc>
                <a:spcPts val="1906"/>
              </a:lnSpc>
              <a:spcBef>
                <a:spcPts val="0"/>
              </a:spcBef>
              <a:spcAft>
                <a:spcPts val="0"/>
              </a:spcAft>
              <a:defRPr sz="1550" b="0">
                <a:solidFill>
                  <a:srgbClr val="142C40"/>
                </a:solidFill>
                <a:latin typeface="DejaVu Sans"/>
              </a:defRPr>
            </a:pPr>
            <a:r>
              <a:t>were falsely flagged?</a:t>
            </a:r>
          </a:p>
        </p:txBody>
      </p:sp>
      <p:sp>
        <p:nvSpPr>
          <p:cNvPr id="22" name="Rectangle 21"/>
          <p:cNvSpPr/>
          <p:nvPr/>
        </p:nvSpPr>
        <p:spPr>
          <a:xfrm>
            <a:off x="533400" y="41402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4140200"/>
            <a:ext cx="50800" cy="189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4318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AP &amp; AUROC</a:t>
            </a:r>
          </a:p>
        </p:txBody>
      </p:sp>
      <p:sp>
        <p:nvSpPr>
          <p:cNvPr id="25" name="TextBox 24"/>
          <p:cNvSpPr txBox="1"/>
          <p:nvPr/>
        </p:nvSpPr>
        <p:spPr>
          <a:xfrm>
            <a:off x="762000" y="50292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Continuous score ranking only.</a:t>
            </a:r>
          </a:p>
          <a:p>
            <a:pPr algn="l">
              <a:lnSpc>
                <a:spcPts val="1906"/>
              </a:lnSpc>
              <a:spcBef>
                <a:spcPts val="0"/>
              </a:spcBef>
              <a:spcAft>
                <a:spcPts val="0"/>
              </a:spcAft>
              <a:defRPr sz="1550" b="0">
                <a:solidFill>
                  <a:srgbClr val="142C40"/>
                </a:solidFill>
                <a:latin typeface="DejaVu Sans"/>
              </a:defRPr>
            </a:pPr>
            <a:r>
              <a:t>No invented VLM AUC.</a:t>
            </a:r>
          </a:p>
        </p:txBody>
      </p:sp>
      <p:sp>
        <p:nvSpPr>
          <p:cNvPr id="26" name="Rectangle 25"/>
          <p:cNvSpPr/>
          <p:nvPr/>
        </p:nvSpPr>
        <p:spPr>
          <a:xfrm>
            <a:off x="4318000" y="41402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18000" y="4140200"/>
            <a:ext cx="50800" cy="1892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46600" y="4318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Coverage</a:t>
            </a:r>
          </a:p>
        </p:txBody>
      </p:sp>
      <p:sp>
        <p:nvSpPr>
          <p:cNvPr id="29" name="TextBox 28"/>
          <p:cNvSpPr txBox="1"/>
          <p:nvPr/>
        </p:nvSpPr>
        <p:spPr>
          <a:xfrm>
            <a:off x="4546600" y="50292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Invalid outputs and abstentions</a:t>
            </a:r>
          </a:p>
          <a:p>
            <a:pPr algn="l">
              <a:lnSpc>
                <a:spcPts val="1906"/>
              </a:lnSpc>
              <a:spcBef>
                <a:spcPts val="0"/>
              </a:spcBef>
              <a:spcAft>
                <a:spcPts val="0"/>
              </a:spcAft>
              <a:defRPr sz="1550" b="0">
                <a:solidFill>
                  <a:srgbClr val="142C40"/>
                </a:solidFill>
                <a:latin typeface="DejaVu Sans"/>
              </a:defRPr>
            </a:pPr>
            <a:r>
              <a:t>remain visible and count in</a:t>
            </a:r>
          </a:p>
          <a:p>
            <a:pPr algn="l">
              <a:lnSpc>
                <a:spcPts val="1906"/>
              </a:lnSpc>
              <a:spcBef>
                <a:spcPts val="0"/>
              </a:spcBef>
              <a:spcAft>
                <a:spcPts val="0"/>
              </a:spcAft>
              <a:defRPr sz="1550" b="0">
                <a:solidFill>
                  <a:srgbClr val="142C40"/>
                </a:solidFill>
                <a:latin typeface="DejaVu Sans"/>
              </a:defRPr>
            </a:pPr>
            <a:r>
              <a:t>quality.</a:t>
            </a:r>
          </a:p>
        </p:txBody>
      </p:sp>
      <p:sp>
        <p:nvSpPr>
          <p:cNvPr id="30" name="Rectangle 29"/>
          <p:cNvSpPr/>
          <p:nvPr/>
        </p:nvSpPr>
        <p:spPr>
          <a:xfrm>
            <a:off x="8102600" y="4140200"/>
            <a:ext cx="3556000" cy="18923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02600" y="4140200"/>
            <a:ext cx="50800" cy="1892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31200" y="43180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Source-group</a:t>
            </a:r>
          </a:p>
          <a:p>
            <a:pPr algn="l">
              <a:lnSpc>
                <a:spcPts val="2460"/>
              </a:lnSpc>
              <a:spcBef>
                <a:spcPts val="0"/>
              </a:spcBef>
              <a:spcAft>
                <a:spcPts val="0"/>
              </a:spcAft>
              <a:defRPr sz="2000" b="1">
                <a:solidFill>
                  <a:srgbClr val="007E80"/>
                </a:solidFill>
                <a:latin typeface="DejaVu Sans"/>
              </a:defRPr>
            </a:pPr>
            <a:r>
              <a:t>intervals</a:t>
            </a:r>
          </a:p>
        </p:txBody>
      </p:sp>
      <p:sp>
        <p:nvSpPr>
          <p:cNvPr id="33" name="TextBox 32"/>
          <p:cNvSpPr txBox="1"/>
          <p:nvPr/>
        </p:nvSpPr>
        <p:spPr>
          <a:xfrm>
            <a:off x="8331200" y="5029200"/>
            <a:ext cx="3124200" cy="876300"/>
          </a:xfrm>
          <a:prstGeom prst="rect">
            <a:avLst/>
          </a:prstGeom>
          <a:noFill/>
        </p:spPr>
        <p:txBody>
          <a:bodyPr wrap="none" lIns="0" rIns="0" tIns="0" bIns="0" anchor="t">
            <a:spAutoFit/>
          </a:bodyPr>
          <a:lstStyle/>
          <a:p>
            <a:pPr algn="l">
              <a:lnSpc>
                <a:spcPts val="1906"/>
              </a:lnSpc>
              <a:spcBef>
                <a:spcPts val="0"/>
              </a:spcBef>
              <a:spcAft>
                <a:spcPts val="0"/>
              </a:spcAft>
              <a:defRPr sz="1550" b="0">
                <a:solidFill>
                  <a:srgbClr val="142C40"/>
                </a:solidFill>
                <a:latin typeface="DejaVu Sans"/>
              </a:defRPr>
            </a:pPr>
            <a:r>
              <a:t>2,000 paired bootstrap draws</a:t>
            </a:r>
          </a:p>
          <a:p>
            <a:pPr algn="l">
              <a:lnSpc>
                <a:spcPts val="1906"/>
              </a:lnSpc>
              <a:spcBef>
                <a:spcPts val="0"/>
              </a:spcBef>
              <a:spcAft>
                <a:spcPts val="0"/>
              </a:spcAft>
              <a:defRPr sz="1550" b="0">
                <a:solidFill>
                  <a:srgbClr val="142C40"/>
                </a:solidFill>
                <a:latin typeface="DejaVu Sans"/>
              </a:defRPr>
            </a:pPr>
            <a:r>
              <a:t>over recordings, not isolated</a:t>
            </a:r>
          </a:p>
          <a:p>
            <a:pPr algn="l">
              <a:lnSpc>
                <a:spcPts val="1906"/>
              </a:lnSpc>
              <a:spcBef>
                <a:spcPts val="0"/>
              </a:spcBef>
              <a:spcAft>
                <a:spcPts val="0"/>
              </a:spcAft>
              <a:defRPr sz="1550" b="0">
                <a:solidFill>
                  <a:srgbClr val="142C40"/>
                </a:solidFill>
                <a:latin typeface="DejaVu Sans"/>
              </a:defRPr>
            </a:pPr>
            <a:r>
              <a:t>frames.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 1 / SMOKING</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Current prompts miss most smoking positives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3,278 development frames • 1,422 positive • 1,856 normal • 16 known source groups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smoking_frame/dev summaries and group bootstrap</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08</a:t>
            </a:r>
          </a:p>
        </p:txBody>
      </p:sp>
      <p:sp>
        <p:nvSpPr>
          <p:cNvPr id="10" name="Rectangle 9"/>
          <p:cNvSpPr/>
          <p:nvPr/>
        </p:nvSpPr>
        <p:spPr>
          <a:xfrm>
            <a:off x="533400" y="22352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349500"/>
            <a:ext cx="2641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3530600" y="2349500"/>
            <a:ext cx="1206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Precision</a:t>
            </a:r>
          </a:p>
        </p:txBody>
      </p:sp>
      <p:sp>
        <p:nvSpPr>
          <p:cNvPr id="13" name="TextBox 12"/>
          <p:cNvSpPr txBox="1"/>
          <p:nvPr/>
        </p:nvSpPr>
        <p:spPr>
          <a:xfrm>
            <a:off x="4965700" y="2349500"/>
            <a:ext cx="1193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4" name="TextBox 13"/>
          <p:cNvSpPr txBox="1"/>
          <p:nvPr/>
        </p:nvSpPr>
        <p:spPr>
          <a:xfrm>
            <a:off x="6388100" y="2349500"/>
            <a:ext cx="838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5" name="TextBox 14"/>
          <p:cNvSpPr txBox="1"/>
          <p:nvPr/>
        </p:nvSpPr>
        <p:spPr>
          <a:xfrm>
            <a:off x="7454900" y="2349500"/>
            <a:ext cx="1219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6" name="TextBox 15"/>
          <p:cNvSpPr txBox="1"/>
          <p:nvPr/>
        </p:nvSpPr>
        <p:spPr>
          <a:xfrm>
            <a:off x="8902700" y="2349500"/>
            <a:ext cx="11557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AP</a:t>
            </a:r>
          </a:p>
        </p:txBody>
      </p:sp>
      <p:sp>
        <p:nvSpPr>
          <p:cNvPr id="17" name="TextBox 16"/>
          <p:cNvSpPr txBox="1"/>
          <p:nvPr/>
        </p:nvSpPr>
        <p:spPr>
          <a:xfrm>
            <a:off x="10287000" y="2349500"/>
            <a:ext cx="12700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AUROC</a:t>
            </a:r>
          </a:p>
        </p:txBody>
      </p:sp>
      <p:sp>
        <p:nvSpPr>
          <p:cNvPr id="18" name="Rectangle 17"/>
          <p:cNvSpPr/>
          <p:nvPr/>
        </p:nvSpPr>
        <p:spPr>
          <a:xfrm>
            <a:off x="533400" y="27178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400" y="2832100"/>
            <a:ext cx="2641600" cy="4572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MobileCLIP2-S2</a:t>
            </a:r>
          </a:p>
        </p:txBody>
      </p:sp>
      <p:sp>
        <p:nvSpPr>
          <p:cNvPr id="20" name="TextBox 19"/>
          <p:cNvSpPr txBox="1"/>
          <p:nvPr/>
        </p:nvSpPr>
        <p:spPr>
          <a:xfrm>
            <a:off x="3530600" y="2832100"/>
            <a:ext cx="12065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66.67%</a:t>
            </a:r>
          </a:p>
        </p:txBody>
      </p:sp>
      <p:sp>
        <p:nvSpPr>
          <p:cNvPr id="21" name="TextBox 20"/>
          <p:cNvSpPr txBox="1"/>
          <p:nvPr/>
        </p:nvSpPr>
        <p:spPr>
          <a:xfrm>
            <a:off x="4965700" y="2832100"/>
            <a:ext cx="11938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0.56%</a:t>
            </a:r>
          </a:p>
        </p:txBody>
      </p:sp>
      <p:sp>
        <p:nvSpPr>
          <p:cNvPr id="22" name="TextBox 21"/>
          <p:cNvSpPr txBox="1"/>
          <p:nvPr/>
        </p:nvSpPr>
        <p:spPr>
          <a:xfrm>
            <a:off x="6388100" y="2832100"/>
            <a:ext cx="838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0.011</a:t>
            </a:r>
          </a:p>
        </p:txBody>
      </p:sp>
      <p:sp>
        <p:nvSpPr>
          <p:cNvPr id="23" name="TextBox 22"/>
          <p:cNvSpPr txBox="1"/>
          <p:nvPr/>
        </p:nvSpPr>
        <p:spPr>
          <a:xfrm>
            <a:off x="7454900" y="2832100"/>
            <a:ext cx="1219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0.22%</a:t>
            </a:r>
          </a:p>
        </p:txBody>
      </p:sp>
      <p:sp>
        <p:nvSpPr>
          <p:cNvPr id="24" name="TextBox 23"/>
          <p:cNvSpPr txBox="1"/>
          <p:nvPr/>
        </p:nvSpPr>
        <p:spPr>
          <a:xfrm>
            <a:off x="8902700" y="2832100"/>
            <a:ext cx="11557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0.424</a:t>
            </a:r>
          </a:p>
        </p:txBody>
      </p:sp>
      <p:sp>
        <p:nvSpPr>
          <p:cNvPr id="25" name="TextBox 24"/>
          <p:cNvSpPr txBox="1"/>
          <p:nvPr/>
        </p:nvSpPr>
        <p:spPr>
          <a:xfrm>
            <a:off x="10287000" y="2832100"/>
            <a:ext cx="12700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0.478</a:t>
            </a:r>
          </a:p>
        </p:txBody>
      </p:sp>
      <p:cxnSp>
        <p:nvCxnSpPr>
          <p:cNvPr id="26" name="Connector 25"/>
          <p:cNvCxnSpPr/>
          <p:nvPr/>
        </p:nvCxnSpPr>
        <p:spPr>
          <a:xfrm>
            <a:off x="533400" y="3314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3147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429000"/>
            <a:ext cx="2641600" cy="4572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SigLIP2-B/16-224</a:t>
            </a:r>
          </a:p>
        </p:txBody>
      </p:sp>
      <p:sp>
        <p:nvSpPr>
          <p:cNvPr id="29" name="TextBox 28"/>
          <p:cNvSpPr txBox="1"/>
          <p:nvPr/>
        </p:nvSpPr>
        <p:spPr>
          <a:xfrm>
            <a:off x="3530600" y="3429000"/>
            <a:ext cx="12065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30" name="TextBox 29"/>
          <p:cNvSpPr txBox="1"/>
          <p:nvPr/>
        </p:nvSpPr>
        <p:spPr>
          <a:xfrm>
            <a:off x="4965700" y="3429000"/>
            <a:ext cx="11938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31" name="TextBox 30"/>
          <p:cNvSpPr txBox="1"/>
          <p:nvPr/>
        </p:nvSpPr>
        <p:spPr>
          <a:xfrm>
            <a:off x="6388100" y="3429000"/>
            <a:ext cx="838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32" name="TextBox 31"/>
          <p:cNvSpPr txBox="1"/>
          <p:nvPr/>
        </p:nvSpPr>
        <p:spPr>
          <a:xfrm>
            <a:off x="7454900" y="3429000"/>
            <a:ext cx="1219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33" name="TextBox 32"/>
          <p:cNvSpPr txBox="1"/>
          <p:nvPr/>
        </p:nvSpPr>
        <p:spPr>
          <a:xfrm>
            <a:off x="8902700" y="3429000"/>
            <a:ext cx="11557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0.443</a:t>
            </a:r>
          </a:p>
        </p:txBody>
      </p:sp>
      <p:sp>
        <p:nvSpPr>
          <p:cNvPr id="34" name="TextBox 33"/>
          <p:cNvSpPr txBox="1"/>
          <p:nvPr/>
        </p:nvSpPr>
        <p:spPr>
          <a:xfrm>
            <a:off x="10287000" y="3429000"/>
            <a:ext cx="12700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0.512</a:t>
            </a:r>
          </a:p>
        </p:txBody>
      </p:sp>
      <p:cxnSp>
        <p:nvCxnSpPr>
          <p:cNvPr id="35" name="Connector 34"/>
          <p:cNvCxnSpPr/>
          <p:nvPr/>
        </p:nvCxnSpPr>
        <p:spPr>
          <a:xfrm>
            <a:off x="533400" y="3911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33400" y="3911600"/>
            <a:ext cx="111252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0400" y="4025900"/>
            <a:ext cx="2641600" cy="4572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SmolVLM-500M</a:t>
            </a:r>
          </a:p>
        </p:txBody>
      </p:sp>
      <p:sp>
        <p:nvSpPr>
          <p:cNvPr id="38" name="TextBox 37"/>
          <p:cNvSpPr txBox="1"/>
          <p:nvPr/>
        </p:nvSpPr>
        <p:spPr>
          <a:xfrm>
            <a:off x="3530600" y="4025900"/>
            <a:ext cx="12065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40.31%</a:t>
            </a:r>
          </a:p>
        </p:txBody>
      </p:sp>
      <p:sp>
        <p:nvSpPr>
          <p:cNvPr id="39" name="TextBox 38"/>
          <p:cNvSpPr txBox="1"/>
          <p:nvPr/>
        </p:nvSpPr>
        <p:spPr>
          <a:xfrm>
            <a:off x="4965700" y="4025900"/>
            <a:ext cx="11938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5.41%</a:t>
            </a:r>
          </a:p>
        </p:txBody>
      </p:sp>
      <p:sp>
        <p:nvSpPr>
          <p:cNvPr id="40" name="TextBox 39"/>
          <p:cNvSpPr txBox="1"/>
          <p:nvPr/>
        </p:nvSpPr>
        <p:spPr>
          <a:xfrm>
            <a:off x="6388100" y="4025900"/>
            <a:ext cx="838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0.095</a:t>
            </a:r>
          </a:p>
        </p:txBody>
      </p:sp>
      <p:sp>
        <p:nvSpPr>
          <p:cNvPr id="41" name="TextBox 40"/>
          <p:cNvSpPr txBox="1"/>
          <p:nvPr/>
        </p:nvSpPr>
        <p:spPr>
          <a:xfrm>
            <a:off x="7454900" y="4025900"/>
            <a:ext cx="1219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6.14%</a:t>
            </a:r>
          </a:p>
        </p:txBody>
      </p:sp>
      <p:sp>
        <p:nvSpPr>
          <p:cNvPr id="42" name="TextBox 41"/>
          <p:cNvSpPr txBox="1"/>
          <p:nvPr/>
        </p:nvSpPr>
        <p:spPr>
          <a:xfrm>
            <a:off x="8902700" y="4025900"/>
            <a:ext cx="11557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t>
            </a:r>
          </a:p>
        </p:txBody>
      </p:sp>
      <p:sp>
        <p:nvSpPr>
          <p:cNvPr id="43" name="TextBox 42"/>
          <p:cNvSpPr txBox="1"/>
          <p:nvPr/>
        </p:nvSpPr>
        <p:spPr>
          <a:xfrm>
            <a:off x="10287000" y="4025900"/>
            <a:ext cx="12700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t>
            </a:r>
          </a:p>
        </p:txBody>
      </p:sp>
      <p:cxnSp>
        <p:nvCxnSpPr>
          <p:cNvPr id="44" name="Connector 43"/>
          <p:cNvCxnSpPr/>
          <p:nvPr/>
        </p:nvCxnSpPr>
        <p:spPr>
          <a:xfrm>
            <a:off x="533400" y="4508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4508500"/>
            <a:ext cx="11125200" cy="5969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4622800"/>
            <a:ext cx="2641600" cy="4572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MiniCPM-V 4.0</a:t>
            </a:r>
          </a:p>
        </p:txBody>
      </p:sp>
      <p:sp>
        <p:nvSpPr>
          <p:cNvPr id="47" name="TextBox 46"/>
          <p:cNvSpPr txBox="1"/>
          <p:nvPr/>
        </p:nvSpPr>
        <p:spPr>
          <a:xfrm>
            <a:off x="3530600" y="4622800"/>
            <a:ext cx="12065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48" name="TextBox 47"/>
          <p:cNvSpPr txBox="1"/>
          <p:nvPr/>
        </p:nvSpPr>
        <p:spPr>
          <a:xfrm>
            <a:off x="4965700" y="4622800"/>
            <a:ext cx="11938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49" name="TextBox 48"/>
          <p:cNvSpPr txBox="1"/>
          <p:nvPr/>
        </p:nvSpPr>
        <p:spPr>
          <a:xfrm>
            <a:off x="6388100" y="4622800"/>
            <a:ext cx="838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50" name="TextBox 49"/>
          <p:cNvSpPr txBox="1"/>
          <p:nvPr/>
        </p:nvSpPr>
        <p:spPr>
          <a:xfrm>
            <a:off x="7454900" y="4622800"/>
            <a:ext cx="12192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51" name="TextBox 50"/>
          <p:cNvSpPr txBox="1"/>
          <p:nvPr/>
        </p:nvSpPr>
        <p:spPr>
          <a:xfrm>
            <a:off x="8902700" y="4622800"/>
            <a:ext cx="11557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t>
            </a:r>
          </a:p>
        </p:txBody>
      </p:sp>
      <p:sp>
        <p:nvSpPr>
          <p:cNvPr id="52" name="TextBox 51"/>
          <p:cNvSpPr txBox="1"/>
          <p:nvPr/>
        </p:nvSpPr>
        <p:spPr>
          <a:xfrm>
            <a:off x="10287000" y="4622800"/>
            <a:ext cx="1270000" cy="457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a:t>
            </a:r>
          </a:p>
        </p:txBody>
      </p:sp>
      <p:cxnSp>
        <p:nvCxnSpPr>
          <p:cNvPr id="53" name="Connector 52"/>
          <p:cNvCxnSpPr/>
          <p:nvPr/>
        </p:nvCxnSpPr>
        <p:spPr>
          <a:xfrm>
            <a:off x="533400" y="5105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33400" y="5397500"/>
            <a:ext cx="5422900" cy="7620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3900" y="5562600"/>
            <a:ext cx="5016500" cy="558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007E80"/>
                </a:solidFill>
                <a:latin typeface="DejaVu Sans"/>
              </a:defRPr>
            </a:pPr>
            <a:r>
              <a:t>MobileCLIP detects 8 positives; SmolVLM</a:t>
            </a:r>
          </a:p>
          <a:p>
            <a:pPr algn="l">
              <a:lnSpc>
                <a:spcPts val="1968"/>
              </a:lnSpc>
              <a:spcBef>
                <a:spcPts val="0"/>
              </a:spcBef>
              <a:spcAft>
                <a:spcPts val="0"/>
              </a:spcAft>
              <a:defRPr sz="1600" b="1">
                <a:solidFill>
                  <a:srgbClr val="007E80"/>
                </a:solidFill>
                <a:latin typeface="DejaVu Sans"/>
              </a:defRPr>
            </a:pPr>
            <a:r>
              <a:t>detects 77 out of 1,422.</a:t>
            </a:r>
          </a:p>
        </p:txBody>
      </p:sp>
      <p:sp>
        <p:nvSpPr>
          <p:cNvPr id="56" name="Rectangle 55"/>
          <p:cNvSpPr/>
          <p:nvPr/>
        </p:nvSpPr>
        <p:spPr>
          <a:xfrm>
            <a:off x="6235700" y="5397500"/>
            <a:ext cx="5422900" cy="7620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26200" y="5562600"/>
            <a:ext cx="5016500" cy="558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C86535"/>
                </a:solidFill>
                <a:latin typeface="DejaVu Sans"/>
              </a:defRPr>
            </a:pPr>
            <a:r>
              <a:t>Always-normal accuracy is 56.6%. Its</a:t>
            </a:r>
          </a:p>
          <a:p>
            <a:pPr algn="l">
              <a:lnSpc>
                <a:spcPts val="1968"/>
              </a:lnSpc>
              <a:spcBef>
                <a:spcPts val="0"/>
              </a:spcBef>
              <a:spcAft>
                <a:spcPts val="0"/>
              </a:spcAft>
              <a:defRPr sz="1600" b="1">
                <a:solidFill>
                  <a:srgbClr val="C86535"/>
                </a:solidFill>
                <a:latin typeface="DejaVu Sans"/>
              </a:defRPr>
            </a:pPr>
            <a:r>
              <a:t>smoking recall is zero.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 2 / UNATTENDED ITEMS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Constant answers do not show event detection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Per test protocol: 4 positive + 12 normal endpoints; only 3 source groups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unattended_items frame/window test summaries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09</a:t>
            </a:r>
          </a:p>
        </p:txBody>
      </p:sp>
      <p:sp>
        <p:nvSpPr>
          <p:cNvPr id="10" name="Rectangle 9"/>
          <p:cNvSpPr/>
          <p:nvPr/>
        </p:nvSpPr>
        <p:spPr>
          <a:xfrm>
            <a:off x="533400" y="21463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60600"/>
            <a:ext cx="2946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2" name="TextBox 11"/>
          <p:cNvSpPr txBox="1"/>
          <p:nvPr/>
        </p:nvSpPr>
        <p:spPr>
          <a:xfrm>
            <a:off x="3835400" y="2260600"/>
            <a:ext cx="16891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Frame F1</a:t>
            </a:r>
          </a:p>
        </p:txBody>
      </p:sp>
      <p:sp>
        <p:nvSpPr>
          <p:cNvPr id="13" name="TextBox 12"/>
          <p:cNvSpPr txBox="1"/>
          <p:nvPr/>
        </p:nvSpPr>
        <p:spPr>
          <a:xfrm>
            <a:off x="5753100" y="2260600"/>
            <a:ext cx="1727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Window F1</a:t>
            </a:r>
          </a:p>
        </p:txBody>
      </p:sp>
      <p:sp>
        <p:nvSpPr>
          <p:cNvPr id="14" name="TextBox 13"/>
          <p:cNvSpPr txBox="1"/>
          <p:nvPr/>
        </p:nvSpPr>
        <p:spPr>
          <a:xfrm>
            <a:off x="7708900" y="2260600"/>
            <a:ext cx="17145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Window recall</a:t>
            </a:r>
          </a:p>
        </p:txBody>
      </p:sp>
      <p:sp>
        <p:nvSpPr>
          <p:cNvPr id="15" name="TextBox 14"/>
          <p:cNvSpPr txBox="1"/>
          <p:nvPr/>
        </p:nvSpPr>
        <p:spPr>
          <a:xfrm>
            <a:off x="9652000" y="2260600"/>
            <a:ext cx="19050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Window FPR</a:t>
            </a:r>
          </a:p>
        </p:txBody>
      </p:sp>
      <p:sp>
        <p:nvSpPr>
          <p:cNvPr id="16" name="Rectangle 15"/>
          <p:cNvSpPr/>
          <p:nvPr/>
        </p:nvSpPr>
        <p:spPr>
          <a:xfrm>
            <a:off x="533400" y="2628900"/>
            <a:ext cx="11125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43200"/>
            <a:ext cx="2946400" cy="431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MobileCLIP2-S2</a:t>
            </a:r>
          </a:p>
        </p:txBody>
      </p:sp>
      <p:sp>
        <p:nvSpPr>
          <p:cNvPr id="18" name="TextBox 17"/>
          <p:cNvSpPr txBox="1"/>
          <p:nvPr/>
        </p:nvSpPr>
        <p:spPr>
          <a:xfrm>
            <a:off x="3835400" y="2743200"/>
            <a:ext cx="16891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19" name="TextBox 18"/>
          <p:cNvSpPr txBox="1"/>
          <p:nvPr/>
        </p:nvSpPr>
        <p:spPr>
          <a:xfrm>
            <a:off x="5753100" y="2743200"/>
            <a:ext cx="17272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0.250</a:t>
            </a:r>
          </a:p>
        </p:txBody>
      </p:sp>
      <p:sp>
        <p:nvSpPr>
          <p:cNvPr id="20" name="TextBox 19"/>
          <p:cNvSpPr txBox="1"/>
          <p:nvPr/>
        </p:nvSpPr>
        <p:spPr>
          <a:xfrm>
            <a:off x="7708900" y="2743200"/>
            <a:ext cx="17145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25.00%</a:t>
            </a:r>
          </a:p>
        </p:txBody>
      </p:sp>
      <p:sp>
        <p:nvSpPr>
          <p:cNvPr id="21" name="TextBox 20"/>
          <p:cNvSpPr txBox="1"/>
          <p:nvPr/>
        </p:nvSpPr>
        <p:spPr>
          <a:xfrm>
            <a:off x="9652000" y="2743200"/>
            <a:ext cx="19050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25.00%</a:t>
            </a:r>
          </a:p>
        </p:txBody>
      </p:sp>
      <p:cxnSp>
        <p:nvCxnSpPr>
          <p:cNvPr id="22" name="Connector 21"/>
          <p:cNvCxnSpPr/>
          <p:nvPr/>
        </p:nvCxnSpPr>
        <p:spPr>
          <a:xfrm>
            <a:off x="533400" y="3200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33400" y="32004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0400" y="3314700"/>
            <a:ext cx="2946400" cy="431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SigLIP2-B/16-224</a:t>
            </a:r>
          </a:p>
        </p:txBody>
      </p:sp>
      <p:sp>
        <p:nvSpPr>
          <p:cNvPr id="25" name="TextBox 24"/>
          <p:cNvSpPr txBox="1"/>
          <p:nvPr/>
        </p:nvSpPr>
        <p:spPr>
          <a:xfrm>
            <a:off x="3835400" y="3314700"/>
            <a:ext cx="16891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26" name="TextBox 25"/>
          <p:cNvSpPr txBox="1"/>
          <p:nvPr/>
        </p:nvSpPr>
        <p:spPr>
          <a:xfrm>
            <a:off x="5753100" y="3314700"/>
            <a:ext cx="17272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27" name="TextBox 26"/>
          <p:cNvSpPr txBox="1"/>
          <p:nvPr/>
        </p:nvSpPr>
        <p:spPr>
          <a:xfrm>
            <a:off x="7708900" y="3314700"/>
            <a:ext cx="17145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28" name="TextBox 27"/>
          <p:cNvSpPr txBox="1"/>
          <p:nvPr/>
        </p:nvSpPr>
        <p:spPr>
          <a:xfrm>
            <a:off x="9652000" y="3314700"/>
            <a:ext cx="19050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25.00%</a:t>
            </a:r>
          </a:p>
        </p:txBody>
      </p:sp>
      <p:cxnSp>
        <p:nvCxnSpPr>
          <p:cNvPr id="29" name="Connector 28"/>
          <p:cNvCxnSpPr/>
          <p:nvPr/>
        </p:nvCxnSpPr>
        <p:spPr>
          <a:xfrm>
            <a:off x="533400" y="3771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3400" y="3771900"/>
            <a:ext cx="11125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0400" y="3886200"/>
            <a:ext cx="2946400" cy="431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SmolVLM-500M</a:t>
            </a:r>
          </a:p>
        </p:txBody>
      </p:sp>
      <p:sp>
        <p:nvSpPr>
          <p:cNvPr id="32" name="TextBox 31"/>
          <p:cNvSpPr txBox="1"/>
          <p:nvPr/>
        </p:nvSpPr>
        <p:spPr>
          <a:xfrm>
            <a:off x="3835400" y="3886200"/>
            <a:ext cx="16891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0.400</a:t>
            </a:r>
          </a:p>
        </p:txBody>
      </p:sp>
      <p:sp>
        <p:nvSpPr>
          <p:cNvPr id="33" name="TextBox 32"/>
          <p:cNvSpPr txBox="1"/>
          <p:nvPr/>
        </p:nvSpPr>
        <p:spPr>
          <a:xfrm>
            <a:off x="5753100" y="3886200"/>
            <a:ext cx="17272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0.400</a:t>
            </a:r>
          </a:p>
        </p:txBody>
      </p:sp>
      <p:sp>
        <p:nvSpPr>
          <p:cNvPr id="34" name="TextBox 33"/>
          <p:cNvSpPr txBox="1"/>
          <p:nvPr/>
        </p:nvSpPr>
        <p:spPr>
          <a:xfrm>
            <a:off x="7708900" y="3886200"/>
            <a:ext cx="17145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100.00%</a:t>
            </a:r>
          </a:p>
        </p:txBody>
      </p:sp>
      <p:sp>
        <p:nvSpPr>
          <p:cNvPr id="35" name="TextBox 34"/>
          <p:cNvSpPr txBox="1"/>
          <p:nvPr/>
        </p:nvSpPr>
        <p:spPr>
          <a:xfrm>
            <a:off x="9652000" y="3886200"/>
            <a:ext cx="19050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100.00%</a:t>
            </a:r>
          </a:p>
        </p:txBody>
      </p:sp>
      <p:cxnSp>
        <p:nvCxnSpPr>
          <p:cNvPr id="36" name="Connector 35"/>
          <p:cNvCxnSpPr/>
          <p:nvPr/>
        </p:nvCxnSpPr>
        <p:spPr>
          <a:xfrm>
            <a:off x="533400" y="4343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33400" y="43434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400" y="4457700"/>
            <a:ext cx="2946400" cy="4318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MiniCPM-V 4.0</a:t>
            </a:r>
          </a:p>
        </p:txBody>
      </p:sp>
      <p:sp>
        <p:nvSpPr>
          <p:cNvPr id="39" name="TextBox 38"/>
          <p:cNvSpPr txBox="1"/>
          <p:nvPr/>
        </p:nvSpPr>
        <p:spPr>
          <a:xfrm>
            <a:off x="3835400" y="4457700"/>
            <a:ext cx="16891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40" name="TextBox 39"/>
          <p:cNvSpPr txBox="1"/>
          <p:nvPr/>
        </p:nvSpPr>
        <p:spPr>
          <a:xfrm>
            <a:off x="5753100" y="4457700"/>
            <a:ext cx="17272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0.000</a:t>
            </a:r>
          </a:p>
        </p:txBody>
      </p:sp>
      <p:sp>
        <p:nvSpPr>
          <p:cNvPr id="41" name="TextBox 40"/>
          <p:cNvSpPr txBox="1"/>
          <p:nvPr/>
        </p:nvSpPr>
        <p:spPr>
          <a:xfrm>
            <a:off x="7708900" y="4457700"/>
            <a:ext cx="17145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sp>
        <p:nvSpPr>
          <p:cNvPr id="42" name="TextBox 41"/>
          <p:cNvSpPr txBox="1"/>
          <p:nvPr/>
        </p:nvSpPr>
        <p:spPr>
          <a:xfrm>
            <a:off x="9652000" y="4457700"/>
            <a:ext cx="1905000" cy="4318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0.00%</a:t>
            </a:r>
          </a:p>
        </p:txBody>
      </p:sp>
      <p:cxnSp>
        <p:nvCxnSpPr>
          <p:cNvPr id="43" name="Connector 42"/>
          <p:cNvCxnSpPr/>
          <p:nvPr/>
        </p:nvCxnSpPr>
        <p:spPr>
          <a:xfrm>
            <a:off x="533400" y="49149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71500" y="5168900"/>
            <a:ext cx="11049000" cy="558800"/>
          </a:xfrm>
          <a:prstGeom prst="rect">
            <a:avLst/>
          </a:prstGeom>
          <a:noFill/>
        </p:spPr>
        <p:txBody>
          <a:bodyPr wrap="none" lIns="0" rIns="0" tIns="0" bIns="0" anchor="t">
            <a:spAutoFit/>
          </a:bodyPr>
          <a:lstStyle/>
          <a:p>
            <a:pPr algn="l">
              <a:lnSpc>
                <a:spcPts val="2091"/>
              </a:lnSpc>
              <a:spcBef>
                <a:spcPts val="0"/>
              </a:spcBef>
              <a:spcAft>
                <a:spcPts val="0"/>
              </a:spcAft>
              <a:defRPr sz="1700" b="1">
                <a:solidFill>
                  <a:srgbClr val="C86535"/>
                </a:solidFill>
                <a:latin typeface="DejaVu Sans"/>
              </a:defRPr>
            </a:pPr>
            <a:r>
              <a:t>SmolVLM: every input is an alarm. MiniCPM: every input is normal. Both patterns fail to</a:t>
            </a:r>
          </a:p>
          <a:p>
            <a:pPr algn="l">
              <a:lnSpc>
                <a:spcPts val="2091"/>
              </a:lnSpc>
              <a:spcBef>
                <a:spcPts val="0"/>
              </a:spcBef>
              <a:spcAft>
                <a:spcPts val="0"/>
              </a:spcAft>
              <a:defRPr sz="1700" b="1">
                <a:solidFill>
                  <a:srgbClr val="C86535"/>
                </a:solidFill>
                <a:latin typeface="DejaVu Sans"/>
              </a:defRPr>
            </a:pPr>
            <a:r>
              <a:t>distinguish events from controls.</a:t>
            </a:r>
          </a:p>
        </p:txBody>
      </p:sp>
      <p:sp>
        <p:nvSpPr>
          <p:cNvPr id="45" name="TextBox 44"/>
          <p:cNvSpPr txBox="1"/>
          <p:nvPr/>
        </p:nvSpPr>
        <p:spPr>
          <a:xfrm>
            <a:off x="571500" y="5842000"/>
            <a:ext cx="11049000" cy="4191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526471"/>
                </a:solidFill>
                <a:latin typeface="DejaVu Sans"/>
              </a:defRPr>
            </a:pPr>
            <a:r>
              <a:t>Calibration: MobileCLIP frame recall reaches 100%, but FPR is 66.7%; low-FPR thresholds detect no test positives.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 3 / VADCLIP</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VadCLIP shows limited score discrimination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A separate supervised offline smoking reanalysis; not a pooled zero-shot ranking</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vadclip/adapter/eval.json; training metrics; baselines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10</a:t>
            </a:r>
          </a:p>
        </p:txBody>
      </p:sp>
      <p:sp>
        <p:nvSpPr>
          <p:cNvPr id="10" name="Rectangle 9"/>
          <p:cNvSpPr/>
          <p:nvPr/>
        </p:nvSpPr>
        <p:spPr>
          <a:xfrm>
            <a:off x="533400" y="2095500"/>
            <a:ext cx="3556000" cy="11176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260600"/>
            <a:ext cx="3149600" cy="381000"/>
          </a:xfrm>
          <a:prstGeom prst="rect">
            <a:avLst/>
          </a:prstGeom>
          <a:noFill/>
        </p:spPr>
        <p:txBody>
          <a:bodyPr wrap="none" lIns="0" rIns="0" tIns="0" bIns="0" anchor="t">
            <a:spAutoFit/>
          </a:bodyPr>
          <a:lstStyle/>
          <a:p>
            <a:pPr algn="l">
              <a:lnSpc>
                <a:spcPts val="2337"/>
              </a:lnSpc>
              <a:spcBef>
                <a:spcPts val="0"/>
              </a:spcBef>
              <a:spcAft>
                <a:spcPts val="0"/>
              </a:spcAft>
              <a:defRPr sz="1900" b="1">
                <a:solidFill>
                  <a:srgbClr val="007E80"/>
                </a:solidFill>
                <a:latin typeface="DejaVu Sans"/>
              </a:defRPr>
            </a:pPr>
            <a:r>
              <a:t>Train</a:t>
            </a:r>
          </a:p>
        </p:txBody>
      </p:sp>
      <p:sp>
        <p:nvSpPr>
          <p:cNvPr id="12" name="TextBox 11"/>
          <p:cNvSpPr txBox="1"/>
          <p:nvPr/>
        </p:nvSpPr>
        <p:spPr>
          <a:xfrm>
            <a:off x="736600" y="2743200"/>
            <a:ext cx="3149600" cy="330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1,910 frames / 9 sessions</a:t>
            </a:r>
          </a:p>
        </p:txBody>
      </p:sp>
      <p:sp>
        <p:nvSpPr>
          <p:cNvPr id="13" name="Rectangle 12"/>
          <p:cNvSpPr/>
          <p:nvPr/>
        </p:nvSpPr>
        <p:spPr>
          <a:xfrm>
            <a:off x="4318000" y="2095500"/>
            <a:ext cx="3556000" cy="11176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1200" y="2260600"/>
            <a:ext cx="3149600" cy="381000"/>
          </a:xfrm>
          <a:prstGeom prst="rect">
            <a:avLst/>
          </a:prstGeom>
          <a:noFill/>
        </p:spPr>
        <p:txBody>
          <a:bodyPr wrap="none" lIns="0" rIns="0" tIns="0" bIns="0" anchor="t">
            <a:spAutoFit/>
          </a:bodyPr>
          <a:lstStyle/>
          <a:p>
            <a:pPr algn="l">
              <a:lnSpc>
                <a:spcPts val="2337"/>
              </a:lnSpc>
              <a:spcBef>
                <a:spcPts val="0"/>
              </a:spcBef>
              <a:spcAft>
                <a:spcPts val="0"/>
              </a:spcAft>
              <a:defRPr sz="1900" b="1">
                <a:solidFill>
                  <a:srgbClr val="007E80"/>
                </a:solidFill>
                <a:latin typeface="DejaVu Sans"/>
              </a:defRPr>
            </a:pPr>
            <a:r>
              <a:t>Development</a:t>
            </a:r>
          </a:p>
        </p:txBody>
      </p:sp>
      <p:sp>
        <p:nvSpPr>
          <p:cNvPr id="15" name="TextBox 14"/>
          <p:cNvSpPr txBox="1"/>
          <p:nvPr/>
        </p:nvSpPr>
        <p:spPr>
          <a:xfrm>
            <a:off x="4521200" y="2743200"/>
            <a:ext cx="3149600" cy="330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312 frames / 4 sessions</a:t>
            </a:r>
          </a:p>
        </p:txBody>
      </p:sp>
      <p:sp>
        <p:nvSpPr>
          <p:cNvPr id="16" name="Rectangle 15"/>
          <p:cNvSpPr/>
          <p:nvPr/>
        </p:nvSpPr>
        <p:spPr>
          <a:xfrm>
            <a:off x="8102600" y="2095500"/>
            <a:ext cx="3556000" cy="11176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5800" y="2260600"/>
            <a:ext cx="3149600" cy="381000"/>
          </a:xfrm>
          <a:prstGeom prst="rect">
            <a:avLst/>
          </a:prstGeom>
          <a:noFill/>
        </p:spPr>
        <p:txBody>
          <a:bodyPr wrap="none" lIns="0" rIns="0" tIns="0" bIns="0" anchor="t">
            <a:spAutoFit/>
          </a:bodyPr>
          <a:lstStyle/>
          <a:p>
            <a:pPr algn="l">
              <a:lnSpc>
                <a:spcPts val="2337"/>
              </a:lnSpc>
              <a:spcBef>
                <a:spcPts val="0"/>
              </a:spcBef>
              <a:spcAft>
                <a:spcPts val="0"/>
              </a:spcAft>
              <a:defRPr sz="1900" b="1">
                <a:solidFill>
                  <a:srgbClr val="007E80"/>
                </a:solidFill>
                <a:latin typeface="DejaVu Sans"/>
              </a:defRPr>
            </a:pPr>
            <a:r>
              <a:t>Test</a:t>
            </a:r>
          </a:p>
        </p:txBody>
      </p:sp>
      <p:sp>
        <p:nvSpPr>
          <p:cNvPr id="18" name="TextBox 17"/>
          <p:cNvSpPr txBox="1"/>
          <p:nvPr/>
        </p:nvSpPr>
        <p:spPr>
          <a:xfrm>
            <a:off x="8305800" y="2743200"/>
            <a:ext cx="3149600" cy="330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1,056 frames / 3 sessions</a:t>
            </a:r>
          </a:p>
        </p:txBody>
      </p:sp>
      <p:sp>
        <p:nvSpPr>
          <p:cNvPr id="19" name="Rectangle 18"/>
          <p:cNvSpPr/>
          <p:nvPr/>
        </p:nvSpPr>
        <p:spPr>
          <a:xfrm>
            <a:off x="533400" y="3543300"/>
            <a:ext cx="3556000" cy="1460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 y="36703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0.633</a:t>
            </a:r>
          </a:p>
        </p:txBody>
      </p:sp>
      <p:sp>
        <p:nvSpPr>
          <p:cNvPr id="21" name="TextBox 20"/>
          <p:cNvSpPr txBox="1"/>
          <p:nvPr/>
        </p:nvSpPr>
        <p:spPr>
          <a:xfrm>
            <a:off x="736600" y="43688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Average precision</a:t>
            </a:r>
          </a:p>
        </p:txBody>
      </p:sp>
      <p:sp>
        <p:nvSpPr>
          <p:cNvPr id="22" name="Rectangle 21"/>
          <p:cNvSpPr/>
          <p:nvPr/>
        </p:nvSpPr>
        <p:spPr>
          <a:xfrm>
            <a:off x="4318000" y="3543300"/>
            <a:ext cx="3556000" cy="1460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1200" y="36703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51.79%</a:t>
            </a:r>
          </a:p>
        </p:txBody>
      </p:sp>
      <p:sp>
        <p:nvSpPr>
          <p:cNvPr id="24" name="TextBox 23"/>
          <p:cNvSpPr txBox="1"/>
          <p:nvPr/>
        </p:nvSpPr>
        <p:spPr>
          <a:xfrm>
            <a:off x="4521200" y="43688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Test recall</a:t>
            </a:r>
          </a:p>
        </p:txBody>
      </p:sp>
      <p:sp>
        <p:nvSpPr>
          <p:cNvPr id="25" name="Rectangle 24"/>
          <p:cNvSpPr/>
          <p:nvPr/>
        </p:nvSpPr>
        <p:spPr>
          <a:xfrm>
            <a:off x="8102600" y="3543300"/>
            <a:ext cx="3556000" cy="1460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05800" y="36703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C86535"/>
                </a:solidFill>
                <a:latin typeface="DejaVu Sans"/>
              </a:defRPr>
            </a:pPr>
            <a:r>
              <a:t>35.69%</a:t>
            </a:r>
          </a:p>
        </p:txBody>
      </p:sp>
      <p:sp>
        <p:nvSpPr>
          <p:cNvPr id="27" name="TextBox 26"/>
          <p:cNvSpPr txBox="1"/>
          <p:nvPr/>
        </p:nvSpPr>
        <p:spPr>
          <a:xfrm>
            <a:off x="8305800" y="43688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False-positive rate</a:t>
            </a:r>
          </a:p>
        </p:txBody>
      </p:sp>
      <p:sp>
        <p:nvSpPr>
          <p:cNvPr id="28" name="TextBox 27"/>
          <p:cNvSpPr txBox="1"/>
          <p:nvPr/>
        </p:nvSpPr>
        <p:spPr>
          <a:xfrm>
            <a:off x="584200" y="5321300"/>
            <a:ext cx="11010900" cy="838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526471"/>
                </a:solidFill>
                <a:latin typeface="DejaVu Sans"/>
              </a:defRPr>
            </a:pPr>
            <a:r>
              <a:t>AUROC 0.587; F1 0.565. Visual / dual_max branches collapse to all-positive scores. Adapter-only timings</a:t>
            </a:r>
          </a:p>
          <a:p>
            <a:pPr algn="l">
              <a:lnSpc>
                <a:spcPts val="1968"/>
              </a:lnSpc>
              <a:spcBef>
                <a:spcPts val="0"/>
              </a:spcBef>
              <a:spcAft>
                <a:spcPts val="0"/>
              </a:spcAft>
              <a:defRPr sz="1600" b="0">
                <a:solidFill>
                  <a:srgbClr val="526471"/>
                </a:solidFill>
                <a:latin typeface="DejaVu Sans"/>
              </a:defRPr>
            </a:pPr>
            <a:r>
              <a:t>exclude the encoder and cannot be compared with end-to-end VLM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FINDING 4 / CPU RESOURCES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CLIP is cheaper in the CPU latency pilot</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Same 8 development images × 3 repeats • float32 • 4 logical CPUs • batch one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cpu_latency_20261013 summaries and run metadata</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11</a:t>
            </a:r>
          </a:p>
        </p:txBody>
      </p:sp>
      <p:sp>
        <p:nvSpPr>
          <p:cNvPr id="10" name="Rectangle 9"/>
          <p:cNvSpPr/>
          <p:nvPr/>
        </p:nvSpPr>
        <p:spPr>
          <a:xfrm>
            <a:off x="533400" y="2070100"/>
            <a:ext cx="5422900" cy="36576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273300"/>
            <a:ext cx="5041900" cy="393700"/>
          </a:xfrm>
          <a:prstGeom prst="rect">
            <a:avLst/>
          </a:prstGeom>
          <a:noFill/>
        </p:spPr>
        <p:txBody>
          <a:bodyPr wrap="none" lIns="0" rIns="0" tIns="0" bIns="0" anchor="t">
            <a:spAutoFit/>
          </a:bodyPr>
          <a:lstStyle/>
          <a:p>
            <a:pPr algn="l">
              <a:lnSpc>
                <a:spcPts val="2029"/>
              </a:lnSpc>
              <a:spcBef>
                <a:spcPts val="0"/>
              </a:spcBef>
              <a:spcAft>
                <a:spcPts val="0"/>
              </a:spcAft>
              <a:defRPr sz="1650" b="1">
                <a:solidFill>
                  <a:srgbClr val="142C40"/>
                </a:solidFill>
                <a:latin typeface="DejaVu Sans"/>
              </a:defRPr>
            </a:pPr>
            <a:r>
              <a:t>p95 latency / seconds (log scale)</a:t>
            </a:r>
          </a:p>
        </p:txBody>
      </p:sp>
      <p:sp>
        <p:nvSpPr>
          <p:cNvPr id="12" name="Rectangle 11"/>
          <p:cNvSpPr/>
          <p:nvPr/>
        </p:nvSpPr>
        <p:spPr>
          <a:xfrm>
            <a:off x="6235700" y="2070100"/>
            <a:ext cx="5422900" cy="36576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8900" y="2273300"/>
            <a:ext cx="5041900" cy="393700"/>
          </a:xfrm>
          <a:prstGeom prst="rect">
            <a:avLst/>
          </a:prstGeom>
          <a:noFill/>
        </p:spPr>
        <p:txBody>
          <a:bodyPr wrap="none" lIns="0" rIns="0" tIns="0" bIns="0" anchor="t">
            <a:spAutoFit/>
          </a:bodyPr>
          <a:lstStyle/>
          <a:p>
            <a:pPr algn="l">
              <a:lnSpc>
                <a:spcPts val="2029"/>
              </a:lnSpc>
              <a:spcBef>
                <a:spcPts val="0"/>
              </a:spcBef>
              <a:spcAft>
                <a:spcPts val="0"/>
              </a:spcAft>
              <a:defRPr sz="1650" b="1">
                <a:solidFill>
                  <a:srgbClr val="142C40"/>
                </a:solidFill>
                <a:latin typeface="DejaVu Sans"/>
              </a:defRPr>
            </a:pPr>
            <a:r>
              <a:t>Peak worker RSS / GiB</a:t>
            </a:r>
          </a:p>
        </p:txBody>
      </p:sp>
      <p:sp>
        <p:nvSpPr>
          <p:cNvPr id="14" name="TextBox 13"/>
          <p:cNvSpPr txBox="1"/>
          <p:nvPr/>
        </p:nvSpPr>
        <p:spPr>
          <a:xfrm>
            <a:off x="723900" y="2882900"/>
            <a:ext cx="12446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MobileCLIP</a:t>
            </a:r>
          </a:p>
        </p:txBody>
      </p:sp>
      <p:sp>
        <p:nvSpPr>
          <p:cNvPr id="15" name="TextBox 14"/>
          <p:cNvSpPr txBox="1"/>
          <p:nvPr/>
        </p:nvSpPr>
        <p:spPr>
          <a:xfrm>
            <a:off x="6426200" y="2882900"/>
            <a:ext cx="12827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MobileCLIP</a:t>
            </a:r>
          </a:p>
        </p:txBody>
      </p:sp>
      <p:sp>
        <p:nvSpPr>
          <p:cNvPr id="16" name="Rectangle 15"/>
          <p:cNvSpPr/>
          <p:nvPr/>
        </p:nvSpPr>
        <p:spPr>
          <a:xfrm>
            <a:off x="2044700" y="2908300"/>
            <a:ext cx="800775" cy="241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08975" y="2882900"/>
            <a:ext cx="6350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0.056</a:t>
            </a:r>
          </a:p>
        </p:txBody>
      </p:sp>
      <p:sp>
        <p:nvSpPr>
          <p:cNvPr id="18" name="Rectangle 17"/>
          <p:cNvSpPr/>
          <p:nvPr/>
        </p:nvSpPr>
        <p:spPr>
          <a:xfrm>
            <a:off x="7797800" y="2908300"/>
            <a:ext cx="150913" cy="2413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12213" y="2882900"/>
            <a:ext cx="6477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0.97</a:t>
            </a:r>
          </a:p>
        </p:txBody>
      </p:sp>
      <p:sp>
        <p:nvSpPr>
          <p:cNvPr id="20" name="TextBox 19"/>
          <p:cNvSpPr txBox="1"/>
          <p:nvPr/>
        </p:nvSpPr>
        <p:spPr>
          <a:xfrm>
            <a:off x="723900" y="3492500"/>
            <a:ext cx="12446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SigLIP</a:t>
            </a:r>
          </a:p>
        </p:txBody>
      </p:sp>
      <p:sp>
        <p:nvSpPr>
          <p:cNvPr id="21" name="TextBox 20"/>
          <p:cNvSpPr txBox="1"/>
          <p:nvPr/>
        </p:nvSpPr>
        <p:spPr>
          <a:xfrm>
            <a:off x="6426200" y="3492500"/>
            <a:ext cx="12827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SigLIP</a:t>
            </a:r>
          </a:p>
        </p:txBody>
      </p:sp>
      <p:sp>
        <p:nvSpPr>
          <p:cNvPr id="22" name="Rectangle 21"/>
          <p:cNvSpPr/>
          <p:nvPr/>
        </p:nvSpPr>
        <p:spPr>
          <a:xfrm>
            <a:off x="2044700" y="3517900"/>
            <a:ext cx="1214773" cy="241300"/>
          </a:xfrm>
          <a:prstGeom prst="rect">
            <a:avLst/>
          </a:prstGeom>
          <a:solidFill>
            <a:srgbClr val="267A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22973" y="3492500"/>
            <a:ext cx="6350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0.138</a:t>
            </a:r>
          </a:p>
        </p:txBody>
      </p:sp>
      <p:sp>
        <p:nvSpPr>
          <p:cNvPr id="24" name="Rectangle 23"/>
          <p:cNvSpPr/>
          <p:nvPr/>
        </p:nvSpPr>
        <p:spPr>
          <a:xfrm>
            <a:off x="7797800" y="3517900"/>
            <a:ext cx="189698" cy="241300"/>
          </a:xfrm>
          <a:prstGeom prst="rect">
            <a:avLst/>
          </a:prstGeom>
          <a:solidFill>
            <a:srgbClr val="267A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50998" y="3492500"/>
            <a:ext cx="6477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1.22</a:t>
            </a:r>
          </a:p>
        </p:txBody>
      </p:sp>
      <p:sp>
        <p:nvSpPr>
          <p:cNvPr id="26" name="TextBox 25"/>
          <p:cNvSpPr txBox="1"/>
          <p:nvPr/>
        </p:nvSpPr>
        <p:spPr>
          <a:xfrm>
            <a:off x="723900" y="4102100"/>
            <a:ext cx="12446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SmolVLM</a:t>
            </a:r>
          </a:p>
        </p:txBody>
      </p:sp>
      <p:sp>
        <p:nvSpPr>
          <p:cNvPr id="27" name="TextBox 26"/>
          <p:cNvSpPr txBox="1"/>
          <p:nvPr/>
        </p:nvSpPr>
        <p:spPr>
          <a:xfrm>
            <a:off x="6426200" y="4102100"/>
            <a:ext cx="12827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SmolVLM</a:t>
            </a:r>
          </a:p>
        </p:txBody>
      </p:sp>
      <p:sp>
        <p:nvSpPr>
          <p:cNvPr id="28" name="Rectangle 27"/>
          <p:cNvSpPr/>
          <p:nvPr/>
        </p:nvSpPr>
        <p:spPr>
          <a:xfrm>
            <a:off x="2044700" y="4127500"/>
            <a:ext cx="3071011" cy="241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9211" y="4102100"/>
            <a:ext cx="6350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7.563</a:t>
            </a:r>
          </a:p>
        </p:txBody>
      </p:sp>
      <p:sp>
        <p:nvSpPr>
          <p:cNvPr id="30" name="Rectangle 29"/>
          <p:cNvSpPr/>
          <p:nvPr/>
        </p:nvSpPr>
        <p:spPr>
          <a:xfrm>
            <a:off x="7797800" y="4127500"/>
            <a:ext cx="509012" cy="2413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70312" y="4102100"/>
            <a:ext cx="6477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3.27</a:t>
            </a:r>
          </a:p>
        </p:txBody>
      </p:sp>
      <p:sp>
        <p:nvSpPr>
          <p:cNvPr id="32" name="TextBox 31"/>
          <p:cNvSpPr txBox="1"/>
          <p:nvPr/>
        </p:nvSpPr>
        <p:spPr>
          <a:xfrm>
            <a:off x="723900" y="4711700"/>
            <a:ext cx="12446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MiniCPM</a:t>
            </a:r>
          </a:p>
        </p:txBody>
      </p:sp>
      <p:sp>
        <p:nvSpPr>
          <p:cNvPr id="33" name="TextBox 32"/>
          <p:cNvSpPr txBox="1"/>
          <p:nvPr/>
        </p:nvSpPr>
        <p:spPr>
          <a:xfrm>
            <a:off x="6426200" y="4711700"/>
            <a:ext cx="1282700" cy="304800"/>
          </a:xfrm>
          <a:prstGeom prst="rect">
            <a:avLst/>
          </a:prstGeom>
          <a:noFill/>
        </p:spPr>
        <p:txBody>
          <a:bodyPr wrap="none" lIns="0" rIns="0" tIns="0" bIns="0" anchor="t">
            <a:spAutoFit/>
          </a:bodyPr>
          <a:lstStyle/>
          <a:p>
            <a:pPr algn="l">
              <a:lnSpc>
                <a:spcPts val="1722"/>
              </a:lnSpc>
              <a:spcBef>
                <a:spcPts val="0"/>
              </a:spcBef>
              <a:spcAft>
                <a:spcPts val="0"/>
              </a:spcAft>
              <a:defRPr sz="1400" b="0">
                <a:solidFill>
                  <a:srgbClr val="526471"/>
                </a:solidFill>
                <a:latin typeface="DejaVu Sans"/>
              </a:defRPr>
            </a:pPr>
            <a:r>
              <a:t>MiniCPM</a:t>
            </a:r>
          </a:p>
        </p:txBody>
      </p:sp>
      <p:sp>
        <p:nvSpPr>
          <p:cNvPr id="34" name="Rectangle 33"/>
          <p:cNvSpPr/>
          <p:nvPr/>
        </p:nvSpPr>
        <p:spPr>
          <a:xfrm>
            <a:off x="2044700" y="4737100"/>
            <a:ext cx="3107122" cy="241300"/>
          </a:xfrm>
          <a:prstGeom prst="rect">
            <a:avLst/>
          </a:prstGeom>
          <a:solidFill>
            <a:srgbClr val="775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5322" y="4711700"/>
            <a:ext cx="6350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8.176</a:t>
            </a:r>
          </a:p>
        </p:txBody>
      </p:sp>
      <p:sp>
        <p:nvSpPr>
          <p:cNvPr id="36" name="Rectangle 35"/>
          <p:cNvSpPr/>
          <p:nvPr/>
        </p:nvSpPr>
        <p:spPr>
          <a:xfrm>
            <a:off x="7797800" y="4737100"/>
            <a:ext cx="2863881" cy="241300"/>
          </a:xfrm>
          <a:prstGeom prst="rect">
            <a:avLst/>
          </a:prstGeom>
          <a:solidFill>
            <a:srgbClr val="775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25181" y="4711700"/>
            <a:ext cx="647700" cy="317500"/>
          </a:xfrm>
          <a:prstGeom prst="rect">
            <a:avLst/>
          </a:prstGeom>
          <a:noFill/>
        </p:spPr>
        <p:txBody>
          <a:bodyPr wrap="none" lIns="0" rIns="0" tIns="0" bIns="0" anchor="t">
            <a:spAutoFit/>
          </a:bodyPr>
          <a:lstStyle/>
          <a:p>
            <a:pPr algn="l">
              <a:lnSpc>
                <a:spcPts val="1476"/>
              </a:lnSpc>
              <a:spcBef>
                <a:spcPts val="0"/>
              </a:spcBef>
              <a:spcAft>
                <a:spcPts val="0"/>
              </a:spcAft>
              <a:defRPr sz="1200" b="1">
                <a:solidFill>
                  <a:srgbClr val="142C40"/>
                </a:solidFill>
                <a:latin typeface="DejaVu Sans"/>
              </a:defRPr>
            </a:pPr>
            <a:r>
              <a:t>18.41</a:t>
            </a:r>
          </a:p>
        </p:txBody>
      </p:sp>
      <p:cxnSp>
        <p:nvCxnSpPr>
          <p:cNvPr id="38" name="Connector 37"/>
          <p:cNvCxnSpPr/>
          <p:nvPr/>
        </p:nvCxnSpPr>
        <p:spPr>
          <a:xfrm>
            <a:off x="20447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8415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0.01</a:t>
            </a:r>
          </a:p>
        </p:txBody>
      </p:sp>
      <p:cxnSp>
        <p:nvCxnSpPr>
          <p:cNvPr id="40" name="Connector 39"/>
          <p:cNvCxnSpPr/>
          <p:nvPr/>
        </p:nvCxnSpPr>
        <p:spPr>
          <a:xfrm>
            <a:off x="31115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9083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0.1</a:t>
            </a:r>
          </a:p>
        </p:txBody>
      </p:sp>
      <p:cxnSp>
        <p:nvCxnSpPr>
          <p:cNvPr id="42" name="Connector 41"/>
          <p:cNvCxnSpPr/>
          <p:nvPr/>
        </p:nvCxnSpPr>
        <p:spPr>
          <a:xfrm>
            <a:off x="41783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9751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1</a:t>
            </a:r>
          </a:p>
        </p:txBody>
      </p:sp>
      <p:cxnSp>
        <p:nvCxnSpPr>
          <p:cNvPr id="44" name="Connector 43"/>
          <p:cNvCxnSpPr/>
          <p:nvPr/>
        </p:nvCxnSpPr>
        <p:spPr>
          <a:xfrm>
            <a:off x="52451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419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10</a:t>
            </a:r>
          </a:p>
        </p:txBody>
      </p:sp>
      <p:cxnSp>
        <p:nvCxnSpPr>
          <p:cNvPr id="46" name="Connector 45"/>
          <p:cNvCxnSpPr/>
          <p:nvPr/>
        </p:nvCxnSpPr>
        <p:spPr>
          <a:xfrm>
            <a:off x="4178300" y="2743200"/>
            <a:ext cx="0" cy="2514600"/>
          </a:xfrm>
          <a:prstGeom prst="line">
            <a:avLst/>
          </a:prstGeom>
          <a:ln w="7620">
            <a:solidFill>
              <a:srgbClr val="526471"/>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733800" y="2628900"/>
            <a:ext cx="952500" cy="203200"/>
          </a:xfrm>
          <a:prstGeom prst="rect">
            <a:avLst/>
          </a:prstGeom>
          <a:noFill/>
        </p:spPr>
        <p:txBody>
          <a:bodyPr wrap="none" lIns="0" rIns="0" tIns="0" bIns="0" anchor="t">
            <a:spAutoFit/>
          </a:bodyPr>
          <a:lstStyle/>
          <a:p>
            <a:pPr algn="ctr">
              <a:lnSpc>
                <a:spcPts val="1107"/>
              </a:lnSpc>
              <a:spcBef>
                <a:spcPts val="0"/>
              </a:spcBef>
              <a:spcAft>
                <a:spcPts val="0"/>
              </a:spcAft>
              <a:defRPr sz="900" b="0">
                <a:solidFill>
                  <a:srgbClr val="526471"/>
                </a:solidFill>
                <a:latin typeface="DejaVu Sans"/>
              </a:defRPr>
            </a:pPr>
            <a:r>
              <a:t>1 s budget</a:t>
            </a:r>
          </a:p>
        </p:txBody>
      </p:sp>
      <p:cxnSp>
        <p:nvCxnSpPr>
          <p:cNvPr id="48" name="Connector 47"/>
          <p:cNvCxnSpPr/>
          <p:nvPr/>
        </p:nvCxnSpPr>
        <p:spPr>
          <a:xfrm>
            <a:off x="77978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5946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0</a:t>
            </a:r>
          </a:p>
        </p:txBody>
      </p:sp>
      <p:cxnSp>
        <p:nvCxnSpPr>
          <p:cNvPr id="50" name="Connector 49"/>
          <p:cNvCxnSpPr/>
          <p:nvPr/>
        </p:nvCxnSpPr>
        <p:spPr>
          <a:xfrm>
            <a:off x="8575675"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372475"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5</a:t>
            </a:r>
          </a:p>
        </p:txBody>
      </p:sp>
      <p:cxnSp>
        <p:nvCxnSpPr>
          <p:cNvPr id="52" name="Connector 51"/>
          <p:cNvCxnSpPr/>
          <p:nvPr/>
        </p:nvCxnSpPr>
        <p:spPr>
          <a:xfrm>
            <a:off x="935355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5035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10</a:t>
            </a:r>
          </a:p>
        </p:txBody>
      </p:sp>
      <p:cxnSp>
        <p:nvCxnSpPr>
          <p:cNvPr id="54" name="Connector 53"/>
          <p:cNvCxnSpPr/>
          <p:nvPr/>
        </p:nvCxnSpPr>
        <p:spPr>
          <a:xfrm>
            <a:off x="10131425"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928225"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15</a:t>
            </a:r>
          </a:p>
        </p:txBody>
      </p:sp>
      <p:cxnSp>
        <p:nvCxnSpPr>
          <p:cNvPr id="56" name="Connector 55"/>
          <p:cNvCxnSpPr/>
          <p:nvPr/>
        </p:nvCxnSpPr>
        <p:spPr>
          <a:xfrm>
            <a:off x="10909300" y="5257800"/>
            <a:ext cx="0" cy="7620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706100" y="5384800"/>
            <a:ext cx="419100" cy="228600"/>
          </a:xfrm>
          <a:prstGeom prst="rect">
            <a:avLst/>
          </a:prstGeom>
          <a:noFill/>
        </p:spPr>
        <p:txBody>
          <a:bodyPr wrap="none" lIns="0" rIns="0" tIns="0" bIns="0" anchor="t">
            <a:spAutoFit/>
          </a:bodyPr>
          <a:lstStyle/>
          <a:p>
            <a:pPr algn="ctr">
              <a:lnSpc>
                <a:spcPts val="1230"/>
              </a:lnSpc>
              <a:spcBef>
                <a:spcPts val="0"/>
              </a:spcBef>
              <a:spcAft>
                <a:spcPts val="0"/>
              </a:spcAft>
              <a:defRPr sz="1000" b="0">
                <a:solidFill>
                  <a:srgbClr val="526471"/>
                </a:solidFill>
                <a:latin typeface="DejaVu Sans"/>
              </a:defRPr>
            </a:pPr>
            <a:r>
              <a:t>20</a:t>
            </a:r>
          </a:p>
        </p:txBody>
      </p:sp>
      <p:sp>
        <p:nvSpPr>
          <p:cNvPr id="58" name="TextBox 57"/>
          <p:cNvSpPr txBox="1"/>
          <p:nvPr/>
        </p:nvSpPr>
        <p:spPr>
          <a:xfrm>
            <a:off x="571500" y="5930900"/>
            <a:ext cx="11049000" cy="3556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526471"/>
                </a:solidFill>
                <a:latin typeface="DejaVu Sans"/>
              </a:defRPr>
            </a:pPr>
            <a:r>
              <a:t>Both CLIPs met a 1-second inference budget here. The VLMs did not. These costs are host- and protocol-specific.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WORKFLOW IMPROVEMENTS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Remove limits that hid evaluation capacity</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Full GPU quality runs; explicit sampling and measurement semantics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Code changes documented in workflow_review_20261013.md</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12</a:t>
            </a:r>
          </a:p>
        </p:txBody>
      </p:sp>
      <p:sp>
        <p:nvSpPr>
          <p:cNvPr id="10" name="Rectangle 9"/>
          <p:cNvSpPr/>
          <p:nvPr/>
        </p:nvSpPr>
        <p:spPr>
          <a:xfrm>
            <a:off x="533400" y="21590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1803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Area</a:t>
            </a:r>
          </a:p>
        </p:txBody>
      </p:sp>
      <p:sp>
        <p:nvSpPr>
          <p:cNvPr id="12" name="TextBox 11"/>
          <p:cNvSpPr txBox="1"/>
          <p:nvPr/>
        </p:nvSpPr>
        <p:spPr>
          <a:xfrm>
            <a:off x="2692400" y="2273300"/>
            <a:ext cx="3835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Earlier limitation</a:t>
            </a:r>
          </a:p>
        </p:txBody>
      </p:sp>
      <p:sp>
        <p:nvSpPr>
          <p:cNvPr id="13" name="TextBox 12"/>
          <p:cNvSpPr txBox="1"/>
          <p:nvPr/>
        </p:nvSpPr>
        <p:spPr>
          <a:xfrm>
            <a:off x="6756400" y="2273300"/>
            <a:ext cx="48006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Updated workflow</a:t>
            </a:r>
          </a:p>
        </p:txBody>
      </p:sp>
      <p:sp>
        <p:nvSpPr>
          <p:cNvPr id="14" name="Rectangle 13"/>
          <p:cNvSpPr/>
          <p:nvPr/>
        </p:nvSpPr>
        <p:spPr>
          <a:xfrm>
            <a:off x="533400" y="2641600"/>
            <a:ext cx="11125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0400" y="2755900"/>
            <a:ext cx="1803400" cy="431800"/>
          </a:xfrm>
          <a:prstGeom prst="rect">
            <a:avLst/>
          </a:prstGeom>
          <a:noFill/>
        </p:spPr>
        <p:txBody>
          <a:bodyPr wrap="none" lIns="0" rIns="0" tIns="0" bIns="0" anchor="t">
            <a:spAutoFit/>
          </a:bodyPr>
          <a:lstStyle/>
          <a:p>
            <a:pPr algn="l">
              <a:lnSpc>
                <a:spcPts val="1783"/>
              </a:lnSpc>
              <a:spcBef>
                <a:spcPts val="0"/>
              </a:spcBef>
              <a:spcAft>
                <a:spcPts val="0"/>
              </a:spcAft>
              <a:defRPr sz="1450" b="1">
                <a:solidFill>
                  <a:srgbClr val="142C40"/>
                </a:solidFill>
                <a:latin typeface="DejaVu Sans"/>
              </a:defRPr>
            </a:pPr>
            <a:r>
              <a:t>Execution</a:t>
            </a:r>
          </a:p>
        </p:txBody>
      </p:sp>
      <p:sp>
        <p:nvSpPr>
          <p:cNvPr id="16" name="TextBox 15"/>
          <p:cNvSpPr txBox="1"/>
          <p:nvPr/>
        </p:nvSpPr>
        <p:spPr>
          <a:xfrm>
            <a:off x="2692400" y="2755900"/>
            <a:ext cx="38354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Forced CPU / GPU hidden</a:t>
            </a:r>
          </a:p>
        </p:txBody>
      </p:sp>
      <p:sp>
        <p:nvSpPr>
          <p:cNvPr id="17" name="TextBox 16"/>
          <p:cNvSpPr txBox="1"/>
          <p:nvPr/>
        </p:nvSpPr>
        <p:spPr>
          <a:xfrm>
            <a:off x="6756400" y="2755900"/>
            <a:ext cx="48006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Explicit CPU / CUDA placement + dtype</a:t>
            </a:r>
          </a:p>
        </p:txBody>
      </p:sp>
      <p:cxnSp>
        <p:nvCxnSpPr>
          <p:cNvPr id="18" name="Connector 17"/>
          <p:cNvCxnSpPr/>
          <p:nvPr/>
        </p:nvCxnSpPr>
        <p:spPr>
          <a:xfrm>
            <a:off x="533400" y="3213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33400" y="32131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0400" y="3327400"/>
            <a:ext cx="1803400" cy="431800"/>
          </a:xfrm>
          <a:prstGeom prst="rect">
            <a:avLst/>
          </a:prstGeom>
          <a:noFill/>
        </p:spPr>
        <p:txBody>
          <a:bodyPr wrap="none" lIns="0" rIns="0" tIns="0" bIns="0" anchor="t">
            <a:spAutoFit/>
          </a:bodyPr>
          <a:lstStyle/>
          <a:p>
            <a:pPr algn="l">
              <a:lnSpc>
                <a:spcPts val="1783"/>
              </a:lnSpc>
              <a:spcBef>
                <a:spcPts val="0"/>
              </a:spcBef>
              <a:spcAft>
                <a:spcPts val="0"/>
              </a:spcAft>
              <a:defRPr sz="1450" b="1">
                <a:solidFill>
                  <a:srgbClr val="142C40"/>
                </a:solidFill>
                <a:latin typeface="DejaVu Sans"/>
              </a:defRPr>
            </a:pPr>
            <a:r>
              <a:t>Prepared cohort</a:t>
            </a:r>
          </a:p>
        </p:txBody>
      </p:sp>
      <p:sp>
        <p:nvSpPr>
          <p:cNvPr id="21" name="TextBox 20"/>
          <p:cNvSpPr txBox="1"/>
          <p:nvPr/>
        </p:nvSpPr>
        <p:spPr>
          <a:xfrm>
            <a:off x="2692400" y="3327400"/>
            <a:ext cx="38354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Hidden 8-per-label/recording cap</a:t>
            </a:r>
          </a:p>
        </p:txBody>
      </p:sp>
      <p:sp>
        <p:nvSpPr>
          <p:cNvPr id="22" name="TextBox 21"/>
          <p:cNvSpPr txBox="1"/>
          <p:nvPr/>
        </p:nvSpPr>
        <p:spPr>
          <a:xfrm>
            <a:off x="6756400" y="3327400"/>
            <a:ext cx="48006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3,350 / 3,350 confirmed inputs retained</a:t>
            </a:r>
          </a:p>
        </p:txBody>
      </p:sp>
      <p:cxnSp>
        <p:nvCxnSpPr>
          <p:cNvPr id="23" name="Connector 22"/>
          <p:cNvCxnSpPr/>
          <p:nvPr/>
        </p:nvCxnSpPr>
        <p:spPr>
          <a:xfrm>
            <a:off x="533400" y="3784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33400" y="3784600"/>
            <a:ext cx="11125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400" y="3898900"/>
            <a:ext cx="1803400" cy="431800"/>
          </a:xfrm>
          <a:prstGeom prst="rect">
            <a:avLst/>
          </a:prstGeom>
          <a:noFill/>
        </p:spPr>
        <p:txBody>
          <a:bodyPr wrap="none" lIns="0" rIns="0" tIns="0" bIns="0" anchor="t">
            <a:spAutoFit/>
          </a:bodyPr>
          <a:lstStyle/>
          <a:p>
            <a:pPr algn="l">
              <a:lnSpc>
                <a:spcPts val="1783"/>
              </a:lnSpc>
              <a:spcBef>
                <a:spcPts val="0"/>
              </a:spcBef>
              <a:spcAft>
                <a:spcPts val="0"/>
              </a:spcAft>
              <a:defRPr sz="1450" b="1">
                <a:solidFill>
                  <a:srgbClr val="142C40"/>
                </a:solidFill>
                <a:latin typeface="DejaVu Sans"/>
              </a:defRPr>
            </a:pPr>
            <a:r>
              <a:t>Resources</a:t>
            </a:r>
          </a:p>
        </p:txBody>
      </p:sp>
      <p:sp>
        <p:nvSpPr>
          <p:cNvPr id="26" name="TextBox 25"/>
          <p:cNvSpPr txBox="1"/>
          <p:nvPr/>
        </p:nvSpPr>
        <p:spPr>
          <a:xfrm>
            <a:off x="2692400" y="3898900"/>
            <a:ext cx="38354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Restrictive defaults</a:t>
            </a:r>
          </a:p>
        </p:txBody>
      </p:sp>
      <p:sp>
        <p:nvSpPr>
          <p:cNvPr id="27" name="TextBox 26"/>
          <p:cNvSpPr txBox="1"/>
          <p:nvPr/>
        </p:nvSpPr>
        <p:spPr>
          <a:xfrm>
            <a:off x="6756400" y="3898900"/>
            <a:ext cx="48006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No pacing / default RAM cap; GPU batches</a:t>
            </a:r>
          </a:p>
        </p:txBody>
      </p:sp>
      <p:cxnSp>
        <p:nvCxnSpPr>
          <p:cNvPr id="28" name="Connector 27"/>
          <p:cNvCxnSpPr/>
          <p:nvPr/>
        </p:nvCxnSpPr>
        <p:spPr>
          <a:xfrm>
            <a:off x="533400" y="4356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3400" y="43561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400" y="4470400"/>
            <a:ext cx="1803400" cy="431800"/>
          </a:xfrm>
          <a:prstGeom prst="rect">
            <a:avLst/>
          </a:prstGeom>
          <a:noFill/>
        </p:spPr>
        <p:txBody>
          <a:bodyPr wrap="none" lIns="0" rIns="0" tIns="0" bIns="0" anchor="t">
            <a:spAutoFit/>
          </a:bodyPr>
          <a:lstStyle/>
          <a:p>
            <a:pPr algn="l">
              <a:lnSpc>
                <a:spcPts val="1783"/>
              </a:lnSpc>
              <a:spcBef>
                <a:spcPts val="0"/>
              </a:spcBef>
              <a:spcAft>
                <a:spcPts val="0"/>
              </a:spcAft>
              <a:defRPr sz="1450" b="1">
                <a:solidFill>
                  <a:srgbClr val="142C40"/>
                </a:solidFill>
                <a:latin typeface="DejaVu Sans"/>
              </a:defRPr>
            </a:pPr>
            <a:r>
              <a:t>Data lookup</a:t>
            </a:r>
          </a:p>
        </p:txBody>
      </p:sp>
      <p:sp>
        <p:nvSpPr>
          <p:cNvPr id="31" name="TextBox 30"/>
          <p:cNvSpPr txBox="1"/>
          <p:nvPr/>
        </p:nvSpPr>
        <p:spPr>
          <a:xfrm>
            <a:off x="2692400" y="4470400"/>
            <a:ext cx="38354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Repeated 3 MB receipt parsing</a:t>
            </a:r>
          </a:p>
        </p:txBody>
      </p:sp>
      <p:sp>
        <p:nvSpPr>
          <p:cNvPr id="32" name="TextBox 31"/>
          <p:cNvSpPr txBox="1"/>
          <p:nvPr/>
        </p:nvSpPr>
        <p:spPr>
          <a:xfrm>
            <a:off x="6756400" y="4470400"/>
            <a:ext cx="48006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Indexed once; invalidates on changes</a:t>
            </a:r>
          </a:p>
        </p:txBody>
      </p:sp>
      <p:cxnSp>
        <p:nvCxnSpPr>
          <p:cNvPr id="33" name="Connector 32"/>
          <p:cNvCxnSpPr/>
          <p:nvPr/>
        </p:nvCxnSpPr>
        <p:spPr>
          <a:xfrm>
            <a:off x="533400" y="4927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33400" y="4927600"/>
            <a:ext cx="11125200" cy="571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5041900"/>
            <a:ext cx="1803400" cy="431800"/>
          </a:xfrm>
          <a:prstGeom prst="rect">
            <a:avLst/>
          </a:prstGeom>
          <a:noFill/>
        </p:spPr>
        <p:txBody>
          <a:bodyPr wrap="none" lIns="0" rIns="0" tIns="0" bIns="0" anchor="t">
            <a:spAutoFit/>
          </a:bodyPr>
          <a:lstStyle/>
          <a:p>
            <a:pPr algn="l">
              <a:lnSpc>
                <a:spcPts val="1783"/>
              </a:lnSpc>
              <a:spcBef>
                <a:spcPts val="0"/>
              </a:spcBef>
              <a:spcAft>
                <a:spcPts val="0"/>
              </a:spcAft>
              <a:defRPr sz="1450" b="1">
                <a:solidFill>
                  <a:srgbClr val="142C40"/>
                </a:solidFill>
                <a:latin typeface="DejaVu Sans"/>
              </a:defRPr>
            </a:pPr>
            <a:r>
              <a:t>Reporting</a:t>
            </a:r>
          </a:p>
        </p:txBody>
      </p:sp>
      <p:sp>
        <p:nvSpPr>
          <p:cNvPr id="36" name="TextBox 35"/>
          <p:cNvSpPr txBox="1"/>
          <p:nvPr/>
        </p:nvSpPr>
        <p:spPr>
          <a:xfrm>
            <a:off x="2692400" y="5041900"/>
            <a:ext cx="38354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Incomplete quality / timing context</a:t>
            </a:r>
          </a:p>
        </p:txBody>
      </p:sp>
      <p:sp>
        <p:nvSpPr>
          <p:cNvPr id="37" name="TextBox 36"/>
          <p:cNvSpPr txBox="1"/>
          <p:nvPr/>
        </p:nvSpPr>
        <p:spPr>
          <a:xfrm>
            <a:off x="6756400" y="5041900"/>
            <a:ext cx="4800600" cy="431800"/>
          </a:xfrm>
          <a:prstGeom prst="rect">
            <a:avLst/>
          </a:prstGeom>
          <a:noFill/>
        </p:spPr>
        <p:txBody>
          <a:bodyPr wrap="none" lIns="0" rIns="0" tIns="0" bIns="0" anchor="t">
            <a:spAutoFit/>
          </a:bodyPr>
          <a:lstStyle/>
          <a:p>
            <a:pPr algn="l">
              <a:lnSpc>
                <a:spcPts val="1783"/>
              </a:lnSpc>
              <a:spcBef>
                <a:spcPts val="0"/>
              </a:spcBef>
              <a:spcAft>
                <a:spcPts val="0"/>
              </a:spcAft>
              <a:defRPr sz="1450" b="0">
                <a:solidFill>
                  <a:srgbClr val="142C40"/>
                </a:solidFill>
                <a:latin typeface="DejaVu Sans"/>
              </a:defRPr>
            </a:pPr>
            <a:r>
              <a:t>AP, recall, FPR, coverage and batch kind</a:t>
            </a:r>
          </a:p>
        </p:txBody>
      </p:sp>
      <p:cxnSp>
        <p:nvCxnSpPr>
          <p:cNvPr id="38" name="Connector 37"/>
          <p:cNvCxnSpPr/>
          <p:nvPr/>
        </p:nvCxnSpPr>
        <p:spPr>
          <a:xfrm>
            <a:off x="533400" y="5499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33400" y="56896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3400" y="5689600"/>
            <a:ext cx="50800" cy="5715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3900" y="5803900"/>
            <a:ext cx="107061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007E80"/>
                </a:solidFill>
                <a:latin typeface="DejaVu Sans"/>
              </a:defRPr>
            </a:pPr>
            <a:r>
              <a:t>144 tests passed in each environment; all 20 GPU model/cohort summaries succeeded.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CONCLUSION &amp; NEXT EVALUATION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No five-task deployment winner is supported</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Fix event coverage and test fresh recordings before making a model choice</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Workflow review: limitations and next evaluation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13</a:t>
            </a:r>
          </a:p>
        </p:txBody>
      </p:sp>
      <p:sp>
        <p:nvSpPr>
          <p:cNvPr id="10" name="Rectangle 9"/>
          <p:cNvSpPr/>
          <p:nvPr/>
        </p:nvSpPr>
        <p:spPr>
          <a:xfrm>
            <a:off x="533400" y="2247900"/>
            <a:ext cx="3556000" cy="3238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247900"/>
            <a:ext cx="50800" cy="32385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4257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1 Review event data</a:t>
            </a:r>
          </a:p>
        </p:txBody>
      </p:sp>
      <p:sp>
        <p:nvSpPr>
          <p:cNvPr id="13" name="TextBox 12"/>
          <p:cNvSpPr txBox="1"/>
          <p:nvPr/>
        </p:nvSpPr>
        <p:spPr>
          <a:xfrm>
            <a:off x="762000" y="3136900"/>
            <a:ext cx="3124200" cy="22225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Verified positives +</a:t>
            </a:r>
          </a:p>
          <a:p>
            <a:pPr algn="l">
              <a:lnSpc>
                <a:spcPts val="1968"/>
              </a:lnSpc>
              <a:spcBef>
                <a:spcPts val="0"/>
              </a:spcBef>
              <a:spcAft>
                <a:spcPts val="0"/>
              </a:spcAft>
              <a:defRPr sz="1600" b="0">
                <a:solidFill>
                  <a:srgbClr val="142C40"/>
                </a:solidFill>
                <a:latin typeface="DejaVu Sans"/>
              </a:defRPr>
            </a:pPr>
            <a:r>
              <a:t>task-specific normals.</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Recording identity, camera</a:t>
            </a:r>
          </a:p>
          <a:p>
            <a:pPr algn="l">
              <a:lnSpc>
                <a:spcPts val="1968"/>
              </a:lnSpc>
              <a:spcBef>
                <a:spcPts val="0"/>
              </a:spcBef>
              <a:spcAft>
                <a:spcPts val="0"/>
              </a:spcAft>
              <a:defRPr sz="1600" b="0">
                <a:solidFill>
                  <a:srgbClr val="142C40"/>
                </a:solidFill>
                <a:latin typeface="DejaVu Sans"/>
              </a:defRPr>
            </a:pPr>
            <a:r>
              <a:t>genealogy, duration and</a:t>
            </a:r>
          </a:p>
          <a:p>
            <a:pPr algn="l">
              <a:lnSpc>
                <a:spcPts val="1968"/>
              </a:lnSpc>
              <a:spcBef>
                <a:spcPts val="0"/>
              </a:spcBef>
              <a:spcAft>
                <a:spcPts val="0"/>
              </a:spcAft>
              <a:defRPr sz="1600" b="0">
                <a:solidFill>
                  <a:srgbClr val="142C40"/>
                </a:solidFill>
                <a:latin typeface="DejaVu Sans"/>
              </a:defRPr>
            </a:pPr>
            <a:r>
              <a:t>ownership rules.</a:t>
            </a:r>
          </a:p>
        </p:txBody>
      </p:sp>
      <p:sp>
        <p:nvSpPr>
          <p:cNvPr id="14" name="Rectangle 13"/>
          <p:cNvSpPr/>
          <p:nvPr/>
        </p:nvSpPr>
        <p:spPr>
          <a:xfrm>
            <a:off x="4318000" y="2247900"/>
            <a:ext cx="3556000" cy="3238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8000" y="2247900"/>
            <a:ext cx="50800" cy="32385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6600" y="24257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2 Improve the</a:t>
            </a:r>
          </a:p>
          <a:p>
            <a:pPr algn="l">
              <a:lnSpc>
                <a:spcPts val="2460"/>
              </a:lnSpc>
              <a:spcBef>
                <a:spcPts val="0"/>
              </a:spcBef>
              <a:spcAft>
                <a:spcPts val="0"/>
              </a:spcAft>
              <a:defRPr sz="2000" b="1">
                <a:solidFill>
                  <a:srgbClr val="007E80"/>
                </a:solidFill>
                <a:latin typeface="DejaVu Sans"/>
              </a:defRPr>
            </a:pPr>
            <a:r>
              <a:t>protocol</a:t>
            </a:r>
          </a:p>
        </p:txBody>
      </p:sp>
      <p:sp>
        <p:nvSpPr>
          <p:cNvPr id="17" name="TextBox 16"/>
          <p:cNvSpPr txBox="1"/>
          <p:nvPr/>
        </p:nvSpPr>
        <p:spPr>
          <a:xfrm>
            <a:off x="4546600" y="3136900"/>
            <a:ext cx="3124200" cy="22225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Test crops and native</a:t>
            </a:r>
          </a:p>
          <a:p>
            <a:pPr algn="l">
              <a:lnSpc>
                <a:spcPts val="1968"/>
              </a:lnSpc>
              <a:spcBef>
                <a:spcPts val="0"/>
              </a:spcBef>
              <a:spcAft>
                <a:spcPts val="0"/>
              </a:spcAft>
              <a:defRPr sz="1600" b="0">
                <a:solidFill>
                  <a:srgbClr val="142C40"/>
                </a:solidFill>
                <a:latin typeface="DejaVu Sans"/>
              </a:defRPr>
            </a:pPr>
            <a:r>
              <a:t>temporal / image-slicing</a:t>
            </a:r>
          </a:p>
          <a:p>
            <a:pPr algn="l">
              <a:lnSpc>
                <a:spcPts val="1968"/>
              </a:lnSpc>
              <a:spcBef>
                <a:spcPts val="0"/>
              </a:spcBef>
              <a:spcAft>
                <a:spcPts val="0"/>
              </a:spcAft>
              <a:defRPr sz="1600" b="0">
                <a:solidFill>
                  <a:srgbClr val="142C40"/>
                </a:solidFill>
                <a:latin typeface="DejaVu Sans"/>
              </a:defRPr>
            </a:pPr>
            <a:r>
              <a:t>inputs on development data.</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Include detector failures in</a:t>
            </a:r>
          </a:p>
          <a:p>
            <a:pPr algn="l">
              <a:lnSpc>
                <a:spcPts val="1968"/>
              </a:lnSpc>
              <a:spcBef>
                <a:spcPts val="0"/>
              </a:spcBef>
              <a:spcAft>
                <a:spcPts val="0"/>
              </a:spcAft>
              <a:defRPr sz="1600" b="0">
                <a:solidFill>
                  <a:srgbClr val="142C40"/>
                </a:solidFill>
                <a:latin typeface="DejaVu Sans"/>
              </a:defRPr>
            </a:pPr>
            <a:r>
              <a:t>quality.</a:t>
            </a:r>
          </a:p>
        </p:txBody>
      </p:sp>
      <p:sp>
        <p:nvSpPr>
          <p:cNvPr id="18" name="Rectangle 17"/>
          <p:cNvSpPr/>
          <p:nvPr/>
        </p:nvSpPr>
        <p:spPr>
          <a:xfrm>
            <a:off x="8102600" y="2247900"/>
            <a:ext cx="3556000" cy="32385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2600" y="2247900"/>
            <a:ext cx="50800" cy="32385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1200" y="2425700"/>
            <a:ext cx="31242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3 Freeze &amp; retest</a:t>
            </a:r>
          </a:p>
        </p:txBody>
      </p:sp>
      <p:sp>
        <p:nvSpPr>
          <p:cNvPr id="21" name="TextBox 20"/>
          <p:cNvSpPr txBox="1"/>
          <p:nvPr/>
        </p:nvSpPr>
        <p:spPr>
          <a:xfrm>
            <a:off x="8331200" y="3136900"/>
            <a:ext cx="3124200" cy="22225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Fresh source recordings; a</a:t>
            </a:r>
          </a:p>
          <a:p>
            <a:pPr algn="l">
              <a:lnSpc>
                <a:spcPts val="1968"/>
              </a:lnSpc>
              <a:spcBef>
                <a:spcPts val="0"/>
              </a:spcBef>
              <a:spcAft>
                <a:spcPts val="0"/>
              </a:spcAft>
              <a:defRPr sz="1600" b="0">
                <a:solidFill>
                  <a:srgbClr val="142C40"/>
                </a:solidFill>
                <a:latin typeface="DejaVu Sans"/>
              </a:defRPr>
            </a:pPr>
            <a:r>
              <a:t>fixed false-alert budget.</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Measure event delay,</a:t>
            </a:r>
          </a:p>
          <a:p>
            <a:pPr algn="l">
              <a:lnSpc>
                <a:spcPts val="1968"/>
              </a:lnSpc>
              <a:spcBef>
                <a:spcPts val="0"/>
              </a:spcBef>
              <a:spcAft>
                <a:spcPts val="0"/>
              </a:spcAft>
              <a:defRPr sz="1600" b="0">
                <a:solidFill>
                  <a:srgbClr val="142C40"/>
                </a:solidFill>
                <a:latin typeface="DejaVu Sans"/>
              </a:defRPr>
            </a:pPr>
            <a:r>
              <a:t>alerts/hour and real-device</a:t>
            </a:r>
          </a:p>
          <a:p>
            <a:pPr algn="l">
              <a:lnSpc>
                <a:spcPts val="1968"/>
              </a:lnSpc>
              <a:spcBef>
                <a:spcPts val="0"/>
              </a:spcBef>
              <a:spcAft>
                <a:spcPts val="0"/>
              </a:spcAft>
              <a:defRPr sz="1600" b="0">
                <a:solidFill>
                  <a:srgbClr val="142C40"/>
                </a:solidFill>
                <a:latin typeface="DejaVu Sans"/>
              </a:defRPr>
            </a:pPr>
            <a:r>
              <a:t>latency.</a:t>
            </a:r>
          </a:p>
        </p:txBody>
      </p:sp>
      <p:sp>
        <p:nvSpPr>
          <p:cNvPr id="22" name="TextBox 21"/>
          <p:cNvSpPr txBox="1"/>
          <p:nvPr/>
        </p:nvSpPr>
        <p:spPr>
          <a:xfrm>
            <a:off x="571500" y="5778500"/>
            <a:ext cx="11049000" cy="4699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526471"/>
                </a:solidFill>
                <a:latin typeface="DejaVu Sans"/>
              </a:defRPr>
            </a:pPr>
            <a:r>
              <a:t>Current findings describe this baseline protocol. They do not exhaust the models' native capabilities.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APPENDIX / DEVELOPMENT DIAGNOSTICS</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Prompt sensitivity and uncertainty matter</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Development experiments identify hypotheses; they do not validate deployment gains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smoking improvements.json; prompt experiment; VadCLIP LR sweep</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14</a:t>
            </a:r>
          </a:p>
        </p:txBody>
      </p:sp>
      <p:sp>
        <p:nvSpPr>
          <p:cNvPr id="10" name="Rectangle 9"/>
          <p:cNvSpPr/>
          <p:nvPr/>
        </p:nvSpPr>
        <p:spPr>
          <a:xfrm>
            <a:off x="533400" y="2159000"/>
            <a:ext cx="54229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73300"/>
            <a:ext cx="28829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Smoking model</a:t>
            </a:r>
          </a:p>
        </p:txBody>
      </p:sp>
      <p:sp>
        <p:nvSpPr>
          <p:cNvPr id="12" name="TextBox 11"/>
          <p:cNvSpPr txBox="1"/>
          <p:nvPr/>
        </p:nvSpPr>
        <p:spPr>
          <a:xfrm>
            <a:off x="3771900" y="2273300"/>
            <a:ext cx="20828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 group CI95</a:t>
            </a:r>
          </a:p>
        </p:txBody>
      </p:sp>
      <p:sp>
        <p:nvSpPr>
          <p:cNvPr id="13" name="Rectangle 12"/>
          <p:cNvSpPr/>
          <p:nvPr/>
        </p:nvSpPr>
        <p:spPr>
          <a:xfrm>
            <a:off x="533400" y="2641600"/>
            <a:ext cx="54229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0400" y="2755900"/>
            <a:ext cx="2882900" cy="4064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MobileCLIP2-S2</a:t>
            </a:r>
          </a:p>
        </p:txBody>
      </p:sp>
      <p:sp>
        <p:nvSpPr>
          <p:cNvPr id="15" name="TextBox 14"/>
          <p:cNvSpPr txBox="1"/>
          <p:nvPr/>
        </p:nvSpPr>
        <p:spPr>
          <a:xfrm>
            <a:off x="3771900" y="2755900"/>
            <a:ext cx="2082800" cy="4064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0.002–0.027</a:t>
            </a:r>
          </a:p>
        </p:txBody>
      </p:sp>
      <p:cxnSp>
        <p:nvCxnSpPr>
          <p:cNvPr id="16" name="Connector 15"/>
          <p:cNvCxnSpPr/>
          <p:nvPr/>
        </p:nvCxnSpPr>
        <p:spPr>
          <a:xfrm>
            <a:off x="533400" y="3187700"/>
            <a:ext cx="54229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33400" y="3187700"/>
            <a:ext cx="54229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400" y="3302000"/>
            <a:ext cx="2882900" cy="4064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SigLIP2-B/16-224</a:t>
            </a:r>
          </a:p>
        </p:txBody>
      </p:sp>
      <p:sp>
        <p:nvSpPr>
          <p:cNvPr id="19" name="TextBox 18"/>
          <p:cNvSpPr txBox="1"/>
          <p:nvPr/>
        </p:nvSpPr>
        <p:spPr>
          <a:xfrm>
            <a:off x="3771900" y="3302000"/>
            <a:ext cx="2082800" cy="4064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0.000–0.000</a:t>
            </a:r>
          </a:p>
        </p:txBody>
      </p:sp>
      <p:cxnSp>
        <p:nvCxnSpPr>
          <p:cNvPr id="20" name="Connector 19"/>
          <p:cNvCxnSpPr/>
          <p:nvPr/>
        </p:nvCxnSpPr>
        <p:spPr>
          <a:xfrm>
            <a:off x="533400" y="3733800"/>
            <a:ext cx="54229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33400" y="3733800"/>
            <a:ext cx="5422900" cy="546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400" y="3848100"/>
            <a:ext cx="2882900" cy="4064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SmolVLM-500M</a:t>
            </a:r>
          </a:p>
        </p:txBody>
      </p:sp>
      <p:sp>
        <p:nvSpPr>
          <p:cNvPr id="23" name="TextBox 22"/>
          <p:cNvSpPr txBox="1"/>
          <p:nvPr/>
        </p:nvSpPr>
        <p:spPr>
          <a:xfrm>
            <a:off x="3771900" y="3848100"/>
            <a:ext cx="2082800" cy="4064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0.006–0.173</a:t>
            </a:r>
          </a:p>
        </p:txBody>
      </p:sp>
      <p:cxnSp>
        <p:nvCxnSpPr>
          <p:cNvPr id="24" name="Connector 23"/>
          <p:cNvCxnSpPr/>
          <p:nvPr/>
        </p:nvCxnSpPr>
        <p:spPr>
          <a:xfrm>
            <a:off x="533400" y="4279900"/>
            <a:ext cx="54229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33400" y="4279900"/>
            <a:ext cx="5422900" cy="546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400" y="4394200"/>
            <a:ext cx="2882900" cy="4064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142C40"/>
                </a:solidFill>
                <a:latin typeface="DejaVu Sans"/>
              </a:defRPr>
            </a:pPr>
            <a:r>
              <a:t>MiniCPM-V 4.0</a:t>
            </a:r>
          </a:p>
        </p:txBody>
      </p:sp>
      <p:sp>
        <p:nvSpPr>
          <p:cNvPr id="27" name="TextBox 26"/>
          <p:cNvSpPr txBox="1"/>
          <p:nvPr/>
        </p:nvSpPr>
        <p:spPr>
          <a:xfrm>
            <a:off x="3771900" y="4394200"/>
            <a:ext cx="2082800" cy="4064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142C40"/>
                </a:solidFill>
                <a:latin typeface="DejaVu Sans"/>
              </a:defRPr>
            </a:pPr>
            <a:r>
              <a:t>0.000–0.000</a:t>
            </a:r>
          </a:p>
        </p:txBody>
      </p:sp>
      <p:cxnSp>
        <p:nvCxnSpPr>
          <p:cNvPr id="28" name="Connector 27"/>
          <p:cNvCxnSpPr/>
          <p:nvPr/>
        </p:nvCxnSpPr>
        <p:spPr>
          <a:xfrm>
            <a:off x="533400" y="4826000"/>
            <a:ext cx="54229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235700" y="2159000"/>
            <a:ext cx="5422900" cy="26924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5700" y="2159000"/>
            <a:ext cx="50800" cy="26924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300" y="23368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Short-prompt diagnostic</a:t>
            </a:r>
          </a:p>
        </p:txBody>
      </p:sp>
      <p:sp>
        <p:nvSpPr>
          <p:cNvPr id="32" name="TextBox 31"/>
          <p:cNvSpPr txBox="1"/>
          <p:nvPr/>
        </p:nvSpPr>
        <p:spPr>
          <a:xfrm>
            <a:off x="6464300" y="3048000"/>
            <a:ext cx="4991100" cy="16764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MobileCLIP recall: 53.3%</a:t>
            </a:r>
          </a:p>
          <a:p>
            <a:pPr algn="l">
              <a:lnSpc>
                <a:spcPts val="1968"/>
              </a:lnSpc>
              <a:spcBef>
                <a:spcPts val="0"/>
              </a:spcBef>
              <a:spcAft>
                <a:spcPts val="0"/>
              </a:spcAft>
              <a:defRPr sz="1600" b="0">
                <a:solidFill>
                  <a:srgbClr val="142C40"/>
                </a:solidFill>
                <a:latin typeface="DejaVu Sans"/>
              </a:defRPr>
            </a:pPr>
            <a:r>
              <a:t>But false-positive rate: 49.4%</a:t>
            </a:r>
          </a:p>
          <a:p>
            <a:pPr algn="l">
              <a:lnSpc>
                <a:spcPts val="1968"/>
              </a:lnSpc>
              <a:spcBef>
                <a:spcPts val="0"/>
              </a:spcBef>
              <a:spcAft>
                <a:spcPts val="0"/>
              </a:spcAft>
              <a:defRPr sz="1600" b="0">
                <a:solidFill>
                  <a:srgbClr val="142C40"/>
                </a:solidFill>
                <a:latin typeface="DejaVu Sans"/>
              </a:defRPr>
            </a:pPr>
            <a:r>
              <a:t>AP: 0.460; SigLIP still all normal.</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A changed decision bias is not a validated gain.</a:t>
            </a:r>
          </a:p>
        </p:txBody>
      </p:sp>
      <p:sp>
        <p:nvSpPr>
          <p:cNvPr id="33" name="TextBox 32"/>
          <p:cNvSpPr txBox="1"/>
          <p:nvPr/>
        </p:nvSpPr>
        <p:spPr>
          <a:xfrm>
            <a:off x="571500" y="5156200"/>
            <a:ext cx="11049000" cy="876300"/>
          </a:xfrm>
          <a:prstGeom prst="rect">
            <a:avLst/>
          </a:prstGeom>
          <a:noFill/>
        </p:spPr>
        <p:txBody>
          <a:bodyPr wrap="none" lIns="0" rIns="0" tIns="0" bIns="0" anchor="t">
            <a:spAutoFit/>
          </a:bodyPr>
          <a:lstStyle/>
          <a:p>
            <a:pPr algn="l">
              <a:lnSpc>
                <a:spcPts val="1845"/>
              </a:lnSpc>
              <a:spcBef>
                <a:spcPts val="0"/>
              </a:spcBef>
              <a:spcAft>
                <a:spcPts val="0"/>
              </a:spcAft>
              <a:defRPr sz="1500" b="0">
                <a:solidFill>
                  <a:srgbClr val="526471"/>
                </a:solidFill>
                <a:latin typeface="DejaVu Sans"/>
              </a:defRPr>
            </a:pPr>
            <a:r>
              <a:t>VadCLIP learning-rate sweep: dev AP 0.369 / 0.393 / 0.425 for 1e-5 / 1e-4 / 1e-3. Selection stayed at 0.001, epoch</a:t>
            </a:r>
          </a:p>
          <a:p>
            <a:pPr algn="l">
              <a:lnSpc>
                <a:spcPts val="1845"/>
              </a:lnSpc>
              <a:spcBef>
                <a:spcPts val="0"/>
              </a:spcBef>
              <a:spcAft>
                <a:spcPts val="0"/>
              </a:spcAft>
              <a:defRPr sz="1500" b="0">
                <a:solidFill>
                  <a:srgbClr val="526471"/>
                </a:solidFill>
                <a:latin typeface="DejaVu Sans"/>
              </a:defRPr>
            </a:pPr>
            <a:r>
              <a:t>1. SmolVLM–MobileCLIP paired F1 interval includes zero (−0.013 to 0.166).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APPENDIX / THRESHOLD EVALUATION</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Development thresholds expose the tradeoff</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Thresholds were frozen before test; only 16 normal development endpoints per protocol</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unattended_items_frame/window/test/calibration.json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15</a:t>
            </a:r>
          </a:p>
        </p:txBody>
      </p:sp>
      <p:sp>
        <p:nvSpPr>
          <p:cNvPr id="10" name="Rectangle 9"/>
          <p:cNvSpPr/>
          <p:nvPr/>
        </p:nvSpPr>
        <p:spPr>
          <a:xfrm>
            <a:off x="533400" y="2146300"/>
            <a:ext cx="11125200" cy="482600"/>
          </a:xfrm>
          <a:prstGeom prst="rect">
            <a:avLst/>
          </a:prstGeom>
          <a:solidFill>
            <a:srgbClr val="14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60600"/>
            <a:ext cx="914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Input</a:t>
            </a:r>
          </a:p>
        </p:txBody>
      </p:sp>
      <p:sp>
        <p:nvSpPr>
          <p:cNvPr id="12" name="TextBox 11"/>
          <p:cNvSpPr txBox="1"/>
          <p:nvPr/>
        </p:nvSpPr>
        <p:spPr>
          <a:xfrm>
            <a:off x="1803400" y="2260600"/>
            <a:ext cx="15240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Model</a:t>
            </a:r>
          </a:p>
        </p:txBody>
      </p:sp>
      <p:sp>
        <p:nvSpPr>
          <p:cNvPr id="13" name="TextBox 12"/>
          <p:cNvSpPr txBox="1"/>
          <p:nvPr/>
        </p:nvSpPr>
        <p:spPr>
          <a:xfrm>
            <a:off x="3556000" y="2260600"/>
            <a:ext cx="2489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Dev selection</a:t>
            </a:r>
          </a:p>
        </p:txBody>
      </p:sp>
      <p:sp>
        <p:nvSpPr>
          <p:cNvPr id="14" name="TextBox 13"/>
          <p:cNvSpPr txBox="1"/>
          <p:nvPr/>
        </p:nvSpPr>
        <p:spPr>
          <a:xfrm>
            <a:off x="6273800" y="2260600"/>
            <a:ext cx="10922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Threshold</a:t>
            </a:r>
          </a:p>
        </p:txBody>
      </p:sp>
      <p:sp>
        <p:nvSpPr>
          <p:cNvPr id="15" name="TextBox 14"/>
          <p:cNvSpPr txBox="1"/>
          <p:nvPr/>
        </p:nvSpPr>
        <p:spPr>
          <a:xfrm>
            <a:off x="7594600" y="2260600"/>
            <a:ext cx="1168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Recall</a:t>
            </a:r>
          </a:p>
        </p:txBody>
      </p:sp>
      <p:sp>
        <p:nvSpPr>
          <p:cNvPr id="16" name="TextBox 15"/>
          <p:cNvSpPr txBox="1"/>
          <p:nvPr/>
        </p:nvSpPr>
        <p:spPr>
          <a:xfrm>
            <a:off x="8991600" y="2260600"/>
            <a:ext cx="1168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FPR</a:t>
            </a:r>
          </a:p>
        </p:txBody>
      </p:sp>
      <p:sp>
        <p:nvSpPr>
          <p:cNvPr id="17" name="TextBox 16"/>
          <p:cNvSpPr txBox="1"/>
          <p:nvPr/>
        </p:nvSpPr>
        <p:spPr>
          <a:xfrm>
            <a:off x="10388600" y="2260600"/>
            <a:ext cx="1168400" cy="355600"/>
          </a:xfrm>
          <a:prstGeom prst="rect">
            <a:avLst/>
          </a:prstGeom>
          <a:noFill/>
        </p:spPr>
        <p:txBody>
          <a:bodyPr wrap="none" lIns="0" rIns="0" tIns="0" bIns="0" anchor="t">
            <a:spAutoFit/>
          </a:bodyPr>
          <a:lstStyle/>
          <a:p>
            <a:pPr algn="l">
              <a:lnSpc>
                <a:spcPts val="1599"/>
              </a:lnSpc>
              <a:spcBef>
                <a:spcPts val="0"/>
              </a:spcBef>
              <a:spcAft>
                <a:spcPts val="0"/>
              </a:spcAft>
              <a:defRPr sz="1300" b="1">
                <a:solidFill>
                  <a:srgbClr val="FFFFFF"/>
                </a:solidFill>
                <a:latin typeface="DejaVu Sans"/>
              </a:defRPr>
            </a:pPr>
            <a:r>
              <a:t>F1</a:t>
            </a:r>
          </a:p>
        </p:txBody>
      </p:sp>
      <p:sp>
        <p:nvSpPr>
          <p:cNvPr id="18" name="Rectangle 17"/>
          <p:cNvSpPr/>
          <p:nvPr/>
        </p:nvSpPr>
        <p:spPr>
          <a:xfrm>
            <a:off x="533400" y="2628900"/>
            <a:ext cx="111252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400" y="27432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frame</a:t>
            </a:r>
          </a:p>
        </p:txBody>
      </p:sp>
      <p:sp>
        <p:nvSpPr>
          <p:cNvPr id="20" name="TextBox 19"/>
          <p:cNvSpPr txBox="1"/>
          <p:nvPr/>
        </p:nvSpPr>
        <p:spPr>
          <a:xfrm>
            <a:off x="1803400" y="27432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MobileCLIP</a:t>
            </a:r>
          </a:p>
        </p:txBody>
      </p:sp>
      <p:sp>
        <p:nvSpPr>
          <p:cNvPr id="21" name="TextBox 20"/>
          <p:cNvSpPr txBox="1"/>
          <p:nvPr/>
        </p:nvSpPr>
        <p:spPr>
          <a:xfrm>
            <a:off x="3556000" y="27432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Max dev F1</a:t>
            </a:r>
          </a:p>
        </p:txBody>
      </p:sp>
      <p:sp>
        <p:nvSpPr>
          <p:cNvPr id="22" name="TextBox 21"/>
          <p:cNvSpPr txBox="1"/>
          <p:nvPr/>
        </p:nvSpPr>
        <p:spPr>
          <a:xfrm>
            <a:off x="6273800" y="27432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0.225</a:t>
            </a:r>
          </a:p>
        </p:txBody>
      </p:sp>
      <p:sp>
        <p:nvSpPr>
          <p:cNvPr id="23" name="TextBox 22"/>
          <p:cNvSpPr txBox="1"/>
          <p:nvPr/>
        </p:nvSpPr>
        <p:spPr>
          <a:xfrm>
            <a:off x="7594600" y="27432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100.00%</a:t>
            </a:r>
          </a:p>
        </p:txBody>
      </p:sp>
      <p:sp>
        <p:nvSpPr>
          <p:cNvPr id="24" name="TextBox 23"/>
          <p:cNvSpPr txBox="1"/>
          <p:nvPr/>
        </p:nvSpPr>
        <p:spPr>
          <a:xfrm>
            <a:off x="8991600" y="27432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66.67%</a:t>
            </a:r>
          </a:p>
        </p:txBody>
      </p:sp>
      <p:sp>
        <p:nvSpPr>
          <p:cNvPr id="25" name="TextBox 24"/>
          <p:cNvSpPr txBox="1"/>
          <p:nvPr/>
        </p:nvSpPr>
        <p:spPr>
          <a:xfrm>
            <a:off x="10388600" y="27432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0.500</a:t>
            </a:r>
          </a:p>
        </p:txBody>
      </p:sp>
      <p:cxnSp>
        <p:nvCxnSpPr>
          <p:cNvPr id="26" name="Connector 25"/>
          <p:cNvCxnSpPr/>
          <p:nvPr/>
        </p:nvCxnSpPr>
        <p:spPr>
          <a:xfrm>
            <a:off x="533400" y="30480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33400" y="3048000"/>
            <a:ext cx="11125200" cy="419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0400" y="31623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frame</a:t>
            </a:r>
          </a:p>
        </p:txBody>
      </p:sp>
      <p:sp>
        <p:nvSpPr>
          <p:cNvPr id="29" name="TextBox 28"/>
          <p:cNvSpPr txBox="1"/>
          <p:nvPr/>
        </p:nvSpPr>
        <p:spPr>
          <a:xfrm>
            <a:off x="1803400" y="31623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MobileCLIP</a:t>
            </a:r>
          </a:p>
        </p:txBody>
      </p:sp>
      <p:sp>
        <p:nvSpPr>
          <p:cNvPr id="30" name="TextBox 29"/>
          <p:cNvSpPr txBox="1"/>
          <p:nvPr/>
        </p:nvSpPr>
        <p:spPr>
          <a:xfrm>
            <a:off x="3556000" y="31623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Dev FPR budget</a:t>
            </a:r>
          </a:p>
        </p:txBody>
      </p:sp>
      <p:sp>
        <p:nvSpPr>
          <p:cNvPr id="31" name="TextBox 30"/>
          <p:cNvSpPr txBox="1"/>
          <p:nvPr/>
        </p:nvSpPr>
        <p:spPr>
          <a:xfrm>
            <a:off x="6273800" y="31623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0.396</a:t>
            </a:r>
          </a:p>
        </p:txBody>
      </p:sp>
      <p:sp>
        <p:nvSpPr>
          <p:cNvPr id="32" name="TextBox 31"/>
          <p:cNvSpPr txBox="1"/>
          <p:nvPr/>
        </p:nvSpPr>
        <p:spPr>
          <a:xfrm>
            <a:off x="7594600" y="31623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33" name="TextBox 32"/>
          <p:cNvSpPr txBox="1"/>
          <p:nvPr/>
        </p:nvSpPr>
        <p:spPr>
          <a:xfrm>
            <a:off x="8991600" y="31623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34" name="TextBox 33"/>
          <p:cNvSpPr txBox="1"/>
          <p:nvPr/>
        </p:nvSpPr>
        <p:spPr>
          <a:xfrm>
            <a:off x="10388600" y="31623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0.000</a:t>
            </a:r>
          </a:p>
        </p:txBody>
      </p:sp>
      <p:cxnSp>
        <p:nvCxnSpPr>
          <p:cNvPr id="35" name="Connector 34"/>
          <p:cNvCxnSpPr/>
          <p:nvPr/>
        </p:nvCxnSpPr>
        <p:spPr>
          <a:xfrm>
            <a:off x="533400" y="34671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33400" y="3467100"/>
            <a:ext cx="111252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0400" y="35814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frame</a:t>
            </a:r>
          </a:p>
        </p:txBody>
      </p:sp>
      <p:sp>
        <p:nvSpPr>
          <p:cNvPr id="38" name="TextBox 37"/>
          <p:cNvSpPr txBox="1"/>
          <p:nvPr/>
        </p:nvSpPr>
        <p:spPr>
          <a:xfrm>
            <a:off x="1803400" y="35814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SigLIP</a:t>
            </a:r>
          </a:p>
        </p:txBody>
      </p:sp>
      <p:sp>
        <p:nvSpPr>
          <p:cNvPr id="39" name="TextBox 38"/>
          <p:cNvSpPr txBox="1"/>
          <p:nvPr/>
        </p:nvSpPr>
        <p:spPr>
          <a:xfrm>
            <a:off x="3556000" y="35814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Max dev F1</a:t>
            </a:r>
          </a:p>
        </p:txBody>
      </p:sp>
      <p:sp>
        <p:nvSpPr>
          <p:cNvPr id="40" name="TextBox 39"/>
          <p:cNvSpPr txBox="1"/>
          <p:nvPr/>
        </p:nvSpPr>
        <p:spPr>
          <a:xfrm>
            <a:off x="6273800" y="35814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-1.926</a:t>
            </a:r>
          </a:p>
        </p:txBody>
      </p:sp>
      <p:sp>
        <p:nvSpPr>
          <p:cNvPr id="41" name="TextBox 40"/>
          <p:cNvSpPr txBox="1"/>
          <p:nvPr/>
        </p:nvSpPr>
        <p:spPr>
          <a:xfrm>
            <a:off x="7594600" y="35814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42" name="TextBox 41"/>
          <p:cNvSpPr txBox="1"/>
          <p:nvPr/>
        </p:nvSpPr>
        <p:spPr>
          <a:xfrm>
            <a:off x="8991600" y="35814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41.67%</a:t>
            </a:r>
          </a:p>
        </p:txBody>
      </p:sp>
      <p:sp>
        <p:nvSpPr>
          <p:cNvPr id="43" name="TextBox 42"/>
          <p:cNvSpPr txBox="1"/>
          <p:nvPr/>
        </p:nvSpPr>
        <p:spPr>
          <a:xfrm>
            <a:off x="10388600" y="35814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0.000</a:t>
            </a:r>
          </a:p>
        </p:txBody>
      </p:sp>
      <p:cxnSp>
        <p:nvCxnSpPr>
          <p:cNvPr id="44" name="Connector 43"/>
          <p:cNvCxnSpPr/>
          <p:nvPr/>
        </p:nvCxnSpPr>
        <p:spPr>
          <a:xfrm>
            <a:off x="533400" y="38862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33400" y="3886200"/>
            <a:ext cx="11125200" cy="419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400" y="40005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frame</a:t>
            </a:r>
          </a:p>
        </p:txBody>
      </p:sp>
      <p:sp>
        <p:nvSpPr>
          <p:cNvPr id="47" name="TextBox 46"/>
          <p:cNvSpPr txBox="1"/>
          <p:nvPr/>
        </p:nvSpPr>
        <p:spPr>
          <a:xfrm>
            <a:off x="1803400" y="40005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SigLIP</a:t>
            </a:r>
          </a:p>
        </p:txBody>
      </p:sp>
      <p:sp>
        <p:nvSpPr>
          <p:cNvPr id="48" name="TextBox 47"/>
          <p:cNvSpPr txBox="1"/>
          <p:nvPr/>
        </p:nvSpPr>
        <p:spPr>
          <a:xfrm>
            <a:off x="3556000" y="40005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Dev FPR budget</a:t>
            </a:r>
          </a:p>
        </p:txBody>
      </p:sp>
      <p:sp>
        <p:nvSpPr>
          <p:cNvPr id="49" name="TextBox 48"/>
          <p:cNvSpPr txBox="1"/>
          <p:nvPr/>
        </p:nvSpPr>
        <p:spPr>
          <a:xfrm>
            <a:off x="6273800" y="40005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-0.079</a:t>
            </a:r>
          </a:p>
        </p:txBody>
      </p:sp>
      <p:sp>
        <p:nvSpPr>
          <p:cNvPr id="50" name="TextBox 49"/>
          <p:cNvSpPr txBox="1"/>
          <p:nvPr/>
        </p:nvSpPr>
        <p:spPr>
          <a:xfrm>
            <a:off x="7594600" y="40005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51" name="TextBox 50"/>
          <p:cNvSpPr txBox="1"/>
          <p:nvPr/>
        </p:nvSpPr>
        <p:spPr>
          <a:xfrm>
            <a:off x="8991600" y="40005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52" name="TextBox 51"/>
          <p:cNvSpPr txBox="1"/>
          <p:nvPr/>
        </p:nvSpPr>
        <p:spPr>
          <a:xfrm>
            <a:off x="10388600" y="40005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0.000</a:t>
            </a:r>
          </a:p>
        </p:txBody>
      </p:sp>
      <p:cxnSp>
        <p:nvCxnSpPr>
          <p:cNvPr id="53" name="Connector 52"/>
          <p:cNvCxnSpPr/>
          <p:nvPr/>
        </p:nvCxnSpPr>
        <p:spPr>
          <a:xfrm>
            <a:off x="533400" y="43053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33400" y="4305300"/>
            <a:ext cx="111252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0400" y="44196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window</a:t>
            </a:r>
          </a:p>
        </p:txBody>
      </p:sp>
      <p:sp>
        <p:nvSpPr>
          <p:cNvPr id="56" name="TextBox 55"/>
          <p:cNvSpPr txBox="1"/>
          <p:nvPr/>
        </p:nvSpPr>
        <p:spPr>
          <a:xfrm>
            <a:off x="1803400" y="44196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MobileCLIP</a:t>
            </a:r>
          </a:p>
        </p:txBody>
      </p:sp>
      <p:sp>
        <p:nvSpPr>
          <p:cNvPr id="57" name="TextBox 56"/>
          <p:cNvSpPr txBox="1"/>
          <p:nvPr/>
        </p:nvSpPr>
        <p:spPr>
          <a:xfrm>
            <a:off x="3556000" y="44196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Max dev F1</a:t>
            </a:r>
          </a:p>
        </p:txBody>
      </p:sp>
      <p:sp>
        <p:nvSpPr>
          <p:cNvPr id="58" name="TextBox 57"/>
          <p:cNvSpPr txBox="1"/>
          <p:nvPr/>
        </p:nvSpPr>
        <p:spPr>
          <a:xfrm>
            <a:off x="6273800" y="44196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0.409</a:t>
            </a:r>
          </a:p>
        </p:txBody>
      </p:sp>
      <p:sp>
        <p:nvSpPr>
          <p:cNvPr id="59" name="TextBox 58"/>
          <p:cNvSpPr txBox="1"/>
          <p:nvPr/>
        </p:nvSpPr>
        <p:spPr>
          <a:xfrm>
            <a:off x="7594600" y="44196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100.00%</a:t>
            </a:r>
          </a:p>
        </p:txBody>
      </p:sp>
      <p:sp>
        <p:nvSpPr>
          <p:cNvPr id="60" name="TextBox 59"/>
          <p:cNvSpPr txBox="1"/>
          <p:nvPr/>
        </p:nvSpPr>
        <p:spPr>
          <a:xfrm>
            <a:off x="8991600" y="44196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100.00%</a:t>
            </a:r>
          </a:p>
        </p:txBody>
      </p:sp>
      <p:sp>
        <p:nvSpPr>
          <p:cNvPr id="61" name="TextBox 60"/>
          <p:cNvSpPr txBox="1"/>
          <p:nvPr/>
        </p:nvSpPr>
        <p:spPr>
          <a:xfrm>
            <a:off x="10388600" y="44196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0.400</a:t>
            </a:r>
          </a:p>
        </p:txBody>
      </p:sp>
      <p:cxnSp>
        <p:nvCxnSpPr>
          <p:cNvPr id="62" name="Connector 61"/>
          <p:cNvCxnSpPr/>
          <p:nvPr/>
        </p:nvCxnSpPr>
        <p:spPr>
          <a:xfrm>
            <a:off x="533400" y="47244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33400" y="4724400"/>
            <a:ext cx="11125200" cy="419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0400" y="48387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window</a:t>
            </a:r>
          </a:p>
        </p:txBody>
      </p:sp>
      <p:sp>
        <p:nvSpPr>
          <p:cNvPr id="65" name="TextBox 64"/>
          <p:cNvSpPr txBox="1"/>
          <p:nvPr/>
        </p:nvSpPr>
        <p:spPr>
          <a:xfrm>
            <a:off x="1803400" y="48387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MobileCLIP</a:t>
            </a:r>
          </a:p>
        </p:txBody>
      </p:sp>
      <p:sp>
        <p:nvSpPr>
          <p:cNvPr id="66" name="TextBox 65"/>
          <p:cNvSpPr txBox="1"/>
          <p:nvPr/>
        </p:nvSpPr>
        <p:spPr>
          <a:xfrm>
            <a:off x="3556000" y="48387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Dev FPR budget</a:t>
            </a:r>
          </a:p>
        </p:txBody>
      </p:sp>
      <p:sp>
        <p:nvSpPr>
          <p:cNvPr id="67" name="TextBox 66"/>
          <p:cNvSpPr txBox="1"/>
          <p:nvPr/>
        </p:nvSpPr>
        <p:spPr>
          <a:xfrm>
            <a:off x="6273800" y="48387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0.562</a:t>
            </a:r>
          </a:p>
        </p:txBody>
      </p:sp>
      <p:sp>
        <p:nvSpPr>
          <p:cNvPr id="68" name="TextBox 67"/>
          <p:cNvSpPr txBox="1"/>
          <p:nvPr/>
        </p:nvSpPr>
        <p:spPr>
          <a:xfrm>
            <a:off x="7594600" y="48387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69" name="TextBox 68"/>
          <p:cNvSpPr txBox="1"/>
          <p:nvPr/>
        </p:nvSpPr>
        <p:spPr>
          <a:xfrm>
            <a:off x="8991600" y="48387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8.33%</a:t>
            </a:r>
          </a:p>
        </p:txBody>
      </p:sp>
      <p:sp>
        <p:nvSpPr>
          <p:cNvPr id="70" name="TextBox 69"/>
          <p:cNvSpPr txBox="1"/>
          <p:nvPr/>
        </p:nvSpPr>
        <p:spPr>
          <a:xfrm>
            <a:off x="10388600" y="48387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0.000</a:t>
            </a:r>
          </a:p>
        </p:txBody>
      </p:sp>
      <p:cxnSp>
        <p:nvCxnSpPr>
          <p:cNvPr id="71" name="Connector 70"/>
          <p:cNvCxnSpPr/>
          <p:nvPr/>
        </p:nvCxnSpPr>
        <p:spPr>
          <a:xfrm>
            <a:off x="533400" y="514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533400" y="5143500"/>
            <a:ext cx="111252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60400" y="52578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window</a:t>
            </a:r>
          </a:p>
        </p:txBody>
      </p:sp>
      <p:sp>
        <p:nvSpPr>
          <p:cNvPr id="74" name="TextBox 73"/>
          <p:cNvSpPr txBox="1"/>
          <p:nvPr/>
        </p:nvSpPr>
        <p:spPr>
          <a:xfrm>
            <a:off x="1803400" y="52578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SigLIP</a:t>
            </a:r>
          </a:p>
        </p:txBody>
      </p:sp>
      <p:sp>
        <p:nvSpPr>
          <p:cNvPr id="75" name="TextBox 74"/>
          <p:cNvSpPr txBox="1"/>
          <p:nvPr/>
        </p:nvSpPr>
        <p:spPr>
          <a:xfrm>
            <a:off x="3556000" y="52578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Max dev F1</a:t>
            </a:r>
          </a:p>
        </p:txBody>
      </p:sp>
      <p:sp>
        <p:nvSpPr>
          <p:cNvPr id="76" name="TextBox 75"/>
          <p:cNvSpPr txBox="1"/>
          <p:nvPr/>
        </p:nvSpPr>
        <p:spPr>
          <a:xfrm>
            <a:off x="6273800" y="52578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-1.324</a:t>
            </a:r>
          </a:p>
        </p:txBody>
      </p:sp>
      <p:sp>
        <p:nvSpPr>
          <p:cNvPr id="77" name="TextBox 76"/>
          <p:cNvSpPr txBox="1"/>
          <p:nvPr/>
        </p:nvSpPr>
        <p:spPr>
          <a:xfrm>
            <a:off x="7594600" y="52578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100.00%</a:t>
            </a:r>
          </a:p>
        </p:txBody>
      </p:sp>
      <p:sp>
        <p:nvSpPr>
          <p:cNvPr id="78" name="TextBox 77"/>
          <p:cNvSpPr txBox="1"/>
          <p:nvPr/>
        </p:nvSpPr>
        <p:spPr>
          <a:xfrm>
            <a:off x="8991600" y="52578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100.00%</a:t>
            </a:r>
          </a:p>
        </p:txBody>
      </p:sp>
      <p:sp>
        <p:nvSpPr>
          <p:cNvPr id="79" name="TextBox 78"/>
          <p:cNvSpPr txBox="1"/>
          <p:nvPr/>
        </p:nvSpPr>
        <p:spPr>
          <a:xfrm>
            <a:off x="10388600" y="52578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0.400</a:t>
            </a:r>
          </a:p>
        </p:txBody>
      </p:sp>
      <p:cxnSp>
        <p:nvCxnSpPr>
          <p:cNvPr id="80" name="Connector 79"/>
          <p:cNvCxnSpPr/>
          <p:nvPr/>
        </p:nvCxnSpPr>
        <p:spPr>
          <a:xfrm>
            <a:off x="533400" y="55626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533400" y="5562600"/>
            <a:ext cx="11125200" cy="4191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60400" y="5676900"/>
            <a:ext cx="914400" cy="279400"/>
          </a:xfrm>
          <a:prstGeom prst="rect">
            <a:avLst/>
          </a:prstGeom>
          <a:noFill/>
        </p:spPr>
        <p:txBody>
          <a:bodyPr wrap="none" lIns="0" rIns="0" tIns="0" bIns="0" anchor="t">
            <a:spAutoFit/>
          </a:bodyPr>
          <a:lstStyle/>
          <a:p>
            <a:pPr algn="l">
              <a:lnSpc>
                <a:spcPts val="1537"/>
              </a:lnSpc>
              <a:spcBef>
                <a:spcPts val="0"/>
              </a:spcBef>
              <a:spcAft>
                <a:spcPts val="0"/>
              </a:spcAft>
              <a:defRPr sz="1250" b="1">
                <a:solidFill>
                  <a:srgbClr val="142C40"/>
                </a:solidFill>
                <a:latin typeface="DejaVu Sans"/>
              </a:defRPr>
            </a:pPr>
            <a:r>
              <a:t>window</a:t>
            </a:r>
          </a:p>
        </p:txBody>
      </p:sp>
      <p:sp>
        <p:nvSpPr>
          <p:cNvPr id="83" name="TextBox 82"/>
          <p:cNvSpPr txBox="1"/>
          <p:nvPr/>
        </p:nvSpPr>
        <p:spPr>
          <a:xfrm>
            <a:off x="1803400" y="5676900"/>
            <a:ext cx="15240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SigLIP</a:t>
            </a:r>
          </a:p>
        </p:txBody>
      </p:sp>
      <p:sp>
        <p:nvSpPr>
          <p:cNvPr id="84" name="TextBox 83"/>
          <p:cNvSpPr txBox="1"/>
          <p:nvPr/>
        </p:nvSpPr>
        <p:spPr>
          <a:xfrm>
            <a:off x="3556000" y="5676900"/>
            <a:ext cx="2489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Dev FPR budget</a:t>
            </a:r>
          </a:p>
        </p:txBody>
      </p:sp>
      <p:sp>
        <p:nvSpPr>
          <p:cNvPr id="85" name="TextBox 84"/>
          <p:cNvSpPr txBox="1"/>
          <p:nvPr/>
        </p:nvSpPr>
        <p:spPr>
          <a:xfrm>
            <a:off x="6273800" y="5676900"/>
            <a:ext cx="10922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0.145</a:t>
            </a:r>
          </a:p>
        </p:txBody>
      </p:sp>
      <p:sp>
        <p:nvSpPr>
          <p:cNvPr id="86" name="TextBox 85"/>
          <p:cNvSpPr txBox="1"/>
          <p:nvPr/>
        </p:nvSpPr>
        <p:spPr>
          <a:xfrm>
            <a:off x="7594600" y="56769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a:t>
            </a:r>
          </a:p>
        </p:txBody>
      </p:sp>
      <p:sp>
        <p:nvSpPr>
          <p:cNvPr id="87" name="TextBox 86"/>
          <p:cNvSpPr txBox="1"/>
          <p:nvPr/>
        </p:nvSpPr>
        <p:spPr>
          <a:xfrm>
            <a:off x="8991600" y="56769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8.33%</a:t>
            </a:r>
          </a:p>
        </p:txBody>
      </p:sp>
      <p:sp>
        <p:nvSpPr>
          <p:cNvPr id="88" name="TextBox 87"/>
          <p:cNvSpPr txBox="1"/>
          <p:nvPr/>
        </p:nvSpPr>
        <p:spPr>
          <a:xfrm>
            <a:off x="10388600" y="5676900"/>
            <a:ext cx="1168400" cy="279400"/>
          </a:xfrm>
          <a:prstGeom prst="rect">
            <a:avLst/>
          </a:prstGeom>
          <a:noFill/>
        </p:spPr>
        <p:txBody>
          <a:bodyPr wrap="none" lIns="0" rIns="0" tIns="0" bIns="0" anchor="t">
            <a:spAutoFit/>
          </a:bodyPr>
          <a:lstStyle/>
          <a:p>
            <a:pPr algn="l">
              <a:lnSpc>
                <a:spcPts val="1537"/>
              </a:lnSpc>
              <a:spcBef>
                <a:spcPts val="0"/>
              </a:spcBef>
              <a:spcAft>
                <a:spcPts val="0"/>
              </a:spcAft>
              <a:defRPr sz="1250" b="0">
                <a:solidFill>
                  <a:srgbClr val="142C40"/>
                </a:solidFill>
                <a:latin typeface="DejaVu Sans"/>
              </a:defRPr>
            </a:pPr>
            <a:r>
              <a:t>0.000</a:t>
            </a:r>
          </a:p>
        </p:txBody>
      </p:sp>
      <p:cxnSp>
        <p:nvCxnSpPr>
          <p:cNvPr id="89" name="Connector 88"/>
          <p:cNvCxnSpPr/>
          <p:nvPr/>
        </p:nvCxnSpPr>
        <p:spPr>
          <a:xfrm>
            <a:off x="533400" y="59817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1500" y="6070600"/>
            <a:ext cx="11049000" cy="215900"/>
          </a:xfrm>
          <a:prstGeom prst="rect">
            <a:avLst/>
          </a:prstGeom>
          <a:noFill/>
        </p:spPr>
        <p:txBody>
          <a:bodyPr wrap="none" lIns="0" rIns="0" tIns="0" bIns="0" anchor="t">
            <a:spAutoFit/>
          </a:bodyPr>
          <a:lstStyle/>
          <a:p>
            <a:pPr algn="l">
              <a:lnSpc>
                <a:spcPts val="1414"/>
              </a:lnSpc>
              <a:spcBef>
                <a:spcPts val="0"/>
              </a:spcBef>
              <a:spcAft>
                <a:spcPts val="0"/>
              </a:spcAft>
              <a:defRPr sz="1150" b="0">
                <a:solidFill>
                  <a:srgbClr val="526471"/>
                </a:solidFill>
                <a:latin typeface="DejaVu Sans"/>
              </a:defRPr>
            </a:pPr>
            <a:r>
              <a:t>Small staged source-sequence holdout: no inference about operational alerts/hour or unseen-camera robustness.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EVIDENCE &amp; REPRODUCIBILITY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Every claim traces back to a saved run</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Use the latest combined run; the older IDE report predates these comparisons</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EVALUATION 13 OCT 2026 • Sources are linked in speaker notes and source_manifest.json</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16</a:t>
            </a:r>
          </a:p>
        </p:txBody>
      </p:sp>
      <p:sp>
        <p:nvSpPr>
          <p:cNvPr id="10" name="Rectangle 9"/>
          <p:cNvSpPr/>
          <p:nvPr/>
        </p:nvSpPr>
        <p:spPr>
          <a:xfrm>
            <a:off x="533400" y="2133600"/>
            <a:ext cx="5422900" cy="31750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33400" y="2133600"/>
            <a:ext cx="50800" cy="31750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23114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Evidence files</a:t>
            </a:r>
          </a:p>
        </p:txBody>
      </p:sp>
      <p:sp>
        <p:nvSpPr>
          <p:cNvPr id="13" name="TextBox 12"/>
          <p:cNvSpPr txBox="1"/>
          <p:nvPr/>
        </p:nvSpPr>
        <p:spPr>
          <a:xfrm>
            <a:off x="762000" y="3022600"/>
            <a:ext cx="4991100" cy="21590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Combined GPU report + raw predictions</a:t>
            </a:r>
          </a:p>
          <a:p>
            <a:pPr algn="l">
              <a:lnSpc>
                <a:spcPts val="1968"/>
              </a:lnSpc>
              <a:spcBef>
                <a:spcPts val="0"/>
              </a:spcBef>
              <a:spcAft>
                <a:spcPts val="0"/>
              </a:spcAft>
              <a:defRPr sz="1600" b="0">
                <a:solidFill>
                  <a:srgbClr val="142C40"/>
                </a:solidFill>
                <a:latin typeface="DejaVu Sans"/>
              </a:defRPr>
            </a:pPr>
            <a:r>
              <a:t>CPU latency metadata + summaries</a:t>
            </a:r>
          </a:p>
          <a:p>
            <a:pPr algn="l">
              <a:lnSpc>
                <a:spcPts val="1968"/>
              </a:lnSpc>
              <a:spcBef>
                <a:spcPts val="0"/>
              </a:spcBef>
              <a:spcAft>
                <a:spcPts val="0"/>
              </a:spcAft>
              <a:defRPr sz="1600" b="0">
                <a:solidFill>
                  <a:srgbClr val="142C40"/>
                </a:solidFill>
                <a:latin typeface="DejaVu Sans"/>
              </a:defRPr>
            </a:pPr>
            <a:r>
              <a:t>Data readiness audit</a:t>
            </a:r>
          </a:p>
          <a:p>
            <a:pPr algn="l">
              <a:lnSpc>
                <a:spcPts val="1968"/>
              </a:lnSpc>
              <a:spcBef>
                <a:spcPts val="0"/>
              </a:spcBef>
              <a:spcAft>
                <a:spcPts val="0"/>
              </a:spcAft>
              <a:defRPr sz="1600" b="0">
                <a:solidFill>
                  <a:srgbClr val="142C40"/>
                </a:solidFill>
                <a:latin typeface="DejaVu Sans"/>
              </a:defRPr>
            </a:pPr>
            <a:r>
              <a:t>Workflow review + numeric CSV</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Full file paths and sources are in the notes and</a:t>
            </a:r>
          </a:p>
          <a:p>
            <a:pPr algn="l">
              <a:lnSpc>
                <a:spcPts val="1968"/>
              </a:lnSpc>
              <a:spcBef>
                <a:spcPts val="0"/>
              </a:spcBef>
              <a:spcAft>
                <a:spcPts val="0"/>
              </a:spcAft>
              <a:defRPr sz="1600" b="0">
                <a:solidFill>
                  <a:srgbClr val="142C40"/>
                </a:solidFill>
                <a:latin typeface="DejaVu Sans"/>
              </a:defRPr>
            </a:pPr>
            <a:r>
              <a:t>manifest.</a:t>
            </a:r>
          </a:p>
        </p:txBody>
      </p:sp>
      <p:sp>
        <p:nvSpPr>
          <p:cNvPr id="14" name="Rectangle 13"/>
          <p:cNvSpPr/>
          <p:nvPr/>
        </p:nvSpPr>
        <p:spPr>
          <a:xfrm>
            <a:off x="6235700" y="2133600"/>
            <a:ext cx="5422900" cy="31750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5700" y="2133600"/>
            <a:ext cx="50800" cy="31750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300" y="23114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Reproduce &amp; review</a:t>
            </a:r>
          </a:p>
        </p:txBody>
      </p:sp>
      <p:sp>
        <p:nvSpPr>
          <p:cNvPr id="17" name="TextBox 16"/>
          <p:cNvSpPr txBox="1"/>
          <p:nvPr/>
        </p:nvSpPr>
        <p:spPr>
          <a:xfrm>
            <a:off x="6464300" y="3022600"/>
            <a:ext cx="4991100" cy="21590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Run the isolated GPU helper with:</a:t>
            </a:r>
          </a:p>
          <a:p>
            <a:pPr algn="l">
              <a:lnSpc>
                <a:spcPts val="1968"/>
              </a:lnSpc>
              <a:spcBef>
                <a:spcPts val="0"/>
              </a:spcBef>
              <a:spcAft>
                <a:spcPts val="0"/>
              </a:spcAft>
              <a:defRPr sz="1600" b="0">
                <a:solidFill>
                  <a:srgbClr val="142C40"/>
                </a:solidFill>
                <a:latin typeface="DejaVu Sans"/>
              </a:defRPr>
            </a:pPr>
            <a:r>
              <a:t>run --device cuda --per-group 0</a:t>
            </a:r>
          </a:p>
          <a:p>
            <a:pPr algn="l">
              <a:lnSpc>
                <a:spcPts val="1968"/>
              </a:lnSpc>
              <a:spcBef>
                <a:spcPts val="0"/>
              </a:spcBef>
              <a:spcAft>
                <a:spcPts val="0"/>
              </a:spcAft>
              <a:defRPr sz="1600" b="0">
                <a:solidFill>
                  <a:srgbClr val="142C40"/>
                </a:solidFill>
                <a:latin typeface="DejaVu Sans"/>
              </a:defRPr>
            </a:pPr>
            <a:r>
              <a:t>--batch-size 32 --vadclip</a:t>
            </a:r>
          </a:p>
          <a:p>
            <a:pPr algn="l">
              <a:lnSpc>
                <a:spcPts val="1968"/>
              </a:lnSpc>
              <a:spcBef>
                <a:spcPts val="0"/>
              </a:spcBef>
              <a:spcAft>
                <a:spcPts val="0"/>
              </a:spcAft>
              <a:defRPr sz="1600" b="0">
                <a:solidFill>
                  <a:srgbClr val="142C40"/>
                </a:solidFill>
                <a:latin typeface="DejaVu Sans"/>
              </a:defRPr>
            </a:pPr>
          </a:p>
          <a:p>
            <a:pPr algn="l">
              <a:lnSpc>
                <a:spcPts val="1968"/>
              </a:lnSpc>
              <a:spcBef>
                <a:spcPts val="0"/>
              </a:spcBef>
              <a:spcAft>
                <a:spcPts val="0"/>
              </a:spcAft>
              <a:defRPr sz="1600" b="0">
                <a:solidFill>
                  <a:srgbClr val="142C40"/>
                </a:solidFill>
                <a:latin typeface="DejaVu Sans"/>
              </a:defRPr>
            </a:pPr>
            <a:r>
              <a:t>Freeze the protocol before a fresh test. Inspect</a:t>
            </a:r>
          </a:p>
          <a:p>
            <a:pPr algn="l">
              <a:lnSpc>
                <a:spcPts val="1968"/>
              </a:lnSpc>
              <a:spcBef>
                <a:spcPts val="0"/>
              </a:spcBef>
              <a:spcAft>
                <a:spcPts val="0"/>
              </a:spcAft>
              <a:defRPr sz="1600" b="0">
                <a:solidFill>
                  <a:srgbClr val="142C40"/>
                </a:solidFill>
                <a:latin typeface="DejaVu Sans"/>
              </a:defRPr>
            </a:pPr>
            <a:r>
              <a:t>false alarms and misses, not only aggregate</a:t>
            </a:r>
          </a:p>
          <a:p>
            <a:pPr algn="l">
              <a:lnSpc>
                <a:spcPts val="1968"/>
              </a:lnSpc>
              <a:spcBef>
                <a:spcPts val="0"/>
              </a:spcBef>
              <a:spcAft>
                <a:spcPts val="0"/>
              </a:spcAft>
              <a:defRPr sz="1600" b="0">
                <a:solidFill>
                  <a:srgbClr val="142C40"/>
                </a:solidFill>
                <a:latin typeface="DejaVu Sans"/>
              </a:defRPr>
            </a:pPr>
            <a:r>
              <a:t>accuracy.</a:t>
            </a:r>
          </a:p>
        </p:txBody>
      </p:sp>
      <p:sp>
        <p:nvSpPr>
          <p:cNvPr id="18" name="Rectangle 17"/>
          <p:cNvSpPr/>
          <p:nvPr/>
        </p:nvSpPr>
        <p:spPr>
          <a:xfrm>
            <a:off x="533400" y="5613400"/>
            <a:ext cx="11125200" cy="571500"/>
          </a:xfrm>
          <a:prstGeom prst="rect">
            <a:avLst/>
          </a:prstGeom>
          <a:solidFill>
            <a:srgbClr val="F0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400" y="5613400"/>
            <a:ext cx="50800" cy="5715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900" y="5727700"/>
            <a:ext cx="10706100" cy="419100"/>
          </a:xfrm>
          <a:prstGeom prst="rect">
            <a:avLst/>
          </a:prstGeom>
          <a:noFill/>
        </p:spPr>
        <p:txBody>
          <a:bodyPr wrap="none" lIns="0" rIns="0" tIns="0" bIns="0" anchor="t">
            <a:spAutoFit/>
          </a:bodyPr>
          <a:lstStyle/>
          <a:p>
            <a:pPr algn="l">
              <a:lnSpc>
                <a:spcPts val="1845"/>
              </a:lnSpc>
              <a:spcBef>
                <a:spcPts val="0"/>
              </a:spcBef>
              <a:spcAft>
                <a:spcPts val="0"/>
              </a:spcAft>
              <a:defRPr sz="1500" b="1">
                <a:solidFill>
                  <a:srgbClr val="007E80"/>
                </a:solidFill>
                <a:latin typeface="DejaVu Sans"/>
              </a:defRPr>
            </a:pPr>
            <a:r>
              <a:t>Evidence is complete for available tasks; verified five-task event coverage remains incomplete.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CLIP &amp; VLM anomaly detection: findings and evaluation</dc:title>
  <dc:subject>GPU quality evaluation and separate CPU latency pilot</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