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replaces neither historical results nor their selection protocols. It consolidates the four-model comparison, expanded data, six actual visual fine-tunes, 330 strategy configurations, 50 video-pilot heads and 38 new ensemble/threshold policies, plus tracker and tiled-detector ablations. Candidate/prediction counts reuse sources and are not independent events. No deployment winner across all five objectives is established. No new latency benchmark was run. Stage-specific regressions and data limits remain visible.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accepted existing definitions and annotations. There is no newly invented universal loitering threshold. Public-sleep labels describe visible sleep/bedding/context, never housing status. AVSS specifies stationary for 30 seconds and an absent owner; historical provisional windows and MEVA abandonment actions do not uniformly implement this criterion. Grounding boxes and source annotations are separate from inferred ownership.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model names: MobileCLIP2-S2, SigLIP2-B/16-224, SmolVLM-500M-Instruct, MiniCPM-V 4.0 and VadCLIP. Initial comparisons use identical inputs within each image protocol. VadCLIP receives different offline sequence supervision and cannot be ranked directly against the four image models as an equal-supervision five-task benchmark. Later encoder studies do not rerun the VLMs and must not imply their current architecture cannot improve.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Oct: 3,350 protocol inputs per model, including shared endpoint variants; 104 input aliases removed. 14 Oct: 13,789 input/protocol evaluations per model and 40 summaries. Fine-tuning: 7,498 target-specific examples and 12,478 unique view images. Strategy screen: 330 configurations across five tasks and two backbones, including pretrained references; not 330 visual fine-tunes. Video pilot: 50 saved heads, 99,528 saved predictions. Latest: 19 ensemble/threshold policies per backbone, four item-rule ablations and 166 source-annotated images × five fixed views. Counts should not be added as independent events.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collections were evaluated as target-prediction rates, not mislabeled as event accuracy. Littering exports name dropping/dumping/placing/throwing, which are not uniformly rubbish disposal. Person boxes lack duration; synthetic fallen/lying people lack verified public-sleep context. Independent human validation of historical assistant-reviewed unattended and sleeping labels remains missing. These sources are useful; their supported measurement differs from event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totals 3,258, development 1,633, test 1,801, plus 806 Stanford40 test photographs (666 normal / 140 smoking). Classes are target-specific, with unknown labels for other objectives masked. CCTV camera c4 trains, c2 develops, c1 tests; original photos are included in training/development where partitions permit. Public sleep is provisional. Unattended endpoint counts represent only two held-out camera families, not 962 events. Later strategies expand train to 3,973 and dev to 1,812 with additional photos.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1,120 new smoking photos were downloaded and 1,118 retained; 715 train,179 dev,224 test. HMDB: 109 smoking and 797 confusable action clips before grouped splits. Thermal: 19,737 track IDs, 17,878 eligible complete trajectories, 19/6/6 chronological dates. MEVA: 15 action windows plus12 pre-event controls,10 synchronization groups across7 cameras, not persistent unattended truth. Public sleep:40 downloaded,29 usable,28 author-screened cases(17+/11normal;25 author groups). AVSS HARD is censored and excluded from the primary two-event result. New author clips show highway debris, not owner histories; three other entries explicitly reference ABODA and are not new 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fine-tuning primary is seed42;43/44 show optimization variability. The later video pilot retains all seeds and uses worst dev-source AP then meanAP; final selections precede scoring new AVSS. Its source guard removes10 known film-alias training clips and no test clips. Exact pixels are verified for25,452 pilot inputs; hashes and source-name grouping do not prove all near-duplicate/actor identities are known. On17Oct, AVSS and historical scores are already inspected, so all policy comparisons there are retrospective even though choices still use development scores.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image comparisons use shared letterbox preprocessing capped at768pixels, CLIP float32 and unquantized VLM automatic BF16,64-token deterministic generation, MiniCPM one-slice baseline. Those are explicit baseline settings, not a search of optimal native video methods. The fine-tuning audit found AMP inference sensitivity to batch shape; weights and routes were fixed, final evaluation rerunF32 and thresholds refitted usingF32dev only. Model bundles and feature/checkpoint replays record numerical tolerances. The isolated CUDA runtime was validated with actual computation and used for the new detector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global rule:2s persistence,1s release,10s cooldown, reset for score gaps&gt;1.1s. Thresholds maximize dev event recall within the stated normal false-alert budget. Strict matching counts only alert starts within positive intervals and separately reports repeated event alarms. Historical onset windows are provisional, so some unknown-time alarms may be useful early detections; do not portray those as proven normal false alarms. Overlapping windows do not create independent event observations. Confidence from a few cameras is limited.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14 October results preceding CLIP adaptation. MiniCPM has 84 TP, 25 FP, 158 FN and 695 TN (frame F1 .479). With 20-second contact sheets recall falls to 10.74%, FPR .14% and F1 .193. SmolVLM has 1,457 abstentions over 13,789 evaluations; MiniCPM has 45; both have zero runtime errors. Hard categorical responses have no real continuous ranking scores. These models have not been rerun or fine-tuned in subsequent CLIP studies. A contact-sheet comparison is not native temporal-video inference.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has 7,498 target-specific examples and 12,478 distinct views. Temporal features use last/mean/max/delta pooling, preserving source groups. Probe C values 1/10/100 and fine-tuning settings are selected on dev. Seed 42 was primary before held-out results. Six checkpoints contain finite changed visual tensors, checked by delta norms and hashes. Verification replays 46,926 held-out and 29,394 dev predictions. Models classify scenes/clips and do not themselves output object boxes or ownership.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source holdouts that were historically inspected. Gains combine supervision and temporal representations; some routes retain a probe or pretrained score based on dev. On 806 photo tests SigLIP AP rises .499 to .954 and MobileCLIP .220 to .901. Loitering has 11 positives among 75 windows (prevalence .147), with both selected APs below prevalence. Sleep has six positive photos and provisional labels. Unattended labels are provisional and cover only two held-out camera families. All seeds and alternatives remain preserved.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adapted weights are reused; this is not a new visual fine-tune per configuration. Seed 42 is primary. Automatic crops and sparse geometry do not supply full MOT or ownership. Verification replays 117,612 predictions and checks 20,980 image identities and actual inference for all five tasks on both encoders.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development-selected routes concern already inspected historical holdouts. Crops help smoking and geometry helps loitering, while dumping/public-sleep regressions remain. Dev-F1 FPR is still 75.9% / 84.6% on CCTV smoking and 99.7% / 100% on unattended items. SigLIP unattended zero-logit F1 falls from .749 to .131. Preserve threshold failures alongside AP gains.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224-photo holdout shares its collection with new training photos. HMDB was an unseen source here; both routes regress on 906 clips. Later HMDB adaptation uses 530 training and 205 test clips, a different protocol. Public sleep has 28 provisional new-author cases, 17 positive and 11 normal. MEVA has 15 action windows and 12 controls, not verified persistent unattended state.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 data supplies 874,936 observations and 19,737 track IDs; 17,878 eligible trajectories remain. A selected 400-tree depth-eight forest has test AP .577, F1 .664 and FPR .187 versus duration-only AP .283. Development AP .863 exposes date transfer loss. These are supplied tracks from one thermal camera. RGB Street Scene is separate and has only 11 positive test windows. Photos cannot establish sleep duration.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224 input, the median largest smoker is 11.2 pixels tall; all targets are below 12 pixels in 71.8% of positive CCTV frames. Automatic multiple-person/upper-body crops reduce losing half every target from 40.2% to 1/393. Detector resolution also changes; coverage is not recognition. CAVIAR partial item-reference recall rises from 0/136 to 66/136. Unmatched tracks are not proven false positives and ownership has no independent truth.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pilot freezes pretrained encoders, separate from earlier visual fine-tuning. Dense 2 Hz video and 16 HMDB views provide scene, person, upper-body and item contexts. Eighteen geometry values come from causal Hungarian IoU/velocity tracking, not ByteTrack or ReID. GRUs use 128 projection and 64 hidden dimensions with past-only histories and gap timing. The cached-feature replay CLI is not a new-video streaming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HMDB contributes 530 train, 161 dev and 205 test clips after ten known shared-film training aliases are purged. No test clip is removed. Person supervision uses 1,460 matched automatic training-camera regions with 277 positives. Training-only hard-negative mining starts at epoch four; checkpoints selected earlier do not demonstrate its benefit. Heads use float32 AdamW, learning rate .0005, at most 60 epochs and patience eight. Most of 936 prepared recordings are action clips, not cameras.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bundle is recomputed on the exact same 205 HMDB cases, using eight views and no HMDB training versus 16 views and 530 training clips now. Gains combine data and methods. At the old pooled dev-budget point, CCTV recall/FPR are 16.5%/7.9% for MobileCLIP and 2.3%/1.6% for SigLIP. HMDB values are 86.7%/2.9% and 66.7%/1.7%. Movie/web recognition does not establish CCTV transfer.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encoder compares 14 previous heads, four seed ensembles and one all-head ensemble: 19 policies. Equal sigmoid averages are not calibrated probabilities. Both selections freeze before held-out scores load. Every dev source must meet the FPR budget under one cutoff. SigLIP HMDB AP improves .7779 to .9645 with recall 66.7% to 76.7% at observed FPR 1.71%; CCTV recall remains 1.78%. MobileCLIP retains its head with a stricter cutoff. These are retrospective cohorts and reused development 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alerts use two-second persistence, one-second release and ten-second cooldown. The one-false-alert/hour development target has only 28 seconds of dev normal footage and cannot certify that rate. Observed global normal rates are 21.7/hour and 130.3/hour. The separate AVSS source rule requires the same item stationary for 30 seconds and its associated owner absent. State-only results are independent of CLIP. The three videos appear to share one platform view; HARD remains a censored diagnostic.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Entire ABODA classroom video7 and walkway video2 provide disjoint normal calibration and are excluded from both evaluation arms. Four events and 137 normal seconds remain. MobileCLIP detects 0/4 in both arms; SigLIP changes 0/4 to 1/4, with four normal false alerts reduced to one, still 26.3/hour. AVSS lacks disjoint normal calibration. Zero alarms over 165.74 normal seconds gives a one-sided 95% Poisson upper rate of 65.07/hour, assuming a homogeneous process. It is not a camera-transfer guarantee.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rule uses three trailing centers and one second of sustained .015-frame displacement; pending motion blocks alerts. Item memory uses spatial one-to-one association and rearms on five seconds of owner return, three seconds of motion or 30 seconds absent. Synthetic tests cover simultaneous items and ID gaps without proving field benefits. AVSS stays 2/2 with zero false/repeated alerts; smoothing raises delay from 34.818 to 35.068 seconds. Memory raises HARD repeats from one to two. Historical intervals use different provisional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https://github.com/hangsuuuu/video-of-abandoned-object-detection at revision 966439fcac1103b392c49d4135f128860a39d1f8. The receipt records content hashes. Three bundled clips show highway debris; three entries explicitly alias ABODA. Actual FPS is 30, about 14.966 and 19.912, with 357, 219 and 151 decoded frames. Beyond-stream timestamps are exposed, not rescaled. Thirty annotated frames form a component stress test with no owner or complete event labels. Visual review is provisional assistant review.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DINO tiny uses the same pinned weights, generic query and thresholds, float32 GPU inference and TF32 off. Four fixed 60%-size tiles overlap by 20%; detections merge with full-image output using NMS .5. Source boxes never choose tiles. There are 136 CAVIAR training-source item references and 30 highway-debris references. Partial annotations support recall, not precision. Tiling does not overwrite pilot event tracks or heads.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VadCLIP dual_mean gives AUROC .5874, AP .63323, F1 .56475, recall .51786 and FPR .35685 with a development-frozen threshold. Training uses 1,910 frames in nine clips; validation uses 312 frames in four clips and a 12.642M-parameter adapter. This offline supervised smoking protocol has different source groups and supervision from image models. The constant visual branch remains a recorded failure. No new VadCLIP training was done this round.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SigLIP ensemble HMDB AP .9645 concerns 205 retrospective adapted movie/web clips; CCTV recall remains 1.8% at 1.6% FPR. MobileCLIP CCTV AP .725 does not ensure transferable thresholds. Dumping AP .893 uses 100 full-clip IWDD tests, not online localization. Street Scene and thermal tracks use different protocols/sensors. Public-sleep photos remain provisional; unattended evidence has two primary events and a few normal minutes. Each candidate needs target-camera event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Preserved regressions include CCTV fine-tuning, MobileCLIP dumping, sleep photos, HMDB/MEVA transfer, SigLIP pilot CCTV, conservative-cutoff recall loss and HARD memory repeats. Hard-negative runs can select before mining begins. Repeated development searches can overfit sources even when no test selection occurs. More adjacent frames, seeds and hyperparameter trials do not add independent cameras/events. Tiling is a component finding, not an established event-pipeline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Acquire compatible evidence with matched controls: smoking versus drinking/eating/coughing; disposal versus benign placing/carrying; complete dwell tracks; persistent apparent sleep versus rest/lying; owner-associated items with retrieval and occlusion controls. Independent target-camera review and event diversity are still needed. Freeze a fresh camera holdout before scores are inspected. Normal-hour bounds depend on assumptions and do not certify source transfer. Missing duration, ownership or visibility should permit unknown decisions.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Latest report: results/event_improvements_20261017/report.md; overview: reports/event_improvements_findings_20261017.md. Earlier expanded, fine-tuning, strategy and video-pilot reports remain preserved. New scripts replay ensemble selection, causal memory and detector merges/matches; source/code/weight hashes are retained. The slide builder reads saved results and runs no inference. Editable PPTX and vector PDF share one checked layout, with notes and source hashes. Earlier decks remain historical.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EXECUTIVE SUMMARY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Five-anomaly model evaluation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Complete evaluation and improvement history • 13–17 October 2026</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Preserved studies + 17 Oct metric replay</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08200"/>
            <a:ext cx="11125200" cy="12827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700" y="2298700"/>
            <a:ext cx="10591800" cy="965200"/>
          </a:xfrm>
          <a:prstGeom prst="rect">
            <a:avLst/>
          </a:prstGeom>
          <a:noFill/>
        </p:spPr>
        <p:txBody>
          <a:bodyPr wrap="none" lIns="0" rIns="0" tIns="0" bIns="0" anchor="t">
            <a:spAutoFit/>
          </a:bodyPr>
          <a:lstStyle/>
          <a:p>
            <a:pPr algn="l">
              <a:lnSpc>
                <a:spcPts val="3198"/>
              </a:lnSpc>
              <a:spcBef>
                <a:spcPts val="0"/>
              </a:spcBef>
              <a:spcAft>
                <a:spcPts val="0"/>
              </a:spcAft>
              <a:defRPr sz="2600" b="1">
                <a:solidFill>
                  <a:srgbClr val="FFFFFF"/>
                </a:solidFill>
                <a:latin typeface="DejaVu Sans"/>
              </a:defRPr>
            </a:pPr>
            <a:r>
              <a:t>Recognition improved in selected domains.</a:t>
            </a:r>
          </a:p>
          <a:p>
            <a:pPr algn="l">
              <a:lnSpc>
                <a:spcPts val="3198"/>
              </a:lnSpc>
              <a:spcBef>
                <a:spcPts val="0"/>
              </a:spcBef>
              <a:spcAft>
                <a:spcPts val="0"/>
              </a:spcAft>
              <a:defRPr sz="2600" b="1">
                <a:solidFill>
                  <a:srgbClr val="FFFFFF"/>
                </a:solidFill>
                <a:latin typeface="DejaVu Sans"/>
              </a:defRPr>
            </a:pPr>
            <a:r>
              <a:t>Reliable camera transfer is still unresolved.</a:t>
            </a:r>
          </a:p>
        </p:txBody>
      </p:sp>
      <p:sp>
        <p:nvSpPr>
          <p:cNvPr id="12" name="Rectangle 11"/>
          <p:cNvSpPr/>
          <p:nvPr/>
        </p:nvSpPr>
        <p:spPr>
          <a:xfrm>
            <a:off x="533400" y="3581400"/>
            <a:ext cx="3556000" cy="1803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37084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6</a:t>
            </a:r>
          </a:p>
        </p:txBody>
      </p:sp>
      <p:sp>
        <p:nvSpPr>
          <p:cNvPr id="14" name="TextBox 13"/>
          <p:cNvSpPr txBox="1"/>
          <p:nvPr/>
        </p:nvSpPr>
        <p:spPr>
          <a:xfrm>
            <a:off x="736600" y="44069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Visual fine-tunes</a:t>
            </a:r>
          </a:p>
        </p:txBody>
      </p:sp>
      <p:sp>
        <p:nvSpPr>
          <p:cNvPr id="15" name="TextBox 14"/>
          <p:cNvSpPr txBox="1"/>
          <p:nvPr/>
        </p:nvSpPr>
        <p:spPr>
          <a:xfrm>
            <a:off x="736600" y="4800600"/>
            <a:ext cx="314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2 CLIP encoders × 3 seeds</a:t>
            </a:r>
          </a:p>
        </p:txBody>
      </p:sp>
      <p:sp>
        <p:nvSpPr>
          <p:cNvPr id="16" name="Rectangle 15"/>
          <p:cNvSpPr/>
          <p:nvPr/>
        </p:nvSpPr>
        <p:spPr>
          <a:xfrm>
            <a:off x="4318000" y="3581400"/>
            <a:ext cx="3556000" cy="1803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1200" y="37084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330 + 50</a:t>
            </a:r>
          </a:p>
        </p:txBody>
      </p:sp>
      <p:sp>
        <p:nvSpPr>
          <p:cNvPr id="18" name="TextBox 17"/>
          <p:cNvSpPr txBox="1"/>
          <p:nvPr/>
        </p:nvSpPr>
        <p:spPr>
          <a:xfrm>
            <a:off x="4521200" y="44069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Strategy / video routes</a:t>
            </a:r>
          </a:p>
        </p:txBody>
      </p:sp>
      <p:sp>
        <p:nvSpPr>
          <p:cNvPr id="19" name="TextBox 18"/>
          <p:cNvSpPr txBox="1"/>
          <p:nvPr/>
        </p:nvSpPr>
        <p:spPr>
          <a:xfrm>
            <a:off x="4521200" y="4800600"/>
            <a:ext cx="314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New heads and routes; different</a:t>
            </a:r>
          </a:p>
          <a:p>
            <a:pPr algn="l">
              <a:lnSpc>
                <a:spcPts val="1599"/>
              </a:lnSpc>
              <a:spcBef>
                <a:spcPts val="0"/>
              </a:spcBef>
              <a:spcAft>
                <a:spcPts val="0"/>
              </a:spcAft>
              <a:defRPr sz="1300" b="0">
                <a:solidFill>
                  <a:srgbClr val="526471"/>
                </a:solidFill>
                <a:latin typeface="DejaVu Sans"/>
              </a:defRPr>
            </a:pPr>
            <a:r>
              <a:t>studies</a:t>
            </a:r>
          </a:p>
        </p:txBody>
      </p:sp>
      <p:sp>
        <p:nvSpPr>
          <p:cNvPr id="20" name="Rectangle 19"/>
          <p:cNvSpPr/>
          <p:nvPr/>
        </p:nvSpPr>
        <p:spPr>
          <a:xfrm>
            <a:off x="8102600" y="3581400"/>
            <a:ext cx="3556000" cy="1803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37084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38 + tiles</a:t>
            </a:r>
          </a:p>
        </p:txBody>
      </p:sp>
      <p:sp>
        <p:nvSpPr>
          <p:cNvPr id="22" name="TextBox 21"/>
          <p:cNvSpPr txBox="1"/>
          <p:nvPr/>
        </p:nvSpPr>
        <p:spPr>
          <a:xfrm>
            <a:off x="8305800" y="44069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Latest improvements</a:t>
            </a:r>
          </a:p>
        </p:txBody>
      </p:sp>
      <p:sp>
        <p:nvSpPr>
          <p:cNvPr id="23" name="TextBox 22"/>
          <p:cNvSpPr txBox="1"/>
          <p:nvPr/>
        </p:nvSpPr>
        <p:spPr>
          <a:xfrm>
            <a:off x="8305800" y="4800600"/>
            <a:ext cx="314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Dev-only policies + causal state</a:t>
            </a:r>
          </a:p>
          <a:p>
            <a:pPr algn="l">
              <a:lnSpc>
                <a:spcPts val="1599"/>
              </a:lnSpc>
              <a:spcBef>
                <a:spcPts val="0"/>
              </a:spcBef>
              <a:spcAft>
                <a:spcPts val="0"/>
              </a:spcAft>
              <a:defRPr sz="1300" b="0">
                <a:solidFill>
                  <a:srgbClr val="526471"/>
                </a:solidFill>
                <a:latin typeface="DejaVu Sans"/>
              </a:defRPr>
            </a:pPr>
            <a:r>
              <a:t>replay</a:t>
            </a:r>
          </a:p>
        </p:txBody>
      </p:sp>
      <p:sp>
        <p:nvSpPr>
          <p:cNvPr id="24" name="Rectangle 2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Strongest next investment: verified event histories and matched normal footage on independent target</a:t>
            </a:r>
          </a:p>
          <a:p>
            <a:pPr algn="l">
              <a:lnSpc>
                <a:spcPts val="1722"/>
              </a:lnSpc>
              <a:spcBef>
                <a:spcPts val="0"/>
              </a:spcBef>
              <a:spcAft>
                <a:spcPts val="0"/>
              </a:spcAft>
              <a:defRPr sz="1400" b="1">
                <a:solidFill>
                  <a:srgbClr val="C86535"/>
                </a:solidFill>
                <a:latin typeface="DejaVu Sans"/>
              </a:defRPr>
            </a:pPr>
            <a:r>
              <a:t>cameras.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OBJECTIVE / DEFINITIONS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Five objectives require different 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Existing dataset annotations and definitions remain the source of truth</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Training protocol + source annotation audits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02</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9177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2806700" y="2273300"/>
            <a:ext cx="4292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 required</a:t>
            </a:r>
          </a:p>
        </p:txBody>
      </p:sp>
      <p:sp>
        <p:nvSpPr>
          <p:cNvPr id="13" name="TextBox 12"/>
          <p:cNvSpPr txBox="1"/>
          <p:nvPr/>
        </p:nvSpPr>
        <p:spPr>
          <a:xfrm>
            <a:off x="7327900" y="2273300"/>
            <a:ext cx="4229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Current qualification</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a:t>
            </a:r>
          </a:p>
        </p:txBody>
      </p:sp>
      <p:sp>
        <p:nvSpPr>
          <p:cNvPr id="16" name="TextBox 15"/>
          <p:cNvSpPr txBox="1"/>
          <p:nvPr/>
        </p:nvSpPr>
        <p:spPr>
          <a:xfrm>
            <a:off x="2806700" y="27813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Person + hand/object/action evidence</a:t>
            </a:r>
          </a:p>
        </p:txBody>
      </p:sp>
      <p:sp>
        <p:nvSpPr>
          <p:cNvPr id="17" name="TextBox 16"/>
          <p:cNvSpPr txBox="1"/>
          <p:nvPr/>
        </p:nvSpPr>
        <p:spPr>
          <a:xfrm>
            <a:off x="7327900" y="27813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Low-resolution CCTV differs from photos</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a:t>
            </a:r>
          </a:p>
        </p:txBody>
      </p:sp>
      <p:sp>
        <p:nvSpPr>
          <p:cNvPr id="21" name="TextBox 20"/>
          <p:cNvSpPr txBox="1"/>
          <p:nvPr/>
        </p:nvSpPr>
        <p:spPr>
          <a:xfrm>
            <a:off x="2806700" y="33274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Disposal action and scene context</a:t>
            </a:r>
          </a:p>
        </p:txBody>
      </p:sp>
      <p:sp>
        <p:nvSpPr>
          <p:cNvPr id="22" name="TextBox 21"/>
          <p:cNvSpPr txBox="1"/>
          <p:nvPr/>
        </p:nvSpPr>
        <p:spPr>
          <a:xfrm>
            <a:off x="7327900" y="33274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IWDD includes larger waste dumping</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6" name="TextBox 25"/>
          <p:cNvSpPr txBox="1"/>
          <p:nvPr/>
        </p:nvSpPr>
        <p:spPr>
          <a:xfrm>
            <a:off x="2806700" y="38735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Identified person and timed history</a:t>
            </a:r>
          </a:p>
        </p:txBody>
      </p:sp>
      <p:sp>
        <p:nvSpPr>
          <p:cNvPr id="27" name="TextBox 26"/>
          <p:cNvSpPr txBox="1"/>
          <p:nvPr/>
        </p:nvSpPr>
        <p:spPr>
          <a:xfrm>
            <a:off x="7327900" y="38735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 visible person alone is insufficient</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Rough sleeping</a:t>
            </a:r>
          </a:p>
        </p:txBody>
      </p:sp>
      <p:sp>
        <p:nvSpPr>
          <p:cNvPr id="31" name="TextBox 30"/>
          <p:cNvSpPr txBox="1"/>
          <p:nvPr/>
        </p:nvSpPr>
        <p:spPr>
          <a:xfrm>
            <a:off x="2806700" y="44196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Persistent apparent public sleep</a:t>
            </a:r>
          </a:p>
        </p:txBody>
      </p:sp>
      <p:sp>
        <p:nvSpPr>
          <p:cNvPr id="32" name="TextBox 31"/>
          <p:cNvSpPr txBox="1"/>
          <p:nvPr/>
        </p:nvSpPr>
        <p:spPr>
          <a:xfrm>
            <a:off x="7327900" y="44196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Posture photos are provisional proxies</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 items</a:t>
            </a:r>
          </a:p>
        </p:txBody>
      </p:sp>
      <p:sp>
        <p:nvSpPr>
          <p:cNvPr id="36" name="TextBox 35"/>
          <p:cNvSpPr txBox="1"/>
          <p:nvPr/>
        </p:nvSpPr>
        <p:spPr>
          <a:xfrm>
            <a:off x="2806700" y="49657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Item persistence + owner separation</a:t>
            </a:r>
          </a:p>
        </p:txBody>
      </p:sp>
      <p:sp>
        <p:nvSpPr>
          <p:cNvPr id="37" name="TextBox 36"/>
          <p:cNvSpPr txBox="1"/>
          <p:nvPr/>
        </p:nvSpPr>
        <p:spPr>
          <a:xfrm>
            <a:off x="7327900" y="49657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30 s criterion belongs to AVSS source</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Unknown history or missing labels stay unknown; other objectives are never automatically labelled</a:t>
            </a:r>
          </a:p>
          <a:p>
            <a:pPr algn="l">
              <a:lnSpc>
                <a:spcPts val="1722"/>
              </a:lnSpc>
              <a:spcBef>
                <a:spcPts val="0"/>
              </a:spcBef>
              <a:spcAft>
                <a:spcPts val="0"/>
              </a:spcAft>
              <a:defRPr sz="1400" b="1">
                <a:solidFill>
                  <a:srgbClr val="007E80"/>
                </a:solidFill>
                <a:latin typeface="DejaVu Sans"/>
              </a:defRPr>
            </a:pPr>
            <a:r>
              <a:t>normal.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MODELS / COMPARISON SCOPE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Four image models and a separate VadCLIP study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All five were investigated; later adaptation focuses on the two CLIP encoders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Expanded accuracy report; supervised VadCLIP eval.json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362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3251200" y="2273300"/>
            <a:ext cx="4114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Evaluation / adaptation</a:t>
            </a:r>
          </a:p>
        </p:txBody>
      </p:sp>
      <p:sp>
        <p:nvSpPr>
          <p:cNvPr id="13" name="TextBox 12"/>
          <p:cNvSpPr txBox="1"/>
          <p:nvPr/>
        </p:nvSpPr>
        <p:spPr>
          <a:xfrm>
            <a:off x="7594600" y="2273300"/>
            <a:ext cx="396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Scope of conclusions</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23622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MobileCLIP2-S2</a:t>
            </a:r>
          </a:p>
        </p:txBody>
      </p:sp>
      <p:sp>
        <p:nvSpPr>
          <p:cNvPr id="16" name="TextBox 15"/>
          <p:cNvSpPr txBox="1"/>
          <p:nvPr/>
        </p:nvSpPr>
        <p:spPr>
          <a:xfrm>
            <a:off x="3251200" y="2781300"/>
            <a:ext cx="4114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Zero-shot → probe → visual fine-tune</a:t>
            </a:r>
          </a:p>
        </p:txBody>
      </p:sp>
      <p:sp>
        <p:nvSpPr>
          <p:cNvPr id="17" name="TextBox 16"/>
          <p:cNvSpPr txBox="1"/>
          <p:nvPr/>
        </p:nvSpPr>
        <p:spPr>
          <a:xfrm>
            <a:off x="7594600" y="2781300"/>
            <a:ext cx="39624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All five; region / temporal pilots</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23622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SigLIP2-B/16-224</a:t>
            </a:r>
          </a:p>
        </p:txBody>
      </p:sp>
      <p:sp>
        <p:nvSpPr>
          <p:cNvPr id="21" name="TextBox 20"/>
          <p:cNvSpPr txBox="1"/>
          <p:nvPr/>
        </p:nvSpPr>
        <p:spPr>
          <a:xfrm>
            <a:off x="3251200" y="3327400"/>
            <a:ext cx="4114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Zero-shot → probe → visual fine-tune</a:t>
            </a:r>
          </a:p>
        </p:txBody>
      </p:sp>
      <p:sp>
        <p:nvSpPr>
          <p:cNvPr id="22" name="TextBox 21"/>
          <p:cNvSpPr txBox="1"/>
          <p:nvPr/>
        </p:nvSpPr>
        <p:spPr>
          <a:xfrm>
            <a:off x="7594600" y="3327400"/>
            <a:ext cx="39624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All five; region / temporal pilots</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23622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SmolVLM-500M-Instruct</a:t>
            </a:r>
          </a:p>
        </p:txBody>
      </p:sp>
      <p:sp>
        <p:nvSpPr>
          <p:cNvPr id="26" name="TextBox 25"/>
          <p:cNvSpPr txBox="1"/>
          <p:nvPr/>
        </p:nvSpPr>
        <p:spPr>
          <a:xfrm>
            <a:off x="3251200" y="3873500"/>
            <a:ext cx="4114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Deterministic prompted responses</a:t>
            </a:r>
          </a:p>
        </p:txBody>
      </p:sp>
      <p:sp>
        <p:nvSpPr>
          <p:cNvPr id="27" name="TextBox 26"/>
          <p:cNvSpPr txBox="1"/>
          <p:nvPr/>
        </p:nvSpPr>
        <p:spPr>
          <a:xfrm>
            <a:off x="7594600" y="3873500"/>
            <a:ext cx="39624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Expanded four-model image study</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23622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MiniCPM-V 4.0</a:t>
            </a:r>
          </a:p>
        </p:txBody>
      </p:sp>
      <p:sp>
        <p:nvSpPr>
          <p:cNvPr id="31" name="TextBox 30"/>
          <p:cNvSpPr txBox="1"/>
          <p:nvPr/>
        </p:nvSpPr>
        <p:spPr>
          <a:xfrm>
            <a:off x="3251200" y="4419600"/>
            <a:ext cx="4114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Unquantized prompted responses</a:t>
            </a:r>
          </a:p>
        </p:txBody>
      </p:sp>
      <p:sp>
        <p:nvSpPr>
          <p:cNvPr id="32" name="TextBox 31"/>
          <p:cNvSpPr txBox="1"/>
          <p:nvPr/>
        </p:nvSpPr>
        <p:spPr>
          <a:xfrm>
            <a:off x="7594600" y="4419600"/>
            <a:ext cx="39624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Expanded four-model image study</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23622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VadCLIP</a:t>
            </a:r>
          </a:p>
        </p:txBody>
      </p:sp>
      <p:sp>
        <p:nvSpPr>
          <p:cNvPr id="36" name="TextBox 35"/>
          <p:cNvSpPr txBox="1"/>
          <p:nvPr/>
        </p:nvSpPr>
        <p:spPr>
          <a:xfrm>
            <a:off x="3251200" y="4965700"/>
            <a:ext cx="4114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Separate supervised smoking adapter</a:t>
            </a:r>
          </a:p>
        </p:txBody>
      </p:sp>
      <p:sp>
        <p:nvSpPr>
          <p:cNvPr id="37" name="TextBox 36"/>
          <p:cNvSpPr txBox="1"/>
          <p:nvPr/>
        </p:nvSpPr>
        <p:spPr>
          <a:xfrm>
            <a:off x="7594600" y="4965700"/>
            <a:ext cx="39624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Offline protocol; different supervision</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VLMs were not fine-tuned in later rounds. Head fitting and visual-backbone updates are reported</a:t>
            </a:r>
          </a:p>
          <a:p>
            <a:pPr algn="l">
              <a:lnSpc>
                <a:spcPts val="1722"/>
              </a:lnSpc>
              <a:spcBef>
                <a:spcPts val="0"/>
              </a:spcBef>
              <a:spcAft>
                <a:spcPts val="0"/>
              </a:spcAft>
              <a:defRPr sz="1400" b="1">
                <a:solidFill>
                  <a:srgbClr val="007E80"/>
                </a:solidFill>
                <a:latin typeface="DejaVu Sans"/>
              </a:defRPr>
            </a:pPr>
            <a:r>
              <a:t>separately.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WORK COMPLETED / CHRONOLOGY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work progressed from prompts to event</a:t>
            </a:r>
          </a:p>
          <a:p>
            <a:pPr algn="l">
              <a:lnSpc>
                <a:spcPts val="3690"/>
              </a:lnSpc>
              <a:spcBef>
                <a:spcPts val="0"/>
              </a:spcBef>
              <a:spcAft>
                <a:spcPts val="0"/>
              </a:spcAft>
              <a:defRPr sz="3000" b="1">
                <a:solidFill>
                  <a:srgbClr val="142C40"/>
                </a:solidFill>
                <a:latin typeface="DejaVu Sans"/>
              </a:defRPr>
            </a:pPr>
            <a:r>
              <a:t>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These counts describe separate experiments, often reusing the same source footage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Completed run / verification artifacts for each stage</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04</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231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Stage</a:t>
            </a:r>
          </a:p>
        </p:txBody>
      </p:sp>
      <p:sp>
        <p:nvSpPr>
          <p:cNvPr id="12" name="TextBox 11"/>
          <p:cNvSpPr txBox="1"/>
          <p:nvPr/>
        </p:nvSpPr>
        <p:spPr>
          <a:xfrm>
            <a:off x="2120900" y="2273300"/>
            <a:ext cx="4381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Completed work</a:t>
            </a:r>
          </a:p>
        </p:txBody>
      </p:sp>
      <p:sp>
        <p:nvSpPr>
          <p:cNvPr id="13" name="TextBox 12"/>
          <p:cNvSpPr txBox="1"/>
          <p:nvPr/>
        </p:nvSpPr>
        <p:spPr>
          <a:xfrm>
            <a:off x="6731000" y="2273300"/>
            <a:ext cx="48260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 produced</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231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13 Oct</a:t>
            </a:r>
          </a:p>
        </p:txBody>
      </p:sp>
      <p:sp>
        <p:nvSpPr>
          <p:cNvPr id="16" name="TextBox 15"/>
          <p:cNvSpPr txBox="1"/>
          <p:nvPr/>
        </p:nvSpPr>
        <p:spPr>
          <a:xfrm>
            <a:off x="2120900" y="2781300"/>
            <a:ext cx="4381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 models; 13,400 predictions</a:t>
            </a:r>
          </a:p>
        </p:txBody>
      </p:sp>
      <p:sp>
        <p:nvSpPr>
          <p:cNvPr id="17" name="TextBox 16"/>
          <p:cNvSpPr txBox="1"/>
          <p:nvPr/>
        </p:nvSpPr>
        <p:spPr>
          <a:xfrm>
            <a:off x="6731000" y="2781300"/>
            <a:ext cx="48260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Initial audit and VadCLIP branch</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1231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14 Oct</a:t>
            </a:r>
          </a:p>
        </p:txBody>
      </p:sp>
      <p:sp>
        <p:nvSpPr>
          <p:cNvPr id="21" name="TextBox 20"/>
          <p:cNvSpPr txBox="1"/>
          <p:nvPr/>
        </p:nvSpPr>
        <p:spPr>
          <a:xfrm>
            <a:off x="2120900" y="3327400"/>
            <a:ext cx="4381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55,156 expanded predictions</a:t>
            </a:r>
          </a:p>
        </p:txBody>
      </p:sp>
      <p:sp>
        <p:nvSpPr>
          <p:cNvPr id="22" name="TextBox 21"/>
          <p:cNvSpPr txBox="1"/>
          <p:nvPr/>
        </p:nvSpPr>
        <p:spPr>
          <a:xfrm>
            <a:off x="6731000" y="3327400"/>
            <a:ext cx="48260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Larger cohorts; qualified weak diagnostics</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1231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15–16 Oct</a:t>
            </a:r>
          </a:p>
        </p:txBody>
      </p:sp>
      <p:sp>
        <p:nvSpPr>
          <p:cNvPr id="26" name="TextBox 25"/>
          <p:cNvSpPr txBox="1"/>
          <p:nvPr/>
        </p:nvSpPr>
        <p:spPr>
          <a:xfrm>
            <a:off x="2120900" y="3873500"/>
            <a:ext cx="4381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 actual CLIP visual fine-tunes</a:t>
            </a:r>
          </a:p>
        </p:txBody>
      </p:sp>
      <p:sp>
        <p:nvSpPr>
          <p:cNvPr id="27" name="TextBox 26"/>
          <p:cNvSpPr txBox="1"/>
          <p:nvPr/>
        </p:nvSpPr>
        <p:spPr>
          <a:xfrm>
            <a:off x="6731000" y="3873500"/>
            <a:ext cx="48260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Changed weights; three seeds each</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1231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16 Oct</a:t>
            </a:r>
          </a:p>
        </p:txBody>
      </p:sp>
      <p:sp>
        <p:nvSpPr>
          <p:cNvPr id="31" name="TextBox 30"/>
          <p:cNvSpPr txBox="1"/>
          <p:nvPr/>
        </p:nvSpPr>
        <p:spPr>
          <a:xfrm>
            <a:off x="2120900" y="4419600"/>
            <a:ext cx="4381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330 configurations; 50 pilot heads</a:t>
            </a:r>
          </a:p>
        </p:txBody>
      </p:sp>
      <p:sp>
        <p:nvSpPr>
          <p:cNvPr id="32" name="TextBox 31"/>
          <p:cNvSpPr txBox="1"/>
          <p:nvPr/>
        </p:nvSpPr>
        <p:spPr>
          <a:xfrm>
            <a:off x="6731000" y="4419600"/>
            <a:ext cx="48260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Data transfer, crops, temporal / tracks</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1231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17 Oct</a:t>
            </a:r>
          </a:p>
        </p:txBody>
      </p:sp>
      <p:sp>
        <p:nvSpPr>
          <p:cNvPr id="36" name="TextBox 35"/>
          <p:cNvSpPr txBox="1"/>
          <p:nvPr/>
        </p:nvSpPr>
        <p:spPr>
          <a:xfrm>
            <a:off x="2120900" y="4965700"/>
            <a:ext cx="4381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38 policies; state replay; 830 views</a:t>
            </a:r>
          </a:p>
        </p:txBody>
      </p:sp>
      <p:sp>
        <p:nvSpPr>
          <p:cNvPr id="37" name="TextBox 36"/>
          <p:cNvSpPr txBox="1"/>
          <p:nvPr/>
        </p:nvSpPr>
        <p:spPr>
          <a:xfrm>
            <a:off x="6731000" y="4965700"/>
            <a:ext cx="48260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Ensembles, memory, tiled item detections</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New runs and artifacts preserve the earlier reports and slide decks.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READINESS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Many files did not provide complete event labels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The dataset audit changed what could be evaluated honestly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Workflow review + expanded cohort definitions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05</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Usable supervised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Smoking: CCTV person/action labels</a:t>
            </a:r>
          </a:p>
          <a:p>
            <a:pPr algn="l">
              <a:lnSpc>
                <a:spcPts val="1968"/>
              </a:lnSpc>
              <a:spcBef>
                <a:spcPts val="0"/>
              </a:spcBef>
              <a:spcAft>
                <a:spcPts val="0"/>
              </a:spcAft>
              <a:defRPr sz="1600" b="0">
                <a:solidFill>
                  <a:srgbClr val="142C40"/>
                </a:solidFill>
                <a:latin typeface="DejaVu Sans"/>
              </a:defRPr>
            </a:pPr>
            <a:r>
              <a:t>IWDD: dumping action clips + controls</a:t>
            </a:r>
          </a:p>
          <a:p>
            <a:pPr algn="l">
              <a:lnSpc>
                <a:spcPts val="1968"/>
              </a:lnSpc>
              <a:spcBef>
                <a:spcPts val="0"/>
              </a:spcBef>
              <a:spcAft>
                <a:spcPts val="0"/>
              </a:spcAft>
              <a:defRPr sz="1600" b="0">
                <a:solidFill>
                  <a:srgbClr val="142C40"/>
                </a:solidFill>
                <a:latin typeface="DejaVu Sans"/>
              </a:defRPr>
            </a:pPr>
            <a:r>
              <a:t>Street Scene: person track/type labels</a:t>
            </a:r>
          </a:p>
          <a:p>
            <a:pPr algn="l">
              <a:lnSpc>
                <a:spcPts val="1968"/>
              </a:lnSpc>
              <a:spcBef>
                <a:spcPts val="0"/>
              </a:spcBef>
              <a:spcAft>
                <a:spcPts val="0"/>
              </a:spcAft>
              <a:defRPr sz="1600" b="0">
                <a:solidFill>
                  <a:srgbClr val="142C40"/>
                </a:solidFill>
                <a:latin typeface="DejaVu Sans"/>
              </a:defRPr>
            </a:pPr>
            <a:r>
              <a:t>CAVIAR: item/person source boxes</a:t>
            </a:r>
          </a:p>
          <a:p>
            <a:pPr algn="l">
              <a:lnSpc>
                <a:spcPts val="1968"/>
              </a:lnSpc>
              <a:spcBef>
                <a:spcPts val="0"/>
              </a:spcBef>
              <a:spcAft>
                <a:spcPts val="0"/>
              </a:spcAft>
              <a:defRPr sz="1600" b="0">
                <a:solidFill>
                  <a:srgbClr val="142C40"/>
                </a:solidFill>
                <a:latin typeface="DejaVu Sans"/>
              </a:defRPr>
            </a:pPr>
            <a:r>
              <a:t>ABODA: reviewed time intervals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Useful diagnostics, weaker event</a:t>
            </a:r>
          </a:p>
          <a:p>
            <a:pPr algn="l">
              <a:lnSpc>
                <a:spcPts val="2460"/>
              </a:lnSpc>
              <a:spcBef>
                <a:spcPts val="0"/>
              </a:spcBef>
              <a:spcAft>
                <a:spcPts val="0"/>
              </a:spcAft>
              <a:defRPr sz="2000" b="1">
                <a:solidFill>
                  <a:srgbClr val="C86535"/>
                </a:solidFill>
                <a:latin typeface="DejaVu Sans"/>
              </a:defRPr>
            </a:pPr>
            <a:r>
              <a:t>truth</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6,667 littering candidate images</a:t>
            </a:r>
          </a:p>
          <a:p>
            <a:pPr algn="l">
              <a:lnSpc>
                <a:spcPts val="1968"/>
              </a:lnSpc>
              <a:spcBef>
                <a:spcPts val="0"/>
              </a:spcBef>
              <a:spcAft>
                <a:spcPts val="0"/>
              </a:spcAft>
              <a:defRPr sz="1600" b="0">
                <a:solidFill>
                  <a:srgbClr val="142C40"/>
                </a:solidFill>
                <a:latin typeface="DejaVu Sans"/>
              </a:defRPr>
            </a:pPr>
            <a:r>
              <a:t>1,675 person/loitering candidates</a:t>
            </a:r>
          </a:p>
          <a:p>
            <a:pPr algn="l">
              <a:lnSpc>
                <a:spcPts val="1968"/>
              </a:lnSpc>
              <a:spcBef>
                <a:spcPts val="0"/>
              </a:spcBef>
              <a:spcAft>
                <a:spcPts val="0"/>
              </a:spcAft>
              <a:defRPr sz="1600" b="0">
                <a:solidFill>
                  <a:srgbClr val="142C40"/>
                </a:solidFill>
                <a:latin typeface="DejaVu Sans"/>
              </a:defRPr>
            </a:pPr>
            <a:r>
              <a:t>Synthetic lying / falling postures</a:t>
            </a:r>
          </a:p>
          <a:p>
            <a:pPr algn="l">
              <a:lnSpc>
                <a:spcPts val="1968"/>
              </a:lnSpc>
              <a:spcBef>
                <a:spcPts val="0"/>
              </a:spcBef>
              <a:spcAft>
                <a:spcPts val="0"/>
              </a:spcAft>
              <a:defRPr sz="1600" b="0">
                <a:solidFill>
                  <a:srgbClr val="142C40"/>
                </a:solidFill>
                <a:latin typeface="DejaVu Sans"/>
              </a:defRPr>
            </a:pPr>
            <a:r>
              <a:t>Static public-sleep photographs</a:t>
            </a:r>
          </a:p>
          <a:p>
            <a:pPr algn="l">
              <a:lnSpc>
                <a:spcPts val="1968"/>
              </a:lnSpc>
              <a:spcBef>
                <a:spcPts val="0"/>
              </a:spcBef>
              <a:spcAft>
                <a:spcPts val="0"/>
              </a:spcAft>
              <a:defRPr sz="1600" b="0">
                <a:solidFill>
                  <a:srgbClr val="142C40"/>
                </a:solidFill>
                <a:latin typeface="DejaVu Sans"/>
              </a:defRPr>
            </a:pPr>
            <a:r>
              <a:t>MEVA abandonment-action windows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Positive-only images, augmented copies and pose labels cannot establish five-event precision or</a:t>
            </a:r>
          </a:p>
          <a:p>
            <a:pPr algn="l">
              <a:lnSpc>
                <a:spcPts val="1722"/>
              </a:lnSpc>
              <a:spcBef>
                <a:spcPts val="0"/>
              </a:spcBef>
              <a:spcAft>
                <a:spcPts val="0"/>
              </a:spcAft>
              <a:defRPr sz="1400" b="1">
                <a:solidFill>
                  <a:srgbClr val="C86535"/>
                </a:solidFill>
                <a:latin typeface="DejaVu Sans"/>
              </a:defRPr>
            </a:pPr>
            <a:r>
              <a:t>false-alarm rates.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SUPERVISED PARTITIONS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Training covered all five targets with uneven</a:t>
            </a:r>
          </a:p>
          <a:p>
            <a:pPr algn="l">
              <a:lnSpc>
                <a:spcPts val="3690"/>
              </a:lnSpc>
              <a:spcBef>
                <a:spcPts val="0"/>
              </a:spcBef>
              <a:spcAft>
                <a:spcPts val="0"/>
              </a:spcAft>
              <a:defRPr sz="3000" b="1">
                <a:solidFill>
                  <a:srgbClr val="142C40"/>
                </a:solidFill>
                <a:latin typeface="DejaVu Sans"/>
              </a:defRPr>
            </a:pPr>
            <a:r>
              <a:t>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First supervised study: 7,498 examples • 12,478 distinct view images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data/clip_training_20261015/samples.jsonl + training findings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06</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390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4279900" y="2273300"/>
            <a:ext cx="2273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Train (normal / +)</a:t>
            </a:r>
          </a:p>
        </p:txBody>
      </p:sp>
      <p:sp>
        <p:nvSpPr>
          <p:cNvPr id="13" name="TextBox 12"/>
          <p:cNvSpPr txBox="1"/>
          <p:nvPr/>
        </p:nvSpPr>
        <p:spPr>
          <a:xfrm>
            <a:off x="6781800" y="2273300"/>
            <a:ext cx="2273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(normal / +)</a:t>
            </a:r>
          </a:p>
        </p:txBody>
      </p:sp>
      <p:sp>
        <p:nvSpPr>
          <p:cNvPr id="14" name="TextBox 13"/>
          <p:cNvSpPr txBox="1"/>
          <p:nvPr/>
        </p:nvSpPr>
        <p:spPr>
          <a:xfrm>
            <a:off x="9283700" y="2273300"/>
            <a:ext cx="2273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Test (normal / +)</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CCTV + train photos</a:t>
            </a:r>
          </a:p>
        </p:txBody>
      </p:sp>
      <p:sp>
        <p:nvSpPr>
          <p:cNvPr id="17" name="TextBox 16"/>
          <p:cNvSpPr txBox="1"/>
          <p:nvPr/>
        </p:nvSpPr>
        <p:spPr>
          <a:xfrm>
            <a:off x="4279900" y="27813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1,381 / 716</a:t>
            </a:r>
          </a:p>
        </p:txBody>
      </p:sp>
      <p:sp>
        <p:nvSpPr>
          <p:cNvPr id="18" name="TextBox 17"/>
          <p:cNvSpPr txBox="1"/>
          <p:nvPr/>
        </p:nvSpPr>
        <p:spPr>
          <a:xfrm>
            <a:off x="6781800" y="27813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722 / 413</a:t>
            </a:r>
          </a:p>
        </p:txBody>
      </p:sp>
      <p:sp>
        <p:nvSpPr>
          <p:cNvPr id="19" name="TextBox 18"/>
          <p:cNvSpPr txBox="1"/>
          <p:nvPr/>
        </p:nvSpPr>
        <p:spPr>
          <a:xfrm>
            <a:off x="9283700" y="27813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253 / 393</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 / dumping</a:t>
            </a:r>
          </a:p>
        </p:txBody>
      </p:sp>
      <p:sp>
        <p:nvSpPr>
          <p:cNvPr id="23" name="TextBox 22"/>
          <p:cNvSpPr txBox="1"/>
          <p:nvPr/>
        </p:nvSpPr>
        <p:spPr>
          <a:xfrm>
            <a:off x="4279900" y="33274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130 / 144</a:t>
            </a:r>
          </a:p>
        </p:txBody>
      </p:sp>
      <p:sp>
        <p:nvSpPr>
          <p:cNvPr id="24" name="TextBox 23"/>
          <p:cNvSpPr txBox="1"/>
          <p:nvPr/>
        </p:nvSpPr>
        <p:spPr>
          <a:xfrm>
            <a:off x="6781800" y="33274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29 / 32</a:t>
            </a:r>
          </a:p>
        </p:txBody>
      </p:sp>
      <p:sp>
        <p:nvSpPr>
          <p:cNvPr id="25" name="TextBox 24"/>
          <p:cNvSpPr txBox="1"/>
          <p:nvPr/>
        </p:nvSpPr>
        <p:spPr>
          <a:xfrm>
            <a:off x="9283700" y="33274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50 / 50</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9" name="TextBox 28"/>
          <p:cNvSpPr txBox="1"/>
          <p:nvPr/>
        </p:nvSpPr>
        <p:spPr>
          <a:xfrm>
            <a:off x="4279900" y="38735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282 / 41</a:t>
            </a:r>
          </a:p>
        </p:txBody>
      </p:sp>
      <p:sp>
        <p:nvSpPr>
          <p:cNvPr id="30" name="TextBox 29"/>
          <p:cNvSpPr txBox="1"/>
          <p:nvPr/>
        </p:nvSpPr>
        <p:spPr>
          <a:xfrm>
            <a:off x="6781800" y="38735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85 / 13</a:t>
            </a:r>
          </a:p>
        </p:txBody>
      </p:sp>
      <p:sp>
        <p:nvSpPr>
          <p:cNvPr id="31" name="TextBox 30"/>
          <p:cNvSpPr txBox="1"/>
          <p:nvPr/>
        </p:nvSpPr>
        <p:spPr>
          <a:xfrm>
            <a:off x="9283700" y="38735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64 / 11</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5" name="TextBox 34"/>
          <p:cNvSpPr txBox="1"/>
          <p:nvPr/>
        </p:nvSpPr>
        <p:spPr>
          <a:xfrm>
            <a:off x="4279900" y="44196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49 / 25</a:t>
            </a:r>
          </a:p>
        </p:txBody>
      </p:sp>
      <p:sp>
        <p:nvSpPr>
          <p:cNvPr id="36" name="TextBox 35"/>
          <p:cNvSpPr txBox="1"/>
          <p:nvPr/>
        </p:nvSpPr>
        <p:spPr>
          <a:xfrm>
            <a:off x="6781800" y="44196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14 / 7</a:t>
            </a:r>
          </a:p>
        </p:txBody>
      </p:sp>
      <p:sp>
        <p:nvSpPr>
          <p:cNvPr id="37" name="TextBox 36"/>
          <p:cNvSpPr txBox="1"/>
          <p:nvPr/>
        </p:nvSpPr>
        <p:spPr>
          <a:xfrm>
            <a:off x="9283700" y="44196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12 / 6</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 items</a:t>
            </a:r>
          </a:p>
        </p:txBody>
      </p:sp>
      <p:sp>
        <p:nvSpPr>
          <p:cNvPr id="41" name="TextBox 40"/>
          <p:cNvSpPr txBox="1"/>
          <p:nvPr/>
        </p:nvSpPr>
        <p:spPr>
          <a:xfrm>
            <a:off x="4279900" y="49657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416 / 74</a:t>
            </a:r>
          </a:p>
        </p:txBody>
      </p:sp>
      <p:sp>
        <p:nvSpPr>
          <p:cNvPr id="42" name="TextBox 41"/>
          <p:cNvSpPr txBox="1"/>
          <p:nvPr/>
        </p:nvSpPr>
        <p:spPr>
          <a:xfrm>
            <a:off x="6781800" y="49657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137 / 181</a:t>
            </a:r>
          </a:p>
        </p:txBody>
      </p:sp>
      <p:sp>
        <p:nvSpPr>
          <p:cNvPr id="43" name="TextBox 42"/>
          <p:cNvSpPr txBox="1"/>
          <p:nvPr/>
        </p:nvSpPr>
        <p:spPr>
          <a:xfrm>
            <a:off x="9283700" y="49657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720 / 242</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 separate 806-photo smoking holdout is reported separately. Endpoints and adjacent frames remain</a:t>
            </a:r>
          </a:p>
          <a:p>
            <a:pPr algn="l">
              <a:lnSpc>
                <a:spcPts val="1722"/>
              </a:lnSpc>
              <a:spcBef>
                <a:spcPts val="0"/>
              </a:spcBef>
              <a:spcAft>
                <a:spcPts val="0"/>
              </a:spcAft>
              <a:defRPr sz="1400" b="1">
                <a:solidFill>
                  <a:srgbClr val="007E80"/>
                </a:solidFill>
                <a:latin typeface="DejaVu Sans"/>
              </a:defRPr>
            </a:pPr>
            <a:r>
              <a:t>correlated.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ACQUISITION EXPANSION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More data was acquired and screened for</a:t>
            </a:r>
          </a:p>
          <a:p>
            <a:pPr algn="l">
              <a:lnSpc>
                <a:spcPts val="3690"/>
              </a:lnSpc>
              <a:spcBef>
                <a:spcPts val="0"/>
              </a:spcBef>
              <a:spcAft>
                <a:spcPts val="0"/>
              </a:spcAft>
              <a:defRPr sz="3000" b="1">
                <a:solidFill>
                  <a:srgbClr val="142C40"/>
                </a:solidFill>
                <a:latin typeface="DejaVu Sans"/>
              </a:defRPr>
            </a:pPr>
            <a:r>
              <a:t>compatibility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Source diversity, duplicate control and label meaning matter more than download size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Strategy acquisition receipts + pilot manifests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07</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43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Source</a:t>
            </a:r>
          </a:p>
        </p:txBody>
      </p:sp>
      <p:sp>
        <p:nvSpPr>
          <p:cNvPr id="12" name="TextBox 11"/>
          <p:cNvSpPr txBox="1"/>
          <p:nvPr/>
        </p:nvSpPr>
        <p:spPr>
          <a:xfrm>
            <a:off x="3327400" y="2273300"/>
            <a:ext cx="3860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Acquired / retained</a:t>
            </a:r>
          </a:p>
        </p:txBody>
      </p:sp>
      <p:sp>
        <p:nvSpPr>
          <p:cNvPr id="13" name="TextBox 12"/>
          <p:cNvSpPr txBox="1"/>
          <p:nvPr/>
        </p:nvSpPr>
        <p:spPr>
          <a:xfrm>
            <a:off x="7416800" y="2273300"/>
            <a:ext cx="414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Role and limit</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photos + HMDB</a:t>
            </a:r>
          </a:p>
        </p:txBody>
      </p:sp>
      <p:sp>
        <p:nvSpPr>
          <p:cNvPr id="16" name="TextBox 15"/>
          <p:cNvSpPr txBox="1"/>
          <p:nvPr/>
        </p:nvSpPr>
        <p:spPr>
          <a:xfrm>
            <a:off x="3327400" y="27813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1,118 photos; 906 clips</a:t>
            </a:r>
          </a:p>
        </p:txBody>
      </p:sp>
      <p:sp>
        <p:nvSpPr>
          <p:cNvPr id="17" name="TextBox 16"/>
          <p:cNvSpPr txBox="1"/>
          <p:nvPr/>
        </p:nvSpPr>
        <p:spPr>
          <a:xfrm>
            <a:off x="7416800" y="27813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Photo learning; action-source transfer</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Thermal loitering</a:t>
            </a:r>
          </a:p>
        </p:txBody>
      </p:sp>
      <p:sp>
        <p:nvSpPr>
          <p:cNvPr id="21" name="TextBox 20"/>
          <p:cNvSpPr txBox="1"/>
          <p:nvPr/>
        </p:nvSpPr>
        <p:spPr>
          <a:xfrm>
            <a:off x="3327400" y="33274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874,936 observations; 31 dates</a:t>
            </a:r>
          </a:p>
        </p:txBody>
      </p:sp>
      <p:sp>
        <p:nvSpPr>
          <p:cNvPr id="22" name="TextBox 21"/>
          <p:cNvSpPr txBox="1"/>
          <p:nvPr/>
        </p:nvSpPr>
        <p:spPr>
          <a:xfrm>
            <a:off x="7416800" y="33274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Provided tracks; one thermal camera</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MEVA + public sleep</a:t>
            </a:r>
          </a:p>
        </p:txBody>
      </p:sp>
      <p:sp>
        <p:nvSpPr>
          <p:cNvPr id="26" name="TextBox 25"/>
          <p:cNvSpPr txBox="1"/>
          <p:nvPr/>
        </p:nvSpPr>
        <p:spPr>
          <a:xfrm>
            <a:off x="3327400" y="38735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 videos; 28 new-author photos</a:t>
            </a:r>
          </a:p>
        </p:txBody>
      </p:sp>
      <p:sp>
        <p:nvSpPr>
          <p:cNvPr id="27" name="TextBox 26"/>
          <p:cNvSpPr txBox="1"/>
          <p:nvPr/>
        </p:nvSpPr>
        <p:spPr>
          <a:xfrm>
            <a:off x="7416800" y="38735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Action proxy; provisional photo labels</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AVSS2007</a:t>
            </a:r>
          </a:p>
        </p:txBody>
      </p:sp>
      <p:sp>
        <p:nvSpPr>
          <p:cNvPr id="31" name="TextBox 30"/>
          <p:cNvSpPr txBox="1"/>
          <p:nvPr/>
        </p:nvSpPr>
        <p:spPr>
          <a:xfrm>
            <a:off x="3327400" y="44196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 videos; 2 clean primary events</a:t>
            </a:r>
          </a:p>
        </p:txBody>
      </p:sp>
      <p:sp>
        <p:nvSpPr>
          <p:cNvPr id="32" name="TextBox 31"/>
          <p:cNvSpPr txBox="1"/>
          <p:nvPr/>
        </p:nvSpPr>
        <p:spPr>
          <a:xfrm>
            <a:off x="7416800" y="44196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One conservative source block</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17 Oct author release</a:t>
            </a:r>
          </a:p>
        </p:txBody>
      </p:sp>
      <p:sp>
        <p:nvSpPr>
          <p:cNvPr id="36" name="TextBox 35"/>
          <p:cNvSpPr txBox="1"/>
          <p:nvPr/>
        </p:nvSpPr>
        <p:spPr>
          <a:xfrm>
            <a:off x="3327400" y="49657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 new clips + 3 ABODA aliases</a:t>
            </a:r>
          </a:p>
        </p:txBody>
      </p:sp>
      <p:sp>
        <p:nvSpPr>
          <p:cNvPr id="37" name="TextBox 36"/>
          <p:cNvSpPr txBox="1"/>
          <p:nvPr/>
        </p:nvSpPr>
        <p:spPr>
          <a:xfrm>
            <a:off x="7416800" y="49657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30 highway-debris component frames</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The latest release adds small-object stress cases, but adds no verified owner-associated unattended</a:t>
            </a:r>
          </a:p>
          <a:p>
            <a:pPr algn="l">
              <a:lnSpc>
                <a:spcPts val="1722"/>
              </a:lnSpc>
              <a:spcBef>
                <a:spcPts val="0"/>
              </a:spcBef>
              <a:spcAft>
                <a:spcPts val="0"/>
              </a:spcAft>
              <a:defRPr sz="1400" b="1">
                <a:solidFill>
                  <a:srgbClr val="007E80"/>
                </a:solidFill>
                <a:latin typeface="DejaVu Sans"/>
              </a:defRPr>
            </a:pPr>
            <a:r>
              <a:t>events.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METHODOLOGY / GENERALIZATION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Keep related sources together and freeze decisions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 source holdout is more informative than a random split of adjacent frames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Input hashes; source guard; saved development selections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08</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Before evaluation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Preserve source / camera / author groups</a:t>
            </a:r>
          </a:p>
          <a:p>
            <a:pPr algn="l">
              <a:lnSpc>
                <a:spcPts val="1968"/>
              </a:lnSpc>
              <a:spcBef>
                <a:spcPts val="0"/>
              </a:spcBef>
              <a:spcAft>
                <a:spcPts val="0"/>
              </a:spcAft>
              <a:defRPr sz="1600" b="0">
                <a:solidFill>
                  <a:srgbClr val="142C40"/>
                </a:solidFill>
                <a:latin typeface="DejaVu Sans"/>
              </a:defRPr>
            </a:pPr>
            <a:r>
              <a:t>Respect official video/photo partitions</a:t>
            </a:r>
          </a:p>
          <a:p>
            <a:pPr algn="l">
              <a:lnSpc>
                <a:spcPts val="1968"/>
              </a:lnSpc>
              <a:spcBef>
                <a:spcPts val="0"/>
              </a:spcBef>
              <a:spcAft>
                <a:spcPts val="0"/>
              </a:spcAft>
              <a:defRPr sz="1600" b="0">
                <a:solidFill>
                  <a:srgbClr val="142C40"/>
                </a:solidFill>
                <a:latin typeface="DejaVu Sans"/>
              </a:defRPr>
            </a:pPr>
            <a:r>
              <a:t>Remove exact-pixel aliases</a:t>
            </a:r>
          </a:p>
          <a:p>
            <a:pPr algn="l">
              <a:lnSpc>
                <a:spcPts val="1968"/>
              </a:lnSpc>
              <a:spcBef>
                <a:spcPts val="0"/>
              </a:spcBef>
              <a:spcAft>
                <a:spcPts val="0"/>
              </a:spcAft>
              <a:defRPr sz="1600" b="0">
                <a:solidFill>
                  <a:srgbClr val="142C40"/>
                </a:solidFill>
                <a:latin typeface="DejaVu Sans"/>
              </a:defRPr>
            </a:pPr>
            <a:r>
              <a:t>Purge known shared-film part aliases</a:t>
            </a:r>
          </a:p>
          <a:p>
            <a:pPr algn="l">
              <a:lnSpc>
                <a:spcPts val="1968"/>
              </a:lnSpc>
              <a:spcBef>
                <a:spcPts val="0"/>
              </a:spcBef>
              <a:spcAft>
                <a:spcPts val="0"/>
              </a:spcAft>
              <a:defRPr sz="1600" b="0">
                <a:solidFill>
                  <a:srgbClr val="142C40"/>
                </a:solidFill>
                <a:latin typeface="DejaVu Sans"/>
              </a:defRPr>
            </a:pPr>
            <a:r>
              <a:t>Fit routes and thresholds on dev only</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Limits that remain</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Previously inspected tests are retrospective</a:t>
            </a:r>
          </a:p>
          <a:p>
            <a:pPr algn="l">
              <a:lnSpc>
                <a:spcPts val="1968"/>
              </a:lnSpc>
              <a:spcBef>
                <a:spcPts val="0"/>
              </a:spcBef>
              <a:spcAft>
                <a:spcPts val="0"/>
              </a:spcAft>
              <a:defRPr sz="1600" b="0">
                <a:solidFill>
                  <a:srgbClr val="142C40"/>
                </a:solidFill>
                <a:latin typeface="DejaVu Sans"/>
              </a:defRPr>
            </a:pPr>
            <a:r>
              <a:t>Movie / actor identities are incomplete</a:t>
            </a:r>
          </a:p>
          <a:p>
            <a:pPr algn="l">
              <a:lnSpc>
                <a:spcPts val="1968"/>
              </a:lnSpc>
              <a:spcBef>
                <a:spcPts val="0"/>
              </a:spcBef>
              <a:spcAft>
                <a:spcPts val="0"/>
              </a:spcAft>
              <a:defRPr sz="1600" b="0">
                <a:solidFill>
                  <a:srgbClr val="142C40"/>
                </a:solidFill>
                <a:latin typeface="DejaVu Sans"/>
              </a:defRPr>
            </a:pPr>
            <a:r>
              <a:t>Only a few physical cameras / events</a:t>
            </a:r>
          </a:p>
          <a:p>
            <a:pPr algn="l">
              <a:lnSpc>
                <a:spcPts val="1968"/>
              </a:lnSpc>
              <a:spcBef>
                <a:spcPts val="0"/>
              </a:spcBef>
              <a:spcAft>
                <a:spcPts val="0"/>
              </a:spcAft>
              <a:defRPr sz="1600" b="0">
                <a:solidFill>
                  <a:srgbClr val="142C40"/>
                </a:solidFill>
                <a:latin typeface="DejaVu Sans"/>
              </a:defRPr>
            </a:pPr>
            <a:r>
              <a:t>Provisional interval / sleep labels</a:t>
            </a:r>
          </a:p>
          <a:p>
            <a:pPr algn="l">
              <a:lnSpc>
                <a:spcPts val="1968"/>
              </a:lnSpc>
              <a:spcBef>
                <a:spcPts val="0"/>
              </a:spcBef>
              <a:spcAft>
                <a:spcPts val="0"/>
              </a:spcAft>
              <a:defRPr sz="1600" b="0">
                <a:solidFill>
                  <a:srgbClr val="142C40"/>
                </a:solidFill>
                <a:latin typeface="DejaVu Sans"/>
              </a:defRPr>
            </a:pPr>
            <a:r>
              <a:t>Repeated seeds add no new domains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No test-optimal threshold or lucky seed is substituted after seeing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TESTING / COMPUTE AND NUMERICAL CONTROLS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Accuracy runs used available GPU compute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No pacing, CPU emulation or new latency benchmarks in the later studies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GPU state files + numerical / live-checkpoint audits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09</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Quality execution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RTX 5000 Ada GPU</a:t>
            </a:r>
          </a:p>
          <a:p>
            <a:pPr algn="l">
              <a:lnSpc>
                <a:spcPts val="1968"/>
              </a:lnSpc>
              <a:spcBef>
                <a:spcPts val="0"/>
              </a:spcBef>
              <a:spcAft>
                <a:spcPts val="0"/>
              </a:spcAft>
              <a:defRPr sz="1600" b="0">
                <a:solidFill>
                  <a:srgbClr val="142C40"/>
                </a:solidFill>
                <a:latin typeface="DejaVu Sans"/>
              </a:defRPr>
            </a:pPr>
            <a:r>
              <a:t>Batched CLIP extraction / head fitting</a:t>
            </a:r>
          </a:p>
          <a:p>
            <a:pPr algn="l">
              <a:lnSpc>
                <a:spcPts val="1968"/>
              </a:lnSpc>
              <a:spcBef>
                <a:spcPts val="0"/>
              </a:spcBef>
              <a:spcAft>
                <a:spcPts val="0"/>
              </a:spcAft>
              <a:defRPr sz="1600" b="0">
                <a:solidFill>
                  <a:srgbClr val="142C40"/>
                </a:solidFill>
                <a:latin typeface="DejaVu Sans"/>
              </a:defRPr>
            </a:pPr>
            <a:r>
              <a:t>Deterministic VLM generation</a:t>
            </a:r>
          </a:p>
          <a:p>
            <a:pPr algn="l">
              <a:lnSpc>
                <a:spcPts val="1968"/>
              </a:lnSpc>
              <a:spcBef>
                <a:spcPts val="0"/>
              </a:spcBef>
              <a:spcAft>
                <a:spcPts val="0"/>
              </a:spcAft>
              <a:defRPr sz="1600" b="0">
                <a:solidFill>
                  <a:srgbClr val="142C40"/>
                </a:solidFill>
                <a:latin typeface="DejaVu Sans"/>
              </a:defRPr>
            </a:pPr>
            <a:r>
              <a:t>Failures and abstentions stay counted</a:t>
            </a:r>
          </a:p>
          <a:p>
            <a:pPr algn="l">
              <a:lnSpc>
                <a:spcPts val="1968"/>
              </a:lnSpc>
              <a:spcBef>
                <a:spcPts val="0"/>
              </a:spcBef>
              <a:spcAft>
                <a:spcPts val="0"/>
              </a:spcAft>
              <a:defRPr sz="1600" b="0">
                <a:solidFill>
                  <a:srgbClr val="142C40"/>
                </a:solidFill>
                <a:latin typeface="DejaVu Sans"/>
              </a:defRPr>
            </a:pPr>
            <a:r>
              <a:t>Pinned weights, inputs and raw scores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Numerical consistency</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Fine-tuning: BF16 autocast, F32 weights</a:t>
            </a:r>
          </a:p>
          <a:p>
            <a:pPr algn="l">
              <a:lnSpc>
                <a:spcPts val="1968"/>
              </a:lnSpc>
              <a:spcBef>
                <a:spcPts val="0"/>
              </a:spcBef>
              <a:spcAft>
                <a:spcPts val="0"/>
              </a:spcAft>
              <a:defRPr sz="1600" b="0">
                <a:solidFill>
                  <a:srgbClr val="142C40"/>
                </a:solidFill>
                <a:latin typeface="DejaVu Sans"/>
              </a:defRPr>
            </a:pPr>
            <a:r>
              <a:t>Final CLIP scoring: F32, TF32 off</a:t>
            </a:r>
          </a:p>
          <a:p>
            <a:pPr algn="l">
              <a:lnSpc>
                <a:spcPts val="1968"/>
              </a:lnSpc>
              <a:spcBef>
                <a:spcPts val="0"/>
              </a:spcBef>
              <a:spcAft>
                <a:spcPts val="0"/>
              </a:spcAft>
              <a:defRPr sz="1600" b="0">
                <a:solidFill>
                  <a:srgbClr val="142C40"/>
                </a:solidFill>
                <a:latin typeface="DejaVu Sans"/>
              </a:defRPr>
            </a:pPr>
            <a:r>
              <a:t>Batch-shape sensitivity was audited</a:t>
            </a:r>
          </a:p>
          <a:p>
            <a:pPr algn="l">
              <a:lnSpc>
                <a:spcPts val="1968"/>
              </a:lnSpc>
              <a:spcBef>
                <a:spcPts val="0"/>
              </a:spcBef>
              <a:spcAft>
                <a:spcPts val="0"/>
              </a:spcAft>
              <a:defRPr sz="1600" b="0">
                <a:solidFill>
                  <a:srgbClr val="142C40"/>
                </a:solidFill>
                <a:latin typeface="DejaVu Sans"/>
              </a:defRPr>
            </a:pPr>
            <a:r>
              <a:t>New detector: 830 F32 GPU views</a:t>
            </a:r>
          </a:p>
          <a:p>
            <a:pPr algn="l">
              <a:lnSpc>
                <a:spcPts val="1968"/>
              </a:lnSpc>
              <a:spcBef>
                <a:spcPts val="0"/>
              </a:spcBef>
              <a:spcAft>
                <a:spcPts val="0"/>
              </a:spcAft>
              <a:defRPr sz="1600" b="0">
                <a:solidFill>
                  <a:srgbClr val="142C40"/>
                </a:solidFill>
                <a:latin typeface="DejaVu Sans"/>
              </a:defRPr>
            </a:pPr>
            <a:r>
              <a:t>Event delay measures task detection</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Event onset delay is a quality metric; it is separate from computation latency.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WHAT EACH METRIC ANSWERS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Ranking, frame decisions and alerts are different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All three are needed to judge practical detection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Binary metrics + strict causal event accounting</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10</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Image / clip discrimination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AP and AUROC: score ranking</a:t>
            </a:r>
          </a:p>
          <a:p>
            <a:pPr algn="l">
              <a:lnSpc>
                <a:spcPts val="1968"/>
              </a:lnSpc>
              <a:spcBef>
                <a:spcPts val="0"/>
              </a:spcBef>
              <a:spcAft>
                <a:spcPts val="0"/>
              </a:spcAft>
              <a:defRPr sz="1600" b="0">
                <a:solidFill>
                  <a:srgbClr val="142C40"/>
                </a:solidFill>
                <a:latin typeface="DejaVu Sans"/>
              </a:defRPr>
            </a:pPr>
            <a:r>
              <a:t>Recall + FPR: a fixed operating point</a:t>
            </a:r>
          </a:p>
          <a:p>
            <a:pPr algn="l">
              <a:lnSpc>
                <a:spcPts val="1968"/>
              </a:lnSpc>
              <a:spcBef>
                <a:spcPts val="0"/>
              </a:spcBef>
              <a:spcAft>
                <a:spcPts val="0"/>
              </a:spcAft>
              <a:defRPr sz="1600" b="0">
                <a:solidFill>
                  <a:srgbClr val="142C40"/>
                </a:solidFill>
                <a:latin typeface="DejaVu Sans"/>
              </a:defRPr>
            </a:pPr>
            <a:r>
              <a:t>F1 + confusion counts: class balance</a:t>
            </a:r>
          </a:p>
          <a:p>
            <a:pPr algn="l">
              <a:lnSpc>
                <a:spcPts val="1968"/>
              </a:lnSpc>
              <a:spcBef>
                <a:spcPts val="0"/>
              </a:spcBef>
              <a:spcAft>
                <a:spcPts val="0"/>
              </a:spcAft>
              <a:defRPr sz="1600" b="0">
                <a:solidFill>
                  <a:srgbClr val="142C40"/>
                </a:solidFill>
                <a:latin typeface="DejaVu Sans"/>
              </a:defRPr>
            </a:pPr>
            <a:r>
              <a:t>VLM hard labels: no invented AP</a:t>
            </a:r>
          </a:p>
          <a:p>
            <a:pPr algn="l">
              <a:lnSpc>
                <a:spcPts val="1968"/>
              </a:lnSpc>
              <a:spcBef>
                <a:spcPts val="0"/>
              </a:spcBef>
              <a:spcAft>
                <a:spcPts val="0"/>
              </a:spcAft>
              <a:defRPr sz="1600" b="0">
                <a:solidFill>
                  <a:srgbClr val="142C40"/>
                </a:solidFill>
                <a:latin typeface="DejaVu Sans"/>
              </a:defRPr>
            </a:pPr>
            <a:r>
              <a:t>Weak candidates: prediction rate only</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Continuous event detection</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Past-only 20-second histories</a:t>
            </a:r>
          </a:p>
          <a:p>
            <a:pPr algn="l">
              <a:lnSpc>
                <a:spcPts val="1968"/>
              </a:lnSpc>
              <a:spcBef>
                <a:spcPts val="0"/>
              </a:spcBef>
              <a:spcAft>
                <a:spcPts val="0"/>
              </a:spcAft>
              <a:defRPr sz="1600" b="0">
                <a:solidFill>
                  <a:srgbClr val="142C40"/>
                </a:solidFill>
                <a:latin typeface="DejaVu Sans"/>
              </a:defRPr>
            </a:pPr>
            <a:r>
              <a:t>Actual alert emission times</a:t>
            </a:r>
          </a:p>
          <a:p>
            <a:pPr algn="l">
              <a:lnSpc>
                <a:spcPts val="1968"/>
              </a:lnSpc>
              <a:spcBef>
                <a:spcPts val="0"/>
              </a:spcBef>
              <a:spcAft>
                <a:spcPts val="0"/>
              </a:spcAft>
              <a:defRPr sz="1600" b="0">
                <a:solidFill>
                  <a:srgbClr val="142C40"/>
                </a:solidFill>
                <a:latin typeface="DejaVu Sans"/>
              </a:defRPr>
            </a:pPr>
            <a:r>
              <a:t>One matched alarm per labelled event</a:t>
            </a:r>
          </a:p>
          <a:p>
            <a:pPr algn="l">
              <a:lnSpc>
                <a:spcPts val="1968"/>
              </a:lnSpc>
              <a:spcBef>
                <a:spcPts val="0"/>
              </a:spcBef>
              <a:spcAft>
                <a:spcPts val="0"/>
              </a:spcAft>
              <a:defRPr sz="1600" b="0">
                <a:solidFill>
                  <a:srgbClr val="142C40"/>
                </a:solidFill>
                <a:latin typeface="DejaVu Sans"/>
              </a:defRPr>
            </a:pPr>
            <a:r>
              <a:t>Normal false, repeated, unknown alerts</a:t>
            </a:r>
          </a:p>
          <a:p>
            <a:pPr algn="l">
              <a:lnSpc>
                <a:spcPts val="1968"/>
              </a:lnSpc>
              <a:spcBef>
                <a:spcPts val="0"/>
              </a:spcBef>
              <a:spcAft>
                <a:spcPts val="0"/>
              </a:spcAft>
              <a:defRPr sz="1600" b="0">
                <a:solidFill>
                  <a:srgbClr val="142C40"/>
                </a:solidFill>
                <a:latin typeface="DejaVu Sans"/>
              </a:defRPr>
            </a:pPr>
            <a:r>
              <a:t>Onset delay + reviewed normal hours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An alert in an unreviewed transition is unknown; an early continuing alarm is not silently rematched to a</a:t>
            </a:r>
          </a:p>
          <a:p>
            <a:pPr algn="l">
              <a:lnSpc>
                <a:spcPts val="1722"/>
              </a:lnSpc>
              <a:spcBef>
                <a:spcPts val="0"/>
              </a:spcBef>
              <a:spcAft>
                <a:spcPts val="0"/>
              </a:spcAft>
              <a:defRPr sz="1400" b="1">
                <a:solidFill>
                  <a:srgbClr val="007E80"/>
                </a:solidFill>
                <a:latin typeface="DejaVu Sans"/>
              </a:defRPr>
            </a:pPr>
            <a:r>
              <a:t>later onset.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BASELINE / FOUR-MODEL IMAGE COMPARISON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Expanded unattended images did not yield a clear</a:t>
            </a:r>
          </a:p>
          <a:p>
            <a:pPr algn="l">
              <a:lnSpc>
                <a:spcPts val="3690"/>
              </a:lnSpc>
              <a:spcBef>
                <a:spcPts val="0"/>
              </a:spcBef>
              <a:spcAft>
                <a:spcPts val="0"/>
              </a:spcAft>
              <a:defRPr sz="3000" b="1">
                <a:solidFill>
                  <a:srgbClr val="142C40"/>
                </a:solidFill>
                <a:latin typeface="DejaVu Sans"/>
              </a:defRPr>
            </a:pPr>
            <a:r>
              <a:t>winner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962 test endpoints • 242 positive / 720 normal • two camera families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Expanded accuracy quality_summary.json / raw frame decisions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11</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479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3688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Precision</a:t>
            </a:r>
          </a:p>
        </p:txBody>
      </p:sp>
      <p:sp>
        <p:nvSpPr>
          <p:cNvPr id="13" name="TextBox 12"/>
          <p:cNvSpPr txBox="1"/>
          <p:nvPr/>
        </p:nvSpPr>
        <p:spPr>
          <a:xfrm>
            <a:off x="62230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4" name="TextBox 13"/>
          <p:cNvSpPr txBox="1"/>
          <p:nvPr/>
        </p:nvSpPr>
        <p:spPr>
          <a:xfrm>
            <a:off x="80772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5" name="TextBox 14"/>
          <p:cNvSpPr txBox="1"/>
          <p:nvPr/>
        </p:nvSpPr>
        <p:spPr>
          <a:xfrm>
            <a:off x="99314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Rectangle 15"/>
          <p:cNvSpPr/>
          <p:nvPr/>
        </p:nvSpPr>
        <p:spPr>
          <a:xfrm>
            <a:off x="533400" y="2667000"/>
            <a:ext cx="11125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MobileCLIP2-S2</a:t>
            </a:r>
          </a:p>
        </p:txBody>
      </p:sp>
      <p:sp>
        <p:nvSpPr>
          <p:cNvPr id="18" name="TextBox 17"/>
          <p:cNvSpPr txBox="1"/>
          <p:nvPr/>
        </p:nvSpPr>
        <p:spPr>
          <a:xfrm>
            <a:off x="43688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25.3%</a:t>
            </a:r>
          </a:p>
        </p:txBody>
      </p:sp>
      <p:sp>
        <p:nvSpPr>
          <p:cNvPr id="19" name="TextBox 18"/>
          <p:cNvSpPr txBox="1"/>
          <p:nvPr/>
        </p:nvSpPr>
        <p:spPr>
          <a:xfrm>
            <a:off x="62230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75.2%</a:t>
            </a:r>
          </a:p>
        </p:txBody>
      </p:sp>
      <p:sp>
        <p:nvSpPr>
          <p:cNvPr id="20" name="TextBox 19"/>
          <p:cNvSpPr txBox="1"/>
          <p:nvPr/>
        </p:nvSpPr>
        <p:spPr>
          <a:xfrm>
            <a:off x="80772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0.379</a:t>
            </a:r>
          </a:p>
        </p:txBody>
      </p:sp>
      <p:sp>
        <p:nvSpPr>
          <p:cNvPr id="21" name="TextBox 20"/>
          <p:cNvSpPr txBox="1"/>
          <p:nvPr/>
        </p:nvSpPr>
        <p:spPr>
          <a:xfrm>
            <a:off x="99314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74.6%</a:t>
            </a:r>
          </a:p>
        </p:txBody>
      </p:sp>
      <p:cxnSp>
        <p:nvCxnSpPr>
          <p:cNvPr id="22" name="Connector 21"/>
          <p:cNvCxnSpPr/>
          <p:nvPr/>
        </p:nvCxnSpPr>
        <p:spPr>
          <a:xfrm>
            <a:off x="533400" y="3327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327400"/>
            <a:ext cx="11125200" cy="660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4417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SigLIP2-B/16-224</a:t>
            </a:r>
          </a:p>
        </p:txBody>
      </p:sp>
      <p:sp>
        <p:nvSpPr>
          <p:cNvPr id="25" name="TextBox 24"/>
          <p:cNvSpPr txBox="1"/>
          <p:nvPr/>
        </p:nvSpPr>
        <p:spPr>
          <a:xfrm>
            <a:off x="43688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0.0%</a:t>
            </a:r>
          </a:p>
        </p:txBody>
      </p:sp>
      <p:sp>
        <p:nvSpPr>
          <p:cNvPr id="26" name="TextBox 25"/>
          <p:cNvSpPr txBox="1"/>
          <p:nvPr/>
        </p:nvSpPr>
        <p:spPr>
          <a:xfrm>
            <a:off x="62230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0.0%</a:t>
            </a:r>
          </a:p>
        </p:txBody>
      </p:sp>
      <p:sp>
        <p:nvSpPr>
          <p:cNvPr id="27" name="TextBox 26"/>
          <p:cNvSpPr txBox="1"/>
          <p:nvPr/>
        </p:nvSpPr>
        <p:spPr>
          <a:xfrm>
            <a:off x="80772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0.000</a:t>
            </a:r>
          </a:p>
        </p:txBody>
      </p:sp>
      <p:sp>
        <p:nvSpPr>
          <p:cNvPr id="28" name="TextBox 27"/>
          <p:cNvSpPr txBox="1"/>
          <p:nvPr/>
        </p:nvSpPr>
        <p:spPr>
          <a:xfrm>
            <a:off x="99314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2.6%</a:t>
            </a:r>
          </a:p>
        </p:txBody>
      </p:sp>
      <p:cxnSp>
        <p:nvCxnSpPr>
          <p:cNvPr id="29" name="Connector 28"/>
          <p:cNvCxnSpPr/>
          <p:nvPr/>
        </p:nvCxnSpPr>
        <p:spPr>
          <a:xfrm>
            <a:off x="533400" y="3987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987800"/>
            <a:ext cx="11125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41021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SmolVLM-500M</a:t>
            </a:r>
          </a:p>
        </p:txBody>
      </p:sp>
      <p:sp>
        <p:nvSpPr>
          <p:cNvPr id="32" name="TextBox 31"/>
          <p:cNvSpPr txBox="1"/>
          <p:nvPr/>
        </p:nvSpPr>
        <p:spPr>
          <a:xfrm>
            <a:off x="43688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18.6%</a:t>
            </a:r>
          </a:p>
        </p:txBody>
      </p:sp>
      <p:sp>
        <p:nvSpPr>
          <p:cNvPr id="33" name="TextBox 32"/>
          <p:cNvSpPr txBox="1"/>
          <p:nvPr/>
        </p:nvSpPr>
        <p:spPr>
          <a:xfrm>
            <a:off x="62230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63.6%</a:t>
            </a:r>
          </a:p>
        </p:txBody>
      </p:sp>
      <p:sp>
        <p:nvSpPr>
          <p:cNvPr id="34" name="TextBox 33"/>
          <p:cNvSpPr txBox="1"/>
          <p:nvPr/>
        </p:nvSpPr>
        <p:spPr>
          <a:xfrm>
            <a:off x="80772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0.288</a:t>
            </a:r>
          </a:p>
        </p:txBody>
      </p:sp>
      <p:sp>
        <p:nvSpPr>
          <p:cNvPr id="35" name="TextBox 34"/>
          <p:cNvSpPr txBox="1"/>
          <p:nvPr/>
        </p:nvSpPr>
        <p:spPr>
          <a:xfrm>
            <a:off x="99314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93.8%</a:t>
            </a:r>
          </a:p>
        </p:txBody>
      </p:sp>
      <p:cxnSp>
        <p:nvCxnSpPr>
          <p:cNvPr id="36" name="Connector 35"/>
          <p:cNvCxnSpPr/>
          <p:nvPr/>
        </p:nvCxnSpPr>
        <p:spPr>
          <a:xfrm>
            <a:off x="533400" y="4648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648200"/>
            <a:ext cx="11125200" cy="660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7625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MiniCPM-V 4.0</a:t>
            </a:r>
          </a:p>
        </p:txBody>
      </p:sp>
      <p:sp>
        <p:nvSpPr>
          <p:cNvPr id="39" name="TextBox 38"/>
          <p:cNvSpPr txBox="1"/>
          <p:nvPr/>
        </p:nvSpPr>
        <p:spPr>
          <a:xfrm>
            <a:off x="43688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77.1%</a:t>
            </a:r>
          </a:p>
        </p:txBody>
      </p:sp>
      <p:sp>
        <p:nvSpPr>
          <p:cNvPr id="40" name="TextBox 39"/>
          <p:cNvSpPr txBox="1"/>
          <p:nvPr/>
        </p:nvSpPr>
        <p:spPr>
          <a:xfrm>
            <a:off x="62230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34.7%</a:t>
            </a:r>
          </a:p>
        </p:txBody>
      </p:sp>
      <p:sp>
        <p:nvSpPr>
          <p:cNvPr id="41" name="TextBox 40"/>
          <p:cNvSpPr txBox="1"/>
          <p:nvPr/>
        </p:nvSpPr>
        <p:spPr>
          <a:xfrm>
            <a:off x="80772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0.479</a:t>
            </a:r>
          </a:p>
        </p:txBody>
      </p:sp>
      <p:sp>
        <p:nvSpPr>
          <p:cNvPr id="42" name="TextBox 41"/>
          <p:cNvSpPr txBox="1"/>
          <p:nvPr/>
        </p:nvSpPr>
        <p:spPr>
          <a:xfrm>
            <a:off x="99314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3.5%</a:t>
            </a:r>
          </a:p>
        </p:txBody>
      </p:sp>
      <p:cxnSp>
        <p:nvCxnSpPr>
          <p:cNvPr id="43" name="Connector 42"/>
          <p:cNvCxnSpPr/>
          <p:nvPr/>
        </p:nvCxnSpPr>
        <p:spPr>
          <a:xfrm>
            <a:off x="533400" y="5308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MiniCPM has the best raw frame F1 here, while missing 65% of positive endpoints. Labels remain</a:t>
            </a:r>
          </a:p>
          <a:p>
            <a:pPr algn="l">
              <a:lnSpc>
                <a:spcPts val="1722"/>
              </a:lnSpc>
              <a:spcBef>
                <a:spcPts val="0"/>
              </a:spcBef>
              <a:spcAft>
                <a:spcPts val="0"/>
              </a:spcAft>
              <a:defRPr sz="1400" b="1">
                <a:solidFill>
                  <a:srgbClr val="C86535"/>
                </a:solidFill>
                <a:latin typeface="DejaVu Sans"/>
              </a:defRPr>
            </a:pPr>
            <a:r>
              <a:t>provisional.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ACTUAL TRAINING / SIX VISUAL FINE-TUNES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Both CLIP visual backbones were updated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Two encoders × seeds 42 / 43 / 44 • frozen early layers and text towers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Fine-tuning changed-tensor audit + training protocol</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12</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What learned</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MobileCLIP: 18.1M visual parameters</a:t>
            </a:r>
          </a:p>
          <a:p>
            <a:pPr algn="l">
              <a:lnSpc>
                <a:spcPts val="1968"/>
              </a:lnSpc>
              <a:spcBef>
                <a:spcPts val="0"/>
              </a:spcBef>
              <a:spcAft>
                <a:spcPts val="0"/>
              </a:spcAft>
              <a:defRPr sz="1600" b="0">
                <a:solidFill>
                  <a:srgbClr val="142C40"/>
                </a:solidFill>
                <a:latin typeface="DejaVu Sans"/>
              </a:defRPr>
            </a:pPr>
            <a:r>
              <a:t>SigLIP: 14.2M visual parameters</a:t>
            </a:r>
          </a:p>
          <a:p>
            <a:pPr algn="l">
              <a:lnSpc>
                <a:spcPts val="1968"/>
              </a:lnSpc>
              <a:spcBef>
                <a:spcPts val="0"/>
              </a:spcBef>
              <a:spcAft>
                <a:spcPts val="0"/>
              </a:spcAft>
              <a:defRPr sz="1600" b="0">
                <a:solidFill>
                  <a:srgbClr val="142C40"/>
                </a:solidFill>
                <a:latin typeface="DejaVu Sans"/>
              </a:defRPr>
            </a:pPr>
            <a:r>
              <a:t>Last vision stage + five binary heads</a:t>
            </a:r>
          </a:p>
          <a:p>
            <a:pPr algn="l">
              <a:lnSpc>
                <a:spcPts val="1968"/>
              </a:lnSpc>
              <a:spcBef>
                <a:spcPts val="0"/>
              </a:spcBef>
              <a:spcAft>
                <a:spcPts val="0"/>
              </a:spcAft>
              <a:defRPr sz="1600" b="0">
                <a:solidFill>
                  <a:srgbClr val="142C40"/>
                </a:solidFill>
                <a:latin typeface="DejaVu Sans"/>
              </a:defRPr>
            </a:pPr>
            <a:r>
              <a:t>Masked target losses and balancing</a:t>
            </a:r>
          </a:p>
          <a:p>
            <a:pPr algn="l">
              <a:lnSpc>
                <a:spcPts val="1968"/>
              </a:lnSpc>
              <a:spcBef>
                <a:spcPts val="0"/>
              </a:spcBef>
              <a:spcAft>
                <a:spcPts val="0"/>
              </a:spcAft>
              <a:defRPr sz="1600" b="0">
                <a:solidFill>
                  <a:srgbClr val="142C40"/>
                </a:solidFill>
                <a:latin typeface="DejaVu Sans"/>
              </a:defRPr>
            </a:pPr>
            <a:r>
              <a:t>Scene-preserving augmentation</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How overfitting was constrained</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Pretrained feature / weight penalties</a:t>
            </a:r>
          </a:p>
          <a:p>
            <a:pPr algn="l">
              <a:lnSpc>
                <a:spcPts val="1968"/>
              </a:lnSpc>
              <a:spcBef>
                <a:spcPts val="0"/>
              </a:spcBef>
              <a:spcAft>
                <a:spcPts val="0"/>
              </a:spcAft>
              <a:defRPr sz="1600" b="0">
                <a:solidFill>
                  <a:srgbClr val="142C40"/>
                </a:solidFill>
                <a:latin typeface="DejaVu Sans"/>
              </a:defRPr>
            </a:pPr>
            <a:r>
              <a:t>Frozen early layers and batch norms</a:t>
            </a:r>
          </a:p>
          <a:p>
            <a:pPr algn="l">
              <a:lnSpc>
                <a:spcPts val="1968"/>
              </a:lnSpc>
              <a:spcBef>
                <a:spcPts val="0"/>
              </a:spcBef>
              <a:spcAft>
                <a:spcPts val="0"/>
              </a:spcAft>
              <a:defRPr sz="1600" b="0">
                <a:solidFill>
                  <a:srgbClr val="142C40"/>
                </a:solidFill>
                <a:latin typeface="DejaVu Sans"/>
              </a:defRPr>
            </a:pPr>
            <a:r>
              <a:t>Probe and pretrained-score controls</a:t>
            </a:r>
          </a:p>
          <a:p>
            <a:pPr algn="l">
              <a:lnSpc>
                <a:spcPts val="1968"/>
              </a:lnSpc>
              <a:spcBef>
                <a:spcPts val="0"/>
              </a:spcBef>
              <a:spcAft>
                <a:spcPts val="0"/>
              </a:spcAft>
              <a:defRPr sz="1600" b="0">
                <a:solidFill>
                  <a:srgbClr val="142C40"/>
                </a:solidFill>
                <a:latin typeface="DejaVu Sans"/>
              </a:defRPr>
            </a:pPr>
            <a:r>
              <a:t>Development-selected routes / epochs</a:t>
            </a:r>
          </a:p>
          <a:p>
            <a:pPr algn="l">
              <a:lnSpc>
                <a:spcPts val="1968"/>
              </a:lnSpc>
              <a:spcBef>
                <a:spcPts val="0"/>
              </a:spcBef>
              <a:spcAft>
                <a:spcPts val="0"/>
              </a:spcAft>
              <a:defRPr sz="1600" b="0">
                <a:solidFill>
                  <a:srgbClr val="142C40"/>
                </a:solidFill>
                <a:latin typeface="DejaVu Sans"/>
              </a:defRPr>
            </a:pPr>
            <a:r>
              <a:t>Three-seed variation retained</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These six visual fine-tunes are distinct from later frozen-feature classifiers, GRUs and ensembles.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ACTUAL TRAINING / HELD-OUT RANKING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Fine-tuning helped some tasks and hurt others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Same-study pretrained score → development-selected primary route (AP)</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CLIP fine-tuning findings / seed 42</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632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a:t>
            </a:r>
          </a:p>
        </p:txBody>
      </p:sp>
      <p:sp>
        <p:nvSpPr>
          <p:cNvPr id="12" name="TextBox 11"/>
          <p:cNvSpPr txBox="1"/>
          <p:nvPr/>
        </p:nvSpPr>
        <p:spPr>
          <a:xfrm>
            <a:off x="4521200" y="2273300"/>
            <a:ext cx="167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Cases</a:t>
            </a:r>
          </a:p>
        </p:txBody>
      </p:sp>
      <p:sp>
        <p:nvSpPr>
          <p:cNvPr id="13" name="TextBox 12"/>
          <p:cNvSpPr txBox="1"/>
          <p:nvPr/>
        </p:nvSpPr>
        <p:spPr>
          <a:xfrm>
            <a:off x="64262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4" name="TextBox 13"/>
          <p:cNvSpPr txBox="1"/>
          <p:nvPr/>
        </p:nvSpPr>
        <p:spPr>
          <a:xfrm>
            <a:off x="91059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Smoking CCTV camera c1</a:t>
            </a:r>
          </a:p>
        </p:txBody>
      </p:sp>
      <p:sp>
        <p:nvSpPr>
          <p:cNvPr id="17" name="TextBox 16"/>
          <p:cNvSpPr txBox="1"/>
          <p:nvPr/>
        </p:nvSpPr>
        <p:spPr>
          <a:xfrm>
            <a:off x="4521200" y="27813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646</a:t>
            </a:r>
          </a:p>
        </p:txBody>
      </p:sp>
      <p:sp>
        <p:nvSpPr>
          <p:cNvPr id="18" name="TextBox 17"/>
          <p:cNvSpPr txBox="1"/>
          <p:nvPr/>
        </p:nvSpPr>
        <p:spPr>
          <a:xfrm>
            <a:off x="6426200" y="27813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.642 → .564</a:t>
            </a:r>
          </a:p>
        </p:txBody>
      </p:sp>
      <p:sp>
        <p:nvSpPr>
          <p:cNvPr id="19" name="TextBox 18"/>
          <p:cNvSpPr txBox="1"/>
          <p:nvPr/>
        </p:nvSpPr>
        <p:spPr>
          <a:xfrm>
            <a:off x="9105900" y="27813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.669 → .650</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Waste dumping clips</a:t>
            </a:r>
          </a:p>
        </p:txBody>
      </p:sp>
      <p:sp>
        <p:nvSpPr>
          <p:cNvPr id="23" name="TextBox 22"/>
          <p:cNvSpPr txBox="1"/>
          <p:nvPr/>
        </p:nvSpPr>
        <p:spPr>
          <a:xfrm>
            <a:off x="4521200" y="33274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100</a:t>
            </a:r>
          </a:p>
        </p:txBody>
      </p:sp>
      <p:sp>
        <p:nvSpPr>
          <p:cNvPr id="24" name="TextBox 23"/>
          <p:cNvSpPr txBox="1"/>
          <p:nvPr/>
        </p:nvSpPr>
        <p:spPr>
          <a:xfrm>
            <a:off x="6426200" y="33274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.424 → .858</a:t>
            </a:r>
          </a:p>
        </p:txBody>
      </p:sp>
      <p:sp>
        <p:nvSpPr>
          <p:cNvPr id="25" name="TextBox 24"/>
          <p:cNvSpPr txBox="1"/>
          <p:nvPr/>
        </p:nvSpPr>
        <p:spPr>
          <a:xfrm>
            <a:off x="9105900" y="33274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.499 → .885</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Loitering windows</a:t>
            </a:r>
          </a:p>
        </p:txBody>
      </p:sp>
      <p:sp>
        <p:nvSpPr>
          <p:cNvPr id="29" name="TextBox 28"/>
          <p:cNvSpPr txBox="1"/>
          <p:nvPr/>
        </p:nvSpPr>
        <p:spPr>
          <a:xfrm>
            <a:off x="4521200" y="38735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75 (11 +)</a:t>
            </a:r>
          </a:p>
        </p:txBody>
      </p:sp>
      <p:sp>
        <p:nvSpPr>
          <p:cNvPr id="30" name="TextBox 29"/>
          <p:cNvSpPr txBox="1"/>
          <p:nvPr/>
        </p:nvSpPr>
        <p:spPr>
          <a:xfrm>
            <a:off x="6426200" y="38735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.320 → .093</a:t>
            </a:r>
          </a:p>
        </p:txBody>
      </p:sp>
      <p:sp>
        <p:nvSpPr>
          <p:cNvPr id="31" name="TextBox 30"/>
          <p:cNvSpPr txBox="1"/>
          <p:nvPr/>
        </p:nvSpPr>
        <p:spPr>
          <a:xfrm>
            <a:off x="9105900" y="38735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.097 → .097</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Public-sleep photos</a:t>
            </a:r>
          </a:p>
        </p:txBody>
      </p:sp>
      <p:sp>
        <p:nvSpPr>
          <p:cNvPr id="35" name="TextBox 34"/>
          <p:cNvSpPr txBox="1"/>
          <p:nvPr/>
        </p:nvSpPr>
        <p:spPr>
          <a:xfrm>
            <a:off x="4521200" y="44196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18 (6 +)</a:t>
            </a:r>
          </a:p>
        </p:txBody>
      </p:sp>
      <p:sp>
        <p:nvSpPr>
          <p:cNvPr id="36" name="TextBox 35"/>
          <p:cNvSpPr txBox="1"/>
          <p:nvPr/>
        </p:nvSpPr>
        <p:spPr>
          <a:xfrm>
            <a:off x="6426200" y="44196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.502 → .976</a:t>
            </a:r>
          </a:p>
        </p:txBody>
      </p:sp>
      <p:sp>
        <p:nvSpPr>
          <p:cNvPr id="37" name="TextBox 36"/>
          <p:cNvSpPr txBox="1"/>
          <p:nvPr/>
        </p:nvSpPr>
        <p:spPr>
          <a:xfrm>
            <a:off x="9105900" y="44196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.733 → .915</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Unattended endpoints</a:t>
            </a:r>
          </a:p>
        </p:txBody>
      </p:sp>
      <p:sp>
        <p:nvSpPr>
          <p:cNvPr id="41" name="TextBox 40"/>
          <p:cNvSpPr txBox="1"/>
          <p:nvPr/>
        </p:nvSpPr>
        <p:spPr>
          <a:xfrm>
            <a:off x="4521200" y="49657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962</a:t>
            </a:r>
          </a:p>
        </p:txBody>
      </p:sp>
      <p:sp>
        <p:nvSpPr>
          <p:cNvPr id="42" name="TextBox 41"/>
          <p:cNvSpPr txBox="1"/>
          <p:nvPr/>
        </p:nvSpPr>
        <p:spPr>
          <a:xfrm>
            <a:off x="6426200" y="49657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.209 → .652</a:t>
            </a:r>
          </a:p>
        </p:txBody>
      </p:sp>
      <p:sp>
        <p:nvSpPr>
          <p:cNvPr id="43" name="TextBox 42"/>
          <p:cNvSpPr txBox="1"/>
          <p:nvPr/>
        </p:nvSpPr>
        <p:spPr>
          <a:xfrm>
            <a:off x="9105900" y="49657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.309 → .896</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Photo smoking improves strongly (.901 / .954 AP), but photo success did not transfer to CCTV.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STRATEGY EXPLORATION / 330 CONFIGURATIONS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next screen combined data, crops and</a:t>
            </a:r>
          </a:p>
          <a:p>
            <a:pPr algn="l">
              <a:lnSpc>
                <a:spcPts val="3690"/>
              </a:lnSpc>
              <a:spcBef>
                <a:spcPts val="0"/>
              </a:spcBef>
              <a:spcAft>
                <a:spcPts val="0"/>
              </a:spcAft>
              <a:defRPr sz="3000" b="1">
                <a:solidFill>
                  <a:srgbClr val="142C40"/>
                </a:solidFill>
                <a:latin typeface="DejaVu Sans"/>
              </a:defRPr>
            </a:pPr>
            <a:r>
              <a:t>adaptation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33 configurations per target / backbone • five objectives • two CLIP encoders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strategy_study_20261016 / frozen development selections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14</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Inputs and representations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Train: 3,258 → 3,973 examples</a:t>
            </a:r>
          </a:p>
          <a:p>
            <a:pPr algn="l">
              <a:lnSpc>
                <a:spcPts val="1968"/>
              </a:lnSpc>
              <a:spcBef>
                <a:spcPts val="0"/>
              </a:spcBef>
              <a:spcAft>
                <a:spcPts val="0"/>
              </a:spcAft>
              <a:defRPr sz="1600" b="0">
                <a:solidFill>
                  <a:srgbClr val="142C40"/>
                </a:solidFill>
                <a:latin typeface="DejaVu Sans"/>
              </a:defRPr>
            </a:pPr>
            <a:r>
              <a:t>Automatic contextual person/item crops</a:t>
            </a:r>
          </a:p>
          <a:p>
            <a:pPr algn="l">
              <a:lnSpc>
                <a:spcPts val="1968"/>
              </a:lnSpc>
              <a:spcBef>
                <a:spcPts val="0"/>
              </a:spcBef>
              <a:spcAft>
                <a:spcPts val="0"/>
              </a:spcAft>
              <a:defRPr sz="1600" b="0">
                <a:solidFill>
                  <a:srgbClr val="142C40"/>
                </a:solidFill>
                <a:latin typeface="DejaVu Sans"/>
              </a:defRPr>
            </a:pPr>
            <a:r>
              <a:t>Full / region visual representations</a:t>
            </a:r>
          </a:p>
          <a:p>
            <a:pPr algn="l">
              <a:lnSpc>
                <a:spcPts val="1968"/>
              </a:lnSpc>
              <a:spcBef>
                <a:spcPts val="0"/>
              </a:spcBef>
              <a:spcAft>
                <a:spcPts val="0"/>
              </a:spcAft>
              <a:defRPr sz="1600" b="0">
                <a:solidFill>
                  <a:srgbClr val="142C40"/>
                </a:solidFill>
                <a:latin typeface="DejaVu Sans"/>
              </a:defRPr>
            </a:pPr>
            <a:r>
              <a:t>Temporal pooling vs ordered views</a:t>
            </a:r>
          </a:p>
          <a:p>
            <a:pPr algn="l">
              <a:lnSpc>
                <a:spcPts val="1968"/>
              </a:lnSpc>
              <a:spcBef>
                <a:spcPts val="0"/>
              </a:spcBef>
              <a:spcAft>
                <a:spcPts val="0"/>
              </a:spcAft>
              <a:defRPr sz="1600" b="0">
                <a:solidFill>
                  <a:srgbClr val="142C40"/>
                </a:solidFill>
                <a:latin typeface="DejaVu Sans"/>
              </a:defRPr>
            </a:pPr>
            <a:r>
              <a:t>Sparse detection geometry</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Candidate routes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Linear and nonlinear classifiers</a:t>
            </a:r>
          </a:p>
          <a:p>
            <a:pPr algn="l">
              <a:lnSpc>
                <a:spcPts val="1968"/>
              </a:lnSpc>
              <a:spcBef>
                <a:spcPts val="0"/>
              </a:spcBef>
              <a:spcAft>
                <a:spcPts val="0"/>
              </a:spcAft>
              <a:defRPr sz="1600" b="0">
                <a:solidFill>
                  <a:srgbClr val="142C40"/>
                </a:solidFill>
                <a:latin typeface="DejaVu Sans"/>
              </a:defRPr>
            </a:pPr>
            <a:r>
              <a:t>Pretrained / adapted weight blends</a:t>
            </a:r>
          </a:p>
          <a:p>
            <a:pPr algn="l">
              <a:lnSpc>
                <a:spcPts val="1968"/>
              </a:lnSpc>
              <a:spcBef>
                <a:spcPts val="0"/>
              </a:spcBef>
              <a:spcAft>
                <a:spcPts val="0"/>
              </a:spcAft>
              <a:defRPr sz="1600" b="0">
                <a:solidFill>
                  <a:srgbClr val="142C40"/>
                </a:solidFill>
                <a:latin typeface="DejaVu Sans"/>
              </a:defRPr>
            </a:pPr>
            <a:r>
              <a:t>Alpha: 0, .25, .5 and 1</a:t>
            </a:r>
          </a:p>
          <a:p>
            <a:pPr algn="l">
              <a:lnSpc>
                <a:spcPts val="1968"/>
              </a:lnSpc>
              <a:spcBef>
                <a:spcPts val="0"/>
              </a:spcBef>
              <a:spcAft>
                <a:spcPts val="0"/>
              </a:spcAft>
              <a:defRPr sz="1600" b="0">
                <a:solidFill>
                  <a:srgbClr val="142C40"/>
                </a:solidFill>
                <a:latin typeface="DejaVu Sans"/>
              </a:defRPr>
            </a:pPr>
            <a:r>
              <a:t>Dev-source AP route selection</a:t>
            </a:r>
          </a:p>
          <a:p>
            <a:pPr algn="l">
              <a:lnSpc>
                <a:spcPts val="1968"/>
              </a:lnSpc>
              <a:spcBef>
                <a:spcPts val="0"/>
              </a:spcBef>
              <a:spcAft>
                <a:spcPts val="0"/>
              </a:spcAft>
              <a:defRPr sz="1600" b="0">
                <a:solidFill>
                  <a:srgbClr val="142C40"/>
                </a:solidFill>
                <a:latin typeface="DejaVu Sans"/>
              </a:defRPr>
            </a:pPr>
            <a:r>
              <a:t>Raw, dev-F1 and FPR-budget cutoffs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330 configurations include references and 320 classifier fits; they are not 330 separate backbone</a:t>
            </a:r>
          </a:p>
          <a:p>
            <a:pPr algn="l">
              <a:lnSpc>
                <a:spcPts val="1722"/>
              </a:lnSpc>
              <a:spcBef>
                <a:spcPts val="0"/>
              </a:spcBef>
              <a:spcAft>
                <a:spcPts val="0"/>
              </a:spcAft>
              <a:defRPr sz="1400" b="1">
                <a:solidFill>
                  <a:srgbClr val="007E80"/>
                </a:solidFill>
                <a:latin typeface="DejaVu Sans"/>
              </a:defRPr>
            </a:pPr>
            <a:r>
              <a:t>fine-tunes.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STRATEGY EXPLORATION / HISTORICAL SOURCE DIAGNOSTICS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Historical AP rose unevenly after the strategy</a:t>
            </a:r>
          </a:p>
          <a:p>
            <a:pPr algn="l">
              <a:lnSpc>
                <a:spcPts val="3690"/>
              </a:lnSpc>
              <a:spcBef>
                <a:spcPts val="0"/>
              </a:spcBef>
              <a:spcAft>
                <a:spcPts val="0"/>
              </a:spcAft>
              <a:defRPr sz="3000" b="1">
                <a:solidFill>
                  <a:srgbClr val="142C40"/>
                </a:solidFill>
                <a:latin typeface="DejaVu Sans"/>
              </a:defRPr>
            </a:pPr>
            <a:r>
              <a:t>screen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Previous selected bundle → new selected strategy • same previously inspected cases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Strategy findings / primary seed 42</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15</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070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2959100" y="2273300"/>
            <a:ext cx="2324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3" name="TextBox 12"/>
          <p:cNvSpPr txBox="1"/>
          <p:nvPr/>
        </p:nvSpPr>
        <p:spPr>
          <a:xfrm>
            <a:off x="5511800" y="2273300"/>
            <a:ext cx="2324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4" name="TextBox 13"/>
          <p:cNvSpPr txBox="1"/>
          <p:nvPr/>
        </p:nvSpPr>
        <p:spPr>
          <a:xfrm>
            <a:off x="8064500" y="2273300"/>
            <a:ext cx="3492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 limitation</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CCTV</a:t>
            </a:r>
          </a:p>
        </p:txBody>
      </p:sp>
      <p:sp>
        <p:nvSpPr>
          <p:cNvPr id="17" name="TextBox 16"/>
          <p:cNvSpPr txBox="1"/>
          <p:nvPr/>
        </p:nvSpPr>
        <p:spPr>
          <a:xfrm>
            <a:off x="2959100" y="27813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.564 → .690</a:t>
            </a:r>
          </a:p>
        </p:txBody>
      </p:sp>
      <p:sp>
        <p:nvSpPr>
          <p:cNvPr id="18" name="TextBox 17"/>
          <p:cNvSpPr txBox="1"/>
          <p:nvPr/>
        </p:nvSpPr>
        <p:spPr>
          <a:xfrm>
            <a:off x="5511800" y="27813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.650 → .722</a:t>
            </a:r>
          </a:p>
        </p:txBody>
      </p:sp>
      <p:sp>
        <p:nvSpPr>
          <p:cNvPr id="19" name="TextBox 18"/>
          <p:cNvSpPr txBox="1"/>
          <p:nvPr/>
        </p:nvSpPr>
        <p:spPr>
          <a:xfrm>
            <a:off x="8064500" y="27813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One held-out camera</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Waste dumping</a:t>
            </a:r>
          </a:p>
        </p:txBody>
      </p:sp>
      <p:sp>
        <p:nvSpPr>
          <p:cNvPr id="23" name="TextBox 22"/>
          <p:cNvSpPr txBox="1"/>
          <p:nvPr/>
        </p:nvSpPr>
        <p:spPr>
          <a:xfrm>
            <a:off x="2959100" y="33274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.858 → .806</a:t>
            </a:r>
          </a:p>
        </p:txBody>
      </p:sp>
      <p:sp>
        <p:nvSpPr>
          <p:cNvPr id="24" name="TextBox 23"/>
          <p:cNvSpPr txBox="1"/>
          <p:nvPr/>
        </p:nvSpPr>
        <p:spPr>
          <a:xfrm>
            <a:off x="5511800" y="33274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.885 → .893</a:t>
            </a:r>
          </a:p>
        </p:txBody>
      </p:sp>
      <p:sp>
        <p:nvSpPr>
          <p:cNvPr id="25" name="TextBox 24"/>
          <p:cNvSpPr txBox="1"/>
          <p:nvPr/>
        </p:nvSpPr>
        <p:spPr>
          <a:xfrm>
            <a:off x="8064500" y="33274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Full-clip action classification</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9" name="TextBox 28"/>
          <p:cNvSpPr txBox="1"/>
          <p:nvPr/>
        </p:nvSpPr>
        <p:spPr>
          <a:xfrm>
            <a:off x="2959100" y="38735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.093 → .489</a:t>
            </a:r>
          </a:p>
        </p:txBody>
      </p:sp>
      <p:sp>
        <p:nvSpPr>
          <p:cNvPr id="30" name="TextBox 29"/>
          <p:cNvSpPr txBox="1"/>
          <p:nvPr/>
        </p:nvSpPr>
        <p:spPr>
          <a:xfrm>
            <a:off x="5511800" y="38735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.097 → .550</a:t>
            </a:r>
          </a:p>
        </p:txBody>
      </p:sp>
      <p:sp>
        <p:nvSpPr>
          <p:cNvPr id="31" name="TextBox 30"/>
          <p:cNvSpPr txBox="1"/>
          <p:nvPr/>
        </p:nvSpPr>
        <p:spPr>
          <a:xfrm>
            <a:off x="8064500" y="38735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One Street Scene camera</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5" name="TextBox 34"/>
          <p:cNvSpPr txBox="1"/>
          <p:nvPr/>
        </p:nvSpPr>
        <p:spPr>
          <a:xfrm>
            <a:off x="2959100" y="44196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.976 → .931</a:t>
            </a:r>
          </a:p>
        </p:txBody>
      </p:sp>
      <p:sp>
        <p:nvSpPr>
          <p:cNvPr id="36" name="TextBox 35"/>
          <p:cNvSpPr txBox="1"/>
          <p:nvPr/>
        </p:nvSpPr>
        <p:spPr>
          <a:xfrm>
            <a:off x="5511800" y="44196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.915 → .883</a:t>
            </a:r>
          </a:p>
        </p:txBody>
      </p:sp>
      <p:sp>
        <p:nvSpPr>
          <p:cNvPr id="37" name="TextBox 36"/>
          <p:cNvSpPr txBox="1"/>
          <p:nvPr/>
        </p:nvSpPr>
        <p:spPr>
          <a:xfrm>
            <a:off x="8064500" y="44196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Small provisional photo set</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a:t>
            </a:r>
          </a:p>
        </p:txBody>
      </p:sp>
      <p:sp>
        <p:nvSpPr>
          <p:cNvPr id="41" name="TextBox 40"/>
          <p:cNvSpPr txBox="1"/>
          <p:nvPr/>
        </p:nvSpPr>
        <p:spPr>
          <a:xfrm>
            <a:off x="2959100" y="49657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.652 → .980</a:t>
            </a:r>
          </a:p>
        </p:txBody>
      </p:sp>
      <p:sp>
        <p:nvSpPr>
          <p:cNvPr id="42" name="TextBox 41"/>
          <p:cNvSpPr txBox="1"/>
          <p:nvPr/>
        </p:nvSpPr>
        <p:spPr>
          <a:xfrm>
            <a:off x="5511800" y="49657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.896 → .925</a:t>
            </a:r>
          </a:p>
        </p:txBody>
      </p:sp>
      <p:sp>
        <p:nvSpPr>
          <p:cNvPr id="43" name="TextBox 42"/>
          <p:cNvSpPr txBox="1"/>
          <p:nvPr/>
        </p:nvSpPr>
        <p:spPr>
          <a:xfrm>
            <a:off x="8064500" y="49657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Provisional overlapping endpoints</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MobileCLIP dumping and both public-sleep photo routes regress. Higher AP still does not solve alert</a:t>
            </a:r>
          </a:p>
          <a:p>
            <a:pPr algn="l">
              <a:lnSpc>
                <a:spcPts val="1722"/>
              </a:lnSpc>
              <a:spcBef>
                <a:spcPts val="0"/>
              </a:spcBef>
              <a:spcAft>
                <a:spcPts val="0"/>
              </a:spcAft>
              <a:defRPr sz="1400" b="1">
                <a:solidFill>
                  <a:srgbClr val="C86535"/>
                </a:solidFill>
                <a:latin typeface="DejaVu Sans"/>
              </a:defRPr>
            </a:pPr>
            <a:r>
              <a:t>thresholds.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 NEW-SOURCE TRANSFER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broader transfer tests exposed remaining</a:t>
            </a:r>
          </a:p>
          <a:p>
            <a:pPr algn="l">
              <a:lnSpc>
                <a:spcPts val="3690"/>
              </a:lnSpc>
              <a:spcBef>
                <a:spcPts val="0"/>
              </a:spcBef>
              <a:spcAft>
                <a:spcPts val="0"/>
              </a:spcAft>
              <a:defRPr sz="3000" b="1">
                <a:solidFill>
                  <a:srgbClr val="142C40"/>
                </a:solidFill>
                <a:latin typeface="DejaVu Sans"/>
              </a:defRPr>
            </a:pPr>
            <a:r>
              <a:t>failures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Previous bundle → selected strategy AP • before later HMDB adaptation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Strategy transfer report + source-screening artifacts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16</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14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Transfer evidence</a:t>
            </a:r>
          </a:p>
        </p:txBody>
      </p:sp>
      <p:sp>
        <p:nvSpPr>
          <p:cNvPr id="12" name="TextBox 11"/>
          <p:cNvSpPr txBox="1"/>
          <p:nvPr/>
        </p:nvSpPr>
        <p:spPr>
          <a:xfrm>
            <a:off x="5029200" y="2273300"/>
            <a:ext cx="116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Cases</a:t>
            </a:r>
          </a:p>
        </p:txBody>
      </p:sp>
      <p:sp>
        <p:nvSpPr>
          <p:cNvPr id="13" name="TextBox 12"/>
          <p:cNvSpPr txBox="1"/>
          <p:nvPr/>
        </p:nvSpPr>
        <p:spPr>
          <a:xfrm>
            <a:off x="64262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4" name="TextBox 13"/>
          <p:cNvSpPr txBox="1"/>
          <p:nvPr/>
        </p:nvSpPr>
        <p:spPr>
          <a:xfrm>
            <a:off x="91059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New smoking-photo holdout</a:t>
            </a:r>
          </a:p>
        </p:txBody>
      </p:sp>
      <p:sp>
        <p:nvSpPr>
          <p:cNvPr id="17" name="TextBox 16"/>
          <p:cNvSpPr txBox="1"/>
          <p:nvPr/>
        </p:nvSpPr>
        <p:spPr>
          <a:xfrm>
            <a:off x="5029200" y="2781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224</a:t>
            </a:r>
          </a:p>
        </p:txBody>
      </p:sp>
      <p:sp>
        <p:nvSpPr>
          <p:cNvPr id="18" name="TextBox 17"/>
          <p:cNvSpPr txBox="1"/>
          <p:nvPr/>
        </p:nvSpPr>
        <p:spPr>
          <a:xfrm>
            <a:off x="6426200" y="278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.953 → .997</a:t>
            </a:r>
          </a:p>
        </p:txBody>
      </p:sp>
      <p:sp>
        <p:nvSpPr>
          <p:cNvPr id="19" name="TextBox 18"/>
          <p:cNvSpPr txBox="1"/>
          <p:nvPr/>
        </p:nvSpPr>
        <p:spPr>
          <a:xfrm>
            <a:off x="9105900" y="278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.995 → 1.000</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HMDB movie/web action clips</a:t>
            </a:r>
          </a:p>
        </p:txBody>
      </p:sp>
      <p:sp>
        <p:nvSpPr>
          <p:cNvPr id="23" name="TextBox 22"/>
          <p:cNvSpPr txBox="1"/>
          <p:nvPr/>
        </p:nvSpPr>
        <p:spPr>
          <a:xfrm>
            <a:off x="5029200" y="3416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906</a:t>
            </a:r>
          </a:p>
        </p:txBody>
      </p:sp>
      <p:sp>
        <p:nvSpPr>
          <p:cNvPr id="24" name="TextBox 23"/>
          <p:cNvSpPr txBox="1"/>
          <p:nvPr/>
        </p:nvSpPr>
        <p:spPr>
          <a:xfrm>
            <a:off x="6426200" y="341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.605 → .576</a:t>
            </a:r>
          </a:p>
        </p:txBody>
      </p:sp>
      <p:sp>
        <p:nvSpPr>
          <p:cNvPr id="25" name="TextBox 24"/>
          <p:cNvSpPr txBox="1"/>
          <p:nvPr/>
        </p:nvSpPr>
        <p:spPr>
          <a:xfrm>
            <a:off x="9105900" y="341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.685 → .664</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New-author public-sleep photos</a:t>
            </a:r>
          </a:p>
        </p:txBody>
      </p:sp>
      <p:sp>
        <p:nvSpPr>
          <p:cNvPr id="29" name="TextBox 28"/>
          <p:cNvSpPr txBox="1"/>
          <p:nvPr/>
        </p:nvSpPr>
        <p:spPr>
          <a:xfrm>
            <a:off x="5029200" y="4051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28</a:t>
            </a:r>
          </a:p>
        </p:txBody>
      </p:sp>
      <p:sp>
        <p:nvSpPr>
          <p:cNvPr id="30" name="TextBox 29"/>
          <p:cNvSpPr txBox="1"/>
          <p:nvPr/>
        </p:nvSpPr>
        <p:spPr>
          <a:xfrm>
            <a:off x="6426200" y="405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.925 → .952</a:t>
            </a:r>
          </a:p>
        </p:txBody>
      </p:sp>
      <p:sp>
        <p:nvSpPr>
          <p:cNvPr id="31" name="TextBox 30"/>
          <p:cNvSpPr txBox="1"/>
          <p:nvPr/>
        </p:nvSpPr>
        <p:spPr>
          <a:xfrm>
            <a:off x="9105900" y="405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.943 → .933</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MEVA abandonment-action proxy</a:t>
            </a:r>
          </a:p>
        </p:txBody>
      </p:sp>
      <p:sp>
        <p:nvSpPr>
          <p:cNvPr id="35" name="TextBox 34"/>
          <p:cNvSpPr txBox="1"/>
          <p:nvPr/>
        </p:nvSpPr>
        <p:spPr>
          <a:xfrm>
            <a:off x="5029200" y="4686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27</a:t>
            </a:r>
          </a:p>
        </p:txBody>
      </p:sp>
      <p:sp>
        <p:nvSpPr>
          <p:cNvPr id="36" name="TextBox 35"/>
          <p:cNvSpPr txBox="1"/>
          <p:nvPr/>
        </p:nvSpPr>
        <p:spPr>
          <a:xfrm>
            <a:off x="6426200" y="468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.569 → .545</a:t>
            </a:r>
          </a:p>
        </p:txBody>
      </p:sp>
      <p:sp>
        <p:nvSpPr>
          <p:cNvPr id="37" name="TextBox 36"/>
          <p:cNvSpPr txBox="1"/>
          <p:nvPr/>
        </p:nvSpPr>
        <p:spPr>
          <a:xfrm>
            <a:off x="9105900" y="468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.637 → .621</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Photo-domain gains coexist with movie/web and MEVA regressions. These sources are not</a:t>
            </a:r>
          </a:p>
          <a:p>
            <a:pPr algn="l">
              <a:lnSpc>
                <a:spcPts val="1722"/>
              </a:lnSpc>
              <a:spcBef>
                <a:spcPts val="0"/>
              </a:spcBef>
              <a:spcAft>
                <a:spcPts val="0"/>
              </a:spcAft>
              <a:defRPr sz="1400" b="1">
                <a:solidFill>
                  <a:srgbClr val="C86535"/>
                </a:solidFill>
                <a:latin typeface="DejaVu Sans"/>
              </a:defRPr>
            </a:pPr>
            <a:r>
              <a:t>interchangeable.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ALL FIVE OBJECTIVES / TEMPORAL EVIDENCE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Loitering and public sleep remain data-limited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Their useful component results do not yet validate robust event detection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Thermal trajectory benchmark + public-sleep source audit</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17</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Loitering component</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17,878 eligible supplied trajectories</a:t>
            </a:r>
          </a:p>
          <a:p>
            <a:pPr algn="l">
              <a:lnSpc>
                <a:spcPts val="1968"/>
              </a:lnSpc>
              <a:spcBef>
                <a:spcPts val="0"/>
              </a:spcBef>
              <a:spcAft>
                <a:spcPts val="0"/>
              </a:spcAft>
              <a:defRPr sz="1600" b="0">
                <a:solidFill>
                  <a:srgbClr val="142C40"/>
                </a:solidFill>
                <a:latin typeface="DejaVu Sans"/>
              </a:defRPr>
            </a:pPr>
            <a:r>
              <a:t>Chronological 19 / 6 / 6-date split</a:t>
            </a:r>
          </a:p>
          <a:p>
            <a:pPr algn="l">
              <a:lnSpc>
                <a:spcPts val="1968"/>
              </a:lnSpc>
              <a:spcBef>
                <a:spcPts val="0"/>
              </a:spcBef>
              <a:spcAft>
                <a:spcPts val="0"/>
              </a:spcAft>
              <a:defRPr sz="1600" b="0">
                <a:solidFill>
                  <a:srgbClr val="142C40"/>
                </a:solidFill>
                <a:latin typeface="DejaVu Sans"/>
              </a:defRPr>
            </a:pPr>
            <a:r>
              <a:t>Forest test AP .577 vs duration .283</a:t>
            </a:r>
          </a:p>
          <a:p>
            <a:pPr algn="l">
              <a:lnSpc>
                <a:spcPts val="1968"/>
              </a:lnSpc>
              <a:spcBef>
                <a:spcPts val="0"/>
              </a:spcBef>
              <a:spcAft>
                <a:spcPts val="0"/>
              </a:spcAft>
              <a:defRPr sz="1600" b="0">
                <a:solidFill>
                  <a:srgbClr val="142C40"/>
                </a:solidFill>
                <a:latin typeface="DejaVu Sans"/>
              </a:defRPr>
            </a:pPr>
            <a:r>
              <a:t>Development AP .863</a:t>
            </a:r>
          </a:p>
          <a:p>
            <a:pPr algn="l">
              <a:lnSpc>
                <a:spcPts val="1968"/>
              </a:lnSpc>
              <a:spcBef>
                <a:spcPts val="0"/>
              </a:spcBef>
              <a:spcAft>
                <a:spcPts val="0"/>
              </a:spcAft>
              <a:defRPr sz="1600" b="0">
                <a:solidFill>
                  <a:srgbClr val="142C40"/>
                </a:solidFill>
                <a:latin typeface="DejaVu Sans"/>
              </a:defRPr>
            </a:pPr>
            <a:r>
              <a:t>One thermal camera; no RGB tracking</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Public-sleep component</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28 new-author photo cases</a:t>
            </a:r>
          </a:p>
          <a:p>
            <a:pPr algn="l">
              <a:lnSpc>
                <a:spcPts val="1968"/>
              </a:lnSpc>
              <a:spcBef>
                <a:spcPts val="0"/>
              </a:spcBef>
              <a:spcAft>
                <a:spcPts val="0"/>
              </a:spcAft>
              <a:defRPr sz="1600" b="0">
                <a:solidFill>
                  <a:srgbClr val="142C40"/>
                </a:solidFill>
                <a:latin typeface="DejaVu Sans"/>
              </a:defRPr>
            </a:pPr>
            <a:r>
              <a:t>MobileCLIP AP .952; SigLIP .933</a:t>
            </a:r>
          </a:p>
          <a:p>
            <a:pPr algn="l">
              <a:lnSpc>
                <a:spcPts val="1968"/>
              </a:lnSpc>
              <a:spcBef>
                <a:spcPts val="0"/>
              </a:spcBef>
              <a:spcAft>
                <a:spcPts val="0"/>
              </a:spcAft>
              <a:defRPr sz="1600" b="0">
                <a:solidFill>
                  <a:srgbClr val="142C40"/>
                </a:solidFill>
                <a:latin typeface="DejaVu Sans"/>
              </a:defRPr>
            </a:pPr>
            <a:r>
              <a:t>Provisional visible-sleep labels</a:t>
            </a:r>
          </a:p>
          <a:p>
            <a:pPr algn="l">
              <a:lnSpc>
                <a:spcPts val="1968"/>
              </a:lnSpc>
              <a:spcBef>
                <a:spcPts val="0"/>
              </a:spcBef>
              <a:spcAft>
                <a:spcPts val="0"/>
              </a:spcAft>
              <a:defRPr sz="1600" b="0">
                <a:solidFill>
                  <a:srgbClr val="142C40"/>
                </a:solidFill>
                <a:latin typeface="DejaVu Sans"/>
              </a:defRPr>
            </a:pPr>
            <a:r>
              <a:t>No confirmed persistence / duration</a:t>
            </a:r>
          </a:p>
          <a:p>
            <a:pPr algn="l">
              <a:lnSpc>
                <a:spcPts val="1968"/>
              </a:lnSpc>
              <a:spcBef>
                <a:spcPts val="0"/>
              </a:spcBef>
              <a:spcAft>
                <a:spcPts val="0"/>
              </a:spcAft>
              <a:defRPr sz="1600" b="0">
                <a:solidFill>
                  <a:srgbClr val="142C40"/>
                </a:solidFill>
                <a:latin typeface="DejaVu Sans"/>
              </a:defRPr>
            </a:pPr>
            <a:r>
              <a:t>Rest, lying and bedding need controls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next model must see the evidence the target requires: complete tracks or persistent state, with</a:t>
            </a:r>
          </a:p>
          <a:p>
            <a:pPr algn="l">
              <a:lnSpc>
                <a:spcPts val="1722"/>
              </a:lnSpc>
              <a:spcBef>
                <a:spcPts val="0"/>
              </a:spcBef>
              <a:spcAft>
                <a:spcPts val="0"/>
              </a:spcAft>
              <a:defRPr sz="1400" b="1">
                <a:solidFill>
                  <a:srgbClr val="C86535"/>
                </a:solidFill>
                <a:latin typeface="DejaVu Sans"/>
              </a:defRPr>
            </a:pPr>
            <a:r>
              <a:t>matched negatives.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ERROR AUDIT</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Small people and missing items were concrete</a:t>
            </a:r>
          </a:p>
          <a:p>
            <a:pPr algn="l">
              <a:lnSpc>
                <a:spcPts val="3690"/>
              </a:lnSpc>
              <a:spcBef>
                <a:spcPts val="0"/>
              </a:spcBef>
              <a:spcAft>
                <a:spcPts val="0"/>
              </a:spcAft>
              <a:defRPr sz="3000" b="1">
                <a:solidFill>
                  <a:srgbClr val="142C40"/>
                </a:solidFill>
                <a:latin typeface="DejaVu Sans"/>
              </a:defRPr>
            </a:pPr>
            <a:r>
              <a:t>bottlenecks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117 deliberately selected errors were provisionally reviewed across the five targets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Pilot crop-coverage and CAVIAR component audits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18</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Smoking spatial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Median smoker height: 11.2 px at 224</a:t>
            </a:r>
          </a:p>
          <a:p>
            <a:pPr algn="l">
              <a:lnSpc>
                <a:spcPts val="1968"/>
              </a:lnSpc>
              <a:spcBef>
                <a:spcPts val="0"/>
              </a:spcBef>
              <a:spcAft>
                <a:spcPts val="0"/>
              </a:spcAft>
              <a:defRPr sz="1600" b="0">
                <a:solidFill>
                  <a:srgbClr val="142C40"/>
                </a:solidFill>
                <a:latin typeface="DejaVu Sans"/>
              </a:defRPr>
            </a:pPr>
            <a:r>
              <a:t>71.8% of positive frames below 12 px</a:t>
            </a:r>
          </a:p>
          <a:p>
            <a:pPr algn="l">
              <a:lnSpc>
                <a:spcPts val="1968"/>
              </a:lnSpc>
              <a:spcBef>
                <a:spcPts val="0"/>
              </a:spcBef>
              <a:spcAft>
                <a:spcPts val="0"/>
              </a:spcAft>
              <a:defRPr sz="1600" b="0">
                <a:solidFill>
                  <a:srgbClr val="142C40"/>
                </a:solidFill>
                <a:latin typeface="DejaVu Sans"/>
              </a:defRPr>
            </a:pPr>
            <a:r>
              <a:t>Old crop misses half every target: 40.2%</a:t>
            </a:r>
          </a:p>
          <a:p>
            <a:pPr algn="l">
              <a:lnSpc>
                <a:spcPts val="1968"/>
              </a:lnSpc>
              <a:spcBef>
                <a:spcPts val="0"/>
              </a:spcBef>
              <a:spcAft>
                <a:spcPts val="0"/>
              </a:spcAft>
              <a:defRPr sz="1600" b="0">
                <a:solidFill>
                  <a:srgbClr val="142C40"/>
                </a:solidFill>
                <a:latin typeface="DejaVu Sans"/>
              </a:defRPr>
            </a:pPr>
            <a:r>
              <a:t>Multi-person / upper crops: 0.3%</a:t>
            </a:r>
          </a:p>
          <a:p>
            <a:pPr algn="l">
              <a:lnSpc>
                <a:spcPts val="1968"/>
              </a:lnSpc>
              <a:spcBef>
                <a:spcPts val="0"/>
              </a:spcBef>
              <a:spcAft>
                <a:spcPts val="0"/>
              </a:spcAft>
              <a:defRPr sz="1600" b="0">
                <a:solidFill>
                  <a:srgbClr val="142C40"/>
                </a:solidFill>
                <a:latin typeface="DejaVu Sans"/>
              </a:defRPr>
            </a:pPr>
            <a:r>
              <a:t>Coverage is separate from recognition</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Item and ownership evidence</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CAVIAR item recall at IoU .5:</a:t>
            </a:r>
          </a:p>
          <a:p>
            <a:pPr algn="l">
              <a:lnSpc>
                <a:spcPts val="1968"/>
              </a:lnSpc>
              <a:spcBef>
                <a:spcPts val="0"/>
              </a:spcBef>
              <a:spcAft>
                <a:spcPts val="0"/>
              </a:spcAft>
              <a:defRPr sz="1600" b="0">
                <a:solidFill>
                  <a:srgbClr val="142C40"/>
                </a:solidFill>
                <a:latin typeface="DejaVu Sans"/>
              </a:defRPr>
            </a:pPr>
            <a:r>
              <a:t>Faster R-CNN tracks: 0 / 136</a:t>
            </a:r>
          </a:p>
          <a:p>
            <a:pPr algn="l">
              <a:lnSpc>
                <a:spcPts val="1968"/>
              </a:lnSpc>
              <a:spcBef>
                <a:spcPts val="0"/>
              </a:spcBef>
              <a:spcAft>
                <a:spcPts val="0"/>
              </a:spcAft>
              <a:defRPr sz="1600" b="0">
                <a:solidFill>
                  <a:srgbClr val="142C40"/>
                </a:solidFill>
                <a:latin typeface="DejaVu Sans"/>
              </a:defRPr>
            </a:pPr>
            <a:r>
              <a:t>Grounding DINO tracks: 66 / 136</a:t>
            </a:r>
          </a:p>
          <a:p>
            <a:pPr algn="l">
              <a:lnSpc>
                <a:spcPts val="1968"/>
              </a:lnSpc>
              <a:spcBef>
                <a:spcPts val="0"/>
              </a:spcBef>
              <a:spcAft>
                <a:spcPts val="0"/>
              </a:spcAft>
              <a:defRPr sz="1600" b="0">
                <a:solidFill>
                  <a:srgbClr val="142C40"/>
                </a:solidFill>
                <a:latin typeface="DejaVu Sans"/>
              </a:defRPr>
            </a:pPr>
            <a:r>
              <a:t>Proximity can confuse passers-by</a:t>
            </a:r>
          </a:p>
          <a:p>
            <a:pPr algn="l">
              <a:lnSpc>
                <a:spcPts val="1968"/>
              </a:lnSpc>
              <a:spcBef>
                <a:spcPts val="0"/>
              </a:spcBef>
              <a:spcAft>
                <a:spcPts val="0"/>
              </a:spcAft>
              <a:defRPr sz="1600" b="0">
                <a:solidFill>
                  <a:srgbClr val="142C40"/>
                </a:solidFill>
                <a:latin typeface="DejaVu Sans"/>
              </a:defRPr>
            </a:pPr>
            <a:r>
              <a:t>Jitter can reset stationarity</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Error-board findings are triage, not an independently reviewed estimate of failure causes.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CAUSAL ARCHITECTURE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Separate appearance from tracked event state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Automatic proposals → frozen CLIP features → causal heads → explicit alerts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video.py + temporal.py + training / inference scripts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19</a:t>
            </a:r>
          </a:p>
        </p:txBody>
      </p:sp>
      <p:sp>
        <p:nvSpPr>
          <p:cNvPr id="10" name="Rectangle 9"/>
          <p:cNvSpPr/>
          <p:nvPr/>
        </p:nvSpPr>
        <p:spPr>
          <a:xfrm>
            <a:off x="533400" y="2311400"/>
            <a:ext cx="3556000" cy="2844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311400"/>
            <a:ext cx="50800" cy="2844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4892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1. Detect</a:t>
            </a:r>
          </a:p>
        </p:txBody>
      </p:sp>
      <p:sp>
        <p:nvSpPr>
          <p:cNvPr id="13" name="TextBox 12"/>
          <p:cNvSpPr txBox="1"/>
          <p:nvPr/>
        </p:nvSpPr>
        <p:spPr>
          <a:xfrm>
            <a:off x="762000" y="3200400"/>
            <a:ext cx="3124200" cy="18288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Full scene + up to four persons</a:t>
            </a:r>
          </a:p>
          <a:p>
            <a:pPr algn="l">
              <a:lnSpc>
                <a:spcPts val="1845"/>
              </a:lnSpc>
              <a:spcBef>
                <a:spcPts val="0"/>
              </a:spcBef>
              <a:spcAft>
                <a:spcPts val="0"/>
              </a:spcAft>
              <a:defRPr sz="1500" b="0">
                <a:solidFill>
                  <a:srgbClr val="142C40"/>
                </a:solidFill>
                <a:latin typeface="DejaVu Sans"/>
              </a:defRPr>
            </a:pPr>
            <a:r>
              <a:t>Whole / upper-body crops</a:t>
            </a:r>
          </a:p>
          <a:p>
            <a:pPr algn="l">
              <a:lnSpc>
                <a:spcPts val="1845"/>
              </a:lnSpc>
              <a:spcBef>
                <a:spcPts val="0"/>
              </a:spcBef>
              <a:spcAft>
                <a:spcPts val="0"/>
              </a:spcAft>
              <a:defRPr sz="1500" b="0">
                <a:solidFill>
                  <a:srgbClr val="142C40"/>
                </a:solidFill>
                <a:latin typeface="DejaVu Sans"/>
              </a:defRPr>
            </a:pPr>
            <a:r>
              <a:t>Two item / owner contexts</a:t>
            </a:r>
          </a:p>
        </p:txBody>
      </p:sp>
      <p:sp>
        <p:nvSpPr>
          <p:cNvPr id="14" name="Rectangle 13"/>
          <p:cNvSpPr/>
          <p:nvPr/>
        </p:nvSpPr>
        <p:spPr>
          <a:xfrm>
            <a:off x="4318000" y="2311400"/>
            <a:ext cx="3556000" cy="2844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311400"/>
            <a:ext cx="50800" cy="2844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4892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2. Represent</a:t>
            </a:r>
          </a:p>
        </p:txBody>
      </p:sp>
      <p:sp>
        <p:nvSpPr>
          <p:cNvPr id="17" name="TextBox 16"/>
          <p:cNvSpPr txBox="1"/>
          <p:nvPr/>
        </p:nvSpPr>
        <p:spPr>
          <a:xfrm>
            <a:off x="4546600" y="3200400"/>
            <a:ext cx="3124200" cy="18288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Frozen CLIP visual features</a:t>
            </a:r>
          </a:p>
          <a:p>
            <a:pPr algn="l">
              <a:lnSpc>
                <a:spcPts val="1845"/>
              </a:lnSpc>
              <a:spcBef>
                <a:spcPts val="0"/>
              </a:spcBef>
              <a:spcAft>
                <a:spcPts val="0"/>
              </a:spcAft>
              <a:defRPr sz="1500" b="0">
                <a:solidFill>
                  <a:srgbClr val="142C40"/>
                </a:solidFill>
                <a:latin typeface="DejaVu Sans"/>
              </a:defRPr>
            </a:pPr>
            <a:r>
              <a:t>Causal geometry and</a:t>
            </a:r>
          </a:p>
          <a:p>
            <a:pPr algn="l">
              <a:lnSpc>
                <a:spcPts val="1845"/>
              </a:lnSpc>
              <a:spcBef>
                <a:spcPts val="0"/>
              </a:spcBef>
              <a:spcAft>
                <a:spcPts val="0"/>
              </a:spcAft>
              <a:defRPr sz="1500" b="0">
                <a:solidFill>
                  <a:srgbClr val="142C40"/>
                </a:solidFill>
                <a:latin typeface="DejaVu Sans"/>
              </a:defRPr>
            </a:pPr>
            <a:r>
              <a:t>timestamps</a:t>
            </a:r>
          </a:p>
          <a:p>
            <a:pPr algn="l">
              <a:lnSpc>
                <a:spcPts val="1845"/>
              </a:lnSpc>
              <a:spcBef>
                <a:spcPts val="0"/>
              </a:spcBef>
              <a:spcAft>
                <a:spcPts val="0"/>
              </a:spcAft>
              <a:defRPr sz="1500" b="0">
                <a:solidFill>
                  <a:srgbClr val="142C40"/>
                </a:solidFill>
                <a:latin typeface="DejaVu Sans"/>
              </a:defRPr>
            </a:pPr>
            <a:r>
              <a:t>Linear / GRU / instance heads</a:t>
            </a:r>
          </a:p>
        </p:txBody>
      </p:sp>
      <p:sp>
        <p:nvSpPr>
          <p:cNvPr id="18" name="Rectangle 17"/>
          <p:cNvSpPr/>
          <p:nvPr/>
        </p:nvSpPr>
        <p:spPr>
          <a:xfrm>
            <a:off x="8102600" y="2311400"/>
            <a:ext cx="3556000" cy="2844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311400"/>
            <a:ext cx="50800" cy="2844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4892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3. Decide</a:t>
            </a:r>
          </a:p>
        </p:txBody>
      </p:sp>
      <p:sp>
        <p:nvSpPr>
          <p:cNvPr id="21" name="TextBox 20"/>
          <p:cNvSpPr txBox="1"/>
          <p:nvPr/>
        </p:nvSpPr>
        <p:spPr>
          <a:xfrm>
            <a:off x="8331200" y="3200400"/>
            <a:ext cx="3124200" cy="18288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Past-only scores / same-item</a:t>
            </a:r>
          </a:p>
          <a:p>
            <a:pPr algn="l">
              <a:lnSpc>
                <a:spcPts val="1845"/>
              </a:lnSpc>
              <a:spcBef>
                <a:spcPts val="0"/>
              </a:spcBef>
              <a:spcAft>
                <a:spcPts val="0"/>
              </a:spcAft>
              <a:defRPr sz="1500" b="0">
                <a:solidFill>
                  <a:srgbClr val="142C40"/>
                </a:solidFill>
                <a:latin typeface="DejaVu Sans"/>
              </a:defRPr>
            </a:pPr>
            <a:r>
              <a:t>state</a:t>
            </a:r>
          </a:p>
          <a:p>
            <a:pPr algn="l">
              <a:lnSpc>
                <a:spcPts val="1845"/>
              </a:lnSpc>
              <a:spcBef>
                <a:spcPts val="0"/>
              </a:spcBef>
              <a:spcAft>
                <a:spcPts val="0"/>
              </a:spcAft>
              <a:defRPr sz="1500" b="0">
                <a:solidFill>
                  <a:srgbClr val="142C40"/>
                </a:solidFill>
                <a:latin typeface="DejaVu Sans"/>
              </a:defRPr>
            </a:pPr>
            <a:r>
              <a:t>Persistence and alert emission</a:t>
            </a:r>
          </a:p>
          <a:p>
            <a:pPr algn="l">
              <a:lnSpc>
                <a:spcPts val="1845"/>
              </a:lnSpc>
              <a:spcBef>
                <a:spcPts val="0"/>
              </a:spcBef>
              <a:spcAft>
                <a:spcPts val="0"/>
              </a:spcAft>
              <a:defRPr sz="1500" b="0">
                <a:solidFill>
                  <a:srgbClr val="142C40"/>
                </a:solidFill>
                <a:latin typeface="DejaVu Sans"/>
              </a:defRPr>
            </a:pPr>
            <a:r>
              <a:t>Event / normal / unknown</a:t>
            </a:r>
          </a:p>
          <a:p>
            <a:pPr algn="l">
              <a:lnSpc>
                <a:spcPts val="1845"/>
              </a:lnSpc>
              <a:spcBef>
                <a:spcPts val="0"/>
              </a:spcBef>
              <a:spcAft>
                <a:spcPts val="0"/>
              </a:spcAft>
              <a:defRPr sz="1500" b="0">
                <a:solidFill>
                  <a:srgbClr val="142C40"/>
                </a:solidFill>
                <a:latin typeface="DejaVu Sans"/>
              </a:defRPr>
            </a:pPr>
            <a:r>
              <a:t>counts</a:t>
            </a:r>
          </a:p>
        </p:txBody>
      </p:sp>
      <p:sp>
        <p:nvSpPr>
          <p:cNvPr id="22" name="Rectangle 21"/>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No annotation boxes choose inference crops. Missing owner history never becomes an invented</a:t>
            </a:r>
          </a:p>
          <a:p>
            <a:pPr algn="l">
              <a:lnSpc>
                <a:spcPts val="1722"/>
              </a:lnSpc>
              <a:spcBef>
                <a:spcPts val="0"/>
              </a:spcBef>
              <a:spcAft>
                <a:spcPts val="0"/>
              </a:spcAft>
              <a:defRPr sz="1400" b="1">
                <a:solidFill>
                  <a:srgbClr val="007E80"/>
                </a:solidFill>
                <a:latin typeface="DejaVu Sans"/>
              </a:defRPr>
            </a:pPr>
            <a:r>
              <a:t>ownership relation.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CONTROLLED LEARNING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Fifty heads tested region, sequence and person</a:t>
            </a:r>
          </a:p>
          <a:p>
            <a:pPr algn="l">
              <a:lnSpc>
                <a:spcPts val="3690"/>
              </a:lnSpc>
              <a:spcBef>
                <a:spcPts val="0"/>
              </a:spcBef>
              <a:spcAft>
                <a:spcPts val="0"/>
              </a:spcAft>
              <a:defRPr sz="3000" b="1">
                <a:solidFill>
                  <a:srgbClr val="142C40"/>
                </a:solidFill>
                <a:latin typeface="DejaVu Sans"/>
              </a:defRPr>
            </a:pPr>
            <a:r>
              <a:t>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8,931 modeling examples after the known-film source guard</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Final joint_selection.json + saved training histories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20</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Smoking: 14 heads / encoder</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Scene and region linear baselines</a:t>
            </a:r>
          </a:p>
          <a:p>
            <a:pPr algn="l">
              <a:lnSpc>
                <a:spcPts val="1968"/>
              </a:lnSpc>
              <a:spcBef>
                <a:spcPts val="0"/>
              </a:spcBef>
              <a:spcAft>
                <a:spcPts val="0"/>
              </a:spcAft>
              <a:defRPr sz="1600" b="0">
                <a:solidFill>
                  <a:srgbClr val="142C40"/>
                </a:solidFill>
                <a:latin typeface="DejaVu Sans"/>
              </a:defRPr>
            </a:pPr>
            <a:r>
              <a:t>Region GRU, three seeds</a:t>
            </a:r>
          </a:p>
          <a:p>
            <a:pPr algn="l">
              <a:lnSpc>
                <a:spcPts val="1968"/>
              </a:lnSpc>
              <a:spcBef>
                <a:spcPts val="0"/>
              </a:spcBef>
              <a:spcAft>
                <a:spcPts val="0"/>
              </a:spcAft>
              <a:defRPr sz="1600" b="0">
                <a:solidFill>
                  <a:srgbClr val="142C40"/>
                </a:solidFill>
                <a:latin typeface="DejaVu Sans"/>
              </a:defRPr>
            </a:pPr>
            <a:r>
              <a:t>Region + geometry GRU, three seeds</a:t>
            </a:r>
          </a:p>
          <a:p>
            <a:pPr algn="l">
              <a:lnSpc>
                <a:spcPts val="1968"/>
              </a:lnSpc>
              <a:spcBef>
                <a:spcPts val="0"/>
              </a:spcBef>
              <a:spcAft>
                <a:spcPts val="0"/>
              </a:spcAft>
              <a:defRPr sz="1600" b="0">
                <a:solidFill>
                  <a:srgbClr val="142C40"/>
                </a:solidFill>
                <a:latin typeface="DejaVu Sans"/>
              </a:defRPr>
            </a:pPr>
            <a:r>
              <a:t>Person-supervised MIL, three seeds</a:t>
            </a:r>
          </a:p>
          <a:p>
            <a:pPr algn="l">
              <a:lnSpc>
                <a:spcPts val="1968"/>
              </a:lnSpc>
              <a:spcBef>
                <a:spcPts val="0"/>
              </a:spcBef>
              <a:spcAft>
                <a:spcPts val="0"/>
              </a:spcAft>
              <a:defRPr sz="1600" b="0">
                <a:solidFill>
                  <a:srgbClr val="142C40"/>
                </a:solidFill>
                <a:latin typeface="DejaVu Sans"/>
              </a:defRPr>
            </a:pPr>
            <a:r>
              <a:t>Hard-negative variant, three seeds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Unattended: 11 heads / encoder</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Scene and region linear baselines</a:t>
            </a:r>
          </a:p>
          <a:p>
            <a:pPr algn="l">
              <a:lnSpc>
                <a:spcPts val="1968"/>
              </a:lnSpc>
              <a:spcBef>
                <a:spcPts val="0"/>
              </a:spcBef>
              <a:spcAft>
                <a:spcPts val="0"/>
              </a:spcAft>
              <a:defRPr sz="1600" b="0">
                <a:solidFill>
                  <a:srgbClr val="142C40"/>
                </a:solidFill>
                <a:latin typeface="DejaVu Sans"/>
              </a:defRPr>
            </a:pPr>
            <a:r>
              <a:t>Region GRU, three seeds</a:t>
            </a:r>
          </a:p>
          <a:p>
            <a:pPr algn="l">
              <a:lnSpc>
                <a:spcPts val="1968"/>
              </a:lnSpc>
              <a:spcBef>
                <a:spcPts val="0"/>
              </a:spcBef>
              <a:spcAft>
                <a:spcPts val="0"/>
              </a:spcAft>
              <a:defRPr sz="1600" b="0">
                <a:solidFill>
                  <a:srgbClr val="142C40"/>
                </a:solidFill>
                <a:latin typeface="DejaVu Sans"/>
              </a:defRPr>
            </a:pPr>
            <a:r>
              <a:t>COCO-geometry GRU, three seeds</a:t>
            </a:r>
          </a:p>
          <a:p>
            <a:pPr algn="l">
              <a:lnSpc>
                <a:spcPts val="1968"/>
              </a:lnSpc>
              <a:spcBef>
                <a:spcPts val="0"/>
              </a:spcBef>
              <a:spcAft>
                <a:spcPts val="0"/>
              </a:spcAft>
              <a:defRPr sz="1600" b="0">
                <a:solidFill>
                  <a:srgbClr val="142C40"/>
                </a:solidFill>
                <a:latin typeface="DejaVu Sans"/>
              </a:defRPr>
            </a:pPr>
            <a:r>
              <a:t>Grounding-geometry GRU, three seeds</a:t>
            </a:r>
          </a:p>
          <a:p>
            <a:pPr algn="l">
              <a:lnSpc>
                <a:spcPts val="1968"/>
              </a:lnSpc>
              <a:spcBef>
                <a:spcPts val="0"/>
              </a:spcBef>
              <a:spcAft>
                <a:spcPts val="0"/>
              </a:spcAft>
              <a:defRPr sz="1600" b="0">
                <a:solidFill>
                  <a:srgbClr val="142C40"/>
                </a:solidFill>
                <a:latin typeface="DejaVu Sans"/>
              </a:defRPr>
            </a:pPr>
            <a:r>
              <a:t>Unchanged visual CLIP features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Route and epoch selection maximize worst development-source AP, then mean AP. All seeds and</a:t>
            </a:r>
          </a:p>
          <a:p>
            <a:pPr algn="l">
              <a:lnSpc>
                <a:spcPts val="1722"/>
              </a:lnSpc>
              <a:spcBef>
                <a:spcPts val="0"/>
              </a:spcBef>
              <a:spcAft>
                <a:spcPts val="0"/>
              </a:spcAft>
              <a:defRPr sz="1400" b="1">
                <a:solidFill>
                  <a:srgbClr val="007E80"/>
                </a:solidFill>
                <a:latin typeface="DejaVu Sans"/>
              </a:defRPr>
            </a:pPr>
            <a:r>
              <a:t>regressions remain visible.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SMOKING RANKING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CCTV gains did not repeat consistently across</a:t>
            </a:r>
          </a:p>
          <a:p>
            <a:pPr algn="l">
              <a:lnSpc>
                <a:spcPts val="3690"/>
              </a:lnSpc>
              <a:spcBef>
                <a:spcPts val="0"/>
              </a:spcBef>
              <a:spcAft>
                <a:spcPts val="0"/>
              </a:spcAft>
              <a:defRPr sz="3000" b="1">
                <a:solidFill>
                  <a:srgbClr val="142C40"/>
                </a:solidFill>
                <a:latin typeface="DejaVu Sans"/>
              </a:defRPr>
            </a:pPr>
            <a:r>
              <a:t>backbones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205 HMDB evaluation clips now follow 530 grouped training clips; CCTV remains static</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Pilot report: same-case AP comparisons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21</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267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 / source</a:t>
            </a:r>
          </a:p>
        </p:txBody>
      </p:sp>
      <p:sp>
        <p:nvSpPr>
          <p:cNvPr id="12" name="TextBox 11"/>
          <p:cNvSpPr txBox="1"/>
          <p:nvPr/>
        </p:nvSpPr>
        <p:spPr>
          <a:xfrm>
            <a:off x="5156200" y="2273300"/>
            <a:ext cx="1981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Previous bundle</a:t>
            </a:r>
          </a:p>
        </p:txBody>
      </p:sp>
      <p:sp>
        <p:nvSpPr>
          <p:cNvPr id="13" name="TextBox 12"/>
          <p:cNvSpPr txBox="1"/>
          <p:nvPr/>
        </p:nvSpPr>
        <p:spPr>
          <a:xfrm>
            <a:off x="7366000" y="2273300"/>
            <a:ext cx="1981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Pilot scene</a:t>
            </a:r>
          </a:p>
        </p:txBody>
      </p:sp>
      <p:sp>
        <p:nvSpPr>
          <p:cNvPr id="14" name="TextBox 13"/>
          <p:cNvSpPr txBox="1"/>
          <p:nvPr/>
        </p:nvSpPr>
        <p:spPr>
          <a:xfrm>
            <a:off x="9575800" y="2273300"/>
            <a:ext cx="1981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Selected pilot</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 / CCTV 646</a:t>
            </a:r>
          </a:p>
        </p:txBody>
      </p:sp>
      <p:sp>
        <p:nvSpPr>
          <p:cNvPr id="17" name="TextBox 16"/>
          <p:cNvSpPr txBox="1"/>
          <p:nvPr/>
        </p:nvSpPr>
        <p:spPr>
          <a:xfrm>
            <a:off x="5156200" y="278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.690</a:t>
            </a:r>
          </a:p>
        </p:txBody>
      </p:sp>
      <p:sp>
        <p:nvSpPr>
          <p:cNvPr id="18" name="TextBox 17"/>
          <p:cNvSpPr txBox="1"/>
          <p:nvPr/>
        </p:nvSpPr>
        <p:spPr>
          <a:xfrm>
            <a:off x="7366000" y="278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.626</a:t>
            </a:r>
          </a:p>
        </p:txBody>
      </p:sp>
      <p:sp>
        <p:nvSpPr>
          <p:cNvPr id="19" name="TextBox 18"/>
          <p:cNvSpPr txBox="1"/>
          <p:nvPr/>
        </p:nvSpPr>
        <p:spPr>
          <a:xfrm>
            <a:off x="9575800" y="278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.725</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 / CCTV 646</a:t>
            </a:r>
          </a:p>
        </p:txBody>
      </p:sp>
      <p:sp>
        <p:nvSpPr>
          <p:cNvPr id="23" name="TextBox 22"/>
          <p:cNvSpPr txBox="1"/>
          <p:nvPr/>
        </p:nvSpPr>
        <p:spPr>
          <a:xfrm>
            <a:off x="5156200" y="341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.722</a:t>
            </a:r>
          </a:p>
        </p:txBody>
      </p:sp>
      <p:sp>
        <p:nvSpPr>
          <p:cNvPr id="24" name="TextBox 23"/>
          <p:cNvSpPr txBox="1"/>
          <p:nvPr/>
        </p:nvSpPr>
        <p:spPr>
          <a:xfrm>
            <a:off x="7366000" y="341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.717</a:t>
            </a:r>
          </a:p>
        </p:txBody>
      </p:sp>
      <p:sp>
        <p:nvSpPr>
          <p:cNvPr id="25" name="TextBox 24"/>
          <p:cNvSpPr txBox="1"/>
          <p:nvPr/>
        </p:nvSpPr>
        <p:spPr>
          <a:xfrm>
            <a:off x="9575800" y="341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.688</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 / HMDB 205</a:t>
            </a:r>
          </a:p>
        </p:txBody>
      </p:sp>
      <p:sp>
        <p:nvSpPr>
          <p:cNvPr id="29" name="TextBox 28"/>
          <p:cNvSpPr txBox="1"/>
          <p:nvPr/>
        </p:nvSpPr>
        <p:spPr>
          <a:xfrm>
            <a:off x="5156200" y="405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.697</a:t>
            </a:r>
          </a:p>
        </p:txBody>
      </p:sp>
      <p:sp>
        <p:nvSpPr>
          <p:cNvPr id="30" name="TextBox 29"/>
          <p:cNvSpPr txBox="1"/>
          <p:nvPr/>
        </p:nvSpPr>
        <p:spPr>
          <a:xfrm>
            <a:off x="7366000" y="405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.842</a:t>
            </a:r>
          </a:p>
        </p:txBody>
      </p:sp>
      <p:sp>
        <p:nvSpPr>
          <p:cNvPr id="31" name="TextBox 30"/>
          <p:cNvSpPr txBox="1"/>
          <p:nvPr/>
        </p:nvSpPr>
        <p:spPr>
          <a:xfrm>
            <a:off x="9575800" y="405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.908</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 / HMDB 205</a:t>
            </a:r>
          </a:p>
        </p:txBody>
      </p:sp>
      <p:sp>
        <p:nvSpPr>
          <p:cNvPr id="35" name="TextBox 34"/>
          <p:cNvSpPr txBox="1"/>
          <p:nvPr/>
        </p:nvSpPr>
        <p:spPr>
          <a:xfrm>
            <a:off x="5156200" y="468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.762</a:t>
            </a:r>
          </a:p>
        </p:txBody>
      </p:sp>
      <p:sp>
        <p:nvSpPr>
          <p:cNvPr id="36" name="TextBox 35"/>
          <p:cNvSpPr txBox="1"/>
          <p:nvPr/>
        </p:nvSpPr>
        <p:spPr>
          <a:xfrm>
            <a:off x="7366000" y="468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.888</a:t>
            </a:r>
          </a:p>
        </p:txBody>
      </p:sp>
      <p:sp>
        <p:nvSpPr>
          <p:cNvPr id="37" name="TextBox 36"/>
          <p:cNvSpPr txBox="1"/>
          <p:nvPr/>
        </p:nvSpPr>
        <p:spPr>
          <a:xfrm>
            <a:off x="9575800" y="468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.778</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SigLIP’s development-selected pilot route regresses on CCTV and trails its own scene baseline on HMDB.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IMPROVEMENT / SMOKING ENSEMBLES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Ensembling improves HMDB; low-FPR CCTV</a:t>
            </a:r>
          </a:p>
          <a:p>
            <a:pPr algn="l">
              <a:lnSpc>
                <a:spcPts val="3690"/>
              </a:lnSpc>
              <a:spcBef>
                <a:spcPts val="0"/>
              </a:spcBef>
              <a:spcAft>
                <a:spcPts val="0"/>
              </a:spcAft>
              <a:defRPr sz="3000" b="1">
                <a:solidFill>
                  <a:srgbClr val="142C40"/>
                </a:solidFill>
                <a:latin typeface="DejaVu Sans"/>
              </a:defRPr>
            </a:pPr>
            <a:r>
              <a:t>remains hard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38 dev-only policies • every dev source must meet the 5% empirical FPR constraint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smoking_selection.json + smoking_results.json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22</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7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Policy</a:t>
            </a:r>
          </a:p>
        </p:txBody>
      </p:sp>
      <p:sp>
        <p:nvSpPr>
          <p:cNvPr id="12" name="TextBox 11"/>
          <p:cNvSpPr txBox="1"/>
          <p:nvPr/>
        </p:nvSpPr>
        <p:spPr>
          <a:xfrm>
            <a:off x="3759200" y="2273300"/>
            <a:ext cx="1244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CCTV AP</a:t>
            </a:r>
          </a:p>
        </p:txBody>
      </p:sp>
      <p:sp>
        <p:nvSpPr>
          <p:cNvPr id="13" name="TextBox 12"/>
          <p:cNvSpPr txBox="1"/>
          <p:nvPr/>
        </p:nvSpPr>
        <p:spPr>
          <a:xfrm>
            <a:off x="5232400" y="2273300"/>
            <a:ext cx="2311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 / FPR</a:t>
            </a:r>
          </a:p>
        </p:txBody>
      </p:sp>
      <p:sp>
        <p:nvSpPr>
          <p:cNvPr id="14" name="TextBox 13"/>
          <p:cNvSpPr txBox="1"/>
          <p:nvPr/>
        </p:nvSpPr>
        <p:spPr>
          <a:xfrm>
            <a:off x="7772400" y="2273300"/>
            <a:ext cx="1244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HMDB AP</a:t>
            </a:r>
          </a:p>
        </p:txBody>
      </p:sp>
      <p:sp>
        <p:nvSpPr>
          <p:cNvPr id="15" name="TextBox 14"/>
          <p:cNvSpPr txBox="1"/>
          <p:nvPr/>
        </p:nvSpPr>
        <p:spPr>
          <a:xfrm>
            <a:off x="9245600" y="2273300"/>
            <a:ext cx="2311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 / FPR</a:t>
            </a:r>
          </a:p>
        </p:txBody>
      </p:sp>
      <p:sp>
        <p:nvSpPr>
          <p:cNvPr id="16" name="Rectangle 15"/>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previous</a:t>
            </a:r>
          </a:p>
        </p:txBody>
      </p:sp>
      <p:sp>
        <p:nvSpPr>
          <p:cNvPr id="18" name="TextBox 17"/>
          <p:cNvSpPr txBox="1"/>
          <p:nvPr/>
        </p:nvSpPr>
        <p:spPr>
          <a:xfrm>
            <a:off x="3759200" y="278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0.725</a:t>
            </a:r>
          </a:p>
        </p:txBody>
      </p:sp>
      <p:sp>
        <p:nvSpPr>
          <p:cNvPr id="19" name="TextBox 18"/>
          <p:cNvSpPr txBox="1"/>
          <p:nvPr/>
        </p:nvSpPr>
        <p:spPr>
          <a:xfrm>
            <a:off x="5232400" y="278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16.5% / 7.9%</a:t>
            </a:r>
          </a:p>
        </p:txBody>
      </p:sp>
      <p:sp>
        <p:nvSpPr>
          <p:cNvPr id="20" name="TextBox 19"/>
          <p:cNvSpPr txBox="1"/>
          <p:nvPr/>
        </p:nvSpPr>
        <p:spPr>
          <a:xfrm>
            <a:off x="7772400" y="278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0.908</a:t>
            </a:r>
          </a:p>
        </p:txBody>
      </p:sp>
      <p:sp>
        <p:nvSpPr>
          <p:cNvPr id="21" name="TextBox 20"/>
          <p:cNvSpPr txBox="1"/>
          <p:nvPr/>
        </p:nvSpPr>
        <p:spPr>
          <a:xfrm>
            <a:off x="9245600" y="278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86.7% / 2.9%</a:t>
            </a:r>
          </a:p>
        </p:txBody>
      </p:sp>
      <p:cxnSp>
        <p:nvCxnSpPr>
          <p:cNvPr id="22" name="Connector 21"/>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416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17 Oct</a:t>
            </a:r>
          </a:p>
        </p:txBody>
      </p:sp>
      <p:sp>
        <p:nvSpPr>
          <p:cNvPr id="25" name="TextBox 24"/>
          <p:cNvSpPr txBox="1"/>
          <p:nvPr/>
        </p:nvSpPr>
        <p:spPr>
          <a:xfrm>
            <a:off x="3759200" y="341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0.725</a:t>
            </a:r>
          </a:p>
        </p:txBody>
      </p:sp>
      <p:sp>
        <p:nvSpPr>
          <p:cNvPr id="26" name="TextBox 25"/>
          <p:cNvSpPr txBox="1"/>
          <p:nvPr/>
        </p:nvSpPr>
        <p:spPr>
          <a:xfrm>
            <a:off x="5232400" y="341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10.9% / 5.5%</a:t>
            </a:r>
          </a:p>
        </p:txBody>
      </p:sp>
      <p:sp>
        <p:nvSpPr>
          <p:cNvPr id="27" name="TextBox 26"/>
          <p:cNvSpPr txBox="1"/>
          <p:nvPr/>
        </p:nvSpPr>
        <p:spPr>
          <a:xfrm>
            <a:off x="7772400" y="341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0.908</a:t>
            </a:r>
          </a:p>
        </p:txBody>
      </p:sp>
      <p:sp>
        <p:nvSpPr>
          <p:cNvPr id="28" name="TextBox 27"/>
          <p:cNvSpPr txBox="1"/>
          <p:nvPr/>
        </p:nvSpPr>
        <p:spPr>
          <a:xfrm>
            <a:off x="9245600" y="341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86.7% / 2.3%</a:t>
            </a:r>
          </a:p>
        </p:txBody>
      </p:sp>
      <p:cxnSp>
        <p:nvCxnSpPr>
          <p:cNvPr id="29" name="Connector 28"/>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4051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previous</a:t>
            </a:r>
          </a:p>
        </p:txBody>
      </p:sp>
      <p:sp>
        <p:nvSpPr>
          <p:cNvPr id="32" name="TextBox 31"/>
          <p:cNvSpPr txBox="1"/>
          <p:nvPr/>
        </p:nvSpPr>
        <p:spPr>
          <a:xfrm>
            <a:off x="3759200" y="405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0.688</a:t>
            </a:r>
          </a:p>
        </p:txBody>
      </p:sp>
      <p:sp>
        <p:nvSpPr>
          <p:cNvPr id="33" name="TextBox 32"/>
          <p:cNvSpPr txBox="1"/>
          <p:nvPr/>
        </p:nvSpPr>
        <p:spPr>
          <a:xfrm>
            <a:off x="5232400" y="405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2.3% / 1.6%</a:t>
            </a:r>
          </a:p>
        </p:txBody>
      </p:sp>
      <p:sp>
        <p:nvSpPr>
          <p:cNvPr id="34" name="TextBox 33"/>
          <p:cNvSpPr txBox="1"/>
          <p:nvPr/>
        </p:nvSpPr>
        <p:spPr>
          <a:xfrm>
            <a:off x="7772400" y="405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0.778</a:t>
            </a:r>
          </a:p>
        </p:txBody>
      </p:sp>
      <p:sp>
        <p:nvSpPr>
          <p:cNvPr id="35" name="TextBox 34"/>
          <p:cNvSpPr txBox="1"/>
          <p:nvPr/>
        </p:nvSpPr>
        <p:spPr>
          <a:xfrm>
            <a:off x="9245600" y="405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66.7% / 1.7%</a:t>
            </a:r>
          </a:p>
        </p:txBody>
      </p:sp>
      <p:cxnSp>
        <p:nvCxnSpPr>
          <p:cNvPr id="36" name="Connector 35"/>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686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17 Oct</a:t>
            </a:r>
          </a:p>
        </p:txBody>
      </p:sp>
      <p:sp>
        <p:nvSpPr>
          <p:cNvPr id="39" name="TextBox 38"/>
          <p:cNvSpPr txBox="1"/>
          <p:nvPr/>
        </p:nvSpPr>
        <p:spPr>
          <a:xfrm>
            <a:off x="3759200" y="468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0.720</a:t>
            </a:r>
          </a:p>
        </p:txBody>
      </p:sp>
      <p:sp>
        <p:nvSpPr>
          <p:cNvPr id="40" name="TextBox 39"/>
          <p:cNvSpPr txBox="1"/>
          <p:nvPr/>
        </p:nvSpPr>
        <p:spPr>
          <a:xfrm>
            <a:off x="5232400" y="468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1.8% / 1.6%</a:t>
            </a:r>
          </a:p>
        </p:txBody>
      </p:sp>
      <p:sp>
        <p:nvSpPr>
          <p:cNvPr id="41" name="TextBox 40"/>
          <p:cNvSpPr txBox="1"/>
          <p:nvPr/>
        </p:nvSpPr>
        <p:spPr>
          <a:xfrm>
            <a:off x="7772400" y="468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0.964</a:t>
            </a:r>
          </a:p>
        </p:txBody>
      </p:sp>
      <p:sp>
        <p:nvSpPr>
          <p:cNvPr id="42" name="TextBox 41"/>
          <p:cNvSpPr txBox="1"/>
          <p:nvPr/>
        </p:nvSpPr>
        <p:spPr>
          <a:xfrm>
            <a:off x="9245600" y="468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76.7% / 1.7%</a:t>
            </a:r>
          </a:p>
        </p:txBody>
      </p:sp>
      <p:cxnSp>
        <p:nvCxnSpPr>
          <p:cNvPr id="43" name="Connector 42"/>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SigLIP selects the all-head ensemble. MobileCLIP retains the same person head with a stricter cutoff.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UNATTENDED EVENTS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Explicit item state was more useful than a global</a:t>
            </a:r>
          </a:p>
          <a:p>
            <a:pPr algn="l">
              <a:lnSpc>
                <a:spcPts val="3690"/>
              </a:lnSpc>
              <a:spcBef>
                <a:spcPts val="0"/>
              </a:spcBef>
              <a:spcAft>
                <a:spcPts val="0"/>
              </a:spcAft>
              <a:defRPr sz="3000" b="1">
                <a:solidFill>
                  <a:srgbClr val="142C40"/>
                </a:solidFill>
                <a:latin typeface="DejaVu Sans"/>
              </a:defRPr>
            </a:pPr>
            <a:r>
              <a:t>score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Two clean AVSS events • 2.76 normal minutes • first used 16 Oct, now retrospective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Pilot events.csv / clean primary source subset</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40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Route / policy</a:t>
            </a:r>
          </a:p>
        </p:txBody>
      </p:sp>
      <p:sp>
        <p:nvSpPr>
          <p:cNvPr id="12" name="TextBox 11"/>
          <p:cNvSpPr txBox="1"/>
          <p:nvPr/>
        </p:nvSpPr>
        <p:spPr>
          <a:xfrm>
            <a:off x="5295900" y="2273300"/>
            <a:ext cx="977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Events</a:t>
            </a:r>
          </a:p>
        </p:txBody>
      </p:sp>
      <p:sp>
        <p:nvSpPr>
          <p:cNvPr id="13" name="TextBox 12"/>
          <p:cNvSpPr txBox="1"/>
          <p:nvPr/>
        </p:nvSpPr>
        <p:spPr>
          <a:xfrm>
            <a:off x="6502400" y="2273300"/>
            <a:ext cx="26797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Normal false / repeats</a:t>
            </a:r>
          </a:p>
        </p:txBody>
      </p:sp>
      <p:sp>
        <p:nvSpPr>
          <p:cNvPr id="14" name="TextBox 13"/>
          <p:cNvSpPr txBox="1"/>
          <p:nvPr/>
        </p:nvSpPr>
        <p:spPr>
          <a:xfrm>
            <a:off x="9410700" y="2273300"/>
            <a:ext cx="2146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Median onset delay</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global score</a:t>
            </a:r>
          </a:p>
        </p:txBody>
      </p:sp>
      <p:sp>
        <p:nvSpPr>
          <p:cNvPr id="17" name="TextBox 16"/>
          <p:cNvSpPr txBox="1"/>
          <p:nvPr/>
        </p:nvSpPr>
        <p:spPr>
          <a:xfrm>
            <a:off x="5295900" y="27813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18" name="TextBox 17"/>
          <p:cNvSpPr txBox="1"/>
          <p:nvPr/>
        </p:nvSpPr>
        <p:spPr>
          <a:xfrm>
            <a:off x="6502400" y="27813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 / 3</a:t>
            </a:r>
          </a:p>
        </p:txBody>
      </p:sp>
      <p:sp>
        <p:nvSpPr>
          <p:cNvPr id="19" name="TextBox 18"/>
          <p:cNvSpPr txBox="1"/>
          <p:nvPr/>
        </p:nvSpPr>
        <p:spPr>
          <a:xfrm>
            <a:off x="9410700" y="27813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25.8 s</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global score</a:t>
            </a:r>
          </a:p>
        </p:txBody>
      </p:sp>
      <p:sp>
        <p:nvSpPr>
          <p:cNvPr id="23" name="TextBox 22"/>
          <p:cNvSpPr txBox="1"/>
          <p:nvPr/>
        </p:nvSpPr>
        <p:spPr>
          <a:xfrm>
            <a:off x="5295900" y="33274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24" name="TextBox 23"/>
          <p:cNvSpPr txBox="1"/>
          <p:nvPr/>
        </p:nvSpPr>
        <p:spPr>
          <a:xfrm>
            <a:off x="6502400" y="33274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 / 3</a:t>
            </a:r>
          </a:p>
        </p:txBody>
      </p:sp>
      <p:sp>
        <p:nvSpPr>
          <p:cNvPr id="25" name="TextBox 24"/>
          <p:cNvSpPr txBox="1"/>
          <p:nvPr/>
        </p:nvSpPr>
        <p:spPr>
          <a:xfrm>
            <a:off x="9410700" y="33274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12.1 s</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known state gate</a:t>
            </a:r>
          </a:p>
        </p:txBody>
      </p:sp>
      <p:sp>
        <p:nvSpPr>
          <p:cNvPr id="29" name="TextBox 28"/>
          <p:cNvSpPr txBox="1"/>
          <p:nvPr/>
        </p:nvSpPr>
        <p:spPr>
          <a:xfrm>
            <a:off x="5295900" y="38735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30" name="TextBox 29"/>
          <p:cNvSpPr txBox="1"/>
          <p:nvPr/>
        </p:nvSpPr>
        <p:spPr>
          <a:xfrm>
            <a:off x="6502400" y="38735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31" name="TextBox 30"/>
          <p:cNvSpPr txBox="1"/>
          <p:nvPr/>
        </p:nvSpPr>
        <p:spPr>
          <a:xfrm>
            <a:off x="9410700" y="38735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36.3 s</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known state gate</a:t>
            </a:r>
          </a:p>
        </p:txBody>
      </p:sp>
      <p:sp>
        <p:nvSpPr>
          <p:cNvPr id="35" name="TextBox 34"/>
          <p:cNvSpPr txBox="1"/>
          <p:nvPr/>
        </p:nvSpPr>
        <p:spPr>
          <a:xfrm>
            <a:off x="5295900" y="44196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36" name="TextBox 35"/>
          <p:cNvSpPr txBox="1"/>
          <p:nvPr/>
        </p:nvSpPr>
        <p:spPr>
          <a:xfrm>
            <a:off x="6502400" y="44196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1</a:t>
            </a:r>
          </a:p>
        </p:txBody>
      </p:sp>
      <p:sp>
        <p:nvSpPr>
          <p:cNvPr id="37" name="TextBox 36"/>
          <p:cNvSpPr txBox="1"/>
          <p:nvPr/>
        </p:nvSpPr>
        <p:spPr>
          <a:xfrm>
            <a:off x="9410700" y="44196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 s</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Known source state rule alone</a:t>
            </a:r>
          </a:p>
        </p:txBody>
      </p:sp>
      <p:sp>
        <p:nvSpPr>
          <p:cNvPr id="41" name="TextBox 40"/>
          <p:cNvSpPr txBox="1"/>
          <p:nvPr/>
        </p:nvSpPr>
        <p:spPr>
          <a:xfrm>
            <a:off x="5295900" y="49657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42" name="TextBox 41"/>
          <p:cNvSpPr txBox="1"/>
          <p:nvPr/>
        </p:nvSpPr>
        <p:spPr>
          <a:xfrm>
            <a:off x="6502400" y="49657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43" name="TextBox 42"/>
          <p:cNvSpPr txBox="1"/>
          <p:nvPr/>
        </p:nvSpPr>
        <p:spPr>
          <a:xfrm>
            <a:off x="9410700" y="49657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 s</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rule requires the same stationary item for 30 s and its previously associated owner absent for ≥0.5 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THRESHOLDS / CALIBRATION AND UNCERTAINTY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 good AP or zero observed alarms is not a</a:t>
            </a:r>
          </a:p>
          <a:p>
            <a:pPr algn="l">
              <a:lnSpc>
                <a:spcPts val="3690"/>
              </a:lnSpc>
              <a:spcBef>
                <a:spcPts val="0"/>
              </a:spcBef>
              <a:spcAft>
                <a:spcPts val="0"/>
              </a:spcAft>
              <a:defRPr sz="3000" b="1">
                <a:solidFill>
                  <a:srgbClr val="142C40"/>
                </a:solidFill>
                <a:latin typeface="DejaVu Sans"/>
              </a:defRPr>
            </a:pPr>
            <a:r>
              <a:t>guarantee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Insufficient normal footage is a measurable limitation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Disjoint-recording calibration + event rate bounds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24</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Historical calibration diagnostic</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Entire normal recordings held aside</a:t>
            </a:r>
          </a:p>
          <a:p>
            <a:pPr algn="l">
              <a:lnSpc>
                <a:spcPts val="1968"/>
              </a:lnSpc>
              <a:spcBef>
                <a:spcPts val="0"/>
              </a:spcBef>
              <a:spcAft>
                <a:spcPts val="0"/>
              </a:spcAft>
              <a:defRPr sz="1600" b="0">
                <a:solidFill>
                  <a:srgbClr val="142C40"/>
                </a:solidFill>
                <a:latin typeface="DejaVu Sans"/>
              </a:defRPr>
            </a:pPr>
            <a:r>
              <a:t>Both arms exclude those recordings</a:t>
            </a:r>
          </a:p>
          <a:p>
            <a:pPr algn="l">
              <a:lnSpc>
                <a:spcPts val="1968"/>
              </a:lnSpc>
              <a:spcBef>
                <a:spcPts val="0"/>
              </a:spcBef>
              <a:spcAft>
                <a:spcPts val="0"/>
              </a:spcAft>
              <a:defRPr sz="1600" b="0">
                <a:solidFill>
                  <a:srgbClr val="142C40"/>
                </a:solidFill>
                <a:latin typeface="DejaVu Sans"/>
              </a:defRPr>
            </a:pPr>
            <a:r>
              <a:t>SigLIP: 0/4 → 1/4 events</a:t>
            </a:r>
          </a:p>
          <a:p>
            <a:pPr algn="l">
              <a:lnSpc>
                <a:spcPts val="1968"/>
              </a:lnSpc>
              <a:spcBef>
                <a:spcPts val="0"/>
              </a:spcBef>
              <a:spcAft>
                <a:spcPts val="0"/>
              </a:spcAft>
              <a:defRPr sz="1600" b="0">
                <a:solidFill>
                  <a:srgbClr val="142C40"/>
                </a:solidFill>
                <a:latin typeface="DejaVu Sans"/>
              </a:defRPr>
            </a:pPr>
            <a:r>
              <a:t>Normal false alerts: 4 → 1</a:t>
            </a:r>
          </a:p>
          <a:p>
            <a:pPr algn="l">
              <a:lnSpc>
                <a:spcPts val="1968"/>
              </a:lnSpc>
              <a:spcBef>
                <a:spcPts val="0"/>
              </a:spcBef>
              <a:spcAft>
                <a:spcPts val="0"/>
              </a:spcAft>
              <a:defRPr sz="1600" b="0">
                <a:solidFill>
                  <a:srgbClr val="142C40"/>
                </a:solidFill>
                <a:latin typeface="DejaVu Sans"/>
              </a:defRPr>
            </a:pPr>
            <a:r>
              <a:t>Still 26.3 false alerts / normal hour</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Uncertainty in the AVSS result</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 events and 165.74 normal seconds</a:t>
            </a:r>
          </a:p>
          <a:p>
            <a:pPr algn="l">
              <a:lnSpc>
                <a:spcPts val="1968"/>
              </a:lnSpc>
              <a:spcBef>
                <a:spcPts val="0"/>
              </a:spcBef>
              <a:spcAft>
                <a:spcPts val="0"/>
              </a:spcAft>
              <a:defRPr sz="1600" b="0">
                <a:solidFill>
                  <a:srgbClr val="142C40"/>
                </a:solidFill>
                <a:latin typeface="DejaVu Sans"/>
              </a:defRPr>
            </a:pPr>
            <a:r>
              <a:t>0 observed state-rule false alerts</a:t>
            </a:r>
          </a:p>
          <a:p>
            <a:pPr algn="l">
              <a:lnSpc>
                <a:spcPts val="1968"/>
              </a:lnSpc>
              <a:spcBef>
                <a:spcPts val="0"/>
              </a:spcBef>
              <a:spcAft>
                <a:spcPts val="0"/>
              </a:spcAft>
              <a:defRPr sz="1600" b="0">
                <a:solidFill>
                  <a:srgbClr val="142C40"/>
                </a:solidFill>
                <a:latin typeface="DejaVu Sans"/>
              </a:defRPr>
            </a:pPr>
            <a:r>
              <a:t>95% one-sided Poisson upper bound:</a:t>
            </a:r>
          </a:p>
          <a:p>
            <a:pPr algn="l">
              <a:lnSpc>
                <a:spcPts val="1968"/>
              </a:lnSpc>
              <a:spcBef>
                <a:spcPts val="0"/>
              </a:spcBef>
              <a:spcAft>
                <a:spcPts val="0"/>
              </a:spcAft>
              <a:defRPr sz="1600" b="0">
                <a:solidFill>
                  <a:srgbClr val="142C40"/>
                </a:solidFill>
                <a:latin typeface="DejaVu Sans"/>
              </a:defRPr>
            </a:pPr>
            <a:r>
              <a:t>65.1 false alerts / normal hour</a:t>
            </a:r>
          </a:p>
          <a:p>
            <a:pPr algn="l">
              <a:lnSpc>
                <a:spcPts val="1968"/>
              </a:lnSpc>
              <a:spcBef>
                <a:spcPts val="0"/>
              </a:spcBef>
              <a:spcAft>
                <a:spcPts val="0"/>
              </a:spcAft>
              <a:defRPr sz="1600" b="0">
                <a:solidFill>
                  <a:srgbClr val="142C40"/>
                </a:solidFill>
                <a:latin typeface="DejaVu Sans"/>
              </a:defRPr>
            </a:pPr>
            <a:r>
              <a:t>Camera transfer remains untested</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Even under a homogeneous Poisson assumption, about 3 zero-alert normal hours are needed for an upper</a:t>
            </a:r>
          </a:p>
          <a:p>
            <a:pPr algn="l">
              <a:lnSpc>
                <a:spcPts val="1722"/>
              </a:lnSpc>
              <a:spcBef>
                <a:spcPts val="0"/>
              </a:spcBef>
              <a:spcAft>
                <a:spcPts val="0"/>
              </a:spcAft>
              <a:defRPr sz="1400" b="1">
                <a:solidFill>
                  <a:srgbClr val="C86535"/>
                </a:solidFill>
                <a:latin typeface="DejaVu Sans"/>
              </a:defRPr>
            </a:pPr>
            <a:r>
              <a:t>bound below 1/hour.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IMPROVEMENT / PERSISTENT ITEM STATE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More state machinery did not improve the AVSS</a:t>
            </a:r>
          </a:p>
          <a:p>
            <a:pPr algn="l">
              <a:lnSpc>
                <a:spcPts val="3690"/>
              </a:lnSpc>
              <a:spcBef>
                <a:spcPts val="0"/>
              </a:spcBef>
              <a:spcAft>
                <a:spcPts val="0"/>
              </a:spcAft>
              <a:defRPr sz="3000" b="1">
                <a:solidFill>
                  <a:srgbClr val="142C40"/>
                </a:solidFill>
                <a:latin typeface="DejaVu Sans"/>
              </a:defRPr>
            </a:pPr>
            <a:r>
              <a:t>result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Original detections and 30-second source rule are held fixed</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event_results.json + replayed event_traces.jsonl</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25</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279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Ablation</a:t>
            </a:r>
          </a:p>
        </p:txBody>
      </p:sp>
      <p:sp>
        <p:nvSpPr>
          <p:cNvPr id="12" name="TextBox 11"/>
          <p:cNvSpPr txBox="1"/>
          <p:nvPr/>
        </p:nvSpPr>
        <p:spPr>
          <a:xfrm>
            <a:off x="5168900" y="2273300"/>
            <a:ext cx="977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Events</a:t>
            </a:r>
          </a:p>
        </p:txBody>
      </p:sp>
      <p:sp>
        <p:nvSpPr>
          <p:cNvPr id="13" name="TextBox 12"/>
          <p:cNvSpPr txBox="1"/>
          <p:nvPr/>
        </p:nvSpPr>
        <p:spPr>
          <a:xfrm>
            <a:off x="6375400" y="2273300"/>
            <a:ext cx="28067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Normal false / repeats</a:t>
            </a:r>
          </a:p>
        </p:txBody>
      </p:sp>
      <p:sp>
        <p:nvSpPr>
          <p:cNvPr id="14" name="TextBox 13"/>
          <p:cNvSpPr txBox="1"/>
          <p:nvPr/>
        </p:nvSpPr>
        <p:spPr>
          <a:xfrm>
            <a:off x="9410700" y="2273300"/>
            <a:ext cx="2146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Median onset delay</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Original global state debounce</a:t>
            </a:r>
          </a:p>
        </p:txBody>
      </p:sp>
      <p:sp>
        <p:nvSpPr>
          <p:cNvPr id="17" name="TextBox 16"/>
          <p:cNvSpPr txBox="1"/>
          <p:nvPr/>
        </p:nvSpPr>
        <p:spPr>
          <a:xfrm>
            <a:off x="5168900" y="2781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18" name="TextBox 17"/>
          <p:cNvSpPr txBox="1"/>
          <p:nvPr/>
        </p:nvSpPr>
        <p:spPr>
          <a:xfrm>
            <a:off x="6375400" y="2781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19" name="TextBox 18"/>
          <p:cNvSpPr txBox="1"/>
          <p:nvPr/>
        </p:nvSpPr>
        <p:spPr>
          <a:xfrm>
            <a:off x="9410700" y="2781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34.82 s</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Original tracks + item memory</a:t>
            </a:r>
          </a:p>
        </p:txBody>
      </p:sp>
      <p:sp>
        <p:nvSpPr>
          <p:cNvPr id="23" name="TextBox 22"/>
          <p:cNvSpPr txBox="1"/>
          <p:nvPr/>
        </p:nvSpPr>
        <p:spPr>
          <a:xfrm>
            <a:off x="5168900" y="3416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24" name="TextBox 23"/>
          <p:cNvSpPr txBox="1"/>
          <p:nvPr/>
        </p:nvSpPr>
        <p:spPr>
          <a:xfrm>
            <a:off x="6375400" y="3416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25" name="TextBox 24"/>
          <p:cNvSpPr txBox="1"/>
          <p:nvPr/>
        </p:nvSpPr>
        <p:spPr>
          <a:xfrm>
            <a:off x="9410700" y="3416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34.82 s</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Median stationarity + global</a:t>
            </a:r>
          </a:p>
        </p:txBody>
      </p:sp>
      <p:sp>
        <p:nvSpPr>
          <p:cNvPr id="29" name="TextBox 28"/>
          <p:cNvSpPr txBox="1"/>
          <p:nvPr/>
        </p:nvSpPr>
        <p:spPr>
          <a:xfrm>
            <a:off x="5168900" y="4051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30" name="TextBox 29"/>
          <p:cNvSpPr txBox="1"/>
          <p:nvPr/>
        </p:nvSpPr>
        <p:spPr>
          <a:xfrm>
            <a:off x="6375400" y="4051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31" name="TextBox 30"/>
          <p:cNvSpPr txBox="1"/>
          <p:nvPr/>
        </p:nvSpPr>
        <p:spPr>
          <a:xfrm>
            <a:off x="9410700" y="4051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35.07 s</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Median stationarity + memory</a:t>
            </a:r>
          </a:p>
        </p:txBody>
      </p:sp>
      <p:sp>
        <p:nvSpPr>
          <p:cNvPr id="35" name="TextBox 34"/>
          <p:cNvSpPr txBox="1"/>
          <p:nvPr/>
        </p:nvSpPr>
        <p:spPr>
          <a:xfrm>
            <a:off x="5168900" y="4686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36" name="TextBox 35"/>
          <p:cNvSpPr txBox="1"/>
          <p:nvPr/>
        </p:nvSpPr>
        <p:spPr>
          <a:xfrm>
            <a:off x="6375400" y="4686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37" name="TextBox 36"/>
          <p:cNvSpPr txBox="1"/>
          <p:nvPr/>
        </p:nvSpPr>
        <p:spPr>
          <a:xfrm>
            <a:off x="9410700" y="4686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35.07 s</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Keep the simpler state baseline: smoothing adds 0.25 s; item memory increases repeats on the censored</a:t>
            </a:r>
          </a:p>
          <a:p>
            <a:pPr algn="l">
              <a:lnSpc>
                <a:spcPts val="1722"/>
              </a:lnSpc>
              <a:spcBef>
                <a:spcPts val="0"/>
              </a:spcBef>
              <a:spcAft>
                <a:spcPts val="0"/>
              </a:spcAft>
              <a:defRPr sz="1400" b="1">
                <a:solidFill>
                  <a:srgbClr val="C86535"/>
                </a:solidFill>
                <a:latin typeface="DejaVu Sans"/>
              </a:defRPr>
            </a:pPr>
            <a:r>
              <a:t>HARD diagnostic.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DATA / COMPATIBILITY REVIEW</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new highway clips are component stress tests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Pinned author release: three bundled clips, three explicit ABODA aliases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Author acquisition receipt + component_protocol.json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26</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Acquisition and preparation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28.6 MB author archive</a:t>
            </a:r>
          </a:p>
          <a:p>
            <a:pPr algn="l">
              <a:lnSpc>
                <a:spcPts val="1968"/>
              </a:lnSpc>
              <a:spcBef>
                <a:spcPts val="0"/>
              </a:spcBef>
              <a:spcAft>
                <a:spcPts val="0"/>
              </a:spcAft>
              <a:defRPr sz="1600" b="0">
                <a:solidFill>
                  <a:srgbClr val="142C40"/>
                </a:solidFill>
                <a:latin typeface="DejaVu Sans"/>
              </a:defRPr>
            </a:pPr>
            <a:r>
              <a:t>Three bundled highway videos</a:t>
            </a:r>
          </a:p>
          <a:p>
            <a:pPr algn="l">
              <a:lnSpc>
                <a:spcPts val="1968"/>
              </a:lnSpc>
              <a:spcBef>
                <a:spcPts val="0"/>
              </a:spcBef>
              <a:spcAft>
                <a:spcPts val="0"/>
              </a:spcAft>
              <a:defRPr sz="1600" b="0">
                <a:solidFill>
                  <a:srgbClr val="142C40"/>
                </a:solidFill>
                <a:latin typeface="DejaVu Sans"/>
              </a:defRPr>
            </a:pPr>
            <a:r>
              <a:t>7.6–14.6 seconds each</a:t>
            </a:r>
          </a:p>
          <a:p>
            <a:pPr algn="l">
              <a:lnSpc>
                <a:spcPts val="1968"/>
              </a:lnSpc>
              <a:spcBef>
                <a:spcPts val="0"/>
              </a:spcBef>
              <a:spcAft>
                <a:spcPts val="0"/>
              </a:spcAft>
              <a:defRPr sz="1600" b="0">
                <a:solidFill>
                  <a:srgbClr val="142C40"/>
                </a:solidFill>
                <a:latin typeface="DejaVu Sans"/>
              </a:defRPr>
            </a:pPr>
            <a:r>
              <a:t>Ten annotated positive frames / video</a:t>
            </a:r>
          </a:p>
          <a:p>
            <a:pPr algn="l">
              <a:lnSpc>
                <a:spcPts val="1968"/>
              </a:lnSpc>
              <a:spcBef>
                <a:spcPts val="0"/>
              </a:spcBef>
              <a:spcAft>
                <a:spcPts val="0"/>
              </a:spcAft>
              <a:defRPr sz="1600" b="0">
                <a:solidFill>
                  <a:srgbClr val="142C40"/>
                </a:solidFill>
                <a:latin typeface="DejaVu Sans"/>
              </a:defRPr>
            </a:pPr>
            <a:r>
              <a:t>Actual FPS and timestamps checked</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What cannot be inferred</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Debris boxes do not establish an owner</a:t>
            </a:r>
          </a:p>
          <a:p>
            <a:pPr algn="l">
              <a:lnSpc>
                <a:spcPts val="1968"/>
              </a:lnSpc>
              <a:spcBef>
                <a:spcPts val="0"/>
              </a:spcBef>
              <a:spcAft>
                <a:spcPts val="0"/>
              </a:spcAft>
              <a:defRPr sz="1600" b="0">
                <a:solidFill>
                  <a:srgbClr val="142C40"/>
                </a:solidFill>
                <a:latin typeface="DejaVu Sans"/>
              </a:defRPr>
            </a:pPr>
            <a:r>
              <a:t>No 30-second stationary evidence</a:t>
            </a:r>
          </a:p>
          <a:p>
            <a:pPr algn="l">
              <a:lnSpc>
                <a:spcPts val="1968"/>
              </a:lnSpc>
              <a:spcBef>
                <a:spcPts val="0"/>
              </a:spcBef>
              <a:spcAft>
                <a:spcPts val="0"/>
              </a:spcAft>
              <a:defRPr sz="1600" b="0">
                <a:solidFill>
                  <a:srgbClr val="142C40"/>
                </a:solidFill>
                <a:latin typeface="DejaVu Sans"/>
              </a:defRPr>
            </a:pPr>
            <a:r>
              <a:t>No complete reviewed normal intervals</a:t>
            </a:r>
          </a:p>
          <a:p>
            <a:pPr algn="l">
              <a:lnSpc>
                <a:spcPts val="1968"/>
              </a:lnSpc>
              <a:spcBef>
                <a:spcPts val="0"/>
              </a:spcBef>
              <a:spcAft>
                <a:spcPts val="0"/>
              </a:spcAft>
              <a:defRPr sz="1600" b="0">
                <a:solidFill>
                  <a:srgbClr val="142C40"/>
                </a:solidFill>
                <a:latin typeface="DejaVu Sans"/>
              </a:defRPr>
            </a:pPr>
            <a:r>
              <a:t>ABODA links add no independent data</a:t>
            </a:r>
          </a:p>
          <a:p>
            <a:pPr algn="l">
              <a:lnSpc>
                <a:spcPts val="1968"/>
              </a:lnSpc>
              <a:spcBef>
                <a:spcPts val="0"/>
              </a:spcBef>
              <a:spcAft>
                <a:spcPts val="0"/>
              </a:spcAft>
              <a:defRPr sz="1600" b="0">
                <a:solidFill>
                  <a:srgbClr val="142C40"/>
                </a:solidFill>
                <a:latin typeface="DejaVu Sans"/>
              </a:defRPr>
            </a:pPr>
            <a:r>
              <a:t>No new unattended-event accuracy</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additional frames test detection of very small objects; they are not newly verified unattended events.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IMPROVEMENT / SMALL-ITEM DETECTOR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Fixed overlapping tiles test the small-object</a:t>
            </a:r>
          </a:p>
          <a:p>
            <a:pPr algn="l">
              <a:lnSpc>
                <a:spcPts val="3690"/>
              </a:lnSpc>
              <a:spcBef>
                <a:spcPts val="0"/>
              </a:spcBef>
              <a:spcAft>
                <a:spcPts val="0"/>
              </a:spcAft>
              <a:defRPr sz="3000" b="1">
                <a:solidFill>
                  <a:srgbClr val="142C40"/>
                </a:solidFill>
                <a:latin typeface="DejaVu Sans"/>
              </a:defRPr>
            </a:pPr>
            <a:r>
              <a:t>bottleneck</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166 source-annotated frames × five views = 830 new GPU image views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component_results.json + raw / merged detector predictions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27</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08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Reference source</a:t>
            </a:r>
          </a:p>
        </p:txBody>
      </p:sp>
      <p:sp>
        <p:nvSpPr>
          <p:cNvPr id="12" name="TextBox 11"/>
          <p:cNvSpPr txBox="1"/>
          <p:nvPr/>
        </p:nvSpPr>
        <p:spPr>
          <a:xfrm>
            <a:off x="4978400" y="2273300"/>
            <a:ext cx="685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IoU</a:t>
            </a:r>
          </a:p>
        </p:txBody>
      </p:sp>
      <p:sp>
        <p:nvSpPr>
          <p:cNvPr id="13" name="TextBox 12"/>
          <p:cNvSpPr txBox="1"/>
          <p:nvPr/>
        </p:nvSpPr>
        <p:spPr>
          <a:xfrm>
            <a:off x="5892800" y="2273300"/>
            <a:ext cx="2717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Full image recall</a:t>
            </a:r>
          </a:p>
        </p:txBody>
      </p:sp>
      <p:sp>
        <p:nvSpPr>
          <p:cNvPr id="14" name="TextBox 13"/>
          <p:cNvSpPr txBox="1"/>
          <p:nvPr/>
        </p:nvSpPr>
        <p:spPr>
          <a:xfrm>
            <a:off x="8839200" y="2273300"/>
            <a:ext cx="2717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Full + four tiles recall</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CAVIAR item source boxes</a:t>
            </a:r>
          </a:p>
        </p:txBody>
      </p:sp>
      <p:sp>
        <p:nvSpPr>
          <p:cNvPr id="17" name="TextBox 16"/>
          <p:cNvSpPr txBox="1"/>
          <p:nvPr/>
        </p:nvSpPr>
        <p:spPr>
          <a:xfrm>
            <a:off x="4978400" y="2781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a:t>
            </a:r>
          </a:p>
        </p:txBody>
      </p:sp>
      <p:sp>
        <p:nvSpPr>
          <p:cNvPr id="18" name="TextBox 17"/>
          <p:cNvSpPr txBox="1"/>
          <p:nvPr/>
        </p:nvSpPr>
        <p:spPr>
          <a:xfrm>
            <a:off x="5892800" y="278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69/136 (50.7%)</a:t>
            </a:r>
          </a:p>
        </p:txBody>
      </p:sp>
      <p:sp>
        <p:nvSpPr>
          <p:cNvPr id="19" name="TextBox 18"/>
          <p:cNvSpPr txBox="1"/>
          <p:nvPr/>
        </p:nvSpPr>
        <p:spPr>
          <a:xfrm>
            <a:off x="8839200" y="278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117/136 (86.0%)</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CAVIAR item source boxes</a:t>
            </a:r>
          </a:p>
        </p:txBody>
      </p:sp>
      <p:sp>
        <p:nvSpPr>
          <p:cNvPr id="23" name="TextBox 22"/>
          <p:cNvSpPr txBox="1"/>
          <p:nvPr/>
        </p:nvSpPr>
        <p:spPr>
          <a:xfrm>
            <a:off x="4978400" y="3416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a:t>
            </a:r>
          </a:p>
        </p:txBody>
      </p:sp>
      <p:sp>
        <p:nvSpPr>
          <p:cNvPr id="24" name="TextBox 23"/>
          <p:cNvSpPr txBox="1"/>
          <p:nvPr/>
        </p:nvSpPr>
        <p:spPr>
          <a:xfrm>
            <a:off x="5892800" y="341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66/136 (48.5%)</a:t>
            </a:r>
          </a:p>
        </p:txBody>
      </p:sp>
      <p:sp>
        <p:nvSpPr>
          <p:cNvPr id="25" name="TextBox 24"/>
          <p:cNvSpPr txBox="1"/>
          <p:nvPr/>
        </p:nvSpPr>
        <p:spPr>
          <a:xfrm>
            <a:off x="8839200" y="341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116/136 (85.3%)</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Highway-debris stress cases</a:t>
            </a:r>
          </a:p>
        </p:txBody>
      </p:sp>
      <p:sp>
        <p:nvSpPr>
          <p:cNvPr id="29" name="TextBox 28"/>
          <p:cNvSpPr txBox="1"/>
          <p:nvPr/>
        </p:nvSpPr>
        <p:spPr>
          <a:xfrm>
            <a:off x="4978400" y="4051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a:t>
            </a:r>
          </a:p>
        </p:txBody>
      </p:sp>
      <p:sp>
        <p:nvSpPr>
          <p:cNvPr id="30" name="TextBox 29"/>
          <p:cNvSpPr txBox="1"/>
          <p:nvPr/>
        </p:nvSpPr>
        <p:spPr>
          <a:xfrm>
            <a:off x="5892800" y="405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0/30 (0.0%)</a:t>
            </a:r>
          </a:p>
        </p:txBody>
      </p:sp>
      <p:sp>
        <p:nvSpPr>
          <p:cNvPr id="31" name="TextBox 30"/>
          <p:cNvSpPr txBox="1"/>
          <p:nvPr/>
        </p:nvSpPr>
        <p:spPr>
          <a:xfrm>
            <a:off x="8839200" y="405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7/30 (23.3%)</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Highway-debris stress cases</a:t>
            </a:r>
          </a:p>
        </p:txBody>
      </p:sp>
      <p:sp>
        <p:nvSpPr>
          <p:cNvPr id="35" name="TextBox 34"/>
          <p:cNvSpPr txBox="1"/>
          <p:nvPr/>
        </p:nvSpPr>
        <p:spPr>
          <a:xfrm>
            <a:off x="4978400" y="4686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a:t>
            </a:r>
          </a:p>
        </p:txBody>
      </p:sp>
      <p:sp>
        <p:nvSpPr>
          <p:cNvPr id="36" name="TextBox 35"/>
          <p:cNvSpPr txBox="1"/>
          <p:nvPr/>
        </p:nvSpPr>
        <p:spPr>
          <a:xfrm>
            <a:off x="5892800" y="468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0/30 (0.0%)</a:t>
            </a:r>
          </a:p>
        </p:txBody>
      </p:sp>
      <p:sp>
        <p:nvSpPr>
          <p:cNvPr id="37" name="TextBox 36"/>
          <p:cNvSpPr txBox="1"/>
          <p:nvPr/>
        </p:nvSpPr>
        <p:spPr>
          <a:xfrm>
            <a:off x="8839200" y="468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7/30 (23.3%)</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Same weights, query and score thresholds. Partial reference boxes support recall, not object precision or</a:t>
            </a:r>
          </a:p>
          <a:p>
            <a:pPr algn="l">
              <a:lnSpc>
                <a:spcPts val="1722"/>
              </a:lnSpc>
              <a:spcBef>
                <a:spcPts val="0"/>
              </a:spcBef>
              <a:spcAft>
                <a:spcPts val="0"/>
              </a:spcAft>
              <a:defRPr sz="1400" b="1">
                <a:solidFill>
                  <a:srgbClr val="007E80"/>
                </a:solidFill>
                <a:latin typeface="DejaVu Sans"/>
              </a:defRPr>
            </a:pPr>
            <a:r>
              <a:t>event accuracy.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VADCLIP / SEPARATE SUPERVISED STUDY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VadCLIP remains a qualified smoking baseline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Offline supervised adaptation • different source groups and supervision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gpu_all_models_20261013/vadclip/adapter/eval.json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28</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Measured test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1,056 test frames</a:t>
            </a:r>
          </a:p>
          <a:p>
            <a:pPr algn="l">
              <a:lnSpc>
                <a:spcPts val="1968"/>
              </a:lnSpc>
              <a:spcBef>
                <a:spcPts val="0"/>
              </a:spcBef>
              <a:spcAft>
                <a:spcPts val="0"/>
              </a:spcAft>
              <a:defRPr sz="1600" b="0">
                <a:solidFill>
                  <a:srgbClr val="142C40"/>
                </a:solidFill>
                <a:latin typeface="DejaVu Sans"/>
              </a:defRPr>
            </a:pPr>
            <a:r>
              <a:t>560 positive / 496 normal</a:t>
            </a:r>
          </a:p>
          <a:p>
            <a:pPr algn="l">
              <a:lnSpc>
                <a:spcPts val="1968"/>
              </a:lnSpc>
              <a:spcBef>
                <a:spcPts val="0"/>
              </a:spcBef>
              <a:spcAft>
                <a:spcPts val="0"/>
              </a:spcAft>
              <a:defRPr sz="1600" b="0">
                <a:solidFill>
                  <a:srgbClr val="142C40"/>
                </a:solidFill>
                <a:latin typeface="DejaVu Sans"/>
              </a:defRPr>
            </a:pPr>
            <a:r>
              <a:t>AP 0.633; AUROC 0.587</a:t>
            </a:r>
          </a:p>
          <a:p>
            <a:pPr algn="l">
              <a:lnSpc>
                <a:spcPts val="1968"/>
              </a:lnSpc>
              <a:spcBef>
                <a:spcPts val="0"/>
              </a:spcBef>
              <a:spcAft>
                <a:spcPts val="0"/>
              </a:spcAft>
              <a:defRPr sz="1600" b="0">
                <a:solidFill>
                  <a:srgbClr val="142C40"/>
                </a:solidFill>
                <a:latin typeface="DejaVu Sans"/>
              </a:defRPr>
            </a:pPr>
            <a:r>
              <a:t>Recall 51.8%; FPR 35.7%</a:t>
            </a:r>
          </a:p>
          <a:p>
            <a:pPr algn="l">
              <a:lnSpc>
                <a:spcPts val="1968"/>
              </a:lnSpc>
              <a:spcBef>
                <a:spcPts val="0"/>
              </a:spcBef>
              <a:spcAft>
                <a:spcPts val="0"/>
              </a:spcAft>
              <a:defRPr sz="1600" b="0">
                <a:solidFill>
                  <a:srgbClr val="142C40"/>
                </a:solidFill>
                <a:latin typeface="DejaVu Sans"/>
              </a:defRPr>
            </a:pPr>
            <a:r>
              <a:t>F1 0.565, dev-frozen cutoff</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Comparison boundaries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9 training clips / 4 validation clips</a:t>
            </a:r>
          </a:p>
          <a:p>
            <a:pPr algn="l">
              <a:lnSpc>
                <a:spcPts val="1968"/>
              </a:lnSpc>
              <a:spcBef>
                <a:spcPts val="0"/>
              </a:spcBef>
              <a:spcAft>
                <a:spcPts val="0"/>
              </a:spcAft>
              <a:defRPr sz="1600" b="0">
                <a:solidFill>
                  <a:srgbClr val="142C40"/>
                </a:solidFill>
                <a:latin typeface="DejaVu Sans"/>
              </a:defRPr>
            </a:pPr>
            <a:r>
              <a:t>Adapter receives smoking supervision</a:t>
            </a:r>
          </a:p>
          <a:p>
            <a:pPr algn="l">
              <a:lnSpc>
                <a:spcPts val="1968"/>
              </a:lnSpc>
              <a:spcBef>
                <a:spcPts val="0"/>
              </a:spcBef>
              <a:spcAft>
                <a:spcPts val="0"/>
              </a:spcAft>
              <a:defRPr sz="1600" b="0">
                <a:solidFill>
                  <a:srgbClr val="142C40"/>
                </a:solidFill>
                <a:latin typeface="DejaVu Sans"/>
              </a:defRPr>
            </a:pPr>
            <a:r>
              <a:t>Not an unsupervised five-task model</a:t>
            </a:r>
          </a:p>
          <a:p>
            <a:pPr algn="l">
              <a:lnSpc>
                <a:spcPts val="1968"/>
              </a:lnSpc>
              <a:spcBef>
                <a:spcPts val="0"/>
              </a:spcBef>
              <a:spcAft>
                <a:spcPts val="0"/>
              </a:spcAft>
              <a:defRPr sz="1600" b="0">
                <a:solidFill>
                  <a:srgbClr val="142C40"/>
                </a:solidFill>
                <a:latin typeface="DejaVu Sans"/>
              </a:defRPr>
            </a:pPr>
            <a:r>
              <a:t>No new VadCLIP fine-tune this round</a:t>
            </a:r>
          </a:p>
          <a:p>
            <a:pPr algn="l">
              <a:lnSpc>
                <a:spcPts val="1968"/>
              </a:lnSpc>
              <a:spcBef>
                <a:spcPts val="0"/>
              </a:spcBef>
              <a:spcAft>
                <a:spcPts val="0"/>
              </a:spcAft>
              <a:defRPr sz="1600" b="0">
                <a:solidFill>
                  <a:srgbClr val="142C40"/>
                </a:solidFill>
                <a:latin typeface="DejaVu Sans"/>
              </a:defRPr>
            </a:pPr>
            <a:r>
              <a:t>Not the same split as CLIP camera c1</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Avoid a single leaderboard that mixes this offline supervised protocol with image-model zero-shot or</a:t>
            </a:r>
          </a:p>
          <a:p>
            <a:pPr algn="l">
              <a:lnSpc>
                <a:spcPts val="1722"/>
              </a:lnSpc>
              <a:spcBef>
                <a:spcPts val="0"/>
              </a:spcBef>
              <a:spcAft>
                <a:spcPts val="0"/>
              </a:spcAft>
              <a:defRPr sz="1400" b="1">
                <a:solidFill>
                  <a:srgbClr val="007E80"/>
                </a:solidFill>
                <a:latin typeface="DejaVu Sans"/>
              </a:defRPr>
            </a:pPr>
            <a:r>
              <a:t>event-stream tests.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CURRENT ASSESSMENT / ALL FIVE OBJECTIVES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No single model is ready to cover all five objectives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Use task-specific candidate routes and measure the evidence they actually consume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All completed reports; stage-specific qualifications apply</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29</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9050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2794000" y="2273300"/>
            <a:ext cx="4127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Useful candidate evidence</a:t>
            </a:r>
          </a:p>
        </p:txBody>
      </p:sp>
      <p:sp>
        <p:nvSpPr>
          <p:cNvPr id="13" name="TextBox 12"/>
          <p:cNvSpPr txBox="1"/>
          <p:nvPr/>
        </p:nvSpPr>
        <p:spPr>
          <a:xfrm>
            <a:off x="7150100" y="2273300"/>
            <a:ext cx="440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Main unresolved issue</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9050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a:t>
            </a:r>
          </a:p>
        </p:txBody>
      </p:sp>
      <p:sp>
        <p:nvSpPr>
          <p:cNvPr id="16" name="TextBox 15"/>
          <p:cNvSpPr txBox="1"/>
          <p:nvPr/>
        </p:nvSpPr>
        <p:spPr>
          <a:xfrm>
            <a:off x="2794000" y="2781300"/>
            <a:ext cx="4127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Person crops; SigLIP ensemble on HMDB</a:t>
            </a:r>
          </a:p>
        </p:txBody>
      </p:sp>
      <p:sp>
        <p:nvSpPr>
          <p:cNvPr id="17" name="TextBox 16"/>
          <p:cNvSpPr txBox="1"/>
          <p:nvPr/>
        </p:nvSpPr>
        <p:spPr>
          <a:xfrm>
            <a:off x="7150100" y="27813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CCTV low-FPR recall; tiny smokers</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19050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a:t>
            </a:r>
          </a:p>
        </p:txBody>
      </p:sp>
      <p:sp>
        <p:nvSpPr>
          <p:cNvPr id="21" name="TextBox 20"/>
          <p:cNvSpPr txBox="1"/>
          <p:nvPr/>
        </p:nvSpPr>
        <p:spPr>
          <a:xfrm>
            <a:off x="2794000" y="3327400"/>
            <a:ext cx="4127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SigLIP IWDD action AP .893</a:t>
            </a:r>
          </a:p>
        </p:txBody>
      </p:sp>
      <p:sp>
        <p:nvSpPr>
          <p:cNvPr id="22" name="TextBox 21"/>
          <p:cNvSpPr txBox="1"/>
          <p:nvPr/>
        </p:nvSpPr>
        <p:spPr>
          <a:xfrm>
            <a:off x="7150100" y="33274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Pedestrian litter vs placing; localization</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19050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6" name="TextBox 25"/>
          <p:cNvSpPr txBox="1"/>
          <p:nvPr/>
        </p:nvSpPr>
        <p:spPr>
          <a:xfrm>
            <a:off x="2794000" y="3873500"/>
            <a:ext cx="4127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Geometry / thermal supplied tracks</a:t>
            </a:r>
          </a:p>
        </p:txBody>
      </p:sp>
      <p:sp>
        <p:nvSpPr>
          <p:cNvPr id="27" name="TextBox 26"/>
          <p:cNvSpPr txBox="1"/>
          <p:nvPr/>
        </p:nvSpPr>
        <p:spPr>
          <a:xfrm>
            <a:off x="7150100" y="38735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Automatic RGB tracks; unseen cameras</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19050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1" name="TextBox 30"/>
          <p:cNvSpPr txBox="1"/>
          <p:nvPr/>
        </p:nvSpPr>
        <p:spPr>
          <a:xfrm>
            <a:off x="2794000" y="4419600"/>
            <a:ext cx="4127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Photo probes / apparent posture</a:t>
            </a:r>
          </a:p>
        </p:txBody>
      </p:sp>
      <p:sp>
        <p:nvSpPr>
          <p:cNvPr id="32" name="TextBox 31"/>
          <p:cNvSpPr txBox="1"/>
          <p:nvPr/>
        </p:nvSpPr>
        <p:spPr>
          <a:xfrm>
            <a:off x="7150100" y="44196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Verified persistent video; rest controls</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19050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a:t>
            </a:r>
          </a:p>
        </p:txBody>
      </p:sp>
      <p:sp>
        <p:nvSpPr>
          <p:cNvPr id="36" name="TextBox 35"/>
          <p:cNvSpPr txBox="1"/>
          <p:nvPr/>
        </p:nvSpPr>
        <p:spPr>
          <a:xfrm>
            <a:off x="2794000" y="4965700"/>
            <a:ext cx="4127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Grounded items + explicit state rule</a:t>
            </a:r>
          </a:p>
        </p:txBody>
      </p:sp>
      <p:sp>
        <p:nvSpPr>
          <p:cNvPr id="37" name="TextBox 36"/>
          <p:cNvSpPr txBox="1"/>
          <p:nvPr/>
        </p:nvSpPr>
        <p:spPr>
          <a:xfrm>
            <a:off x="7150100" y="49657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Owner truth; detection gaps; normal hours</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These are research candidates with different protocols; the AP values do not form a comparable</a:t>
            </a:r>
          </a:p>
          <a:p>
            <a:pPr algn="l">
              <a:lnSpc>
                <a:spcPts val="1722"/>
              </a:lnSpc>
              <a:spcBef>
                <a:spcPts val="0"/>
              </a:spcBef>
              <a:spcAft>
                <a:spcPts val="0"/>
              </a:spcAft>
              <a:defRPr sz="1400" b="1">
                <a:solidFill>
                  <a:srgbClr val="C86535"/>
                </a:solidFill>
                <a:latin typeface="DejaVu Sans"/>
              </a:defRPr>
            </a:pPr>
            <a:r>
              <a:t>deployment leaderboard.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WHAT WORKED / WHAT DID NOT</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Retain demonstrated gains and preserve</a:t>
            </a:r>
          </a:p>
          <a:p>
            <a:pPr algn="l">
              <a:lnSpc>
                <a:spcPts val="3690"/>
              </a:lnSpc>
              <a:spcBef>
                <a:spcPts val="0"/>
              </a:spcBef>
              <a:spcAft>
                <a:spcPts val="0"/>
              </a:spcAft>
              <a:defRPr sz="3000" b="1">
                <a:solidFill>
                  <a:srgbClr val="142C40"/>
                </a:solidFill>
                <a:latin typeface="DejaVu Sans"/>
              </a:defRPr>
            </a:pPr>
            <a:r>
              <a:t>regressions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Model selection must reward usable decisions as well as ranking</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All saved source-level metrics and candidate histories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30</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Useful progress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Real dumping-action supervision</a:t>
            </a:r>
          </a:p>
          <a:p>
            <a:pPr algn="l">
              <a:lnSpc>
                <a:spcPts val="1968"/>
              </a:lnSpc>
              <a:spcBef>
                <a:spcPts val="0"/>
              </a:spcBef>
              <a:spcAft>
                <a:spcPts val="0"/>
              </a:spcAft>
              <a:defRPr sz="1600" b="0">
                <a:solidFill>
                  <a:srgbClr val="142C40"/>
                </a:solidFill>
                <a:latin typeface="DejaVu Sans"/>
              </a:defRPr>
            </a:pPr>
            <a:r>
              <a:t>Source-grouped data / duplicate checks</a:t>
            </a:r>
          </a:p>
          <a:p>
            <a:pPr algn="l">
              <a:lnSpc>
                <a:spcPts val="1968"/>
              </a:lnSpc>
              <a:spcBef>
                <a:spcPts val="0"/>
              </a:spcBef>
              <a:spcAft>
                <a:spcPts val="0"/>
              </a:spcAft>
              <a:defRPr sz="1600" b="0">
                <a:solidFill>
                  <a:srgbClr val="142C40"/>
                </a:solidFill>
                <a:latin typeface="DejaVu Sans"/>
              </a:defRPr>
            </a:pPr>
            <a:r>
              <a:t>Person-region coverage for smoking</a:t>
            </a:r>
          </a:p>
          <a:p>
            <a:pPr algn="l">
              <a:lnSpc>
                <a:spcPts val="1968"/>
              </a:lnSpc>
              <a:spcBef>
                <a:spcPts val="0"/>
              </a:spcBef>
              <a:spcAft>
                <a:spcPts val="0"/>
              </a:spcAft>
              <a:defRPr sz="1600" b="0">
                <a:solidFill>
                  <a:srgbClr val="142C40"/>
                </a:solidFill>
                <a:latin typeface="DejaVu Sans"/>
              </a:defRPr>
            </a:pPr>
            <a:r>
              <a:t>Explicit item persistence / owner state</a:t>
            </a:r>
          </a:p>
          <a:p>
            <a:pPr algn="l">
              <a:lnSpc>
                <a:spcPts val="1968"/>
              </a:lnSpc>
              <a:spcBef>
                <a:spcPts val="0"/>
              </a:spcBef>
              <a:spcAft>
                <a:spcPts val="0"/>
              </a:spcAft>
              <a:defRPr sz="1600" b="0">
                <a:solidFill>
                  <a:srgbClr val="142C40"/>
                </a:solidFill>
                <a:latin typeface="DejaVu Sans"/>
              </a:defRPr>
            </a:pPr>
            <a:r>
              <a:t>Ensembles on adapted action clips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Not established or regressed</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Photo gains → surveillance transfer</a:t>
            </a:r>
          </a:p>
          <a:p>
            <a:pPr algn="l">
              <a:lnSpc>
                <a:spcPts val="1968"/>
              </a:lnSpc>
              <a:spcBef>
                <a:spcPts val="0"/>
              </a:spcBef>
              <a:spcAft>
                <a:spcPts val="0"/>
              </a:spcAft>
              <a:defRPr sz="1600" b="0">
                <a:solidFill>
                  <a:srgbClr val="142C40"/>
                </a:solidFill>
                <a:latin typeface="DejaVu Sans"/>
              </a:defRPr>
            </a:pPr>
            <a:r>
              <a:t>AP gains → stable alert thresholds</a:t>
            </a:r>
          </a:p>
          <a:p>
            <a:pPr algn="l">
              <a:lnSpc>
                <a:spcPts val="1968"/>
              </a:lnSpc>
              <a:spcBef>
                <a:spcPts val="0"/>
              </a:spcBef>
              <a:spcAft>
                <a:spcPts val="0"/>
              </a:spcAft>
              <a:defRPr sz="1600" b="0">
                <a:solidFill>
                  <a:srgbClr val="142C40"/>
                </a:solidFill>
                <a:latin typeface="DejaVu Sans"/>
              </a:defRPr>
            </a:pPr>
            <a:r>
              <a:t>Extra GRU / mining → universal gains</a:t>
            </a:r>
          </a:p>
          <a:p>
            <a:pPr algn="l">
              <a:lnSpc>
                <a:spcPts val="1968"/>
              </a:lnSpc>
              <a:spcBef>
                <a:spcPts val="0"/>
              </a:spcBef>
              <a:spcAft>
                <a:spcPts val="0"/>
              </a:spcAft>
              <a:defRPr sz="1600" b="0">
                <a:solidFill>
                  <a:srgbClr val="142C40"/>
                </a:solidFill>
                <a:latin typeface="DejaVu Sans"/>
              </a:defRPr>
            </a:pPr>
            <a:r>
              <a:t>More memory → fewer real alarms</a:t>
            </a:r>
          </a:p>
          <a:p>
            <a:pPr algn="l">
              <a:lnSpc>
                <a:spcPts val="1968"/>
              </a:lnSpc>
              <a:spcBef>
                <a:spcPts val="0"/>
              </a:spcBef>
              <a:spcAft>
                <a:spcPts val="0"/>
              </a:spcAft>
              <a:defRPr sz="1600" b="0">
                <a:solidFill>
                  <a:srgbClr val="142C40"/>
                </a:solidFill>
                <a:latin typeface="DejaVu Sans"/>
              </a:defRPr>
            </a:pPr>
            <a:r>
              <a:t>More adjacent frames → more events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latest event-policy ablations remain research alternatives; the simpler baseline is retained.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NEXT STEPS / GENERALIZATION GATES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Prioritize independently labelled target-camera</a:t>
            </a:r>
          </a:p>
          <a:p>
            <a:pPr algn="l">
              <a:lnSpc>
                <a:spcPts val="3690"/>
              </a:lnSpc>
              <a:spcBef>
                <a:spcPts val="0"/>
              </a:spcBef>
              <a:spcAft>
                <a:spcPts val="0"/>
              </a:spcAft>
              <a:defRPr sz="3000" b="1">
                <a:solidFill>
                  <a:srgbClr val="142C40"/>
                </a:solidFill>
                <a:latin typeface="DejaVu Sans"/>
              </a:defRPr>
            </a:pPr>
            <a:r>
              <a:t>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Freeze the next source holdout before looking at its predictions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Existing definitions; current component and event bottlenecks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31</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612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Priority</a:t>
            </a:r>
          </a:p>
        </p:txBody>
      </p:sp>
      <p:sp>
        <p:nvSpPr>
          <p:cNvPr id="12" name="TextBox 11"/>
          <p:cNvSpPr txBox="1"/>
          <p:nvPr/>
        </p:nvSpPr>
        <p:spPr>
          <a:xfrm>
            <a:off x="2501900" y="2273300"/>
            <a:ext cx="4419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Concrete work</a:t>
            </a:r>
          </a:p>
        </p:txBody>
      </p:sp>
      <p:sp>
        <p:nvSpPr>
          <p:cNvPr id="13" name="TextBox 12"/>
          <p:cNvSpPr txBox="1"/>
          <p:nvPr/>
        </p:nvSpPr>
        <p:spPr>
          <a:xfrm>
            <a:off x="7150100" y="2273300"/>
            <a:ext cx="440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Acceptance evidence</a:t>
            </a:r>
          </a:p>
        </p:txBody>
      </p:sp>
      <p:sp>
        <p:nvSpPr>
          <p:cNvPr id="14" name="Rectangle 13"/>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612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 Data / labels</a:t>
            </a:r>
          </a:p>
        </p:txBody>
      </p:sp>
      <p:sp>
        <p:nvSpPr>
          <p:cNvPr id="16" name="TextBox 15"/>
          <p:cNvSpPr txBox="1"/>
          <p:nvPr/>
        </p:nvSpPr>
        <p:spPr>
          <a:xfrm>
            <a:off x="2501900" y="2781300"/>
            <a:ext cx="441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Review ownership, event boundaries, controls</a:t>
            </a:r>
          </a:p>
        </p:txBody>
      </p:sp>
      <p:sp>
        <p:nvSpPr>
          <p:cNvPr id="17" name="TextBox 16"/>
          <p:cNvSpPr txBox="1"/>
          <p:nvPr/>
        </p:nvSpPr>
        <p:spPr>
          <a:xfrm>
            <a:off x="7150100" y="2781300"/>
            <a:ext cx="4406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Independent cameras / events, not frame count</a:t>
            </a:r>
          </a:p>
        </p:txBody>
      </p:sp>
      <p:cxnSp>
        <p:nvCxnSpPr>
          <p:cNvPr id="18" name="Connector 17"/>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416300"/>
            <a:ext cx="1612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2. Components</a:t>
            </a:r>
          </a:p>
        </p:txBody>
      </p:sp>
      <p:sp>
        <p:nvSpPr>
          <p:cNvPr id="21" name="TextBox 20"/>
          <p:cNvSpPr txBox="1"/>
          <p:nvPr/>
        </p:nvSpPr>
        <p:spPr>
          <a:xfrm>
            <a:off x="2501900" y="3416300"/>
            <a:ext cx="441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Validate crops, item recall and associations</a:t>
            </a:r>
          </a:p>
        </p:txBody>
      </p:sp>
      <p:sp>
        <p:nvSpPr>
          <p:cNvPr id="22" name="TextBox 21"/>
          <p:cNvSpPr txBox="1"/>
          <p:nvPr/>
        </p:nvSpPr>
        <p:spPr>
          <a:xfrm>
            <a:off x="7150100" y="3416300"/>
            <a:ext cx="4406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No oracle crops; identity / coverage audits</a:t>
            </a:r>
          </a:p>
        </p:txBody>
      </p:sp>
      <p:cxnSp>
        <p:nvCxnSpPr>
          <p:cNvPr id="23" name="Connector 22"/>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4051300"/>
            <a:ext cx="1612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3. Training</a:t>
            </a:r>
          </a:p>
        </p:txBody>
      </p:sp>
      <p:sp>
        <p:nvSpPr>
          <p:cNvPr id="26" name="TextBox 25"/>
          <p:cNvSpPr txBox="1"/>
          <p:nvPr/>
        </p:nvSpPr>
        <p:spPr>
          <a:xfrm>
            <a:off x="2501900" y="4051300"/>
            <a:ext cx="441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Train on confirmed source-balanced events</a:t>
            </a:r>
          </a:p>
        </p:txBody>
      </p:sp>
      <p:sp>
        <p:nvSpPr>
          <p:cNvPr id="27" name="TextBox 26"/>
          <p:cNvSpPr txBox="1"/>
          <p:nvPr/>
        </p:nvSpPr>
        <p:spPr>
          <a:xfrm>
            <a:off x="7150100" y="4051300"/>
            <a:ext cx="4406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Fixed dev operating point; preserve controls</a:t>
            </a:r>
          </a:p>
        </p:txBody>
      </p:sp>
      <p:cxnSp>
        <p:nvCxnSpPr>
          <p:cNvPr id="28" name="Connector 27"/>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686300"/>
            <a:ext cx="1612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4. Final</a:t>
            </a:r>
          </a:p>
          <a:p>
            <a:pPr algn="l">
              <a:lnSpc>
                <a:spcPts val="1599"/>
              </a:lnSpc>
              <a:spcBef>
                <a:spcPts val="0"/>
              </a:spcBef>
              <a:spcAft>
                <a:spcPts val="0"/>
              </a:spcAft>
              <a:defRPr sz="1300" b="1">
                <a:solidFill>
                  <a:srgbClr val="142C40"/>
                </a:solidFill>
                <a:latin typeface="DejaVu Sans"/>
              </a:defRPr>
            </a:pPr>
            <a:r>
              <a:t>evaluation</a:t>
            </a:r>
          </a:p>
        </p:txBody>
      </p:sp>
      <p:sp>
        <p:nvSpPr>
          <p:cNvPr id="31" name="TextBox 30"/>
          <p:cNvSpPr txBox="1"/>
          <p:nvPr/>
        </p:nvSpPr>
        <p:spPr>
          <a:xfrm>
            <a:off x="2501900" y="4686300"/>
            <a:ext cx="441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New untouched cameras + long normal streams</a:t>
            </a:r>
          </a:p>
        </p:txBody>
      </p:sp>
      <p:sp>
        <p:nvSpPr>
          <p:cNvPr id="32" name="TextBox 31"/>
          <p:cNvSpPr txBox="1"/>
          <p:nvPr/>
        </p:nvSpPr>
        <p:spPr>
          <a:xfrm>
            <a:off x="7150100" y="4686300"/>
            <a:ext cx="4406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Event recall, delay, duplicates and FAR bounds</a:t>
            </a:r>
          </a:p>
        </p:txBody>
      </p:sp>
      <p:cxnSp>
        <p:nvCxnSpPr>
          <p:cNvPr id="33" name="Connector 32"/>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Preserve an abstain / unknown state when duration, ownership or visibility is insufficient.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REPRODUCIBILITY / ARTIFACTS AND CHECKS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Every stage remains inspectable and replayable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Editable PowerPoint and vector PDF share one checked layout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17 OCT 2026 • Progress source manifest + verification / validation 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32</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Preserved research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Fine-tuning: 46,926 held-out scores</a:t>
            </a:r>
          </a:p>
          <a:p>
            <a:pPr algn="l">
              <a:lnSpc>
                <a:spcPts val="1968"/>
              </a:lnSpc>
              <a:spcBef>
                <a:spcPts val="0"/>
              </a:spcBef>
              <a:spcAft>
                <a:spcPts val="0"/>
              </a:spcAft>
              <a:defRPr sz="1600" b="0">
                <a:solidFill>
                  <a:srgbClr val="142C40"/>
                </a:solidFill>
                <a:latin typeface="DejaVu Sans"/>
              </a:defRPr>
            </a:pPr>
            <a:r>
              <a:t>Strategy screen: 117,612 scores</a:t>
            </a:r>
          </a:p>
          <a:p>
            <a:pPr algn="l">
              <a:lnSpc>
                <a:spcPts val="1968"/>
              </a:lnSpc>
              <a:spcBef>
                <a:spcPts val="0"/>
              </a:spcBef>
              <a:spcAft>
                <a:spcPts val="0"/>
              </a:spcAft>
              <a:defRPr sz="1600" b="0">
                <a:solidFill>
                  <a:srgbClr val="142C40"/>
                </a:solidFill>
                <a:latin typeface="DejaVu Sans"/>
              </a:defRPr>
            </a:pPr>
            <a:r>
              <a:t>Video pilot: 99,528 scores</a:t>
            </a:r>
          </a:p>
          <a:p>
            <a:pPr algn="l">
              <a:lnSpc>
                <a:spcPts val="1968"/>
              </a:lnSpc>
              <a:spcBef>
                <a:spcPts val="0"/>
              </a:spcBef>
              <a:spcAft>
                <a:spcPts val="0"/>
              </a:spcAft>
              <a:defRPr sz="1600" b="0">
                <a:solidFill>
                  <a:srgbClr val="142C40"/>
                </a:solidFill>
                <a:latin typeface="DejaVu Sans"/>
              </a:defRPr>
            </a:pPr>
            <a:r>
              <a:t>Latest: 5,643 smoking scores</a:t>
            </a:r>
          </a:p>
          <a:p>
            <a:pPr algn="l">
              <a:lnSpc>
                <a:spcPts val="1968"/>
              </a:lnSpc>
              <a:spcBef>
                <a:spcPts val="0"/>
              </a:spcBef>
              <a:spcAft>
                <a:spcPts val="0"/>
              </a:spcAft>
              <a:defRPr sz="1600" b="0">
                <a:solidFill>
                  <a:srgbClr val="142C40"/>
                </a:solidFill>
                <a:latin typeface="DejaVu Sans"/>
              </a:defRPr>
            </a:pPr>
            <a:r>
              <a:t>Raw detector views + causal alert traces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Validation and deliverables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182 unit tests passed</a:t>
            </a:r>
          </a:p>
          <a:p>
            <a:pPr algn="l">
              <a:lnSpc>
                <a:spcPts val="1968"/>
              </a:lnSpc>
              <a:spcBef>
                <a:spcPts val="0"/>
              </a:spcBef>
              <a:spcAft>
                <a:spcPts val="0"/>
              </a:spcAft>
              <a:defRPr sz="1600" b="0">
                <a:solidFill>
                  <a:srgbClr val="142C40"/>
                </a:solidFill>
                <a:latin typeface="DejaVu Sans"/>
              </a:defRPr>
            </a:pPr>
            <a:r>
              <a:t>Ruff lint / format + whitespace checks</a:t>
            </a:r>
          </a:p>
          <a:p>
            <a:pPr algn="l">
              <a:lnSpc>
                <a:spcPts val="1968"/>
              </a:lnSpc>
              <a:spcBef>
                <a:spcPts val="0"/>
              </a:spcBef>
              <a:spcAft>
                <a:spcPts val="0"/>
              </a:spcAft>
              <a:defRPr sz="1600" b="0">
                <a:solidFill>
                  <a:srgbClr val="142C40"/>
                </a:solidFill>
                <a:latin typeface="DejaVu Sans"/>
              </a:defRPr>
            </a:pPr>
            <a:r>
              <a:t>38 policy selections checked</a:t>
            </a:r>
          </a:p>
          <a:p>
            <a:pPr algn="l">
              <a:lnSpc>
                <a:spcPts val="1968"/>
              </a:lnSpc>
              <a:spcBef>
                <a:spcPts val="0"/>
              </a:spcBef>
              <a:spcAft>
                <a:spcPts val="0"/>
              </a:spcAft>
              <a:defRPr sz="1600" b="0">
                <a:solidFill>
                  <a:srgbClr val="142C40"/>
                </a:solidFill>
                <a:latin typeface="DejaVu Sans"/>
              </a:defRPr>
            </a:pPr>
            <a:r>
              <a:t>8 detector-metric cells replayed</a:t>
            </a:r>
          </a:p>
          <a:p>
            <a:pPr algn="l">
              <a:lnSpc>
                <a:spcPts val="1968"/>
              </a:lnSpc>
              <a:spcBef>
                <a:spcPts val="0"/>
              </a:spcBef>
              <a:spcAft>
                <a:spcPts val="0"/>
              </a:spcAft>
              <a:defRPr sz="1600" b="0">
                <a:solidFill>
                  <a:srgbClr val="142C40"/>
                </a:solidFill>
                <a:latin typeface="DejaVu Sans"/>
              </a:defRPr>
            </a:pPr>
            <a:r>
              <a:t>PDF / PPTX + notes + source hashes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Historical artifacts remain unchanged. New results, qualifications and code are linked from the latest</a:t>
            </a:r>
          </a:p>
          <a:p>
            <a:pPr algn="l">
              <a:lnSpc>
                <a:spcPts val="1722"/>
              </a:lnSpc>
              <a:spcBef>
                <a:spcPts val="0"/>
              </a:spcBef>
              <a:spcAft>
                <a:spcPts val="0"/>
              </a:spcAft>
              <a:defRPr sz="1400" b="1">
                <a:solidFill>
                  <a:srgbClr val="007E80"/>
                </a:solidFill>
                <a:latin typeface="DejaVu Sans"/>
              </a:defRPr>
            </a:pPr>
            <a:r>
              <a:t>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Five-anomaly evaluation and training progress</dc:title>
  <dc:subject>Methodology, data, findings and improvements through 17 October 2026</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