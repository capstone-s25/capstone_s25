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Focused addendum to the 19 October paper and 45-slide history. These are actual new experiments. The data source is scripted smoking-action/gesture evidence, not independently verified CCTV smoking. No new backbone or SmolVLM training and no latency test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 repository airslab2020/XRF55-repo; public Kaggle RGB/depth/IR release version 6. There are 886,570,077 bytes and 11,840 sixteen-view JPEG inputs. The release README records CC BY-NC 4.0. Numeric subject aliases are conservatively treated as global. Seventeen scene-subject training groups collapse to 15 numeric groups. One test scene and three groups do not represent 240 independent people. Assistant visual review used training clips only. PETS links were unavailable; synthetic and rendered method-output luggage media were rejected. Other exclusions remain in source_audit.json.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Old-only2812/new-only340/mixed3152 training cases. Frozen visual encoders, alpha0 only. Float32 CUDA features; normalized last/mean/max/delta pooling and automatic COCO crops. All36 logistic regression fits converged;0 new visual fine-tunes. Selection tie-breaks mean recall, worst AP, mean AP. 1916 held-out cases per encoder include1676 previously inspected historical cases and240 new proxy cases. Source-aware development FPR does not guarantee held-out FPR.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recipe/C choices are development-only. Historical CCTV is retrospective. XRF55 is a one-scene, three-subject action-proxy holdout. All source cohorts and raw/maxF1/budget points are in the report CSV; photo-source results must not be pooled into CCTV accuracy. The genuine pretrained text control and historical last-frame native reference are also retained. This comparison selects within each matched family, not a single fixed head.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recipe/C choices are development-only. Historical CCTV is retrospective. XRF55 is a one-scene, three-subject action-proxy holdout. All source cohorts and raw/maxF1/budget points are in the report CSV; photo-source results must not be pooled into CCTV accuracy. The genuine pretrained text control and historical last-frame native reference are also retained. This comparison selects within each matched family, not a single fixed head.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AP is 0.3855 versus 0.3573 for LoRA. The existing smoking route is seed 42 / learning rate 0.0001, with 4,341,760 language parameters trained previously. Both development routes were calibrated before any new-source test forward. There is no scene-4 route selection or new fine-tuning. Eight uniform views are the validated prompt maximum; CLIP uses sixteen. Native-versus-cached margin errors are below 0.002. This result concerns scripted action source transfer, not true CCTV smoking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recordings are processed from time zero to EOF at 2 Hz: 2,512 images and 12,560 views across three arms. Full-frame views plus four 60% corner tiles use class-wise NMS at IoU 0.5. Item-only tiles retain full-frame person proposals. The unchanged rule requires known ownership, 30 seconds of stationarity, 0.5 seconds of owner absence and two seconds of alarm persistence. Primary normal exposure is 205.739 seconds, or 3.43 minutes; its zero-alert one-sided 95% Poisson upper bound is 52.42/hour. Saved results also align the earlier t &gt;= 20 exposure of 165.739 seconds. Forty added seconds are the same footage. Delay measures onset to alarm, not inference latency.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ABODA has five provisional events and 359 normal seconds; full-frame finds 4/5, while each tile arm finds 2/5. These intervals are not independently reviewed. Right-censored HARD remains separate from the two primary events. All three arms detect its annotated interval, but repeated alarms persist; all-tiles adds a normal false alert. MEDIUM item-track IDs increase from 284 to 497 and EASY from 162 to 371, consistent with spurious or fragmented associations. These counts are not ground-truth identity-switch rates. No rule was retuned on these test streams.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Verification.json and native_feature_validation.json passed before report build.192 unit tests passed previously, including5newtilefusioninvariants; currentchecklog isstoredwithrun. Exact decoded-pixel disjointness cannotruleoutperceptual/correlated repetition. No latency benchmark, camera-rate simulation or CPU-only quality cap. Inference uses availableGPU. Convex fitting/metric replay usesCPU.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new littering, loitering or public-sleep scores are claimed. Prior results and failed transfers remain in the 19 October report. About three normal camera-hours with zero alerts would give a 95% Poisson upper bound near one/hour, subject to that model's assumptions; this does not replace camera diversity. Documentation: reports/generalization_pilot_20261020/report.md and runthrough.pdf. Reproduction: docs/generalization_pilot.md. The existing 19 October paper and 45 slides remain preserved.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Test the complete system and the source shift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New public-source evidence and full-stream comparisons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verified artifacts; 19 Oct history preserved</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01</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Completed in this pilot</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740 public action clips acquired</a:t>
            </a:r>
          </a:p>
          <a:p>
            <a:pPr algn="l">
              <a:lnSpc>
                <a:spcPts val="1968"/>
              </a:lnSpc>
              <a:spcBef>
                <a:spcPts val="0"/>
              </a:spcBef>
              <a:spcAft>
                <a:spcPts val="0"/>
              </a:spcAft>
              <a:defRPr sz="1600" b="0">
                <a:solidFill>
                  <a:srgbClr val="142C40"/>
                </a:solidFill>
                <a:latin typeface="DejaVu Sans"/>
              </a:defRPr>
            </a:pPr>
            <a:r>
              <a:t>36 CLIP classifier fits</a:t>
            </a:r>
          </a:p>
          <a:p>
            <a:pPr algn="l">
              <a:lnSpc>
                <a:spcPts val="1968"/>
              </a:lnSpc>
              <a:spcBef>
                <a:spcPts val="0"/>
              </a:spcBef>
              <a:spcAft>
                <a:spcPts val="0"/>
              </a:spcAft>
              <a:defRPr sz="1600" b="0">
                <a:solidFill>
                  <a:srgbClr val="142C40"/>
                </a:solidFill>
                <a:latin typeface="DejaVu Sans"/>
              </a:defRPr>
            </a:pPr>
            <a:r>
              <a:t>Original / LoRA SmolVLM transfer</a:t>
            </a:r>
          </a:p>
          <a:p>
            <a:pPr algn="l">
              <a:lnSpc>
                <a:spcPts val="1968"/>
              </a:lnSpc>
              <a:spcBef>
                <a:spcPts val="0"/>
              </a:spcBef>
              <a:spcAft>
                <a:spcPts val="0"/>
              </a:spcAft>
              <a:defRPr sz="1600" b="0">
                <a:solidFill>
                  <a:srgbClr val="142C40"/>
                </a:solidFill>
                <a:latin typeface="DejaVu Sans"/>
              </a:defRPr>
            </a:pPr>
            <a:r>
              <a:t>10 complete streams, 3 detector arms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What the results establish</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Tiling worsens primary event detection</a:t>
            </a:r>
          </a:p>
          <a:p>
            <a:pPr algn="l">
              <a:lnSpc>
                <a:spcPts val="1968"/>
              </a:lnSpc>
              <a:spcBef>
                <a:spcPts val="0"/>
              </a:spcBef>
              <a:spcAft>
                <a:spcPts val="0"/>
              </a:spcAft>
              <a:defRPr sz="1600" b="0">
                <a:solidFill>
                  <a:srgbClr val="142C40"/>
                </a:solidFill>
                <a:latin typeface="DejaVu Sans"/>
              </a:defRPr>
            </a:pPr>
            <a:r>
              <a:t>SmolVLM LoRA regresses proxy AP</a:t>
            </a:r>
          </a:p>
          <a:p>
            <a:pPr algn="l">
              <a:lnSpc>
                <a:spcPts val="1968"/>
              </a:lnSpc>
              <a:spcBef>
                <a:spcPts val="0"/>
              </a:spcBef>
              <a:spcAft>
                <a:spcPts val="0"/>
              </a:spcAft>
              <a:defRPr sz="1600" b="0">
                <a:solidFill>
                  <a:srgbClr val="142C40"/>
                </a:solidFill>
                <a:latin typeface="DejaVu Sans"/>
              </a:defRPr>
            </a:pPr>
            <a:r>
              <a:t>Source-specific CLIP results follow</a:t>
            </a:r>
          </a:p>
          <a:p>
            <a:pPr algn="l">
              <a:lnSpc>
                <a:spcPts val="1968"/>
              </a:lnSpc>
              <a:spcBef>
                <a:spcPts val="0"/>
              </a:spcBef>
              <a:spcAft>
                <a:spcPts val="0"/>
              </a:spcAft>
              <a:defRPr sz="1600" b="0">
                <a:solidFill>
                  <a:srgbClr val="142C40"/>
                </a:solidFill>
                <a:latin typeface="DejaVu Sans"/>
              </a:defRPr>
            </a:pPr>
            <a:r>
              <a:t>No automatic model promotion</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More data and better box recall do not guarantee better target-camera performance.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Public data acquired, with explicit label limits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XRF55 release v6 • smoking action + drinking / eating / phone controls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frozen protocols, predictions and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02</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422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Split</a:t>
            </a:r>
          </a:p>
        </p:txBody>
      </p:sp>
      <p:sp>
        <p:nvSpPr>
          <p:cNvPr id="12" name="TextBox 11"/>
          <p:cNvSpPr txBox="1"/>
          <p:nvPr/>
        </p:nvSpPr>
        <p:spPr>
          <a:xfrm>
            <a:off x="2311400" y="2273300"/>
            <a:ext cx="1930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Scene blocks</a:t>
            </a:r>
          </a:p>
        </p:txBody>
      </p:sp>
      <p:sp>
        <p:nvSpPr>
          <p:cNvPr id="13" name="TextBox 12"/>
          <p:cNvSpPr txBox="1"/>
          <p:nvPr/>
        </p:nvSpPr>
        <p:spPr>
          <a:xfrm>
            <a:off x="4470400" y="2273300"/>
            <a:ext cx="2057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Subject aliases</a:t>
            </a:r>
          </a:p>
        </p:txBody>
      </p:sp>
      <p:sp>
        <p:nvSpPr>
          <p:cNvPr id="14" name="TextBox 13"/>
          <p:cNvSpPr txBox="1"/>
          <p:nvPr/>
        </p:nvSpPr>
        <p:spPr>
          <a:xfrm>
            <a:off x="6756400" y="2273300"/>
            <a:ext cx="1676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Clips</a:t>
            </a:r>
          </a:p>
        </p:txBody>
      </p:sp>
      <p:sp>
        <p:nvSpPr>
          <p:cNvPr id="15" name="TextBox 14"/>
          <p:cNvSpPr txBox="1"/>
          <p:nvPr/>
        </p:nvSpPr>
        <p:spPr>
          <a:xfrm>
            <a:off x="8661400" y="2273300"/>
            <a:ext cx="289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Positive / control</a:t>
            </a:r>
          </a:p>
        </p:txBody>
      </p:sp>
      <p:sp>
        <p:nvSpPr>
          <p:cNvPr id="16" name="Rectangle 15"/>
          <p:cNvSpPr/>
          <p:nvPr/>
        </p:nvSpPr>
        <p:spPr>
          <a:xfrm>
            <a:off x="533400" y="26670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1422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Train</a:t>
            </a:r>
          </a:p>
        </p:txBody>
      </p:sp>
      <p:sp>
        <p:nvSpPr>
          <p:cNvPr id="18" name="TextBox 17"/>
          <p:cNvSpPr txBox="1"/>
          <p:nvPr/>
        </p:nvSpPr>
        <p:spPr>
          <a:xfrm>
            <a:off x="2311400" y="2781300"/>
            <a:ext cx="1930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 + 2</a:t>
            </a:r>
          </a:p>
        </p:txBody>
      </p:sp>
      <p:sp>
        <p:nvSpPr>
          <p:cNvPr id="19" name="TextBox 18"/>
          <p:cNvSpPr txBox="1"/>
          <p:nvPr/>
        </p:nvSpPr>
        <p:spPr>
          <a:xfrm>
            <a:off x="4470400" y="2781300"/>
            <a:ext cx="2057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15</a:t>
            </a:r>
          </a:p>
        </p:txBody>
      </p:sp>
      <p:sp>
        <p:nvSpPr>
          <p:cNvPr id="20" name="TextBox 19"/>
          <p:cNvSpPr txBox="1"/>
          <p:nvPr/>
        </p:nvSpPr>
        <p:spPr>
          <a:xfrm>
            <a:off x="6756400" y="2781300"/>
            <a:ext cx="1676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340</a:t>
            </a:r>
          </a:p>
        </p:txBody>
      </p:sp>
      <p:sp>
        <p:nvSpPr>
          <p:cNvPr id="21" name="TextBox 20"/>
          <p:cNvSpPr txBox="1"/>
          <p:nvPr/>
        </p:nvSpPr>
        <p:spPr>
          <a:xfrm>
            <a:off x="8661400" y="2781300"/>
            <a:ext cx="2895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85 / 255</a:t>
            </a:r>
          </a:p>
        </p:txBody>
      </p:sp>
      <p:cxnSp>
        <p:nvCxnSpPr>
          <p:cNvPr id="22" name="Connector 21"/>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734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187700"/>
            <a:ext cx="1422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Development</a:t>
            </a:r>
          </a:p>
        </p:txBody>
      </p:sp>
      <p:sp>
        <p:nvSpPr>
          <p:cNvPr id="25" name="TextBox 24"/>
          <p:cNvSpPr txBox="1"/>
          <p:nvPr/>
        </p:nvSpPr>
        <p:spPr>
          <a:xfrm>
            <a:off x="2311400" y="3187700"/>
            <a:ext cx="1930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a:t>
            </a:r>
          </a:p>
        </p:txBody>
      </p:sp>
      <p:sp>
        <p:nvSpPr>
          <p:cNvPr id="26" name="TextBox 25"/>
          <p:cNvSpPr txBox="1"/>
          <p:nvPr/>
        </p:nvSpPr>
        <p:spPr>
          <a:xfrm>
            <a:off x="4470400" y="3187700"/>
            <a:ext cx="2057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2</a:t>
            </a:r>
          </a:p>
        </p:txBody>
      </p:sp>
      <p:sp>
        <p:nvSpPr>
          <p:cNvPr id="27" name="TextBox 26"/>
          <p:cNvSpPr txBox="1"/>
          <p:nvPr/>
        </p:nvSpPr>
        <p:spPr>
          <a:xfrm>
            <a:off x="6756400" y="3187700"/>
            <a:ext cx="1676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160</a:t>
            </a:r>
          </a:p>
        </p:txBody>
      </p:sp>
      <p:sp>
        <p:nvSpPr>
          <p:cNvPr id="28" name="TextBox 27"/>
          <p:cNvSpPr txBox="1"/>
          <p:nvPr/>
        </p:nvSpPr>
        <p:spPr>
          <a:xfrm>
            <a:off x="8661400" y="3187700"/>
            <a:ext cx="2895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40 / 120</a:t>
            </a:r>
          </a:p>
        </p:txBody>
      </p:sp>
      <p:cxnSp>
        <p:nvCxnSpPr>
          <p:cNvPr id="29" name="Connector 28"/>
          <p:cNvCxnSpPr/>
          <p:nvPr/>
        </p:nvCxnSpPr>
        <p:spPr>
          <a:xfrm>
            <a:off x="533400" y="347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4798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3594100"/>
            <a:ext cx="1422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Test</a:t>
            </a:r>
          </a:p>
        </p:txBody>
      </p:sp>
      <p:sp>
        <p:nvSpPr>
          <p:cNvPr id="32" name="TextBox 31"/>
          <p:cNvSpPr txBox="1"/>
          <p:nvPr/>
        </p:nvSpPr>
        <p:spPr>
          <a:xfrm>
            <a:off x="2311400" y="3594100"/>
            <a:ext cx="1930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4</a:t>
            </a:r>
          </a:p>
        </p:txBody>
      </p:sp>
      <p:sp>
        <p:nvSpPr>
          <p:cNvPr id="33" name="TextBox 32"/>
          <p:cNvSpPr txBox="1"/>
          <p:nvPr/>
        </p:nvSpPr>
        <p:spPr>
          <a:xfrm>
            <a:off x="4470400" y="3594100"/>
            <a:ext cx="2057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a:t>
            </a:r>
          </a:p>
        </p:txBody>
      </p:sp>
      <p:sp>
        <p:nvSpPr>
          <p:cNvPr id="34" name="TextBox 33"/>
          <p:cNvSpPr txBox="1"/>
          <p:nvPr/>
        </p:nvSpPr>
        <p:spPr>
          <a:xfrm>
            <a:off x="6756400" y="3594100"/>
            <a:ext cx="1676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240</a:t>
            </a:r>
          </a:p>
        </p:txBody>
      </p:sp>
      <p:sp>
        <p:nvSpPr>
          <p:cNvPr id="35" name="TextBox 34"/>
          <p:cNvSpPr txBox="1"/>
          <p:nvPr/>
        </p:nvSpPr>
        <p:spPr>
          <a:xfrm>
            <a:off x="8661400" y="3594100"/>
            <a:ext cx="2895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60 / 180</a:t>
            </a:r>
          </a:p>
        </p:txBody>
      </p:sp>
      <p:cxnSp>
        <p:nvCxnSpPr>
          <p:cNvPr id="36" name="Connector 35"/>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Masked training actors: treat this as a scripted gesture proxy; cigarettes were not verified.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Same selection rules across old, new and mixed</a:t>
            </a:r>
          </a:p>
          <a:p>
            <a:pPr algn="l">
              <a:lnSpc>
                <a:spcPts val="3690"/>
              </a:lnSpc>
              <a:spcBef>
                <a:spcPts val="0"/>
              </a:spcBef>
              <a:spcAft>
                <a:spcPts val="0"/>
              </a:spcAft>
              <a:defRPr sz="3000" b="1">
                <a:solidFill>
                  <a:srgbClr val="142C40"/>
                </a:solidFill>
                <a:latin typeface="DejaVu Sans"/>
              </a:defRPr>
            </a:pPr>
            <a:r>
              <a:t>data</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New public-source evidence and full-stream comparisons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verified artifacts; 19 Oct history preserved</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03</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Thirty-six classifier fits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 frozen pretrained CLIP encoders</a:t>
            </a:r>
          </a:p>
          <a:p>
            <a:pPr algn="l">
              <a:lnSpc>
                <a:spcPts val="1968"/>
              </a:lnSpc>
              <a:spcBef>
                <a:spcPts val="0"/>
              </a:spcBef>
              <a:spcAft>
                <a:spcPts val="0"/>
              </a:spcAft>
              <a:defRPr sz="1600" b="0">
                <a:solidFill>
                  <a:srgbClr val="142C40"/>
                </a:solidFill>
                <a:latin typeface="DejaVu Sans"/>
              </a:defRPr>
            </a:pPr>
            <a:r>
              <a:t>3 training-source families</a:t>
            </a:r>
          </a:p>
          <a:p>
            <a:pPr algn="l">
              <a:lnSpc>
                <a:spcPts val="1968"/>
              </a:lnSpc>
              <a:spcBef>
                <a:spcPts val="0"/>
              </a:spcBef>
              <a:spcAft>
                <a:spcPts val="0"/>
              </a:spcAft>
              <a:defRPr sz="1600" b="0">
                <a:solidFill>
                  <a:srgbClr val="142C40"/>
                </a:solidFill>
                <a:latin typeface="DejaVu Sans"/>
              </a:defRPr>
            </a:pPr>
            <a:r>
              <a:t>2 full / contextual-crop recipes</a:t>
            </a:r>
          </a:p>
          <a:p>
            <a:pPr algn="l">
              <a:lnSpc>
                <a:spcPts val="1968"/>
              </a:lnSpc>
              <a:spcBef>
                <a:spcPts val="0"/>
              </a:spcBef>
              <a:spcAft>
                <a:spcPts val="0"/>
              </a:spcAft>
              <a:defRPr sz="1600" b="0">
                <a:solidFill>
                  <a:srgbClr val="142C40"/>
                </a:solidFill>
                <a:latin typeface="DejaVu Sans"/>
              </a:defRPr>
            </a:pPr>
            <a:r>
              <a:t>C = 0.1, 1, 10; group-balanced fits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Development-only decisions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Same 1,474 dev cases / 4 sources</a:t>
            </a:r>
          </a:p>
          <a:p>
            <a:pPr algn="l">
              <a:lnSpc>
                <a:spcPts val="1968"/>
              </a:lnSpc>
              <a:spcBef>
                <a:spcPts val="0"/>
              </a:spcBef>
              <a:spcAft>
                <a:spcPts val="0"/>
              </a:spcAft>
              <a:defRPr sz="1600" b="0">
                <a:solidFill>
                  <a:srgbClr val="142C40"/>
                </a:solidFill>
                <a:latin typeface="DejaVu Sans"/>
              </a:defRPr>
            </a:pPr>
            <a:r>
              <a:t>One cutoff: each source FPR ≤5%</a:t>
            </a:r>
          </a:p>
          <a:p>
            <a:pPr algn="l">
              <a:lnSpc>
                <a:spcPts val="1968"/>
              </a:lnSpc>
              <a:spcBef>
                <a:spcPts val="0"/>
              </a:spcBef>
              <a:spcAft>
                <a:spcPts val="0"/>
              </a:spcAft>
              <a:defRPr sz="1600" b="0">
                <a:solidFill>
                  <a:srgbClr val="142C40"/>
                </a:solidFill>
                <a:latin typeface="DejaVu Sans"/>
              </a:defRPr>
            </a:pPr>
            <a:r>
              <a:t>Select by worst-source recall</a:t>
            </a:r>
          </a:p>
          <a:p>
            <a:pPr algn="l">
              <a:lnSpc>
                <a:spcPts val="1968"/>
              </a:lnSpc>
              <a:spcBef>
                <a:spcPts val="0"/>
              </a:spcBef>
              <a:spcAft>
                <a:spcPts val="0"/>
              </a:spcAft>
              <a:defRPr sz="1600" b="0">
                <a:solidFill>
                  <a:srgbClr val="142C40"/>
                </a:solidFill>
                <a:latin typeface="DejaVu Sans"/>
              </a:defRPr>
            </a:pPr>
            <a:r>
              <a:t>Freeze both models before test</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Old-only and new-only differ in training data; both receive combined-source dev supervision.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MobileCLIP: data addition has source-specific</a:t>
            </a:r>
          </a:p>
          <a:p>
            <a:pPr algn="l">
              <a:lnSpc>
                <a:spcPts val="3690"/>
              </a:lnSpc>
              <a:spcBef>
                <a:spcPts val="0"/>
              </a:spcBef>
              <a:spcAft>
                <a:spcPts val="0"/>
              </a:spcAft>
              <a:defRPr sz="3000" b="1">
                <a:solidFill>
                  <a:srgbClr val="142C40"/>
                </a:solidFill>
                <a:latin typeface="DejaVu Sans"/>
              </a:defRPr>
            </a:pPr>
            <a:r>
              <a:t>effects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Frozen every-source development cutoff • CCTV n=646; proxy n=240</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frozen protocols, predictions and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04</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87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Held-out source</a:t>
            </a:r>
          </a:p>
        </p:txBody>
      </p:sp>
      <p:sp>
        <p:nvSpPr>
          <p:cNvPr id="12" name="TextBox 11"/>
          <p:cNvSpPr txBox="1"/>
          <p:nvPr/>
        </p:nvSpPr>
        <p:spPr>
          <a:xfrm>
            <a:off x="3759200" y="2273300"/>
            <a:ext cx="2184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Training family</a:t>
            </a:r>
          </a:p>
        </p:txBody>
      </p:sp>
      <p:sp>
        <p:nvSpPr>
          <p:cNvPr id="13" name="TextBox 12"/>
          <p:cNvSpPr txBox="1"/>
          <p:nvPr/>
        </p:nvSpPr>
        <p:spPr>
          <a:xfrm>
            <a:off x="6172200" y="2273300"/>
            <a:ext cx="1295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AP</a:t>
            </a:r>
          </a:p>
        </p:txBody>
      </p:sp>
      <p:sp>
        <p:nvSpPr>
          <p:cNvPr id="14" name="TextBox 13"/>
          <p:cNvSpPr txBox="1"/>
          <p:nvPr/>
        </p:nvSpPr>
        <p:spPr>
          <a:xfrm>
            <a:off x="7696200" y="2273300"/>
            <a:ext cx="1803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5" name="TextBox 14"/>
          <p:cNvSpPr txBox="1"/>
          <p:nvPr/>
        </p:nvSpPr>
        <p:spPr>
          <a:xfrm>
            <a:off x="9728200" y="2273300"/>
            <a:ext cx="1828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Rectangle 15"/>
          <p:cNvSpPr/>
          <p:nvPr/>
        </p:nvSpPr>
        <p:spPr>
          <a:xfrm>
            <a:off x="533400" y="26670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Historical CCTV</a:t>
            </a:r>
          </a:p>
        </p:txBody>
      </p:sp>
      <p:sp>
        <p:nvSpPr>
          <p:cNvPr id="18" name="TextBox 17"/>
          <p:cNvSpPr txBox="1"/>
          <p:nvPr/>
        </p:nvSpPr>
        <p:spPr>
          <a:xfrm>
            <a:off x="3759200" y="27813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old only</a:t>
            </a:r>
          </a:p>
        </p:txBody>
      </p:sp>
      <p:sp>
        <p:nvSpPr>
          <p:cNvPr id="19" name="TextBox 18"/>
          <p:cNvSpPr txBox="1"/>
          <p:nvPr/>
        </p:nvSpPr>
        <p:spPr>
          <a:xfrm>
            <a:off x="6172200" y="27813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0.6937</a:t>
            </a:r>
          </a:p>
        </p:txBody>
      </p:sp>
      <p:sp>
        <p:nvSpPr>
          <p:cNvPr id="20" name="TextBox 19"/>
          <p:cNvSpPr txBox="1"/>
          <p:nvPr/>
        </p:nvSpPr>
        <p:spPr>
          <a:xfrm>
            <a:off x="7696200" y="27813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10.2%</a:t>
            </a:r>
          </a:p>
        </p:txBody>
      </p:sp>
      <p:sp>
        <p:nvSpPr>
          <p:cNvPr id="21" name="TextBox 20"/>
          <p:cNvSpPr txBox="1"/>
          <p:nvPr/>
        </p:nvSpPr>
        <p:spPr>
          <a:xfrm>
            <a:off x="9728200" y="27813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5.5%</a:t>
            </a:r>
          </a:p>
        </p:txBody>
      </p:sp>
      <p:cxnSp>
        <p:nvCxnSpPr>
          <p:cNvPr id="22" name="Connector 21"/>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734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1877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Historical CCTV</a:t>
            </a:r>
          </a:p>
        </p:txBody>
      </p:sp>
      <p:sp>
        <p:nvSpPr>
          <p:cNvPr id="25" name="TextBox 24"/>
          <p:cNvSpPr txBox="1"/>
          <p:nvPr/>
        </p:nvSpPr>
        <p:spPr>
          <a:xfrm>
            <a:off x="3759200" y="31877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new only</a:t>
            </a:r>
          </a:p>
        </p:txBody>
      </p:sp>
      <p:sp>
        <p:nvSpPr>
          <p:cNvPr id="26" name="TextBox 25"/>
          <p:cNvSpPr txBox="1"/>
          <p:nvPr/>
        </p:nvSpPr>
        <p:spPr>
          <a:xfrm>
            <a:off x="6172200" y="31877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0.6104</a:t>
            </a:r>
          </a:p>
        </p:txBody>
      </p:sp>
      <p:sp>
        <p:nvSpPr>
          <p:cNvPr id="27" name="TextBox 26"/>
          <p:cNvSpPr txBox="1"/>
          <p:nvPr/>
        </p:nvSpPr>
        <p:spPr>
          <a:xfrm>
            <a:off x="7696200" y="31877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28" name="TextBox 27"/>
          <p:cNvSpPr txBox="1"/>
          <p:nvPr/>
        </p:nvSpPr>
        <p:spPr>
          <a:xfrm>
            <a:off x="9728200" y="31877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cxnSp>
        <p:nvCxnSpPr>
          <p:cNvPr id="29" name="Connector 28"/>
          <p:cNvCxnSpPr/>
          <p:nvPr/>
        </p:nvCxnSpPr>
        <p:spPr>
          <a:xfrm>
            <a:off x="533400" y="347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4798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35941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Historical CCTV</a:t>
            </a:r>
          </a:p>
        </p:txBody>
      </p:sp>
      <p:sp>
        <p:nvSpPr>
          <p:cNvPr id="32" name="TextBox 31"/>
          <p:cNvSpPr txBox="1"/>
          <p:nvPr/>
        </p:nvSpPr>
        <p:spPr>
          <a:xfrm>
            <a:off x="3759200" y="35941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mixed</a:t>
            </a:r>
          </a:p>
        </p:txBody>
      </p:sp>
      <p:sp>
        <p:nvSpPr>
          <p:cNvPr id="33" name="TextBox 32"/>
          <p:cNvSpPr txBox="1"/>
          <p:nvPr/>
        </p:nvSpPr>
        <p:spPr>
          <a:xfrm>
            <a:off x="6172200" y="35941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0.5673</a:t>
            </a:r>
          </a:p>
        </p:txBody>
      </p:sp>
      <p:sp>
        <p:nvSpPr>
          <p:cNvPr id="34" name="TextBox 33"/>
          <p:cNvSpPr txBox="1"/>
          <p:nvPr/>
        </p:nvSpPr>
        <p:spPr>
          <a:xfrm>
            <a:off x="7696200" y="35941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12.2%</a:t>
            </a:r>
          </a:p>
        </p:txBody>
      </p:sp>
      <p:sp>
        <p:nvSpPr>
          <p:cNvPr id="35" name="TextBox 34"/>
          <p:cNvSpPr txBox="1"/>
          <p:nvPr/>
        </p:nvSpPr>
        <p:spPr>
          <a:xfrm>
            <a:off x="9728200" y="35941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15.8%</a:t>
            </a:r>
          </a:p>
        </p:txBody>
      </p:sp>
      <p:cxnSp>
        <p:nvCxnSpPr>
          <p:cNvPr id="36" name="Connector 35"/>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38862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0005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New action proxy</a:t>
            </a:r>
          </a:p>
        </p:txBody>
      </p:sp>
      <p:sp>
        <p:nvSpPr>
          <p:cNvPr id="39" name="TextBox 38"/>
          <p:cNvSpPr txBox="1"/>
          <p:nvPr/>
        </p:nvSpPr>
        <p:spPr>
          <a:xfrm>
            <a:off x="3759200" y="40005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old only</a:t>
            </a:r>
          </a:p>
        </p:txBody>
      </p:sp>
      <p:sp>
        <p:nvSpPr>
          <p:cNvPr id="40" name="TextBox 39"/>
          <p:cNvSpPr txBox="1"/>
          <p:nvPr/>
        </p:nvSpPr>
        <p:spPr>
          <a:xfrm>
            <a:off x="6172200" y="40005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0.4978</a:t>
            </a:r>
          </a:p>
        </p:txBody>
      </p:sp>
      <p:sp>
        <p:nvSpPr>
          <p:cNvPr id="41" name="TextBox 40"/>
          <p:cNvSpPr txBox="1"/>
          <p:nvPr/>
        </p:nvSpPr>
        <p:spPr>
          <a:xfrm>
            <a:off x="7696200" y="40005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42" name="TextBox 41"/>
          <p:cNvSpPr txBox="1"/>
          <p:nvPr/>
        </p:nvSpPr>
        <p:spPr>
          <a:xfrm>
            <a:off x="9728200" y="40005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cxnSp>
        <p:nvCxnSpPr>
          <p:cNvPr id="43" name="Connector 42"/>
          <p:cNvCxnSpPr/>
          <p:nvPr/>
        </p:nvCxnSpPr>
        <p:spPr>
          <a:xfrm>
            <a:off x="533400" y="4292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2926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400" y="44069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New action proxy</a:t>
            </a:r>
          </a:p>
        </p:txBody>
      </p:sp>
      <p:sp>
        <p:nvSpPr>
          <p:cNvPr id="46" name="TextBox 45"/>
          <p:cNvSpPr txBox="1"/>
          <p:nvPr/>
        </p:nvSpPr>
        <p:spPr>
          <a:xfrm>
            <a:off x="3759200" y="44069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new only</a:t>
            </a:r>
          </a:p>
        </p:txBody>
      </p:sp>
      <p:sp>
        <p:nvSpPr>
          <p:cNvPr id="47" name="TextBox 46"/>
          <p:cNvSpPr txBox="1"/>
          <p:nvPr/>
        </p:nvSpPr>
        <p:spPr>
          <a:xfrm>
            <a:off x="6172200" y="44069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0.4553</a:t>
            </a:r>
          </a:p>
        </p:txBody>
      </p:sp>
      <p:sp>
        <p:nvSpPr>
          <p:cNvPr id="48" name="TextBox 47"/>
          <p:cNvSpPr txBox="1"/>
          <p:nvPr/>
        </p:nvSpPr>
        <p:spPr>
          <a:xfrm>
            <a:off x="7696200" y="44069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49" name="TextBox 48"/>
          <p:cNvSpPr txBox="1"/>
          <p:nvPr/>
        </p:nvSpPr>
        <p:spPr>
          <a:xfrm>
            <a:off x="9728200" y="44069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cxnSp>
        <p:nvCxnSpPr>
          <p:cNvPr id="50" name="Connector 49"/>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46990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400" y="48133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New action proxy</a:t>
            </a:r>
          </a:p>
        </p:txBody>
      </p:sp>
      <p:sp>
        <p:nvSpPr>
          <p:cNvPr id="53" name="TextBox 52"/>
          <p:cNvSpPr txBox="1"/>
          <p:nvPr/>
        </p:nvSpPr>
        <p:spPr>
          <a:xfrm>
            <a:off x="3759200" y="48133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mixed</a:t>
            </a:r>
          </a:p>
        </p:txBody>
      </p:sp>
      <p:sp>
        <p:nvSpPr>
          <p:cNvPr id="54" name="TextBox 53"/>
          <p:cNvSpPr txBox="1"/>
          <p:nvPr/>
        </p:nvSpPr>
        <p:spPr>
          <a:xfrm>
            <a:off x="6172200" y="48133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0.5028</a:t>
            </a:r>
          </a:p>
        </p:txBody>
      </p:sp>
      <p:sp>
        <p:nvSpPr>
          <p:cNvPr id="55" name="TextBox 54"/>
          <p:cNvSpPr txBox="1"/>
          <p:nvPr/>
        </p:nvSpPr>
        <p:spPr>
          <a:xfrm>
            <a:off x="7696200" y="48133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56" name="TextBox 55"/>
          <p:cNvSpPr txBox="1"/>
          <p:nvPr/>
        </p:nvSpPr>
        <p:spPr>
          <a:xfrm>
            <a:off x="9728200" y="48133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11.1%</a:t>
            </a:r>
          </a:p>
        </p:txBody>
      </p:sp>
      <p:cxnSp>
        <p:nvCxnSpPr>
          <p:cNvPr id="57" name="Connector 56"/>
          <p:cNvCxnSpPr/>
          <p:nvPr/>
        </p:nvCxnSpPr>
        <p:spPr>
          <a:xfrm>
            <a:off x="533400" y="5105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AP is ranking. Recall and FPR measure each family's frozen operating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SigLIP2: data addition has source-specific effects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Frozen every-source development cutoff • CCTV n=646; proxy n=240</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frozen protocols, predictions and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05</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87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Held-out source</a:t>
            </a:r>
          </a:p>
        </p:txBody>
      </p:sp>
      <p:sp>
        <p:nvSpPr>
          <p:cNvPr id="12" name="TextBox 11"/>
          <p:cNvSpPr txBox="1"/>
          <p:nvPr/>
        </p:nvSpPr>
        <p:spPr>
          <a:xfrm>
            <a:off x="3759200" y="2273300"/>
            <a:ext cx="2184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Training family</a:t>
            </a:r>
          </a:p>
        </p:txBody>
      </p:sp>
      <p:sp>
        <p:nvSpPr>
          <p:cNvPr id="13" name="TextBox 12"/>
          <p:cNvSpPr txBox="1"/>
          <p:nvPr/>
        </p:nvSpPr>
        <p:spPr>
          <a:xfrm>
            <a:off x="6172200" y="2273300"/>
            <a:ext cx="1295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AP</a:t>
            </a:r>
          </a:p>
        </p:txBody>
      </p:sp>
      <p:sp>
        <p:nvSpPr>
          <p:cNvPr id="14" name="TextBox 13"/>
          <p:cNvSpPr txBox="1"/>
          <p:nvPr/>
        </p:nvSpPr>
        <p:spPr>
          <a:xfrm>
            <a:off x="7696200" y="2273300"/>
            <a:ext cx="1803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5" name="TextBox 14"/>
          <p:cNvSpPr txBox="1"/>
          <p:nvPr/>
        </p:nvSpPr>
        <p:spPr>
          <a:xfrm>
            <a:off x="9728200" y="2273300"/>
            <a:ext cx="1828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Rectangle 15"/>
          <p:cNvSpPr/>
          <p:nvPr/>
        </p:nvSpPr>
        <p:spPr>
          <a:xfrm>
            <a:off x="533400" y="26670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Historical CCTV</a:t>
            </a:r>
          </a:p>
        </p:txBody>
      </p:sp>
      <p:sp>
        <p:nvSpPr>
          <p:cNvPr id="18" name="TextBox 17"/>
          <p:cNvSpPr txBox="1"/>
          <p:nvPr/>
        </p:nvSpPr>
        <p:spPr>
          <a:xfrm>
            <a:off x="3759200" y="27813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old only</a:t>
            </a:r>
          </a:p>
        </p:txBody>
      </p:sp>
      <p:sp>
        <p:nvSpPr>
          <p:cNvPr id="19" name="TextBox 18"/>
          <p:cNvSpPr txBox="1"/>
          <p:nvPr/>
        </p:nvSpPr>
        <p:spPr>
          <a:xfrm>
            <a:off x="6172200" y="27813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0.7309</a:t>
            </a:r>
          </a:p>
        </p:txBody>
      </p:sp>
      <p:sp>
        <p:nvSpPr>
          <p:cNvPr id="20" name="TextBox 19"/>
          <p:cNvSpPr txBox="1"/>
          <p:nvPr/>
        </p:nvSpPr>
        <p:spPr>
          <a:xfrm>
            <a:off x="7696200" y="27813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8.9%</a:t>
            </a:r>
          </a:p>
        </p:txBody>
      </p:sp>
      <p:sp>
        <p:nvSpPr>
          <p:cNvPr id="21" name="TextBox 20"/>
          <p:cNvSpPr txBox="1"/>
          <p:nvPr/>
        </p:nvSpPr>
        <p:spPr>
          <a:xfrm>
            <a:off x="9728200" y="27813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4.0%</a:t>
            </a:r>
          </a:p>
        </p:txBody>
      </p:sp>
      <p:cxnSp>
        <p:nvCxnSpPr>
          <p:cNvPr id="22" name="Connector 21"/>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734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1877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Historical CCTV</a:t>
            </a:r>
          </a:p>
        </p:txBody>
      </p:sp>
      <p:sp>
        <p:nvSpPr>
          <p:cNvPr id="25" name="TextBox 24"/>
          <p:cNvSpPr txBox="1"/>
          <p:nvPr/>
        </p:nvSpPr>
        <p:spPr>
          <a:xfrm>
            <a:off x="3759200" y="31877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new only</a:t>
            </a:r>
          </a:p>
        </p:txBody>
      </p:sp>
      <p:sp>
        <p:nvSpPr>
          <p:cNvPr id="26" name="TextBox 25"/>
          <p:cNvSpPr txBox="1"/>
          <p:nvPr/>
        </p:nvSpPr>
        <p:spPr>
          <a:xfrm>
            <a:off x="6172200" y="31877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0.5631</a:t>
            </a:r>
          </a:p>
        </p:txBody>
      </p:sp>
      <p:sp>
        <p:nvSpPr>
          <p:cNvPr id="27" name="TextBox 26"/>
          <p:cNvSpPr txBox="1"/>
          <p:nvPr/>
        </p:nvSpPr>
        <p:spPr>
          <a:xfrm>
            <a:off x="7696200" y="31877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28" name="TextBox 27"/>
          <p:cNvSpPr txBox="1"/>
          <p:nvPr/>
        </p:nvSpPr>
        <p:spPr>
          <a:xfrm>
            <a:off x="9728200" y="31877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0.4%</a:t>
            </a:r>
          </a:p>
        </p:txBody>
      </p:sp>
      <p:cxnSp>
        <p:nvCxnSpPr>
          <p:cNvPr id="29" name="Connector 28"/>
          <p:cNvCxnSpPr/>
          <p:nvPr/>
        </p:nvCxnSpPr>
        <p:spPr>
          <a:xfrm>
            <a:off x="533400" y="347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4798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35941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Historical CCTV</a:t>
            </a:r>
          </a:p>
        </p:txBody>
      </p:sp>
      <p:sp>
        <p:nvSpPr>
          <p:cNvPr id="32" name="TextBox 31"/>
          <p:cNvSpPr txBox="1"/>
          <p:nvPr/>
        </p:nvSpPr>
        <p:spPr>
          <a:xfrm>
            <a:off x="3759200" y="35941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mixed</a:t>
            </a:r>
          </a:p>
        </p:txBody>
      </p:sp>
      <p:sp>
        <p:nvSpPr>
          <p:cNvPr id="33" name="TextBox 32"/>
          <p:cNvSpPr txBox="1"/>
          <p:nvPr/>
        </p:nvSpPr>
        <p:spPr>
          <a:xfrm>
            <a:off x="6172200" y="35941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0.6227</a:t>
            </a:r>
          </a:p>
        </p:txBody>
      </p:sp>
      <p:sp>
        <p:nvSpPr>
          <p:cNvPr id="34" name="TextBox 33"/>
          <p:cNvSpPr txBox="1"/>
          <p:nvPr/>
        </p:nvSpPr>
        <p:spPr>
          <a:xfrm>
            <a:off x="7696200" y="35941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36.9%</a:t>
            </a:r>
          </a:p>
        </p:txBody>
      </p:sp>
      <p:sp>
        <p:nvSpPr>
          <p:cNvPr id="35" name="TextBox 34"/>
          <p:cNvSpPr txBox="1"/>
          <p:nvPr/>
        </p:nvSpPr>
        <p:spPr>
          <a:xfrm>
            <a:off x="9728200" y="35941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36.8%</a:t>
            </a:r>
          </a:p>
        </p:txBody>
      </p:sp>
      <p:cxnSp>
        <p:nvCxnSpPr>
          <p:cNvPr id="36" name="Connector 35"/>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38862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0005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New action proxy</a:t>
            </a:r>
          </a:p>
        </p:txBody>
      </p:sp>
      <p:sp>
        <p:nvSpPr>
          <p:cNvPr id="39" name="TextBox 38"/>
          <p:cNvSpPr txBox="1"/>
          <p:nvPr/>
        </p:nvSpPr>
        <p:spPr>
          <a:xfrm>
            <a:off x="3759200" y="40005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old only</a:t>
            </a:r>
          </a:p>
        </p:txBody>
      </p:sp>
      <p:sp>
        <p:nvSpPr>
          <p:cNvPr id="40" name="TextBox 39"/>
          <p:cNvSpPr txBox="1"/>
          <p:nvPr/>
        </p:nvSpPr>
        <p:spPr>
          <a:xfrm>
            <a:off x="6172200" y="40005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0.3568</a:t>
            </a:r>
          </a:p>
        </p:txBody>
      </p:sp>
      <p:sp>
        <p:nvSpPr>
          <p:cNvPr id="41" name="TextBox 40"/>
          <p:cNvSpPr txBox="1"/>
          <p:nvPr/>
        </p:nvSpPr>
        <p:spPr>
          <a:xfrm>
            <a:off x="7696200" y="40005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42" name="TextBox 41"/>
          <p:cNvSpPr txBox="1"/>
          <p:nvPr/>
        </p:nvSpPr>
        <p:spPr>
          <a:xfrm>
            <a:off x="9728200" y="40005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cxnSp>
        <p:nvCxnSpPr>
          <p:cNvPr id="43" name="Connector 42"/>
          <p:cNvCxnSpPr/>
          <p:nvPr/>
        </p:nvCxnSpPr>
        <p:spPr>
          <a:xfrm>
            <a:off x="533400" y="4292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2926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400" y="44069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New action proxy</a:t>
            </a:r>
          </a:p>
        </p:txBody>
      </p:sp>
      <p:sp>
        <p:nvSpPr>
          <p:cNvPr id="46" name="TextBox 45"/>
          <p:cNvSpPr txBox="1"/>
          <p:nvPr/>
        </p:nvSpPr>
        <p:spPr>
          <a:xfrm>
            <a:off x="3759200" y="44069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new only</a:t>
            </a:r>
          </a:p>
        </p:txBody>
      </p:sp>
      <p:sp>
        <p:nvSpPr>
          <p:cNvPr id="47" name="TextBox 46"/>
          <p:cNvSpPr txBox="1"/>
          <p:nvPr/>
        </p:nvSpPr>
        <p:spPr>
          <a:xfrm>
            <a:off x="6172200" y="44069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0.6313</a:t>
            </a:r>
          </a:p>
        </p:txBody>
      </p:sp>
      <p:sp>
        <p:nvSpPr>
          <p:cNvPr id="48" name="TextBox 47"/>
          <p:cNvSpPr txBox="1"/>
          <p:nvPr/>
        </p:nvSpPr>
        <p:spPr>
          <a:xfrm>
            <a:off x="7696200" y="44069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61.7%</a:t>
            </a:r>
          </a:p>
        </p:txBody>
      </p:sp>
      <p:sp>
        <p:nvSpPr>
          <p:cNvPr id="49" name="TextBox 48"/>
          <p:cNvSpPr txBox="1"/>
          <p:nvPr/>
        </p:nvSpPr>
        <p:spPr>
          <a:xfrm>
            <a:off x="9728200" y="44069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15.6%</a:t>
            </a:r>
          </a:p>
        </p:txBody>
      </p:sp>
      <p:cxnSp>
        <p:nvCxnSpPr>
          <p:cNvPr id="50" name="Connector 49"/>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46990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400" y="4813300"/>
            <a:ext cx="28702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New action proxy</a:t>
            </a:r>
          </a:p>
        </p:txBody>
      </p:sp>
      <p:sp>
        <p:nvSpPr>
          <p:cNvPr id="53" name="TextBox 52"/>
          <p:cNvSpPr txBox="1"/>
          <p:nvPr/>
        </p:nvSpPr>
        <p:spPr>
          <a:xfrm>
            <a:off x="3759200" y="48133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mixed</a:t>
            </a:r>
          </a:p>
        </p:txBody>
      </p:sp>
      <p:sp>
        <p:nvSpPr>
          <p:cNvPr id="54" name="TextBox 53"/>
          <p:cNvSpPr txBox="1"/>
          <p:nvPr/>
        </p:nvSpPr>
        <p:spPr>
          <a:xfrm>
            <a:off x="6172200" y="4813300"/>
            <a:ext cx="1295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0.7768</a:t>
            </a:r>
          </a:p>
        </p:txBody>
      </p:sp>
      <p:sp>
        <p:nvSpPr>
          <p:cNvPr id="55" name="TextBox 54"/>
          <p:cNvSpPr txBox="1"/>
          <p:nvPr/>
        </p:nvSpPr>
        <p:spPr>
          <a:xfrm>
            <a:off x="7696200" y="48133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21.7%</a:t>
            </a:r>
          </a:p>
        </p:txBody>
      </p:sp>
      <p:sp>
        <p:nvSpPr>
          <p:cNvPr id="56" name="TextBox 55"/>
          <p:cNvSpPr txBox="1"/>
          <p:nvPr/>
        </p:nvSpPr>
        <p:spPr>
          <a:xfrm>
            <a:off x="9728200" y="4813300"/>
            <a:ext cx="18288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1.7%</a:t>
            </a:r>
          </a:p>
        </p:txBody>
      </p:sp>
      <p:cxnSp>
        <p:nvCxnSpPr>
          <p:cNvPr id="57" name="Connector 56"/>
          <p:cNvCxnSpPr/>
          <p:nvPr/>
        </p:nvCxnSpPr>
        <p:spPr>
          <a:xfrm>
            <a:off x="533400" y="5105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AP is ranking. Recall and FPR measure each family's frozen operating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SmolVLM: prior LoRA does not improve this source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Matched original / prior adapter • eight views each • no new training</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frozen protocols, predictions and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06</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803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Route</a:t>
            </a:r>
          </a:p>
        </p:txBody>
      </p:sp>
      <p:sp>
        <p:nvSpPr>
          <p:cNvPr id="12" name="TextBox 11"/>
          <p:cNvSpPr txBox="1"/>
          <p:nvPr/>
        </p:nvSpPr>
        <p:spPr>
          <a:xfrm>
            <a:off x="2692400" y="2273300"/>
            <a:ext cx="2819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Cutoff calibration</a:t>
            </a:r>
          </a:p>
        </p:txBody>
      </p:sp>
      <p:sp>
        <p:nvSpPr>
          <p:cNvPr id="13" name="TextBox 12"/>
          <p:cNvSpPr txBox="1"/>
          <p:nvPr/>
        </p:nvSpPr>
        <p:spPr>
          <a:xfrm>
            <a:off x="5740400" y="2273300"/>
            <a:ext cx="1549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AP</a:t>
            </a:r>
          </a:p>
        </p:txBody>
      </p:sp>
      <p:sp>
        <p:nvSpPr>
          <p:cNvPr id="14" name="TextBox 13"/>
          <p:cNvSpPr txBox="1"/>
          <p:nvPr/>
        </p:nvSpPr>
        <p:spPr>
          <a:xfrm>
            <a:off x="7518400" y="2273300"/>
            <a:ext cx="186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5" name="TextBox 14"/>
          <p:cNvSpPr txBox="1"/>
          <p:nvPr/>
        </p:nvSpPr>
        <p:spPr>
          <a:xfrm>
            <a:off x="9613900" y="2273300"/>
            <a:ext cx="1943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Rectangle 15"/>
          <p:cNvSpPr/>
          <p:nvPr/>
        </p:nvSpPr>
        <p:spPr>
          <a:xfrm>
            <a:off x="533400" y="26670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original</a:t>
            </a:r>
          </a:p>
        </p:txBody>
      </p:sp>
      <p:sp>
        <p:nvSpPr>
          <p:cNvPr id="18" name="TextBox 17"/>
          <p:cNvSpPr txBox="1"/>
          <p:nvPr/>
        </p:nvSpPr>
        <p:spPr>
          <a:xfrm>
            <a:off x="2692400" y="2781300"/>
            <a:ext cx="281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New source dev</a:t>
            </a:r>
          </a:p>
        </p:txBody>
      </p:sp>
      <p:sp>
        <p:nvSpPr>
          <p:cNvPr id="19" name="TextBox 18"/>
          <p:cNvSpPr txBox="1"/>
          <p:nvPr/>
        </p:nvSpPr>
        <p:spPr>
          <a:xfrm>
            <a:off x="5740400" y="2781300"/>
            <a:ext cx="154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0.3855</a:t>
            </a:r>
          </a:p>
        </p:txBody>
      </p:sp>
      <p:sp>
        <p:nvSpPr>
          <p:cNvPr id="20" name="TextBox 19"/>
          <p:cNvSpPr txBox="1"/>
          <p:nvPr/>
        </p:nvSpPr>
        <p:spPr>
          <a:xfrm>
            <a:off x="7518400" y="2781300"/>
            <a:ext cx="18669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61.7%</a:t>
            </a:r>
          </a:p>
        </p:txBody>
      </p:sp>
      <p:sp>
        <p:nvSpPr>
          <p:cNvPr id="21" name="TextBox 20"/>
          <p:cNvSpPr txBox="1"/>
          <p:nvPr/>
        </p:nvSpPr>
        <p:spPr>
          <a:xfrm>
            <a:off x="9613900" y="2781300"/>
            <a:ext cx="1943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36.7%</a:t>
            </a:r>
          </a:p>
        </p:txBody>
      </p:sp>
      <p:cxnSp>
        <p:nvCxnSpPr>
          <p:cNvPr id="22" name="Connector 21"/>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734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1877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original</a:t>
            </a:r>
          </a:p>
        </p:txBody>
      </p:sp>
      <p:sp>
        <p:nvSpPr>
          <p:cNvPr id="25" name="TextBox 24"/>
          <p:cNvSpPr txBox="1"/>
          <p:nvPr/>
        </p:nvSpPr>
        <p:spPr>
          <a:xfrm>
            <a:off x="2692400" y="3187700"/>
            <a:ext cx="281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19 Oct dev</a:t>
            </a:r>
          </a:p>
        </p:txBody>
      </p:sp>
      <p:sp>
        <p:nvSpPr>
          <p:cNvPr id="26" name="TextBox 25"/>
          <p:cNvSpPr txBox="1"/>
          <p:nvPr/>
        </p:nvSpPr>
        <p:spPr>
          <a:xfrm>
            <a:off x="5740400" y="3187700"/>
            <a:ext cx="154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0.3855</a:t>
            </a:r>
          </a:p>
        </p:txBody>
      </p:sp>
      <p:sp>
        <p:nvSpPr>
          <p:cNvPr id="27" name="TextBox 26"/>
          <p:cNvSpPr txBox="1"/>
          <p:nvPr/>
        </p:nvSpPr>
        <p:spPr>
          <a:xfrm>
            <a:off x="7518400" y="3187700"/>
            <a:ext cx="18669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28" name="TextBox 27"/>
          <p:cNvSpPr txBox="1"/>
          <p:nvPr/>
        </p:nvSpPr>
        <p:spPr>
          <a:xfrm>
            <a:off x="9613900" y="3187700"/>
            <a:ext cx="1943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cxnSp>
        <p:nvCxnSpPr>
          <p:cNvPr id="29" name="Connector 28"/>
          <p:cNvCxnSpPr/>
          <p:nvPr/>
        </p:nvCxnSpPr>
        <p:spPr>
          <a:xfrm>
            <a:off x="533400" y="347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4798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35941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lora</a:t>
            </a:r>
          </a:p>
        </p:txBody>
      </p:sp>
      <p:sp>
        <p:nvSpPr>
          <p:cNvPr id="32" name="TextBox 31"/>
          <p:cNvSpPr txBox="1"/>
          <p:nvPr/>
        </p:nvSpPr>
        <p:spPr>
          <a:xfrm>
            <a:off x="2692400" y="3594100"/>
            <a:ext cx="281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New source dev</a:t>
            </a:r>
          </a:p>
        </p:txBody>
      </p:sp>
      <p:sp>
        <p:nvSpPr>
          <p:cNvPr id="33" name="TextBox 32"/>
          <p:cNvSpPr txBox="1"/>
          <p:nvPr/>
        </p:nvSpPr>
        <p:spPr>
          <a:xfrm>
            <a:off x="5740400" y="3594100"/>
            <a:ext cx="154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0.3573</a:t>
            </a:r>
          </a:p>
        </p:txBody>
      </p:sp>
      <p:sp>
        <p:nvSpPr>
          <p:cNvPr id="34" name="TextBox 33"/>
          <p:cNvSpPr txBox="1"/>
          <p:nvPr/>
        </p:nvSpPr>
        <p:spPr>
          <a:xfrm>
            <a:off x="7518400" y="3594100"/>
            <a:ext cx="18669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35.0%</a:t>
            </a:r>
          </a:p>
        </p:txBody>
      </p:sp>
      <p:sp>
        <p:nvSpPr>
          <p:cNvPr id="35" name="TextBox 34"/>
          <p:cNvSpPr txBox="1"/>
          <p:nvPr/>
        </p:nvSpPr>
        <p:spPr>
          <a:xfrm>
            <a:off x="9613900" y="3594100"/>
            <a:ext cx="1943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18.3%</a:t>
            </a:r>
          </a:p>
        </p:txBody>
      </p:sp>
      <p:cxnSp>
        <p:nvCxnSpPr>
          <p:cNvPr id="36" name="Connector 35"/>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38862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0005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lora</a:t>
            </a:r>
          </a:p>
        </p:txBody>
      </p:sp>
      <p:sp>
        <p:nvSpPr>
          <p:cNvPr id="39" name="TextBox 38"/>
          <p:cNvSpPr txBox="1"/>
          <p:nvPr/>
        </p:nvSpPr>
        <p:spPr>
          <a:xfrm>
            <a:off x="2692400" y="4000500"/>
            <a:ext cx="281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19 Oct dev</a:t>
            </a:r>
          </a:p>
        </p:txBody>
      </p:sp>
      <p:sp>
        <p:nvSpPr>
          <p:cNvPr id="40" name="TextBox 39"/>
          <p:cNvSpPr txBox="1"/>
          <p:nvPr/>
        </p:nvSpPr>
        <p:spPr>
          <a:xfrm>
            <a:off x="5740400" y="4000500"/>
            <a:ext cx="1549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0.3573</a:t>
            </a:r>
          </a:p>
        </p:txBody>
      </p:sp>
      <p:sp>
        <p:nvSpPr>
          <p:cNvPr id="41" name="TextBox 40"/>
          <p:cNvSpPr txBox="1"/>
          <p:nvPr/>
        </p:nvSpPr>
        <p:spPr>
          <a:xfrm>
            <a:off x="7518400" y="4000500"/>
            <a:ext cx="18669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sp>
        <p:nvSpPr>
          <p:cNvPr id="42" name="TextBox 41"/>
          <p:cNvSpPr txBox="1"/>
          <p:nvPr/>
        </p:nvSpPr>
        <p:spPr>
          <a:xfrm>
            <a:off x="9613900" y="4000500"/>
            <a:ext cx="1943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0.0%</a:t>
            </a:r>
          </a:p>
        </p:txBody>
      </p:sp>
      <p:cxnSp>
        <p:nvCxnSpPr>
          <p:cNvPr id="43" name="Connector 42"/>
          <p:cNvCxnSpPr/>
          <p:nvPr/>
        </p:nvCxnSpPr>
        <p:spPr>
          <a:xfrm>
            <a:off x="533400" y="4292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Both older budget cutoffs miss all positives; new-source calibration still exceeds 5% test FPR.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Full-stream tiling reverses the component gain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AVSS EASY / MEDIUM primary • unchanged detector, tracker and alarm rules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frozen protocols, predictions and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07</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692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Detector arm</a:t>
            </a:r>
          </a:p>
        </p:txBody>
      </p:sp>
      <p:sp>
        <p:nvSpPr>
          <p:cNvPr id="12" name="TextBox 11"/>
          <p:cNvSpPr txBox="1"/>
          <p:nvPr/>
        </p:nvSpPr>
        <p:spPr>
          <a:xfrm>
            <a:off x="3581400" y="2273300"/>
            <a:ext cx="186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Events found</a:t>
            </a:r>
          </a:p>
        </p:txBody>
      </p:sp>
      <p:sp>
        <p:nvSpPr>
          <p:cNvPr id="13" name="TextBox 12"/>
          <p:cNvSpPr txBox="1"/>
          <p:nvPr/>
        </p:nvSpPr>
        <p:spPr>
          <a:xfrm>
            <a:off x="5676900" y="2273300"/>
            <a:ext cx="1803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Normal FP</a:t>
            </a:r>
          </a:p>
        </p:txBody>
      </p:sp>
      <p:sp>
        <p:nvSpPr>
          <p:cNvPr id="14" name="TextBox 13"/>
          <p:cNvSpPr txBox="1"/>
          <p:nvPr/>
        </p:nvSpPr>
        <p:spPr>
          <a:xfrm>
            <a:off x="7708900" y="2273300"/>
            <a:ext cx="1676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Duplicates</a:t>
            </a:r>
          </a:p>
        </p:txBody>
      </p:sp>
      <p:sp>
        <p:nvSpPr>
          <p:cNvPr id="15" name="TextBox 14"/>
          <p:cNvSpPr txBox="1"/>
          <p:nvPr/>
        </p:nvSpPr>
        <p:spPr>
          <a:xfrm>
            <a:off x="9613900" y="2273300"/>
            <a:ext cx="1943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Median delay</a:t>
            </a:r>
          </a:p>
        </p:txBody>
      </p:sp>
      <p:sp>
        <p:nvSpPr>
          <p:cNvPr id="16" name="Rectangle 15"/>
          <p:cNvSpPr/>
          <p:nvPr/>
        </p:nvSpPr>
        <p:spPr>
          <a:xfrm>
            <a:off x="533400" y="26670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2692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full</a:t>
            </a:r>
          </a:p>
        </p:txBody>
      </p:sp>
      <p:sp>
        <p:nvSpPr>
          <p:cNvPr id="18" name="TextBox 17"/>
          <p:cNvSpPr txBox="1"/>
          <p:nvPr/>
        </p:nvSpPr>
        <p:spPr>
          <a:xfrm>
            <a:off x="3581400" y="2781300"/>
            <a:ext cx="18669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2/2</a:t>
            </a:r>
          </a:p>
        </p:txBody>
      </p:sp>
      <p:sp>
        <p:nvSpPr>
          <p:cNvPr id="19" name="TextBox 18"/>
          <p:cNvSpPr txBox="1"/>
          <p:nvPr/>
        </p:nvSpPr>
        <p:spPr>
          <a:xfrm>
            <a:off x="5676900" y="27813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20" name="TextBox 19"/>
          <p:cNvSpPr txBox="1"/>
          <p:nvPr/>
        </p:nvSpPr>
        <p:spPr>
          <a:xfrm>
            <a:off x="7708900" y="2781300"/>
            <a:ext cx="1676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21" name="TextBox 20"/>
          <p:cNvSpPr txBox="1"/>
          <p:nvPr/>
        </p:nvSpPr>
        <p:spPr>
          <a:xfrm>
            <a:off x="9613900" y="2781300"/>
            <a:ext cx="1943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34.82 s</a:t>
            </a:r>
          </a:p>
        </p:txBody>
      </p:sp>
      <p:cxnSp>
        <p:nvCxnSpPr>
          <p:cNvPr id="22" name="Connector 21"/>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734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187700"/>
            <a:ext cx="2692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item tiles</a:t>
            </a:r>
          </a:p>
        </p:txBody>
      </p:sp>
      <p:sp>
        <p:nvSpPr>
          <p:cNvPr id="25" name="TextBox 24"/>
          <p:cNvSpPr txBox="1"/>
          <p:nvPr/>
        </p:nvSpPr>
        <p:spPr>
          <a:xfrm>
            <a:off x="3581400" y="3187700"/>
            <a:ext cx="18669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1/2</a:t>
            </a:r>
          </a:p>
        </p:txBody>
      </p:sp>
      <p:sp>
        <p:nvSpPr>
          <p:cNvPr id="26" name="TextBox 25"/>
          <p:cNvSpPr txBox="1"/>
          <p:nvPr/>
        </p:nvSpPr>
        <p:spPr>
          <a:xfrm>
            <a:off x="5676900" y="31877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27" name="TextBox 26"/>
          <p:cNvSpPr txBox="1"/>
          <p:nvPr/>
        </p:nvSpPr>
        <p:spPr>
          <a:xfrm>
            <a:off x="7708900" y="3187700"/>
            <a:ext cx="1676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28" name="TextBox 27"/>
          <p:cNvSpPr txBox="1"/>
          <p:nvPr/>
        </p:nvSpPr>
        <p:spPr>
          <a:xfrm>
            <a:off x="9613900" y="3187700"/>
            <a:ext cx="1943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35.74 s</a:t>
            </a:r>
          </a:p>
        </p:txBody>
      </p:sp>
      <p:cxnSp>
        <p:nvCxnSpPr>
          <p:cNvPr id="29" name="Connector 28"/>
          <p:cNvCxnSpPr/>
          <p:nvPr/>
        </p:nvCxnSpPr>
        <p:spPr>
          <a:xfrm>
            <a:off x="533400" y="347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4798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3594100"/>
            <a:ext cx="2692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all tiles</a:t>
            </a:r>
          </a:p>
        </p:txBody>
      </p:sp>
      <p:sp>
        <p:nvSpPr>
          <p:cNvPr id="32" name="TextBox 31"/>
          <p:cNvSpPr txBox="1"/>
          <p:nvPr/>
        </p:nvSpPr>
        <p:spPr>
          <a:xfrm>
            <a:off x="3581400" y="3594100"/>
            <a:ext cx="18669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1/2</a:t>
            </a:r>
          </a:p>
        </p:txBody>
      </p:sp>
      <p:sp>
        <p:nvSpPr>
          <p:cNvPr id="33" name="TextBox 32"/>
          <p:cNvSpPr txBox="1"/>
          <p:nvPr/>
        </p:nvSpPr>
        <p:spPr>
          <a:xfrm>
            <a:off x="5676900" y="3594100"/>
            <a:ext cx="1803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34" name="TextBox 33"/>
          <p:cNvSpPr txBox="1"/>
          <p:nvPr/>
        </p:nvSpPr>
        <p:spPr>
          <a:xfrm>
            <a:off x="7708900" y="3594100"/>
            <a:ext cx="1676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35" name="TextBox 34"/>
          <p:cNvSpPr txBox="1"/>
          <p:nvPr/>
        </p:nvSpPr>
        <p:spPr>
          <a:xfrm>
            <a:off x="9613900" y="3594100"/>
            <a:ext cx="1943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13.25 s</a:t>
            </a:r>
          </a:p>
        </p:txBody>
      </p:sp>
      <p:cxnSp>
        <p:nvCxnSpPr>
          <p:cNvPr id="36" name="Connector 35"/>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Retain full-frame baseline. Better CAVIAR box recall did not improve the event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Keep provisional and censored evidence separate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Seven ABODA streams share two scene blocks; AVSS is one conservative source block</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frozen protocols, predictions and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08</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946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a:t>
            </a:r>
          </a:p>
        </p:txBody>
      </p:sp>
      <p:sp>
        <p:nvSpPr>
          <p:cNvPr id="12" name="TextBox 11"/>
          <p:cNvSpPr txBox="1"/>
          <p:nvPr/>
        </p:nvSpPr>
        <p:spPr>
          <a:xfrm>
            <a:off x="3835400" y="2273300"/>
            <a:ext cx="2184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Arm</a:t>
            </a:r>
          </a:p>
        </p:txBody>
      </p:sp>
      <p:sp>
        <p:nvSpPr>
          <p:cNvPr id="13" name="TextBox 12"/>
          <p:cNvSpPr txBox="1"/>
          <p:nvPr/>
        </p:nvSpPr>
        <p:spPr>
          <a:xfrm>
            <a:off x="6248400" y="2273300"/>
            <a:ext cx="116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Found</a:t>
            </a:r>
          </a:p>
        </p:txBody>
      </p:sp>
      <p:sp>
        <p:nvSpPr>
          <p:cNvPr id="14" name="TextBox 13"/>
          <p:cNvSpPr txBox="1"/>
          <p:nvPr/>
        </p:nvSpPr>
        <p:spPr>
          <a:xfrm>
            <a:off x="7645400" y="2273300"/>
            <a:ext cx="1041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a:t>
            </a:r>
          </a:p>
        </p:txBody>
      </p:sp>
      <p:sp>
        <p:nvSpPr>
          <p:cNvPr id="15" name="TextBox 14"/>
          <p:cNvSpPr txBox="1"/>
          <p:nvPr/>
        </p:nvSpPr>
        <p:spPr>
          <a:xfrm>
            <a:off x="8915400" y="2273300"/>
            <a:ext cx="116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Repeat</a:t>
            </a:r>
          </a:p>
        </p:txBody>
      </p:sp>
      <p:sp>
        <p:nvSpPr>
          <p:cNvPr id="16" name="TextBox 15"/>
          <p:cNvSpPr txBox="1"/>
          <p:nvPr/>
        </p:nvSpPr>
        <p:spPr>
          <a:xfrm>
            <a:off x="10312400" y="2273300"/>
            <a:ext cx="1244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Unknown</a:t>
            </a:r>
          </a:p>
        </p:txBody>
      </p:sp>
      <p:sp>
        <p:nvSpPr>
          <p:cNvPr id="17" name="Rectangle 16"/>
          <p:cNvSpPr/>
          <p:nvPr/>
        </p:nvSpPr>
        <p:spPr>
          <a:xfrm>
            <a:off x="533400" y="26670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2781300"/>
            <a:ext cx="2946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ABODA provisional</a:t>
            </a:r>
          </a:p>
        </p:txBody>
      </p:sp>
      <p:sp>
        <p:nvSpPr>
          <p:cNvPr id="19" name="TextBox 18"/>
          <p:cNvSpPr txBox="1"/>
          <p:nvPr/>
        </p:nvSpPr>
        <p:spPr>
          <a:xfrm>
            <a:off x="3835400" y="27813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full</a:t>
            </a:r>
          </a:p>
        </p:txBody>
      </p:sp>
      <p:sp>
        <p:nvSpPr>
          <p:cNvPr id="20" name="TextBox 19"/>
          <p:cNvSpPr txBox="1"/>
          <p:nvPr/>
        </p:nvSpPr>
        <p:spPr>
          <a:xfrm>
            <a:off x="6248400" y="27813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4/5</a:t>
            </a:r>
          </a:p>
        </p:txBody>
      </p:sp>
      <p:sp>
        <p:nvSpPr>
          <p:cNvPr id="21" name="TextBox 20"/>
          <p:cNvSpPr txBox="1"/>
          <p:nvPr/>
        </p:nvSpPr>
        <p:spPr>
          <a:xfrm>
            <a:off x="7645400" y="2781300"/>
            <a:ext cx="1041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22" name="TextBox 21"/>
          <p:cNvSpPr txBox="1"/>
          <p:nvPr/>
        </p:nvSpPr>
        <p:spPr>
          <a:xfrm>
            <a:off x="8915400" y="27813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23" name="TextBox 22"/>
          <p:cNvSpPr txBox="1"/>
          <p:nvPr/>
        </p:nvSpPr>
        <p:spPr>
          <a:xfrm>
            <a:off x="10312400" y="2781300"/>
            <a:ext cx="1244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cxnSp>
        <p:nvCxnSpPr>
          <p:cNvPr id="24" name="Connector 23"/>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0734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400" y="3187700"/>
            <a:ext cx="2946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ABODA provisional</a:t>
            </a:r>
          </a:p>
        </p:txBody>
      </p:sp>
      <p:sp>
        <p:nvSpPr>
          <p:cNvPr id="27" name="TextBox 26"/>
          <p:cNvSpPr txBox="1"/>
          <p:nvPr/>
        </p:nvSpPr>
        <p:spPr>
          <a:xfrm>
            <a:off x="3835400" y="31877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item tiles</a:t>
            </a:r>
          </a:p>
        </p:txBody>
      </p:sp>
      <p:sp>
        <p:nvSpPr>
          <p:cNvPr id="28" name="TextBox 27"/>
          <p:cNvSpPr txBox="1"/>
          <p:nvPr/>
        </p:nvSpPr>
        <p:spPr>
          <a:xfrm>
            <a:off x="6248400" y="31877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2/5</a:t>
            </a:r>
          </a:p>
        </p:txBody>
      </p:sp>
      <p:sp>
        <p:nvSpPr>
          <p:cNvPr id="29" name="TextBox 28"/>
          <p:cNvSpPr txBox="1"/>
          <p:nvPr/>
        </p:nvSpPr>
        <p:spPr>
          <a:xfrm>
            <a:off x="7645400" y="3187700"/>
            <a:ext cx="1041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30" name="TextBox 29"/>
          <p:cNvSpPr txBox="1"/>
          <p:nvPr/>
        </p:nvSpPr>
        <p:spPr>
          <a:xfrm>
            <a:off x="8915400" y="31877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31" name="TextBox 30"/>
          <p:cNvSpPr txBox="1"/>
          <p:nvPr/>
        </p:nvSpPr>
        <p:spPr>
          <a:xfrm>
            <a:off x="10312400" y="3187700"/>
            <a:ext cx="1244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5</a:t>
            </a:r>
          </a:p>
        </p:txBody>
      </p:sp>
      <p:cxnSp>
        <p:nvCxnSpPr>
          <p:cNvPr id="32" name="Connector 31"/>
          <p:cNvCxnSpPr/>
          <p:nvPr/>
        </p:nvCxnSpPr>
        <p:spPr>
          <a:xfrm>
            <a:off x="533400" y="347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4798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3594100"/>
            <a:ext cx="2946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ABODA provisional</a:t>
            </a:r>
          </a:p>
        </p:txBody>
      </p:sp>
      <p:sp>
        <p:nvSpPr>
          <p:cNvPr id="35" name="TextBox 34"/>
          <p:cNvSpPr txBox="1"/>
          <p:nvPr/>
        </p:nvSpPr>
        <p:spPr>
          <a:xfrm>
            <a:off x="3835400" y="35941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all tiles</a:t>
            </a:r>
          </a:p>
        </p:txBody>
      </p:sp>
      <p:sp>
        <p:nvSpPr>
          <p:cNvPr id="36" name="TextBox 35"/>
          <p:cNvSpPr txBox="1"/>
          <p:nvPr/>
        </p:nvSpPr>
        <p:spPr>
          <a:xfrm>
            <a:off x="6248400" y="35941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2/5</a:t>
            </a:r>
          </a:p>
        </p:txBody>
      </p:sp>
      <p:sp>
        <p:nvSpPr>
          <p:cNvPr id="37" name="TextBox 36"/>
          <p:cNvSpPr txBox="1"/>
          <p:nvPr/>
        </p:nvSpPr>
        <p:spPr>
          <a:xfrm>
            <a:off x="7645400" y="3594100"/>
            <a:ext cx="1041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38" name="TextBox 37"/>
          <p:cNvSpPr txBox="1"/>
          <p:nvPr/>
        </p:nvSpPr>
        <p:spPr>
          <a:xfrm>
            <a:off x="8915400" y="35941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39" name="TextBox 38"/>
          <p:cNvSpPr txBox="1"/>
          <p:nvPr/>
        </p:nvSpPr>
        <p:spPr>
          <a:xfrm>
            <a:off x="10312400" y="3594100"/>
            <a:ext cx="1244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4</a:t>
            </a:r>
          </a:p>
        </p:txBody>
      </p:sp>
      <p:cxnSp>
        <p:nvCxnSpPr>
          <p:cNvPr id="40" name="Connector 39"/>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38862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400" y="4000500"/>
            <a:ext cx="2946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AVSS HARD censored</a:t>
            </a:r>
          </a:p>
        </p:txBody>
      </p:sp>
      <p:sp>
        <p:nvSpPr>
          <p:cNvPr id="43" name="TextBox 42"/>
          <p:cNvSpPr txBox="1"/>
          <p:nvPr/>
        </p:nvSpPr>
        <p:spPr>
          <a:xfrm>
            <a:off x="3835400" y="40005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full</a:t>
            </a:r>
          </a:p>
        </p:txBody>
      </p:sp>
      <p:sp>
        <p:nvSpPr>
          <p:cNvPr id="44" name="TextBox 43"/>
          <p:cNvSpPr txBox="1"/>
          <p:nvPr/>
        </p:nvSpPr>
        <p:spPr>
          <a:xfrm>
            <a:off x="6248400" y="40005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1/1</a:t>
            </a:r>
          </a:p>
        </p:txBody>
      </p:sp>
      <p:sp>
        <p:nvSpPr>
          <p:cNvPr id="45" name="TextBox 44"/>
          <p:cNvSpPr txBox="1"/>
          <p:nvPr/>
        </p:nvSpPr>
        <p:spPr>
          <a:xfrm>
            <a:off x="7645400" y="4000500"/>
            <a:ext cx="1041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46" name="TextBox 45"/>
          <p:cNvSpPr txBox="1"/>
          <p:nvPr/>
        </p:nvSpPr>
        <p:spPr>
          <a:xfrm>
            <a:off x="8915400" y="40005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47" name="TextBox 46"/>
          <p:cNvSpPr txBox="1"/>
          <p:nvPr/>
        </p:nvSpPr>
        <p:spPr>
          <a:xfrm>
            <a:off x="10312400" y="4000500"/>
            <a:ext cx="1244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cxnSp>
        <p:nvCxnSpPr>
          <p:cNvPr id="48" name="Connector 47"/>
          <p:cNvCxnSpPr/>
          <p:nvPr/>
        </p:nvCxnSpPr>
        <p:spPr>
          <a:xfrm>
            <a:off x="533400" y="4292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2926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0400" y="4406900"/>
            <a:ext cx="2946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AVSS HARD censored</a:t>
            </a:r>
          </a:p>
        </p:txBody>
      </p:sp>
      <p:sp>
        <p:nvSpPr>
          <p:cNvPr id="51" name="TextBox 50"/>
          <p:cNvSpPr txBox="1"/>
          <p:nvPr/>
        </p:nvSpPr>
        <p:spPr>
          <a:xfrm>
            <a:off x="3835400" y="44069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item tiles</a:t>
            </a:r>
          </a:p>
        </p:txBody>
      </p:sp>
      <p:sp>
        <p:nvSpPr>
          <p:cNvPr id="52" name="TextBox 51"/>
          <p:cNvSpPr txBox="1"/>
          <p:nvPr/>
        </p:nvSpPr>
        <p:spPr>
          <a:xfrm>
            <a:off x="6248400" y="44069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1/1</a:t>
            </a:r>
          </a:p>
        </p:txBody>
      </p:sp>
      <p:sp>
        <p:nvSpPr>
          <p:cNvPr id="53" name="TextBox 52"/>
          <p:cNvSpPr txBox="1"/>
          <p:nvPr/>
        </p:nvSpPr>
        <p:spPr>
          <a:xfrm>
            <a:off x="7645400" y="4406900"/>
            <a:ext cx="1041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sp>
        <p:nvSpPr>
          <p:cNvPr id="54" name="TextBox 53"/>
          <p:cNvSpPr txBox="1"/>
          <p:nvPr/>
        </p:nvSpPr>
        <p:spPr>
          <a:xfrm>
            <a:off x="8915400" y="44069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55" name="TextBox 54"/>
          <p:cNvSpPr txBox="1"/>
          <p:nvPr/>
        </p:nvSpPr>
        <p:spPr>
          <a:xfrm>
            <a:off x="10312400" y="4406900"/>
            <a:ext cx="1244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cxnSp>
        <p:nvCxnSpPr>
          <p:cNvPr id="56" name="Connector 55"/>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533400" y="46990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0400" y="4813300"/>
            <a:ext cx="29464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AVSS HARD censored</a:t>
            </a:r>
          </a:p>
        </p:txBody>
      </p:sp>
      <p:sp>
        <p:nvSpPr>
          <p:cNvPr id="59" name="TextBox 58"/>
          <p:cNvSpPr txBox="1"/>
          <p:nvPr/>
        </p:nvSpPr>
        <p:spPr>
          <a:xfrm>
            <a:off x="3835400" y="4813300"/>
            <a:ext cx="2184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all tiles</a:t>
            </a:r>
          </a:p>
        </p:txBody>
      </p:sp>
      <p:sp>
        <p:nvSpPr>
          <p:cNvPr id="60" name="TextBox 59"/>
          <p:cNvSpPr txBox="1"/>
          <p:nvPr/>
        </p:nvSpPr>
        <p:spPr>
          <a:xfrm>
            <a:off x="6248400" y="48133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1/1</a:t>
            </a:r>
          </a:p>
        </p:txBody>
      </p:sp>
      <p:sp>
        <p:nvSpPr>
          <p:cNvPr id="61" name="TextBox 60"/>
          <p:cNvSpPr txBox="1"/>
          <p:nvPr/>
        </p:nvSpPr>
        <p:spPr>
          <a:xfrm>
            <a:off x="7645400" y="4813300"/>
            <a:ext cx="1041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62" name="TextBox 61"/>
          <p:cNvSpPr txBox="1"/>
          <p:nvPr/>
        </p:nvSpPr>
        <p:spPr>
          <a:xfrm>
            <a:off x="8915400" y="4813300"/>
            <a:ext cx="11684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a:t>
            </a:r>
          </a:p>
        </p:txBody>
      </p:sp>
      <p:sp>
        <p:nvSpPr>
          <p:cNvPr id="63" name="TextBox 62"/>
          <p:cNvSpPr txBox="1"/>
          <p:nvPr/>
        </p:nvSpPr>
        <p:spPr>
          <a:xfrm>
            <a:off x="10312400" y="4813300"/>
            <a:ext cx="12446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a:t>
            </a:r>
          </a:p>
        </p:txBody>
      </p:sp>
      <p:cxnSp>
        <p:nvCxnSpPr>
          <p:cNvPr id="64" name="Connector 63"/>
          <p:cNvCxnSpPr/>
          <p:nvPr/>
        </p:nvCxnSpPr>
        <p:spPr>
          <a:xfrm>
            <a:off x="533400" y="5105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Ten recordings are not ten independent cameras. Unknown-time alarms remain unscored.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Replay and native forwards bind the results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New public-source evidence and full-stream comparisons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verified artifacts; 19 Oct history preserved</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09</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Numerical / data checks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7,536 stream decisions replayed</a:t>
            </a:r>
          </a:p>
          <a:p>
            <a:pPr algn="l">
              <a:lnSpc>
                <a:spcPts val="1968"/>
              </a:lnSpc>
              <a:spcBef>
                <a:spcPts val="0"/>
              </a:spcBef>
              <a:spcAft>
                <a:spcPts val="0"/>
              </a:spcAft>
              <a:defRPr sz="1600" b="0">
                <a:solidFill>
                  <a:srgbClr val="142C40"/>
                </a:solidFill>
                <a:latin typeface="DejaVu Sans"/>
              </a:defRPr>
            </a:pPr>
            <a:r>
              <a:t>All 36 candidates and 6 choices</a:t>
            </a:r>
          </a:p>
          <a:p>
            <a:pPr algn="l">
              <a:lnSpc>
                <a:spcPts val="1968"/>
              </a:lnSpc>
              <a:spcBef>
                <a:spcPts val="0"/>
              </a:spcBef>
              <a:spcAft>
                <a:spcPts val="0"/>
              </a:spcAft>
              <a:defRPr sz="1600" b="0">
                <a:solidFill>
                  <a:srgbClr val="142C40"/>
                </a:solidFill>
                <a:latin typeface="DejaVu Sans"/>
              </a:defRPr>
            </a:pPr>
            <a:r>
              <a:t>All selected / reference test scores</a:t>
            </a:r>
          </a:p>
          <a:p>
            <a:pPr algn="l">
              <a:lnSpc>
                <a:spcPts val="1968"/>
              </a:lnSpc>
              <a:spcBef>
                <a:spcPts val="0"/>
              </a:spcBef>
              <a:spcAft>
                <a:spcPts val="0"/>
              </a:spcAft>
              <a:defRPr sz="1600" b="0">
                <a:solidFill>
                  <a:srgbClr val="142C40"/>
                </a:solidFill>
                <a:latin typeface="DejaVu Sans"/>
              </a:defRPr>
            </a:pPr>
            <a:r>
              <a:t>11,840 decoded new inputs checked</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Native GPU validation</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Both CLIP encoders, full + crop</a:t>
            </a:r>
          </a:p>
          <a:p>
            <a:pPr algn="l">
              <a:lnSpc>
                <a:spcPts val="1968"/>
              </a:lnSpc>
              <a:spcBef>
                <a:spcPts val="0"/>
              </a:spcBef>
              <a:spcAft>
                <a:spcPts val="0"/>
              </a:spcAft>
              <a:defRPr sz="1600" b="0">
                <a:solidFill>
                  <a:srgbClr val="142C40"/>
                </a:solidFill>
                <a:latin typeface="DejaVu Sans"/>
              </a:defRPr>
            </a:pPr>
            <a:r>
              <a:t>Fixed train / dev / test cases</a:t>
            </a:r>
          </a:p>
          <a:p>
            <a:pPr algn="l">
              <a:lnSpc>
                <a:spcPts val="1968"/>
              </a:lnSpc>
              <a:spcBef>
                <a:spcPts val="0"/>
              </a:spcBef>
              <a:spcAft>
                <a:spcPts val="0"/>
              </a:spcAft>
              <a:defRPr sz="1600" b="0">
                <a:solidFill>
                  <a:srgbClr val="142C40"/>
                </a:solidFill>
                <a:latin typeface="DejaVu Sans"/>
              </a:defRPr>
            </a:pPr>
            <a:r>
              <a:t>Original and LoRA SmolVLM paths</a:t>
            </a:r>
          </a:p>
          <a:p>
            <a:pPr algn="l">
              <a:lnSpc>
                <a:spcPts val="1968"/>
              </a:lnSpc>
              <a:spcBef>
                <a:spcPts val="0"/>
              </a:spcBef>
              <a:spcAft>
                <a:spcPts val="0"/>
              </a:spcAft>
              <a:defRPr sz="1600" b="0">
                <a:solidFill>
                  <a:srgbClr val="142C40"/>
                </a:solidFill>
                <a:latin typeface="DejaVu Sans"/>
              </a:defRPr>
            </a:pPr>
            <a:r>
              <a:t>Source and code identities saved</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Passed verification checks computation and identity; it does not strengthen proxy labels.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PILOT / 20 OCTOBER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Next evidence needed for the five objectives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No target is promoted from this small public-source pilot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PILOT 20 OCT 2026 • 20 Oct frozen protocols, predictions and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10</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755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3644900" y="2273300"/>
            <a:ext cx="7912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Next concrete data / modelling target</a:t>
            </a:r>
          </a:p>
        </p:txBody>
      </p:sp>
      <p:sp>
        <p:nvSpPr>
          <p:cNvPr id="13" name="Rectangle 12"/>
          <p:cNvSpPr/>
          <p:nvPr/>
        </p:nvSpPr>
        <p:spPr>
          <a:xfrm>
            <a:off x="533400" y="26670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400" y="2781300"/>
            <a:ext cx="27559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Smoking</a:t>
            </a:r>
          </a:p>
        </p:txBody>
      </p:sp>
      <p:sp>
        <p:nvSpPr>
          <p:cNvPr id="15" name="TextBox 14"/>
          <p:cNvSpPr txBox="1"/>
          <p:nvPr/>
        </p:nvSpPr>
        <p:spPr>
          <a:xfrm>
            <a:off x="3644900" y="2781300"/>
            <a:ext cx="7912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Visible-cigarette CCTV evidence; distant drinking / eating / phone negatives</a:t>
            </a:r>
          </a:p>
        </p:txBody>
      </p:sp>
      <p:cxnSp>
        <p:nvCxnSpPr>
          <p:cNvPr id="16" name="Connector 15"/>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33400" y="30734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3187700"/>
            <a:ext cx="27559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Unattended items</a:t>
            </a:r>
          </a:p>
        </p:txBody>
      </p:sp>
      <p:sp>
        <p:nvSpPr>
          <p:cNvPr id="19" name="TextBox 18"/>
          <p:cNvSpPr txBox="1"/>
          <p:nvPr/>
        </p:nvSpPr>
        <p:spPr>
          <a:xfrm>
            <a:off x="3644900" y="3187700"/>
            <a:ext cx="7912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Owner/item histories; coherent association and gap recovery; long normal streams</a:t>
            </a:r>
          </a:p>
        </p:txBody>
      </p:sp>
      <p:cxnSp>
        <p:nvCxnSpPr>
          <p:cNvPr id="20" name="Connector 19"/>
          <p:cNvCxnSpPr/>
          <p:nvPr/>
        </p:nvCxnSpPr>
        <p:spPr>
          <a:xfrm>
            <a:off x="533400" y="347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4798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594100"/>
            <a:ext cx="27559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Littering</a:t>
            </a:r>
          </a:p>
        </p:txBody>
      </p:sp>
      <p:sp>
        <p:nvSpPr>
          <p:cNvPr id="23" name="TextBox 22"/>
          <p:cNvSpPr txBox="1"/>
          <p:nvPr/>
        </p:nvSpPr>
        <p:spPr>
          <a:xfrm>
            <a:off x="3644900" y="3594100"/>
            <a:ext cx="7912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Annotated release/disposal events and putting-down / picking-up controls</a:t>
            </a:r>
          </a:p>
        </p:txBody>
      </p:sp>
      <p:cxnSp>
        <p:nvCxnSpPr>
          <p:cNvPr id="24" name="Connector 23"/>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886200"/>
            <a:ext cx="11125200" cy="406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400" y="4000500"/>
            <a:ext cx="27559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Loitering</a:t>
            </a:r>
          </a:p>
        </p:txBody>
      </p:sp>
      <p:sp>
        <p:nvSpPr>
          <p:cNvPr id="27" name="TextBox 26"/>
          <p:cNvSpPr txBox="1"/>
          <p:nvPr/>
        </p:nvSpPr>
        <p:spPr>
          <a:xfrm>
            <a:off x="3644900" y="4000500"/>
            <a:ext cx="7912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Duration and zone-labelled person tracks; camera/day holdouts</a:t>
            </a:r>
          </a:p>
        </p:txBody>
      </p:sp>
      <p:cxnSp>
        <p:nvCxnSpPr>
          <p:cNvPr id="28" name="Connector 27"/>
          <p:cNvCxnSpPr/>
          <p:nvPr/>
        </p:nvCxnSpPr>
        <p:spPr>
          <a:xfrm>
            <a:off x="533400" y="4292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292600"/>
            <a:ext cx="11125200" cy="40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06900"/>
            <a:ext cx="2755900" cy="266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Apparent public sleep</a:t>
            </a:r>
          </a:p>
        </p:txBody>
      </p:sp>
      <p:sp>
        <p:nvSpPr>
          <p:cNvPr id="31" name="TextBox 30"/>
          <p:cNvSpPr txBox="1"/>
          <p:nvPr/>
        </p:nvSpPr>
        <p:spPr>
          <a:xfrm>
            <a:off x="3644900" y="4406900"/>
            <a:ext cx="7912100" cy="266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Temporal resting/wake controls and new locations; visual definition only</a:t>
            </a:r>
          </a:p>
        </p:txBody>
      </p:sp>
      <p:cxnSp>
        <p:nvCxnSpPr>
          <p:cNvPr id="32" name="Connector 31"/>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Prioritize independent event evidence and a frozen acceptance test over a larger parameter 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Public-source generalization pilot — 20 October 2026</dc:title>
  <dc:subject>CLIP source ablations, SmolVLM transfer and full-stream detector/tracker results</dc:subject>
  <dc:creator>Capstone S25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